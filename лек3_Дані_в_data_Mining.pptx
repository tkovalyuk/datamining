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5" r:id="rId1"/>
  </p:sldMasterIdLst>
  <p:notesMasterIdLst>
    <p:notesMasterId r:id="rId60"/>
  </p:notesMasterIdLst>
  <p:sldIdLst>
    <p:sldId id="291" r:id="rId2"/>
    <p:sldId id="292" r:id="rId3"/>
    <p:sldId id="294" r:id="rId4"/>
    <p:sldId id="293" r:id="rId5"/>
    <p:sldId id="295" r:id="rId6"/>
    <p:sldId id="296" r:id="rId7"/>
    <p:sldId id="297" r:id="rId8"/>
    <p:sldId id="331" r:id="rId9"/>
    <p:sldId id="334" r:id="rId10"/>
    <p:sldId id="335" r:id="rId11"/>
    <p:sldId id="333" r:id="rId12"/>
    <p:sldId id="336" r:id="rId13"/>
    <p:sldId id="337" r:id="rId14"/>
    <p:sldId id="339" r:id="rId15"/>
    <p:sldId id="338" r:id="rId16"/>
    <p:sldId id="340" r:id="rId17"/>
    <p:sldId id="329" r:id="rId18"/>
    <p:sldId id="298" r:id="rId19"/>
    <p:sldId id="332" r:id="rId20"/>
    <p:sldId id="330" r:id="rId21"/>
    <p:sldId id="299" r:id="rId22"/>
    <p:sldId id="300" r:id="rId23"/>
    <p:sldId id="301" r:id="rId24"/>
    <p:sldId id="341" r:id="rId25"/>
    <p:sldId id="302" r:id="rId26"/>
    <p:sldId id="303" r:id="rId27"/>
    <p:sldId id="342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47" r:id="rId37"/>
    <p:sldId id="312" r:id="rId38"/>
    <p:sldId id="313" r:id="rId39"/>
    <p:sldId id="343" r:id="rId40"/>
    <p:sldId id="314" r:id="rId41"/>
    <p:sldId id="344" r:id="rId42"/>
    <p:sldId id="315" r:id="rId43"/>
    <p:sldId id="349" r:id="rId44"/>
    <p:sldId id="316" r:id="rId45"/>
    <p:sldId id="317" r:id="rId46"/>
    <p:sldId id="348" r:id="rId47"/>
    <p:sldId id="318" r:id="rId48"/>
    <p:sldId id="345" r:id="rId49"/>
    <p:sldId id="319" r:id="rId50"/>
    <p:sldId id="320" r:id="rId51"/>
    <p:sldId id="321" r:id="rId52"/>
    <p:sldId id="322" r:id="rId53"/>
    <p:sldId id="323" r:id="rId54"/>
    <p:sldId id="350" r:id="rId55"/>
    <p:sldId id="324" r:id="rId56"/>
    <p:sldId id="325" r:id="rId57"/>
    <p:sldId id="326" r:id="rId58"/>
    <p:sldId id="328" r:id="rId59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ctr" defTabSz="30956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8000"/>
    <a:srgbClr val="FDE6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038" autoAdjust="0"/>
  </p:normalViewPr>
  <p:slideViewPr>
    <p:cSldViewPr snapToGrid="0" snapToObjects="1">
      <p:cViewPr varScale="1">
        <p:scale>
          <a:sx n="75" d="100"/>
          <a:sy n="75" d="100"/>
        </p:scale>
        <p:origin x="54" y="3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0.wmf"/><Relationship Id="rId1" Type="http://schemas.openxmlformats.org/officeDocument/2006/relationships/image" Target="../media/image36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5" name="Shape 1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026852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1pPr>
    <a:lvl2pPr indent="228600"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2pPr>
    <a:lvl3pPr indent="457200"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3pPr>
    <a:lvl4pPr indent="685800"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4pPr>
    <a:lvl5pPr indent="914400"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5pPr>
    <a:lvl6pPr indent="1143000"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6pPr>
    <a:lvl7pPr indent="1371600"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7pPr>
    <a:lvl8pPr indent="1600200"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8pPr>
    <a:lvl9pPr indent="1828800" defTabSz="171450" latinLnBrk="0">
      <a:lnSpc>
        <a:spcPct val="117999"/>
      </a:lnSpc>
      <a:defRPr sz="8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81780DED-A8D5-41EF-B1AF-A275F38F5EEE}" type="slidenum">
              <a:rPr lang="ru-RU" smtClean="0">
                <a:solidFill>
                  <a:prstClr val="black"/>
                </a:solidFill>
                <a:latin typeface="Calibri" panose="020F0502020204030204"/>
              </a:rPr>
              <a:pPr/>
              <a:t>1</a:t>
            </a:fld>
            <a:endParaRPr lang="ru-RU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90400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7625" cy="3598863"/>
          </a:xfrm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34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5225588" cy="376238"/>
          </a:xfrm>
        </p:spPr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534053" y="4790029"/>
            <a:ext cx="609947" cy="273844"/>
          </a:xfrm>
        </p:spPr>
        <p:txBody>
          <a:bodyPr/>
          <a:lstStyle>
            <a:lvl1pPr algn="l">
              <a:defRPr sz="1200"/>
            </a:lvl1pPr>
          </a:lstStyle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773084"/>
            <a:ext cx="9144000" cy="39941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 hangingPunct="1"/>
            <a:endParaRPr lang="ru-RU" sz="1350" kern="120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24692" y="4846890"/>
            <a:ext cx="4941488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85800" hangingPunct="1">
              <a:lnSpc>
                <a:spcPct val="80000"/>
              </a:lnSpc>
            </a:pPr>
            <a:r>
              <a:rPr lang="uk-UA" sz="1200" kern="1200" dirty="0" err="1" smtClean="0">
                <a:solidFill>
                  <a:prstClr val="white">
                    <a:lumMod val="95000"/>
                  </a:prstClr>
                </a:solidFill>
                <a:latin typeface="Calibri" panose="020F0502020204030204"/>
                <a:ea typeface="+mn-ea"/>
                <a:cs typeface="+mn-cs"/>
              </a:rPr>
              <a:t>Ковалюк</a:t>
            </a:r>
            <a:r>
              <a:rPr lang="uk-UA" sz="1200" kern="1200" dirty="0" smtClean="0">
                <a:solidFill>
                  <a:prstClr val="white">
                    <a:lumMod val="95000"/>
                  </a:prstClr>
                </a:solidFill>
                <a:latin typeface="Calibri" panose="020F0502020204030204"/>
                <a:ea typeface="+mn-ea"/>
                <a:cs typeface="+mn-cs"/>
              </a:rPr>
              <a:t> Т.В. Програмні Технології </a:t>
            </a:r>
            <a:r>
              <a:rPr lang="en-US" sz="1200" kern="1200" dirty="0" smtClean="0">
                <a:solidFill>
                  <a:prstClr val="white">
                    <a:lumMod val="95000"/>
                  </a:prstClr>
                </a:solidFill>
                <a:latin typeface="Calibri" panose="020F0502020204030204"/>
                <a:ea typeface="+mn-ea"/>
                <a:cs typeface="+mn-cs"/>
              </a:rPr>
              <a:t>Data Mining.</a:t>
            </a:r>
            <a:r>
              <a:rPr lang="uk-UA" sz="1200" kern="1200" dirty="0" smtClean="0">
                <a:solidFill>
                  <a:prstClr val="white">
                    <a:lumMod val="95000"/>
                  </a:prstClr>
                </a:solidFill>
                <a:latin typeface="Calibri" panose="020F0502020204030204"/>
                <a:ea typeface="+mn-ea"/>
                <a:cs typeface="+mn-cs"/>
              </a:rPr>
              <a:t> КНУ ім. Т. Шевченка</a:t>
            </a:r>
            <a:endParaRPr lang="ru-RU" sz="1200" kern="1200" dirty="0">
              <a:solidFill>
                <a:prstClr val="white">
                  <a:lumMod val="9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19248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075840" y="4767263"/>
            <a:ext cx="525236" cy="282243"/>
          </a:xfrm>
        </p:spPr>
        <p:txBody>
          <a:bodyPr/>
          <a:lstStyle>
            <a:lvl1pPr algn="l">
              <a:defRPr/>
            </a:lvl1pPr>
          </a:lstStyle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2028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5"/>
          <p:cNvSpPr txBox="1">
            <a:spLocks/>
          </p:cNvSpPr>
          <p:nvPr userDrawn="1"/>
        </p:nvSpPr>
        <p:spPr>
          <a:xfrm>
            <a:off x="8525409" y="4869657"/>
            <a:ext cx="692063" cy="273844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4A1F6A-164B-43BA-A19E-4AE6BB502A21}" type="slidenum">
              <a:rPr lang="ru-RU" sz="1350" smtClean="0">
                <a:solidFill>
                  <a:prstClr val="black"/>
                </a:solidFill>
              </a:rPr>
              <a:pPr/>
              <a:t>‹#›</a:t>
            </a:fld>
            <a:r>
              <a:rPr lang="en-US" sz="1350" dirty="0" smtClean="0">
                <a:solidFill>
                  <a:prstClr val="black"/>
                </a:solidFill>
              </a:rPr>
              <a:t>/33</a:t>
            </a:r>
            <a:endParaRPr lang="ru-RU" sz="1350" dirty="0">
              <a:solidFill>
                <a:prstClr val="black"/>
              </a:solidFill>
            </a:endParaRPr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3571" y="662515"/>
            <a:ext cx="9140429" cy="159056"/>
          </a:xfrm>
          <a:prstGeom prst="rect">
            <a:avLst/>
          </a:prstGeom>
        </p:spPr>
      </p:pic>
      <p:pic>
        <p:nvPicPr>
          <p:cNvPr id="16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4794861"/>
            <a:ext cx="9147571" cy="80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 userDrawn="1"/>
        </p:nvSpPr>
        <p:spPr>
          <a:xfrm>
            <a:off x="3400593" y="4866576"/>
            <a:ext cx="313736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ICTERI 2020,</a:t>
            </a:r>
            <a:r>
              <a:rPr lang="en-US" sz="1050" b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05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October</a:t>
            </a:r>
            <a:r>
              <a:rPr lang="en-US" sz="135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05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06-10,  </a:t>
            </a:r>
            <a:r>
              <a:rPr lang="uk-UA" sz="105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en-US" sz="105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20,</a:t>
            </a:r>
            <a:r>
              <a:rPr lang="uk-UA" sz="105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05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05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Kharkiv</a:t>
            </a:r>
            <a:r>
              <a:rPr lang="en-US" sz="105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Ukraine</a:t>
            </a:r>
            <a:endParaRPr lang="ru-RU" sz="105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0" y="723637"/>
            <a:ext cx="9144000" cy="4071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25"/>
          </a:p>
        </p:txBody>
      </p:sp>
    </p:spTree>
    <p:extLst>
      <p:ext uri="{BB962C8B-B14F-4D97-AF65-F5344CB8AC3E}">
        <p14:creationId xmlns:p14="http://schemas.microsoft.com/office/powerpoint/2010/main" val="9715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"/>
            <a:ext cx="8280400" cy="4000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163" y="857250"/>
            <a:ext cx="8318500" cy="3886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0764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hangingPunct="1"/>
            <a:endParaRPr lang="ru-RU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hangingPunct="1"/>
            <a:endParaRPr lang="ru-RU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-27385"/>
            <a:ext cx="9144000" cy="5143500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439150" y="4842272"/>
            <a:ext cx="6286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hangingPunct="1"/>
            <a:fld id="{59AF118C-CD98-458A-88D0-71AEDA116907}" type="slidenum">
              <a:rPr lang="ru-RU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800" hangingPunct="1"/>
              <a:t>‹#›</a:t>
            </a:fld>
            <a:r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/59</a:t>
            </a:r>
            <a:endParaRPr lang="ru-RU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654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9" r:id="rId3"/>
    <p:sldLayoutId id="2147483670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9.png"/><Relationship Id="rId7" Type="http://schemas.openxmlformats.org/officeDocument/2006/relationships/image" Target="../media/image2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22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35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38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15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ordArt 10"/>
          <p:cNvSpPr>
            <a:spLocks noChangeArrowheads="1" noChangeShapeType="1" noTextEdit="1"/>
          </p:cNvSpPr>
          <p:nvPr/>
        </p:nvSpPr>
        <p:spPr bwMode="auto">
          <a:xfrm>
            <a:off x="188120" y="195263"/>
            <a:ext cx="8606560" cy="2969419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defTabSz="685800" hangingPunct="1"/>
            <a:r>
              <a:rPr lang="uk-UA" sz="27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  <a:t>Програмні технології</a:t>
            </a:r>
            <a:br>
              <a:rPr lang="uk-UA" sz="27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</a:br>
            <a:r>
              <a:rPr lang="en-US" sz="27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  <a:t>Data Mining</a:t>
            </a:r>
            <a:endParaRPr lang="ru-RU" sz="2700" b="1" kern="10" dirty="0">
              <a:solidFill>
                <a:prstClr val="white"/>
              </a:solidFill>
              <a:effectLst>
                <a:outerShdw dist="107763" dir="18900000" algn="ctr" rotWithShape="0">
                  <a:prstClr val="black">
                    <a:alpha val="50000"/>
                  </a:prstClr>
                </a:outerShdw>
              </a:effectLst>
              <a:latin typeface="+mn-lt"/>
              <a:ea typeface="+mn-ea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1502" y="3437129"/>
            <a:ext cx="7769115" cy="923330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rtlCol="0">
            <a:spAutoFit/>
          </a:bodyPr>
          <a:lstStyle/>
          <a:p>
            <a:pPr defTabSz="685800" hangingPunct="1"/>
            <a:r>
              <a:rPr lang="uk-UA" sz="2700" b="1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Лектор </a:t>
            </a:r>
            <a:r>
              <a:rPr lang="uk-UA" sz="2700" b="1" kern="1200" dirty="0" err="1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к.т.н</a:t>
            </a:r>
            <a:r>
              <a:rPr lang="uk-UA" sz="2700" b="1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. доц. </a:t>
            </a:r>
            <a:r>
              <a:rPr lang="uk-UA" sz="2700" b="1" kern="1200" dirty="0" err="1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Ковалюк</a:t>
            </a:r>
            <a:r>
              <a:rPr lang="uk-UA" sz="2700" b="1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 Тетяна Володимирівна</a:t>
            </a:r>
          </a:p>
          <a:p>
            <a:pPr defTabSz="685800" hangingPunct="1"/>
            <a:r>
              <a:rPr lang="uk-UA" sz="2700" b="1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КНУ ім. Тараса Шевченка</a:t>
            </a:r>
            <a:endParaRPr lang="ru-RU" sz="27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512019" y="4618554"/>
            <a:ext cx="2601995" cy="461665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defTabSz="685800" hangingPunct="1">
              <a:spcBef>
                <a:spcPct val="50000"/>
              </a:spcBef>
            </a:pPr>
            <a:r>
              <a:rPr lang="en-US" sz="2400" b="1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tkovalyuk@ukr.net</a:t>
            </a:r>
            <a:endParaRPr lang="ru-RU" sz="2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25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WordArt 10"/>
          <p:cNvSpPr>
            <a:spLocks noChangeArrowheads="1" noChangeShapeType="1" noTextEdit="1"/>
          </p:cNvSpPr>
          <p:nvPr/>
        </p:nvSpPr>
        <p:spPr bwMode="auto">
          <a:xfrm>
            <a:off x="441788" y="481024"/>
            <a:ext cx="8483245" cy="305465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defTabSz="685800" hangingPunct="1"/>
            <a:r>
              <a:rPr lang="uk-UA" sz="27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  <a:t>Лекція </a:t>
            </a:r>
            <a:r>
              <a:rPr lang="uk-UA" sz="2700" b="1" kern="10" dirty="0" smtClean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  <a:t>3 </a:t>
            </a:r>
            <a:r>
              <a:rPr lang="uk-UA" sz="27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  <a:t/>
            </a:r>
            <a:br>
              <a:rPr lang="uk-UA" sz="27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</a:br>
            <a:r>
              <a:rPr lang="uk-UA" sz="2700" b="1" kern="10" dirty="0" smtClean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  <a:t>Дані в </a:t>
            </a:r>
            <a:r>
              <a:rPr lang="en-US" sz="2700" b="1" kern="10" dirty="0" smtClean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ea typeface="+mn-ea"/>
                <a:cs typeface="Times New Roman"/>
              </a:rPr>
              <a:t>Data Mining</a:t>
            </a:r>
            <a:endParaRPr lang="uk-UA" sz="2700" b="1" kern="10" dirty="0" smtClean="0">
              <a:solidFill>
                <a:prstClr val="white"/>
              </a:solidFill>
              <a:effectLst>
                <a:outerShdw dist="107763" dir="18900000" algn="ctr" rotWithShape="0">
                  <a:prstClr val="black">
                    <a:alpha val="50000"/>
                  </a:prstClr>
                </a:outerShdw>
              </a:effectLst>
              <a:latin typeface="+mn-lt"/>
              <a:ea typeface="+mn-ea"/>
              <a:cs typeface="Times New Roman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516398" y="3887895"/>
            <a:ext cx="66867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hangingPunct="1"/>
            <a:r>
              <a:rPr lang="uk-UA" sz="2000" b="1" kern="10" dirty="0" smtClean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cs typeface="Times New Roman"/>
              </a:rPr>
              <a:t>(</a:t>
            </a:r>
            <a:r>
              <a:rPr lang="en-US" sz="2000" b="1" kern="10" dirty="0" smtClean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cs typeface="Times New Roman"/>
              </a:rPr>
              <a:t>according to the Syllabus of course </a:t>
            </a:r>
            <a:r>
              <a:rPr lang="en-US" sz="20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cs typeface="Times New Roman"/>
              </a:rPr>
              <a:t>CS412 Illinois University</a:t>
            </a:r>
            <a:r>
              <a:rPr lang="uk-UA" sz="20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+mn-lt"/>
                <a:cs typeface="Times New Roman"/>
              </a:rPr>
              <a:t>) </a:t>
            </a:r>
            <a:endParaRPr lang="ru-RU" sz="2000" b="1" kern="10" dirty="0">
              <a:solidFill>
                <a:prstClr val="white"/>
              </a:solidFill>
              <a:effectLst>
                <a:outerShdw dist="107763" dir="18900000" algn="ctr" rotWithShape="0">
                  <a:prstClr val="black">
                    <a:alpha val="50000"/>
                  </a:prstClr>
                </a:outerShdw>
              </a:effectLst>
              <a:latin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87905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06880" y="1040934"/>
            <a:ext cx="564896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ru-RU" sz="2000" dirty="0" err="1" smtClean="0">
                <a:solidFill>
                  <a:srgbClr val="0000FF"/>
                </a:solidFill>
                <a:latin typeface="Calibri" panose="020F0502020204030204" pitchFamily="34" charset="0"/>
              </a:rPr>
              <a:t>Що</a:t>
            </a:r>
            <a:r>
              <a:rPr lang="ru-RU" sz="2000" dirty="0" smtClean="0">
                <a:solidFill>
                  <a:srgbClr val="0000FF"/>
                </a:solidFill>
                <a:latin typeface="Calibri" panose="020F0502020204030204" pitchFamily="34" charset="0"/>
              </a:rPr>
              <a:t> </a:t>
            </a: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таке</a:t>
            </a:r>
            <a:r>
              <a:rPr lang="ru-RU" sz="2000" dirty="0">
                <a:solidFill>
                  <a:srgbClr val="0000FF"/>
                </a:solidFill>
                <a:latin typeface="Calibri" panose="020F0502020204030204" pitchFamily="34" charset="0"/>
              </a:rPr>
              <a:t> </a:t>
            </a: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дані</a:t>
            </a:r>
            <a:r>
              <a:rPr lang="ru-RU" sz="2000" dirty="0">
                <a:solidFill>
                  <a:srgbClr val="0000FF"/>
                </a:solidFill>
                <a:latin typeface="Calibri" panose="020F0502020204030204" pitchFamily="34" charset="0"/>
              </a:rPr>
              <a:t>?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Набір</a:t>
            </a:r>
            <a:r>
              <a:rPr lang="ru-RU" sz="2000" dirty="0">
                <a:solidFill>
                  <a:srgbClr val="0000FF"/>
                </a:solidFill>
                <a:latin typeface="Calibri" panose="020F0502020204030204" pitchFamily="34" charset="0"/>
              </a:rPr>
              <a:t> </a:t>
            </a: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даних</a:t>
            </a:r>
            <a:r>
              <a:rPr lang="ru-RU" sz="2000" dirty="0">
                <a:solidFill>
                  <a:srgbClr val="0000FF"/>
                </a:solidFill>
                <a:latin typeface="Calibri" panose="020F0502020204030204" pitchFamily="34" charset="0"/>
              </a:rPr>
              <a:t> і </a:t>
            </a: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їх</a:t>
            </a:r>
            <a:r>
              <a:rPr lang="ru-RU" sz="2000" dirty="0">
                <a:solidFill>
                  <a:srgbClr val="0000FF"/>
                </a:solidFill>
                <a:latin typeface="Calibri" panose="020F0502020204030204" pitchFamily="34" charset="0"/>
              </a:rPr>
              <a:t> </a:t>
            </a: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атрибутів</a:t>
            </a:r>
            <a:endParaRPr lang="ru-RU" sz="2000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 err="1" smtClean="0">
                <a:solidFill>
                  <a:srgbClr val="0000FF"/>
                </a:solidFill>
                <a:latin typeface="Calibri" panose="020F0502020204030204" pitchFamily="34" charset="0"/>
              </a:rPr>
              <a:t>Вимірювання</a:t>
            </a:r>
            <a:endParaRPr lang="ru-RU" sz="2000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Типи</a:t>
            </a:r>
            <a:r>
              <a:rPr lang="ru-RU" sz="2000" dirty="0">
                <a:solidFill>
                  <a:srgbClr val="0000FF"/>
                </a:solidFill>
                <a:latin typeface="Calibri" panose="020F0502020204030204" pitchFamily="34" charset="0"/>
              </a:rPr>
              <a:t> </a:t>
            </a: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наборів</a:t>
            </a:r>
            <a:r>
              <a:rPr lang="ru-RU" sz="2000" dirty="0">
                <a:solidFill>
                  <a:srgbClr val="0000FF"/>
                </a:solidFill>
                <a:latin typeface="Calibri" panose="020F0502020204030204" pitchFamily="34" charset="0"/>
              </a:rPr>
              <a:t> </a:t>
            </a: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даних</a:t>
            </a:r>
            <a:endParaRPr lang="ru-RU" sz="2000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Формати</a:t>
            </a:r>
            <a:r>
              <a:rPr lang="ru-RU" sz="2000" dirty="0">
                <a:solidFill>
                  <a:srgbClr val="0000FF"/>
                </a:solidFill>
                <a:latin typeface="Calibri" panose="020F0502020204030204" pitchFamily="34" charset="0"/>
              </a:rPr>
              <a:t> </a:t>
            </a: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зберігання</a:t>
            </a:r>
            <a:r>
              <a:rPr lang="ru-RU" sz="2000" dirty="0">
                <a:solidFill>
                  <a:srgbClr val="0000FF"/>
                </a:solidFill>
                <a:latin typeface="Calibri" panose="020F0502020204030204" pitchFamily="34" charset="0"/>
              </a:rPr>
              <a:t> </a:t>
            </a: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даних</a:t>
            </a:r>
            <a:endParaRPr lang="ru-RU" sz="2000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Бази</a:t>
            </a:r>
            <a:r>
              <a:rPr lang="ru-RU" sz="2000" dirty="0">
                <a:solidFill>
                  <a:srgbClr val="0000FF"/>
                </a:solidFill>
                <a:latin typeface="Calibri" panose="020F0502020204030204" pitchFamily="34" charset="0"/>
              </a:rPr>
              <a:t> </a:t>
            </a: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даних</a:t>
            </a:r>
            <a:r>
              <a:rPr lang="ru-RU" sz="2000" dirty="0">
                <a:solidFill>
                  <a:srgbClr val="0000FF"/>
                </a:solidFill>
                <a:latin typeface="Calibri" panose="020F0502020204030204" pitchFamily="34" charset="0"/>
              </a:rPr>
              <a:t>. </a:t>
            </a: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Основні</a:t>
            </a:r>
            <a:r>
              <a:rPr lang="ru-RU" sz="2000" dirty="0">
                <a:solidFill>
                  <a:srgbClr val="0000FF"/>
                </a:solidFill>
                <a:latin typeface="Calibri" panose="020F0502020204030204" pitchFamily="34" charset="0"/>
              </a:rPr>
              <a:t> </a:t>
            </a: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положення</a:t>
            </a:r>
            <a:endParaRPr lang="ru-RU" sz="2000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Класифікація</a:t>
            </a:r>
            <a:r>
              <a:rPr lang="ru-RU" sz="2000" dirty="0">
                <a:solidFill>
                  <a:srgbClr val="0000FF"/>
                </a:solidFill>
                <a:latin typeface="Calibri" panose="020F0502020204030204" pitchFamily="34" charset="0"/>
              </a:rPr>
              <a:t> </a:t>
            </a: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видів</a:t>
            </a:r>
            <a:r>
              <a:rPr lang="ru-RU" sz="2000" dirty="0">
                <a:solidFill>
                  <a:srgbClr val="0000FF"/>
                </a:solidFill>
                <a:latin typeface="Calibri" panose="020F0502020204030204" pitchFamily="34" charset="0"/>
              </a:rPr>
              <a:t> </a:t>
            </a:r>
            <a:r>
              <a:rPr lang="ru-RU" sz="2000" dirty="0" err="1">
                <a:solidFill>
                  <a:srgbClr val="0000FF"/>
                </a:solidFill>
                <a:latin typeface="Calibri" panose="020F0502020204030204" pitchFamily="34" charset="0"/>
              </a:rPr>
              <a:t>даних</a:t>
            </a:r>
            <a:endParaRPr lang="ru-RU" sz="2000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 err="1" smtClean="0">
                <a:solidFill>
                  <a:srgbClr val="0000FF"/>
                </a:solidFill>
                <a:latin typeface="Calibri" panose="020F0502020204030204" pitchFamily="34" charset="0"/>
              </a:rPr>
              <a:t>Метадані</a:t>
            </a:r>
            <a:endParaRPr lang="ru-RU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23949" y="168334"/>
            <a:ext cx="8720051" cy="54938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altLang="ru-RU" b="1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Зміст</a:t>
            </a:r>
            <a:endParaRPr lang="ru-RU" altLang="ru-RU" b="1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7392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23949" y="168334"/>
            <a:ext cx="8720051" cy="549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ru-RU" b="1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Структура курса</a:t>
            </a:r>
          </a:p>
        </p:txBody>
      </p:sp>
      <p:sp>
        <p:nvSpPr>
          <p:cNvPr id="5713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34934" y="814687"/>
            <a:ext cx="7053350" cy="2269937"/>
          </a:xfrm>
          <a:prstGeom prst="rect">
            <a:avLst/>
          </a:prstGeom>
          <a:ln>
            <a:noFill/>
          </a:ln>
        </p:spPr>
        <p:txBody>
          <a:bodyPr/>
          <a:lstStyle/>
          <a:p>
            <a:r>
              <a:rPr lang="ru-RU" altLang="ru-RU" dirty="0" err="1" smtClean="0"/>
              <a:t>Лекц</a:t>
            </a:r>
            <a:r>
              <a:rPr lang="uk-UA" altLang="ru-RU" dirty="0" err="1" smtClean="0"/>
              <a:t>ії</a:t>
            </a:r>
            <a:r>
              <a:rPr lang="ru-RU" altLang="ru-RU" dirty="0" smtClean="0"/>
              <a:t> </a:t>
            </a:r>
            <a:r>
              <a:rPr lang="ru-RU" altLang="ru-RU" dirty="0"/>
              <a:t>– </a:t>
            </a:r>
            <a:r>
              <a:rPr lang="ru-RU" altLang="ru-RU" dirty="0" smtClean="0"/>
              <a:t>24 годин </a:t>
            </a:r>
            <a:endParaRPr lang="ru-RU" altLang="ru-RU" dirty="0"/>
          </a:p>
          <a:p>
            <a:r>
              <a:rPr lang="ru-RU" altLang="ru-RU" dirty="0" err="1" smtClean="0"/>
              <a:t>Лабораторні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заняття</a:t>
            </a:r>
            <a:r>
              <a:rPr lang="ru-RU" altLang="ru-RU" dirty="0" smtClean="0"/>
              <a:t> (</a:t>
            </a:r>
            <a:r>
              <a:rPr lang="ru-RU" altLang="ru-RU" dirty="0" err="1" smtClean="0"/>
              <a:t>проєктний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підхід</a:t>
            </a:r>
            <a:r>
              <a:rPr lang="ru-RU" altLang="ru-RU" dirty="0" smtClean="0"/>
              <a:t>) – 24 годин . </a:t>
            </a:r>
            <a:endParaRPr lang="ru-RU" altLang="ru-RU" dirty="0"/>
          </a:p>
          <a:p>
            <a:r>
              <a:rPr lang="ru-RU" altLang="ru-RU" dirty="0" err="1" smtClean="0"/>
              <a:t>Самостійна</a:t>
            </a:r>
            <a:r>
              <a:rPr lang="ru-RU" altLang="ru-RU" dirty="0" smtClean="0"/>
              <a:t> робота </a:t>
            </a:r>
            <a:r>
              <a:rPr lang="ru-RU" altLang="ru-RU" dirty="0"/>
              <a:t>– </a:t>
            </a:r>
            <a:r>
              <a:rPr lang="ru-RU" altLang="ru-RU" dirty="0" smtClean="0"/>
              <a:t>102 </a:t>
            </a:r>
            <a:r>
              <a:rPr lang="ru-RU" altLang="ru-RU" dirty="0" err="1" smtClean="0"/>
              <a:t>години</a:t>
            </a:r>
            <a:endParaRPr lang="ru-RU" altLang="ru-RU" dirty="0"/>
          </a:p>
          <a:p>
            <a:r>
              <a:rPr lang="ru-RU" altLang="ru-RU" dirty="0" err="1" smtClean="0"/>
              <a:t>Контрольні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роботи</a:t>
            </a:r>
            <a:r>
              <a:rPr lang="ru-RU" altLang="ru-RU" dirty="0" smtClean="0"/>
              <a:t> - 2</a:t>
            </a:r>
            <a:endParaRPr lang="ru-RU" altLang="ru-RU" dirty="0"/>
          </a:p>
          <a:p>
            <a:r>
              <a:rPr lang="ru-RU" altLang="ru-RU" dirty="0" err="1" smtClean="0"/>
              <a:t>Іспит</a:t>
            </a:r>
            <a:endParaRPr lang="ru-RU" altLang="ru-RU" dirty="0"/>
          </a:p>
          <a:p>
            <a:r>
              <a:rPr lang="ru-RU" altLang="ru-RU" dirty="0" smtClean="0"/>
              <a:t>Разом– 150 годин (5 </a:t>
            </a:r>
            <a:r>
              <a:rPr lang="ru-RU" altLang="ru-RU" dirty="0" err="1" smtClean="0"/>
              <a:t>кредитів</a:t>
            </a:r>
            <a:r>
              <a:rPr lang="ru-RU" altLang="ru-RU" dirty="0" smtClean="0"/>
              <a:t>).</a:t>
            </a:r>
            <a:endParaRPr lang="ru-RU" alt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3431826" y="3204678"/>
            <a:ext cx="275684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685800" hangingPunct="1"/>
            <a:r>
              <a:rPr lang="uk-UA" sz="21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Підвищення рейтингу</a:t>
            </a:r>
            <a:endParaRPr lang="ru-RU" sz="2100" b="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694" y="3740230"/>
            <a:ext cx="8932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defTabSz="685800" hangingPunct="1">
              <a:buFontTx/>
              <a:buAutoNum type="arabicPeriod"/>
            </a:pPr>
            <a:r>
              <a:rPr lang="uk-UA" sz="1800" kern="1200" dirty="0">
                <a:solidFill>
                  <a:srgbClr val="C00000"/>
                </a:solidFill>
                <a:latin typeface="Calibri" panose="020F0502020204030204"/>
                <a:ea typeface="+mn-ea"/>
                <a:cs typeface="+mn-cs"/>
              </a:rPr>
              <a:t>Сертифікат курсу на </a:t>
            </a:r>
            <a:r>
              <a:rPr lang="en-US" sz="1800" kern="1200" dirty="0" err="1">
                <a:solidFill>
                  <a:srgbClr val="C00000"/>
                </a:solidFill>
                <a:latin typeface="Calibri" panose="020F0502020204030204"/>
                <a:ea typeface="+mn-ea"/>
                <a:cs typeface="+mn-cs"/>
              </a:rPr>
              <a:t>Coursera</a:t>
            </a:r>
            <a:r>
              <a:rPr lang="uk-UA" sz="1800" kern="1200" dirty="0">
                <a:solidFill>
                  <a:srgbClr val="C00000"/>
                </a:solidFill>
                <a:latin typeface="Calibri" panose="020F0502020204030204"/>
                <a:ea typeface="+mn-ea"/>
                <a:cs typeface="+mn-cs"/>
              </a:rPr>
              <a:t> або </a:t>
            </a:r>
            <a:r>
              <a:rPr lang="en-US" sz="1800" kern="1200" dirty="0" err="1">
                <a:solidFill>
                  <a:srgbClr val="C00000"/>
                </a:solidFill>
                <a:latin typeface="Calibri" panose="020F0502020204030204"/>
                <a:ea typeface="+mn-ea"/>
                <a:cs typeface="+mn-cs"/>
              </a:rPr>
              <a:t>Prometeus</a:t>
            </a:r>
            <a:endParaRPr lang="en-US" sz="1800" kern="1200" dirty="0">
              <a:solidFill>
                <a:srgbClr val="C00000"/>
              </a:solidFill>
              <a:latin typeface="Calibri" panose="020F0502020204030204"/>
              <a:ea typeface="+mn-ea"/>
              <a:cs typeface="+mn-cs"/>
            </a:endParaRPr>
          </a:p>
          <a:p>
            <a:pPr marL="342900" indent="-342900" algn="l" defTabSz="685800" hangingPunct="1">
              <a:buFontTx/>
              <a:buAutoNum type="arabicPeriod"/>
            </a:pPr>
            <a:r>
              <a:rPr lang="uk-UA" sz="1800" kern="1200" dirty="0">
                <a:solidFill>
                  <a:srgbClr val="C00000"/>
                </a:solidFill>
                <a:latin typeface="Calibri" panose="020F0502020204030204"/>
                <a:ea typeface="+mn-ea"/>
                <a:cs typeface="+mn-cs"/>
              </a:rPr>
              <a:t>Індивідуальна творча робота з підготовкою </a:t>
            </a:r>
            <a:r>
              <a:rPr lang="uk-UA" sz="1800" kern="1200" dirty="0" err="1">
                <a:solidFill>
                  <a:srgbClr val="C00000"/>
                </a:solidFill>
                <a:latin typeface="Calibri" panose="020F0502020204030204"/>
                <a:ea typeface="+mn-ea"/>
                <a:cs typeface="+mn-cs"/>
              </a:rPr>
              <a:t>студ</a:t>
            </a:r>
            <a:r>
              <a:rPr lang="uk-UA" sz="1800" kern="1200" dirty="0">
                <a:solidFill>
                  <a:srgbClr val="C00000"/>
                </a:solidFill>
                <a:latin typeface="Calibri" panose="020F0502020204030204"/>
                <a:ea typeface="+mn-ea"/>
                <a:cs typeface="+mn-cs"/>
              </a:rPr>
              <a:t>. роботи на конкурс</a:t>
            </a:r>
          </a:p>
          <a:p>
            <a:pPr marL="342900" indent="-342900" algn="l" defTabSz="685800" hangingPunct="1">
              <a:buFontTx/>
              <a:buAutoNum type="arabicPeriod"/>
            </a:pPr>
            <a:r>
              <a:rPr lang="uk-UA" sz="1800" kern="1200" dirty="0">
                <a:solidFill>
                  <a:srgbClr val="C00000"/>
                </a:solidFill>
                <a:latin typeface="Calibri" panose="020F0502020204030204"/>
                <a:ea typeface="+mn-ea"/>
                <a:cs typeface="+mn-cs"/>
              </a:rPr>
              <a:t>Наукова робота з підготовкою наукової статті</a:t>
            </a:r>
            <a:endParaRPr lang="ru-RU" sz="1800" kern="1200" dirty="0">
              <a:solidFill>
                <a:srgbClr val="C00000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195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23520" y="891476"/>
            <a:ext cx="8737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dirty="0">
                <a:latin typeface="+mn-lt"/>
              </a:rPr>
              <a:t>В широкому </a:t>
            </a:r>
            <a:r>
              <a:rPr lang="ru-RU" sz="2000" dirty="0" err="1">
                <a:latin typeface="+mn-lt"/>
              </a:rPr>
              <a:t>розумінні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дані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представляють</a:t>
            </a:r>
            <a:r>
              <a:rPr lang="ru-RU" sz="2000" dirty="0">
                <a:latin typeface="+mn-lt"/>
              </a:rPr>
              <a:t> собою </a:t>
            </a:r>
            <a:r>
              <a:rPr lang="ru-RU" sz="2000" dirty="0" err="1">
                <a:latin typeface="+mn-lt"/>
              </a:rPr>
              <a:t>факти</a:t>
            </a:r>
            <a:r>
              <a:rPr lang="ru-RU" sz="2000" dirty="0">
                <a:latin typeface="+mn-lt"/>
              </a:rPr>
              <a:t>, текст, </a:t>
            </a:r>
            <a:r>
              <a:rPr lang="ru-RU" sz="2000" dirty="0" err="1">
                <a:latin typeface="+mn-lt"/>
              </a:rPr>
              <a:t>графіки</a:t>
            </a:r>
            <a:r>
              <a:rPr lang="ru-RU" sz="2000" dirty="0">
                <a:latin typeface="+mn-lt"/>
              </a:rPr>
              <a:t>, </a:t>
            </a:r>
            <a:r>
              <a:rPr lang="ru-RU" sz="2000" dirty="0" smtClean="0">
                <a:latin typeface="+mn-lt"/>
              </a:rPr>
              <a:t>картинки, звуки</a:t>
            </a:r>
            <a:r>
              <a:rPr lang="ru-RU" sz="2000" dirty="0">
                <a:latin typeface="+mn-lt"/>
              </a:rPr>
              <a:t>, </a:t>
            </a:r>
            <a:r>
              <a:rPr lang="ru-RU" sz="2000" dirty="0" err="1">
                <a:latin typeface="+mn-lt"/>
              </a:rPr>
              <a:t>аналогові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або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цифрові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відео-сегменти</a:t>
            </a:r>
            <a:r>
              <a:rPr lang="ru-RU" sz="2000" dirty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dirty="0" err="1">
                <a:latin typeface="+mn-lt"/>
              </a:rPr>
              <a:t>Дані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можуть</a:t>
            </a:r>
            <a:r>
              <a:rPr lang="ru-RU" sz="2000" dirty="0">
                <a:latin typeface="+mn-lt"/>
              </a:rPr>
              <a:t> бути </a:t>
            </a:r>
            <a:r>
              <a:rPr lang="ru-RU" sz="2000" dirty="0" err="1">
                <a:latin typeface="+mn-lt"/>
              </a:rPr>
              <a:t>отримані</a:t>
            </a:r>
            <a:r>
              <a:rPr lang="ru-RU" sz="2000" dirty="0">
                <a:latin typeface="+mn-lt"/>
              </a:rPr>
              <a:t> в </a:t>
            </a:r>
            <a:r>
              <a:rPr lang="ru-RU" sz="2000" dirty="0" err="1">
                <a:latin typeface="+mn-lt"/>
              </a:rPr>
              <a:t>результаті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вимірів</a:t>
            </a:r>
            <a:r>
              <a:rPr lang="ru-RU" sz="2000" dirty="0">
                <a:latin typeface="+mn-lt"/>
              </a:rPr>
              <a:t>, </a:t>
            </a:r>
            <a:r>
              <a:rPr lang="ru-RU" sz="2000" dirty="0" err="1">
                <a:latin typeface="+mn-lt"/>
              </a:rPr>
              <a:t>експериментів</a:t>
            </a:r>
            <a:r>
              <a:rPr lang="ru-RU" sz="2000" dirty="0">
                <a:latin typeface="+mn-lt"/>
              </a:rPr>
              <a:t>, </a:t>
            </a:r>
            <a:r>
              <a:rPr lang="ru-RU" sz="2000" dirty="0" err="1">
                <a:latin typeface="+mn-lt"/>
              </a:rPr>
              <a:t>арифметичних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smtClean="0">
                <a:latin typeface="+mn-lt"/>
              </a:rPr>
              <a:t>і </a:t>
            </a:r>
            <a:r>
              <a:rPr lang="ru-RU" sz="2000" dirty="0" err="1" smtClean="0">
                <a:latin typeface="+mn-lt"/>
              </a:rPr>
              <a:t>логічних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операцій</a:t>
            </a:r>
            <a:r>
              <a:rPr lang="ru-RU" sz="2000" dirty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dirty="0" err="1">
                <a:latin typeface="+mn-lt"/>
              </a:rPr>
              <a:t>Дані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повинні</a:t>
            </a:r>
            <a:r>
              <a:rPr lang="ru-RU" sz="2000" dirty="0">
                <a:latin typeface="+mn-lt"/>
              </a:rPr>
              <a:t> бути </a:t>
            </a:r>
            <a:r>
              <a:rPr lang="ru-RU" sz="2000" dirty="0" err="1">
                <a:latin typeface="+mn-lt"/>
              </a:rPr>
              <a:t>представлені</a:t>
            </a:r>
            <a:r>
              <a:rPr lang="ru-RU" sz="2000" dirty="0">
                <a:latin typeface="+mn-lt"/>
              </a:rPr>
              <a:t> у </a:t>
            </a:r>
            <a:r>
              <a:rPr lang="ru-RU" sz="2000" dirty="0" err="1">
                <a:latin typeface="+mn-lt"/>
              </a:rPr>
              <a:t>формі</a:t>
            </a:r>
            <a:r>
              <a:rPr lang="ru-RU" sz="2000" dirty="0">
                <a:latin typeface="+mn-lt"/>
              </a:rPr>
              <a:t>, </a:t>
            </a:r>
            <a:r>
              <a:rPr lang="ru-RU" sz="2000" dirty="0" err="1">
                <a:latin typeface="+mn-lt"/>
              </a:rPr>
              <a:t>придатній</a:t>
            </a:r>
            <a:r>
              <a:rPr lang="ru-RU" sz="2000" dirty="0">
                <a:latin typeface="+mn-lt"/>
              </a:rPr>
              <a:t> для </a:t>
            </a:r>
            <a:r>
              <a:rPr lang="ru-RU" sz="2000" dirty="0" err="1">
                <a:latin typeface="+mn-lt"/>
              </a:rPr>
              <a:t>зберігання</a:t>
            </a:r>
            <a:r>
              <a:rPr lang="ru-RU" sz="2000" dirty="0">
                <a:latin typeface="+mn-lt"/>
              </a:rPr>
              <a:t>, </a:t>
            </a:r>
            <a:r>
              <a:rPr lang="ru-RU" sz="2000" dirty="0" err="1">
                <a:latin typeface="+mn-lt"/>
              </a:rPr>
              <a:t>передачі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smtClean="0">
                <a:latin typeface="+mn-lt"/>
              </a:rPr>
              <a:t>і </a:t>
            </a:r>
            <a:r>
              <a:rPr lang="ru-RU" sz="2000" dirty="0" err="1" smtClean="0">
                <a:latin typeface="+mn-lt"/>
              </a:rPr>
              <a:t>обробки</a:t>
            </a:r>
            <a:r>
              <a:rPr lang="ru-RU" sz="2000" dirty="0" smtClean="0">
                <a:latin typeface="+mn-lt"/>
              </a:rPr>
              <a:t>.</a:t>
            </a:r>
            <a:endParaRPr lang="ru-RU" sz="2000" dirty="0"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807703" y="9644"/>
            <a:ext cx="33281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ru-RU" sz="40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Що</a:t>
            </a:r>
            <a:r>
              <a:rPr lang="ru-RU" sz="40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ru-RU" sz="40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таке</a:t>
            </a:r>
            <a:r>
              <a:rPr lang="ru-RU" sz="40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ru-RU" sz="40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дані</a:t>
            </a:r>
            <a:r>
              <a:rPr lang="ru-RU" sz="4000" b="1" dirty="0">
                <a:solidFill>
                  <a:schemeClr val="bg1"/>
                </a:solidFill>
                <a:latin typeface="Calibri" panose="020F0502020204030204" pitchFamily="34" charset="0"/>
              </a:rPr>
              <a:t>?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41044" y="3033764"/>
            <a:ext cx="7966075" cy="92333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ru-RU" sz="1800" dirty="0" err="1">
                <a:solidFill>
                  <a:srgbClr val="C00000"/>
                </a:solidFill>
                <a:latin typeface="+mn-lt"/>
              </a:rPr>
              <a:t>Іншими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словами,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дані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-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це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1800" b="1" dirty="0" err="1">
                <a:solidFill>
                  <a:srgbClr val="C00000"/>
                </a:solidFill>
                <a:latin typeface="+mn-lt"/>
              </a:rPr>
              <a:t>необроблений</a:t>
            </a:r>
            <a:r>
              <a:rPr lang="ru-RU" sz="1800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1800" b="1" dirty="0" err="1">
                <a:solidFill>
                  <a:srgbClr val="C00000"/>
                </a:solidFill>
                <a:latin typeface="+mn-lt"/>
              </a:rPr>
              <a:t>матеріал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,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що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надається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постачальниками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даних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і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використовується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споживачами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для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формування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інформації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на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основі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даних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1530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347262" y="42590"/>
            <a:ext cx="608371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err="1">
                <a:solidFill>
                  <a:schemeClr val="bg1"/>
                </a:solidFill>
                <a:latin typeface="+mn-lt"/>
              </a:rPr>
              <a:t>Набір</a:t>
            </a:r>
            <a:r>
              <a:rPr lang="ru-RU" sz="40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4000" b="1" dirty="0" err="1">
                <a:solidFill>
                  <a:schemeClr val="bg1"/>
                </a:solidFill>
                <a:latin typeface="+mn-lt"/>
              </a:rPr>
              <a:t>даних</a:t>
            </a:r>
            <a:r>
              <a:rPr lang="ru-RU" sz="40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4000" b="1" dirty="0" smtClean="0">
                <a:solidFill>
                  <a:schemeClr val="bg1"/>
                </a:solidFill>
                <a:latin typeface="+mn-lt"/>
              </a:rPr>
              <a:t>та </a:t>
            </a:r>
            <a:r>
              <a:rPr lang="ru-RU" sz="4000" b="1" dirty="0" err="1">
                <a:solidFill>
                  <a:schemeClr val="bg1"/>
                </a:solidFill>
                <a:latin typeface="+mn-lt"/>
              </a:rPr>
              <a:t>їх</a:t>
            </a:r>
            <a:r>
              <a:rPr lang="ru-RU" sz="40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4000" b="1" dirty="0" err="1" smtClean="0">
                <a:solidFill>
                  <a:schemeClr val="bg1"/>
                </a:solidFill>
                <a:latin typeface="+mn-lt"/>
              </a:rPr>
              <a:t>атрибути</a:t>
            </a:r>
            <a:endParaRPr lang="ru-RU" sz="4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42240" y="768792"/>
            <a:ext cx="5617429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err="1" smtClean="0">
                <a:latin typeface="+mn-lt"/>
              </a:rPr>
              <a:t>Набір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даних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можна</a:t>
            </a:r>
            <a:r>
              <a:rPr lang="ru-RU" dirty="0" smtClean="0">
                <a:latin typeface="+mn-lt"/>
              </a:rPr>
              <a:t> подати </a:t>
            </a:r>
            <a:r>
              <a:rPr lang="ru-RU" dirty="0" err="1" smtClean="0">
                <a:latin typeface="+mn-lt"/>
              </a:rPr>
              <a:t>двомірною</a:t>
            </a:r>
            <a:r>
              <a:rPr lang="ru-RU" dirty="0" smtClean="0">
                <a:latin typeface="+mn-lt"/>
              </a:rPr>
              <a:t> таблицею , в </a:t>
            </a:r>
            <a:r>
              <a:rPr lang="ru-RU" dirty="0" err="1" smtClean="0">
                <a:latin typeface="+mn-lt"/>
              </a:rPr>
              <a:t>якій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стовпці</a:t>
            </a:r>
            <a:r>
              <a:rPr lang="ru-RU" dirty="0" smtClean="0">
                <a:latin typeface="+mn-lt"/>
              </a:rPr>
              <a:t> є </a:t>
            </a:r>
            <a:r>
              <a:rPr lang="ru-RU" b="1" dirty="0" smtClean="0">
                <a:solidFill>
                  <a:srgbClr val="0000CC"/>
                </a:solidFill>
                <a:latin typeface="+mn-lt"/>
              </a:rPr>
              <a:t>атрибутами</a:t>
            </a:r>
            <a:r>
              <a:rPr lang="ru-RU" dirty="0" smtClean="0">
                <a:latin typeface="+mn-lt"/>
              </a:rPr>
              <a:t>, а рядки – </a:t>
            </a:r>
            <a:r>
              <a:rPr lang="ru-RU" b="1" dirty="0" smtClean="0">
                <a:solidFill>
                  <a:srgbClr val="0000CC"/>
                </a:solidFill>
                <a:latin typeface="+mn-lt"/>
              </a:rPr>
              <a:t>об</a:t>
            </a:r>
            <a:r>
              <a:rPr lang="en-US" b="1" dirty="0" smtClean="0">
                <a:solidFill>
                  <a:srgbClr val="0000CC"/>
                </a:solidFill>
                <a:latin typeface="+mn-lt"/>
              </a:rPr>
              <a:t>’</a:t>
            </a:r>
            <a:r>
              <a:rPr lang="uk-UA" b="1" dirty="0" err="1" smtClean="0">
                <a:solidFill>
                  <a:srgbClr val="0000CC"/>
                </a:solidFill>
                <a:latin typeface="+mn-lt"/>
              </a:rPr>
              <a:t>єктами</a:t>
            </a:r>
            <a:r>
              <a:rPr lang="uk-UA" dirty="0" smtClean="0">
                <a:latin typeface="+mn-lt"/>
              </a:rPr>
              <a:t>.</a:t>
            </a:r>
            <a:endParaRPr lang="ru-RU" dirty="0" smtClean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b="1" dirty="0">
                <a:solidFill>
                  <a:srgbClr val="0000CC"/>
                </a:solidFill>
                <a:latin typeface="+mn-lt"/>
              </a:rPr>
              <a:t>Атрибут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>
                <a:latin typeface="+mn-lt"/>
              </a:rPr>
              <a:t>- </a:t>
            </a:r>
            <a:r>
              <a:rPr lang="ru-RU" dirty="0" err="1">
                <a:latin typeface="+mn-lt"/>
              </a:rPr>
              <a:t>це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властивість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характеристика </a:t>
            </a:r>
            <a:r>
              <a:rPr lang="ru-RU" dirty="0" err="1" smtClean="0">
                <a:latin typeface="+mn-lt"/>
              </a:rPr>
              <a:t>об’єкта</a:t>
            </a:r>
            <a:r>
              <a:rPr lang="ru-RU" dirty="0" smtClean="0">
                <a:latin typeface="+mn-lt"/>
              </a:rPr>
              <a:t>. </a:t>
            </a:r>
            <a:r>
              <a:rPr lang="ru-RU" dirty="0" err="1" smtClean="0">
                <a:solidFill>
                  <a:srgbClr val="00B050"/>
                </a:solidFill>
                <a:latin typeface="+mn-lt"/>
              </a:rPr>
              <a:t>Приклади</a:t>
            </a:r>
            <a:r>
              <a:rPr lang="ru-RU" dirty="0">
                <a:solidFill>
                  <a:srgbClr val="00B050"/>
                </a:solidFill>
                <a:latin typeface="+mn-lt"/>
              </a:rPr>
              <a:t>: </a:t>
            </a:r>
            <a:r>
              <a:rPr lang="ru-RU" dirty="0" err="1">
                <a:solidFill>
                  <a:srgbClr val="00B050"/>
                </a:solidFill>
                <a:latin typeface="+mn-lt"/>
              </a:rPr>
              <a:t>колір</a:t>
            </a:r>
            <a:r>
              <a:rPr lang="ru-RU" dirty="0">
                <a:solidFill>
                  <a:srgbClr val="00B050"/>
                </a:solidFill>
                <a:latin typeface="+mn-lt"/>
              </a:rPr>
              <a:t> очей </a:t>
            </a:r>
            <a:r>
              <a:rPr lang="ru-RU" dirty="0" err="1">
                <a:solidFill>
                  <a:srgbClr val="00B050"/>
                </a:solidFill>
                <a:latin typeface="+mn-lt"/>
              </a:rPr>
              <a:t>людини</a:t>
            </a:r>
            <a:r>
              <a:rPr lang="ru-RU" dirty="0">
                <a:solidFill>
                  <a:srgbClr val="00B050"/>
                </a:solidFill>
                <a:latin typeface="+mn-lt"/>
              </a:rPr>
              <a:t>, температура </a:t>
            </a:r>
            <a:r>
              <a:rPr lang="ru-RU" dirty="0" err="1">
                <a:solidFill>
                  <a:srgbClr val="00B050"/>
                </a:solidFill>
                <a:latin typeface="+mn-lt"/>
              </a:rPr>
              <a:t>тощо</a:t>
            </a:r>
            <a:r>
              <a:rPr lang="ru-RU" dirty="0">
                <a:latin typeface="+mn-lt"/>
              </a:rPr>
              <a:t>.</a:t>
            </a:r>
          </a:p>
          <a:p>
            <a:pPr marL="355600" algn="l"/>
            <a:r>
              <a:rPr lang="ru-RU" dirty="0">
                <a:latin typeface="+mn-lt"/>
              </a:rPr>
              <a:t>Атрибут </a:t>
            </a:r>
            <a:r>
              <a:rPr lang="ru-RU" dirty="0" err="1">
                <a:latin typeface="+mn-lt"/>
              </a:rPr>
              <a:t>також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відомий</a:t>
            </a:r>
            <a:r>
              <a:rPr lang="ru-RU" dirty="0">
                <a:latin typeface="+mn-lt"/>
              </a:rPr>
              <a:t> як </a:t>
            </a:r>
            <a:r>
              <a:rPr lang="ru-RU" dirty="0" err="1">
                <a:latin typeface="+mn-lt"/>
              </a:rPr>
              <a:t>змінна</a:t>
            </a:r>
            <a:r>
              <a:rPr lang="ru-RU" dirty="0">
                <a:latin typeface="+mn-lt"/>
              </a:rPr>
              <a:t>, поле, характеристика, </a:t>
            </a:r>
            <a:r>
              <a:rPr lang="ru-RU" dirty="0" err="1">
                <a:latin typeface="+mn-lt"/>
              </a:rPr>
              <a:t>розмірність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ознака</a:t>
            </a:r>
            <a:r>
              <a:rPr lang="ru-RU" dirty="0" smtClean="0">
                <a:latin typeface="+mn-lt"/>
              </a:rPr>
              <a:t> об</a:t>
            </a:r>
            <a:r>
              <a:rPr lang="en-US" dirty="0" smtClean="0">
                <a:latin typeface="+mn-lt"/>
              </a:rPr>
              <a:t>’</a:t>
            </a:r>
            <a:r>
              <a:rPr lang="uk-UA" dirty="0" err="1" smtClean="0">
                <a:latin typeface="+mn-lt"/>
              </a:rPr>
              <a:t>єкта</a:t>
            </a:r>
            <a:r>
              <a:rPr lang="uk-UA" dirty="0" smtClean="0">
                <a:latin typeface="+mn-lt"/>
              </a:rPr>
              <a:t>.</a:t>
            </a:r>
            <a:endParaRPr lang="ru-RU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Колекція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атрибутів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описує</a:t>
            </a:r>
            <a:r>
              <a:rPr lang="ru-RU" dirty="0">
                <a:latin typeface="+mn-lt"/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  <a:latin typeface="+mn-lt"/>
              </a:rPr>
              <a:t>об’єкт</a:t>
            </a:r>
            <a:r>
              <a:rPr lang="ru-RU" dirty="0" smtClean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b="1" dirty="0" err="1" smtClean="0">
                <a:solidFill>
                  <a:srgbClr val="0000CC"/>
                </a:solidFill>
                <a:latin typeface="+mn-lt"/>
              </a:rPr>
              <a:t>Об'єкт</a:t>
            </a:r>
            <a:r>
              <a:rPr lang="ru-RU" b="1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latin typeface="+mn-lt"/>
              </a:rPr>
              <a:t>також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відомий</a:t>
            </a:r>
            <a:r>
              <a:rPr lang="ru-RU" dirty="0">
                <a:latin typeface="+mn-lt"/>
              </a:rPr>
              <a:t> як </a:t>
            </a:r>
            <a:r>
              <a:rPr lang="ru-RU" dirty="0" err="1">
                <a:latin typeface="+mn-lt"/>
              </a:rPr>
              <a:t>запис</a:t>
            </a:r>
            <a:r>
              <a:rPr lang="ru-RU" dirty="0">
                <a:latin typeface="+mn-lt"/>
              </a:rPr>
              <a:t>, точка, </a:t>
            </a:r>
            <a:r>
              <a:rPr lang="ru-RU" dirty="0" err="1">
                <a:latin typeface="+mn-lt"/>
              </a:rPr>
              <a:t>випадок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зразок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сутність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екземпляр</a:t>
            </a:r>
            <a:r>
              <a:rPr lang="ru-RU" dirty="0" smtClean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ru-RU" dirty="0">
              <a:latin typeface="+mn-lt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94" y="750476"/>
            <a:ext cx="3135569" cy="392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933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53699"/>
            <a:ext cx="91439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 err="1">
                <a:solidFill>
                  <a:schemeClr val="bg1"/>
                </a:solidFill>
                <a:latin typeface="+mn-lt"/>
              </a:rPr>
              <a:t>Значення</a:t>
            </a:r>
            <a:r>
              <a:rPr lang="ru-RU" sz="40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4000" b="1" dirty="0" err="1">
                <a:solidFill>
                  <a:schemeClr val="bg1"/>
                </a:solidFill>
                <a:latin typeface="+mn-lt"/>
              </a:rPr>
              <a:t>атрибутів</a:t>
            </a:r>
            <a:endParaRPr lang="ru-RU" sz="4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42239" y="875660"/>
            <a:ext cx="900175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b="1" dirty="0" err="1">
                <a:solidFill>
                  <a:srgbClr val="0000CC"/>
                </a:solidFill>
                <a:latin typeface="+mn-lt"/>
              </a:rPr>
              <a:t>Значення</a:t>
            </a:r>
            <a:r>
              <a:rPr lang="ru-RU" sz="2000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2000" b="1" dirty="0" err="1">
                <a:solidFill>
                  <a:srgbClr val="0000CC"/>
                </a:solidFill>
                <a:latin typeface="+mn-lt"/>
              </a:rPr>
              <a:t>атрибутів</a:t>
            </a:r>
            <a:r>
              <a:rPr lang="ru-RU" sz="2000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2000" dirty="0">
                <a:latin typeface="+mn-lt"/>
              </a:rPr>
              <a:t>- </a:t>
            </a:r>
            <a:r>
              <a:rPr lang="ru-RU" sz="2000" dirty="0" err="1">
                <a:latin typeface="+mn-lt"/>
              </a:rPr>
              <a:t>це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цифри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або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символи</a:t>
            </a:r>
            <a:r>
              <a:rPr lang="ru-RU" sz="2000" dirty="0">
                <a:latin typeface="+mn-lt"/>
              </a:rPr>
              <a:t>, </a:t>
            </a:r>
            <a:r>
              <a:rPr lang="ru-RU" sz="2000" dirty="0" err="1">
                <a:latin typeface="+mn-lt"/>
              </a:rPr>
              <a:t>призначені</a:t>
            </a:r>
            <a:r>
              <a:rPr lang="ru-RU" sz="2000" dirty="0">
                <a:latin typeface="+mn-lt"/>
              </a:rPr>
              <a:t> атрибуту для </a:t>
            </a:r>
            <a:r>
              <a:rPr lang="ru-RU" sz="2000" dirty="0" err="1">
                <a:latin typeface="+mn-lt"/>
              </a:rPr>
              <a:t>певного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об'єкта</a:t>
            </a:r>
            <a:endParaRPr lang="ru-RU" sz="2000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b="1" dirty="0" err="1">
                <a:latin typeface="+mn-lt"/>
              </a:rPr>
              <a:t>Різниця</a:t>
            </a:r>
            <a:r>
              <a:rPr lang="ru-RU" sz="2000" b="1" dirty="0">
                <a:latin typeface="+mn-lt"/>
              </a:rPr>
              <a:t> </a:t>
            </a:r>
            <a:r>
              <a:rPr lang="ru-RU" sz="2000" b="1" dirty="0" err="1">
                <a:latin typeface="+mn-lt"/>
              </a:rPr>
              <a:t>між</a:t>
            </a:r>
            <a:r>
              <a:rPr lang="ru-RU" sz="2000" b="1" dirty="0">
                <a:latin typeface="+mn-lt"/>
              </a:rPr>
              <a:t> атрибутами та </a:t>
            </a:r>
            <a:r>
              <a:rPr lang="ru-RU" sz="2000" b="1" dirty="0" err="1">
                <a:latin typeface="+mn-lt"/>
              </a:rPr>
              <a:t>значеннями</a:t>
            </a:r>
            <a:r>
              <a:rPr lang="ru-RU" sz="2000" b="1" dirty="0">
                <a:latin typeface="+mn-lt"/>
              </a:rPr>
              <a:t> </a:t>
            </a:r>
            <a:r>
              <a:rPr lang="ru-RU" sz="2000" b="1" dirty="0" err="1" smtClean="0">
                <a:latin typeface="+mn-lt"/>
              </a:rPr>
              <a:t>атрибутів</a:t>
            </a:r>
            <a:r>
              <a:rPr lang="ru-RU" sz="2000" dirty="0" smtClean="0">
                <a:latin typeface="+mn-lt"/>
              </a:rPr>
              <a:t>:</a:t>
            </a:r>
            <a:endParaRPr lang="en-US" sz="2000" dirty="0" smtClean="0">
              <a:latin typeface="+mn-lt"/>
            </a:endParaRPr>
          </a:p>
          <a:p>
            <a:pPr marL="720725" lvl="8" indent="-273050" algn="l">
              <a:buFont typeface="Wingdings" panose="05000000000000000000" pitchFamily="2" charset="2"/>
              <a:buChar char="Ø"/>
            </a:pPr>
            <a:r>
              <a:rPr lang="ru-RU" sz="2000" dirty="0" smtClean="0">
                <a:latin typeface="+mn-lt"/>
              </a:rPr>
              <a:t>Один </a:t>
            </a:r>
            <a:r>
              <a:rPr lang="ru-RU" sz="2000" dirty="0">
                <a:latin typeface="+mn-lt"/>
              </a:rPr>
              <a:t>і той </a:t>
            </a:r>
            <a:r>
              <a:rPr lang="uk-UA" sz="2000" dirty="0" smtClean="0">
                <a:latin typeface="+mn-lt"/>
              </a:rPr>
              <a:t>самий </a:t>
            </a:r>
            <a:r>
              <a:rPr lang="ru-RU" sz="2000" dirty="0" smtClean="0">
                <a:latin typeface="+mn-lt"/>
              </a:rPr>
              <a:t>атрибут </a:t>
            </a:r>
            <a:r>
              <a:rPr lang="ru-RU" sz="2000" dirty="0" err="1">
                <a:latin typeface="+mn-lt"/>
              </a:rPr>
              <a:t>може</a:t>
            </a:r>
            <a:r>
              <a:rPr lang="ru-RU" sz="2000" dirty="0">
                <a:latin typeface="+mn-lt"/>
              </a:rPr>
              <a:t> бути </a:t>
            </a:r>
            <a:r>
              <a:rPr lang="ru-RU" sz="2000" dirty="0" err="1">
                <a:latin typeface="+mn-lt"/>
              </a:rPr>
              <a:t>зіставлений</a:t>
            </a:r>
            <a:r>
              <a:rPr lang="ru-RU" sz="2000" dirty="0">
                <a:latin typeface="+mn-lt"/>
              </a:rPr>
              <a:t> з </a:t>
            </a:r>
            <a:r>
              <a:rPr lang="ru-RU" sz="2000" dirty="0" err="1">
                <a:latin typeface="+mn-lt"/>
              </a:rPr>
              <a:t>різними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значеннями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 smtClean="0">
                <a:latin typeface="+mn-lt"/>
              </a:rPr>
              <a:t>атрибутів</a:t>
            </a:r>
            <a:r>
              <a:rPr lang="ru-RU" sz="2000" dirty="0" smtClean="0">
                <a:latin typeface="+mn-lt"/>
              </a:rPr>
              <a:t>:</a:t>
            </a:r>
            <a:endParaRPr lang="ru-RU" sz="2000" dirty="0">
              <a:latin typeface="+mn-lt"/>
            </a:endParaRPr>
          </a:p>
          <a:p>
            <a:pPr lvl="6" algn="l"/>
            <a:r>
              <a:rPr lang="en-US" sz="2000" dirty="0" smtClean="0">
                <a:latin typeface="+mn-lt"/>
              </a:rPr>
              <a:t>			</a:t>
            </a:r>
            <a:r>
              <a:rPr lang="ru-RU" sz="2000" dirty="0" smtClean="0">
                <a:solidFill>
                  <a:srgbClr val="008000"/>
                </a:solidFill>
                <a:latin typeface="+mn-lt"/>
              </a:rPr>
              <a:t>Приклад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: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висоту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2000" dirty="0" smtClean="0">
                <a:solidFill>
                  <a:srgbClr val="008000"/>
                </a:solidFill>
                <a:latin typeface="+mn-lt"/>
              </a:rPr>
              <a:t>об</a:t>
            </a:r>
            <a:r>
              <a:rPr lang="en-US" sz="2000" dirty="0" smtClean="0">
                <a:solidFill>
                  <a:srgbClr val="008000"/>
                </a:solidFill>
                <a:latin typeface="+mn-lt"/>
              </a:rPr>
              <a:t>’</a:t>
            </a:r>
            <a:r>
              <a:rPr lang="uk-UA" sz="2000" dirty="0" err="1" smtClean="0">
                <a:solidFill>
                  <a:srgbClr val="008000"/>
                </a:solidFill>
                <a:latin typeface="+mn-lt"/>
              </a:rPr>
              <a:t>єкта</a:t>
            </a:r>
            <a:r>
              <a:rPr lang="uk-UA" sz="2000" dirty="0" smtClean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2000" dirty="0" err="1" smtClean="0">
                <a:solidFill>
                  <a:srgbClr val="008000"/>
                </a:solidFill>
                <a:latin typeface="+mn-lt"/>
              </a:rPr>
              <a:t>можна</a:t>
            </a:r>
            <a:r>
              <a:rPr lang="ru-RU" sz="2000" dirty="0" smtClean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виміряти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у футах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або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метрах</a:t>
            </a:r>
          </a:p>
          <a:p>
            <a:pPr marL="720725" lvl="4" indent="-273050" algn="l">
              <a:buFont typeface="Wingdings" panose="05000000000000000000" pitchFamily="2" charset="2"/>
              <a:buChar char="Ø"/>
            </a:pPr>
            <a:r>
              <a:rPr lang="ru-RU" sz="2000" dirty="0" err="1" smtClean="0">
                <a:latin typeface="+mn-lt"/>
              </a:rPr>
              <a:t>Різні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атрибути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можуть</a:t>
            </a:r>
            <a:r>
              <a:rPr lang="ru-RU" sz="2000" dirty="0">
                <a:latin typeface="+mn-lt"/>
              </a:rPr>
              <a:t> бути </a:t>
            </a:r>
            <a:r>
              <a:rPr lang="ru-RU" sz="2000" dirty="0" err="1">
                <a:latin typeface="+mn-lt"/>
              </a:rPr>
              <a:t>зіставлені</a:t>
            </a:r>
            <a:r>
              <a:rPr lang="ru-RU" sz="2000" dirty="0">
                <a:latin typeface="+mn-lt"/>
              </a:rPr>
              <a:t> з одним і </a:t>
            </a:r>
            <a:r>
              <a:rPr lang="ru-RU" sz="2000" dirty="0" err="1">
                <a:latin typeface="+mn-lt"/>
              </a:rPr>
              <a:t>тим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smtClean="0">
                <a:latin typeface="+mn-lt"/>
              </a:rPr>
              <a:t>самим набором </a:t>
            </a:r>
            <a:r>
              <a:rPr lang="ru-RU" sz="2000" dirty="0" err="1" smtClean="0">
                <a:latin typeface="+mn-lt"/>
              </a:rPr>
              <a:t>значень</a:t>
            </a:r>
            <a:r>
              <a:rPr lang="ru-RU" sz="2000" dirty="0" smtClean="0">
                <a:latin typeface="+mn-lt"/>
              </a:rPr>
              <a:t>:</a:t>
            </a:r>
            <a:endParaRPr lang="ru-RU" sz="2000" dirty="0">
              <a:latin typeface="+mn-lt"/>
            </a:endParaRPr>
          </a:p>
          <a:p>
            <a:pPr lvl="4" algn="l"/>
            <a:r>
              <a:rPr lang="ru-RU" sz="2000" dirty="0">
                <a:latin typeface="+mn-lt"/>
              </a:rPr>
              <a:t>  </a:t>
            </a:r>
            <a:r>
              <a:rPr lang="en-US" sz="2000" dirty="0" smtClean="0">
                <a:latin typeface="+mn-lt"/>
              </a:rPr>
              <a:t>			</a:t>
            </a:r>
            <a:r>
              <a:rPr lang="ru-RU" sz="2000" dirty="0" smtClean="0">
                <a:solidFill>
                  <a:srgbClr val="008000"/>
                </a:solidFill>
                <a:latin typeface="+mn-lt"/>
              </a:rPr>
              <a:t>Приклад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: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Значення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атрибутів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для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ідентифікатора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2000" dirty="0" err="1" smtClean="0">
                <a:solidFill>
                  <a:srgbClr val="008000"/>
                </a:solidFill>
                <a:latin typeface="+mn-lt"/>
              </a:rPr>
              <a:t>людини</a:t>
            </a:r>
            <a:r>
              <a:rPr lang="ru-RU" sz="2000" dirty="0" smtClean="0">
                <a:solidFill>
                  <a:srgbClr val="008000"/>
                </a:solidFill>
                <a:latin typeface="+mn-lt"/>
              </a:rPr>
              <a:t> та </a:t>
            </a:r>
            <a:r>
              <a:rPr lang="ru-RU" sz="2000" dirty="0" err="1" smtClean="0">
                <a:solidFill>
                  <a:srgbClr val="008000"/>
                </a:solidFill>
                <a:latin typeface="+mn-lt"/>
              </a:rPr>
              <a:t>її</a:t>
            </a:r>
            <a:r>
              <a:rPr lang="ru-RU" sz="2000" dirty="0" smtClean="0">
                <a:solidFill>
                  <a:srgbClr val="008000"/>
                </a:solidFill>
                <a:latin typeface="+mn-lt"/>
              </a:rPr>
              <a:t> року 					</a:t>
            </a:r>
            <a:r>
              <a:rPr lang="ru-RU" sz="2000" dirty="0" err="1" smtClean="0">
                <a:solidFill>
                  <a:srgbClr val="008000"/>
                </a:solidFill>
                <a:latin typeface="+mn-lt"/>
              </a:rPr>
              <a:t>народження</a:t>
            </a:r>
            <a:r>
              <a:rPr lang="ru-RU" sz="2000" dirty="0" smtClean="0">
                <a:solidFill>
                  <a:srgbClr val="008000"/>
                </a:solidFill>
                <a:latin typeface="+mn-lt"/>
              </a:rPr>
              <a:t> є </a:t>
            </a:r>
            <a:r>
              <a:rPr lang="ru-RU" sz="2000" dirty="0" err="1" smtClean="0">
                <a:solidFill>
                  <a:srgbClr val="008000"/>
                </a:solidFill>
                <a:latin typeface="+mn-lt"/>
              </a:rPr>
              <a:t>цілими</a:t>
            </a:r>
            <a:r>
              <a:rPr lang="ru-RU" sz="2000" dirty="0" smtClean="0">
                <a:solidFill>
                  <a:srgbClr val="008000"/>
                </a:solidFill>
                <a:latin typeface="+mn-lt"/>
              </a:rPr>
              <a:t> числами</a:t>
            </a:r>
            <a:endParaRPr lang="ru-RU" sz="2000" dirty="0">
              <a:solidFill>
                <a:srgbClr val="008000"/>
              </a:solidFill>
              <a:latin typeface="+mn-lt"/>
            </a:endParaRPr>
          </a:p>
          <a:p>
            <a:pPr marL="720725" lvl="4" indent="-273050" algn="l">
              <a:buFont typeface="Wingdings" panose="05000000000000000000" pitchFamily="2" charset="2"/>
              <a:buChar char="Ø"/>
            </a:pPr>
            <a:r>
              <a:rPr lang="ru-RU" sz="2000" dirty="0" err="1" smtClean="0">
                <a:latin typeface="+mn-lt"/>
              </a:rPr>
              <a:t>Властивості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>
                <a:latin typeface="+mn-lt"/>
              </a:rPr>
              <a:t>атрибута </a:t>
            </a:r>
            <a:r>
              <a:rPr lang="ru-RU" sz="2000" dirty="0" err="1">
                <a:latin typeface="+mn-lt"/>
              </a:rPr>
              <a:t>можуть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відрізнятися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від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властивостей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значень</a:t>
            </a:r>
            <a:r>
              <a:rPr lang="ru-RU" sz="2000" dirty="0">
                <a:latin typeface="+mn-lt"/>
              </a:rPr>
              <a:t>, </a:t>
            </a:r>
            <a:r>
              <a:rPr lang="ru-RU" sz="2000" dirty="0" err="1">
                <a:latin typeface="+mn-lt"/>
              </a:rPr>
              <a:t>що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використовуються</a:t>
            </a:r>
            <a:r>
              <a:rPr lang="ru-RU" sz="2000" dirty="0">
                <a:latin typeface="+mn-lt"/>
              </a:rPr>
              <a:t> для </a:t>
            </a:r>
            <a:r>
              <a:rPr lang="ru-RU" sz="2000" dirty="0" err="1">
                <a:latin typeface="+mn-lt"/>
              </a:rPr>
              <a:t>представлення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smtClean="0">
                <a:latin typeface="+mn-lt"/>
              </a:rPr>
              <a:t>атрибута</a:t>
            </a:r>
            <a:r>
              <a:rPr lang="en-US" sz="2000" dirty="0">
                <a:latin typeface="+mn-lt"/>
              </a:rPr>
              <a:t>.</a:t>
            </a:r>
            <a:endParaRPr lang="ru-RU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5158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809596"/>
            <a:ext cx="9144000" cy="44012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dirty="0">
                <a:latin typeface="+mn-lt"/>
              </a:rPr>
              <a:t>В </a:t>
            </a:r>
            <a:r>
              <a:rPr lang="ru-RU" sz="2000" dirty="0" err="1">
                <a:latin typeface="+mn-lt"/>
              </a:rPr>
              <a:t>результаті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smtClean="0">
                <a:latin typeface="+mn-lt"/>
              </a:rPr>
              <a:t>переходу </a:t>
            </a:r>
            <a:r>
              <a:rPr lang="ru-RU" sz="2000" dirty="0" err="1">
                <a:latin typeface="+mn-lt"/>
              </a:rPr>
              <a:t>від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загальних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категорій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smtClean="0">
                <a:latin typeface="+mn-lt"/>
              </a:rPr>
              <a:t>до </a:t>
            </a:r>
            <a:r>
              <a:rPr lang="ru-RU" sz="2000" dirty="0" err="1" smtClean="0">
                <a:latin typeface="+mn-lt"/>
              </a:rPr>
              <a:t>конкретних</a:t>
            </a:r>
            <a:r>
              <a:rPr lang="ru-RU" sz="2000" dirty="0" smtClean="0">
                <a:latin typeface="+mn-lt"/>
              </a:rPr>
              <a:t> величин, </a:t>
            </a:r>
            <a:r>
              <a:rPr lang="ru-RU" sz="2000" dirty="0" err="1">
                <a:latin typeface="+mn-lt"/>
              </a:rPr>
              <a:t>виходить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набір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змінних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досліджуваного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поняття</a:t>
            </a:r>
            <a:r>
              <a:rPr lang="ru-RU" sz="2000" dirty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b="1" dirty="0" err="1">
                <a:solidFill>
                  <a:srgbClr val="0000CC"/>
                </a:solidFill>
                <a:latin typeface="+mn-lt"/>
              </a:rPr>
              <a:t>Змінна</a:t>
            </a:r>
            <a:r>
              <a:rPr lang="ru-RU" sz="2000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2000" dirty="0">
                <a:latin typeface="+mn-lt"/>
              </a:rPr>
              <a:t>(</a:t>
            </a:r>
            <a:r>
              <a:rPr lang="ru-RU" sz="2000" dirty="0" err="1">
                <a:latin typeface="+mn-lt"/>
              </a:rPr>
              <a:t>variable</a:t>
            </a:r>
            <a:r>
              <a:rPr lang="ru-RU" sz="2000" dirty="0">
                <a:latin typeface="+mn-lt"/>
              </a:rPr>
              <a:t>) - </a:t>
            </a:r>
            <a:r>
              <a:rPr lang="ru-RU" sz="2000" dirty="0" err="1">
                <a:latin typeface="+mn-lt"/>
              </a:rPr>
              <a:t>властивість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або</a:t>
            </a:r>
            <a:r>
              <a:rPr lang="ru-RU" sz="2000" dirty="0">
                <a:latin typeface="+mn-lt"/>
              </a:rPr>
              <a:t> характеристика, </a:t>
            </a:r>
            <a:r>
              <a:rPr lang="ru-RU" sz="2000" dirty="0" err="1">
                <a:latin typeface="+mn-lt"/>
              </a:rPr>
              <a:t>загальна</a:t>
            </a:r>
            <a:r>
              <a:rPr lang="ru-RU" sz="2000" dirty="0">
                <a:latin typeface="+mn-lt"/>
              </a:rPr>
              <a:t> для </a:t>
            </a:r>
            <a:r>
              <a:rPr lang="ru-RU" sz="2000" dirty="0" err="1">
                <a:latin typeface="+mn-lt"/>
              </a:rPr>
              <a:t>всіх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 smtClean="0">
                <a:latin typeface="+mn-lt"/>
              </a:rPr>
              <a:t>досліджуваних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 err="1" smtClean="0">
                <a:latin typeface="+mn-lt"/>
              </a:rPr>
              <a:t>об'єктів</a:t>
            </a:r>
            <a:r>
              <a:rPr lang="ru-RU" sz="2000" dirty="0">
                <a:latin typeface="+mn-lt"/>
              </a:rPr>
              <a:t>, </a:t>
            </a:r>
            <a:r>
              <a:rPr lang="ru-RU" sz="2000" dirty="0" err="1">
                <a:latin typeface="+mn-lt"/>
              </a:rPr>
              <a:t>прояв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якої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може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змінюватися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від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об'єкта</a:t>
            </a:r>
            <a:r>
              <a:rPr lang="ru-RU" sz="2000" dirty="0">
                <a:latin typeface="+mn-lt"/>
              </a:rPr>
              <a:t> до </a:t>
            </a:r>
            <a:r>
              <a:rPr lang="ru-RU" sz="2000" dirty="0" err="1">
                <a:latin typeface="+mn-lt"/>
              </a:rPr>
              <a:t>об'єкта</a:t>
            </a:r>
            <a:r>
              <a:rPr lang="ru-RU" sz="2000" dirty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b="1" dirty="0" err="1">
                <a:solidFill>
                  <a:srgbClr val="0000CC"/>
                </a:solidFill>
                <a:latin typeface="+mn-lt"/>
              </a:rPr>
              <a:t>Значення</a:t>
            </a:r>
            <a:r>
              <a:rPr lang="ru-RU" sz="2000" b="1" dirty="0">
                <a:solidFill>
                  <a:srgbClr val="0000CC"/>
                </a:solidFill>
                <a:latin typeface="+mn-lt"/>
              </a:rPr>
              <a:t> (</a:t>
            </a:r>
            <a:r>
              <a:rPr lang="ru-RU" sz="2000" b="1" dirty="0" err="1">
                <a:solidFill>
                  <a:srgbClr val="0000CC"/>
                </a:solidFill>
                <a:latin typeface="+mn-lt"/>
              </a:rPr>
              <a:t>value</a:t>
            </a:r>
            <a:r>
              <a:rPr lang="ru-RU" sz="2000" b="1" dirty="0">
                <a:solidFill>
                  <a:srgbClr val="0000CC"/>
                </a:solidFill>
                <a:latin typeface="+mn-lt"/>
              </a:rPr>
              <a:t>) </a:t>
            </a:r>
            <a:r>
              <a:rPr lang="ru-RU" sz="2000" b="1" dirty="0" err="1">
                <a:solidFill>
                  <a:srgbClr val="0000CC"/>
                </a:solidFill>
                <a:latin typeface="+mn-lt"/>
              </a:rPr>
              <a:t>змінної</a:t>
            </a:r>
            <a:r>
              <a:rPr lang="ru-RU" sz="2000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2000" dirty="0">
                <a:latin typeface="+mn-lt"/>
              </a:rPr>
              <a:t>є </a:t>
            </a:r>
            <a:r>
              <a:rPr lang="ru-RU" sz="2000" dirty="0" err="1">
                <a:latin typeface="+mn-lt"/>
              </a:rPr>
              <a:t>проявом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 smtClean="0">
                <a:latin typeface="+mn-lt"/>
              </a:rPr>
              <a:t>ознаки</a:t>
            </a:r>
            <a:r>
              <a:rPr lang="ru-RU" sz="2000" dirty="0" smtClean="0">
                <a:latin typeface="+mn-lt"/>
              </a:rPr>
              <a:t> об</a:t>
            </a:r>
            <a:r>
              <a:rPr lang="en-US" sz="2000" dirty="0" smtClean="0">
                <a:latin typeface="+mn-lt"/>
              </a:rPr>
              <a:t>’</a:t>
            </a:r>
            <a:r>
              <a:rPr lang="uk-UA" sz="2000" dirty="0" err="1" smtClean="0">
                <a:latin typeface="+mn-lt"/>
              </a:rPr>
              <a:t>єкта</a:t>
            </a:r>
            <a:r>
              <a:rPr lang="ru-RU" sz="2000" dirty="0" smtClean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dirty="0" smtClean="0">
                <a:latin typeface="+mn-lt"/>
              </a:rPr>
              <a:t>При </a:t>
            </a:r>
            <a:r>
              <a:rPr lang="ru-RU" sz="2000" dirty="0" err="1">
                <a:latin typeface="+mn-lt"/>
              </a:rPr>
              <a:t>аналізі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даних</a:t>
            </a:r>
            <a:r>
              <a:rPr lang="ru-RU" sz="2000" dirty="0">
                <a:latin typeface="+mn-lt"/>
              </a:rPr>
              <a:t>, як правило, </a:t>
            </a:r>
            <a:r>
              <a:rPr lang="ru-RU" sz="2000" dirty="0" err="1">
                <a:latin typeface="+mn-lt"/>
              </a:rPr>
              <a:t>немає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можливості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розглянути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smtClean="0">
                <a:latin typeface="+mn-lt"/>
              </a:rPr>
              <a:t>всю </a:t>
            </a:r>
            <a:r>
              <a:rPr lang="ru-RU" sz="2000" dirty="0" err="1" smtClean="0">
                <a:latin typeface="+mn-lt"/>
              </a:rPr>
              <a:t>сукупність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об'єктів</a:t>
            </a:r>
            <a:r>
              <a:rPr lang="ru-RU" sz="2000" dirty="0">
                <a:latin typeface="+mn-lt"/>
              </a:rPr>
              <a:t>. </a:t>
            </a:r>
            <a:r>
              <a:rPr lang="ru-RU" sz="2000" dirty="0" err="1">
                <a:latin typeface="+mn-lt"/>
              </a:rPr>
              <a:t>Вивчення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дуже</a:t>
            </a:r>
            <a:r>
              <a:rPr lang="ru-RU" sz="2000" dirty="0">
                <a:latin typeface="+mn-lt"/>
              </a:rPr>
              <a:t> великих </a:t>
            </a:r>
            <a:r>
              <a:rPr lang="ru-RU" sz="2000" dirty="0" err="1">
                <a:latin typeface="+mn-lt"/>
              </a:rPr>
              <a:t>обсягів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даних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smtClean="0">
                <a:latin typeface="+mn-lt"/>
              </a:rPr>
              <a:t>є дорогим </a:t>
            </a:r>
            <a:r>
              <a:rPr lang="ru-RU" sz="2000" dirty="0" err="1">
                <a:latin typeface="+mn-lt"/>
              </a:rPr>
              <a:t>процесом</a:t>
            </a:r>
            <a:r>
              <a:rPr lang="ru-RU" sz="2000" dirty="0">
                <a:latin typeface="+mn-lt"/>
              </a:rPr>
              <a:t>, </a:t>
            </a:r>
            <a:r>
              <a:rPr lang="ru-RU" sz="2000" dirty="0" err="1">
                <a:latin typeface="+mn-lt"/>
              </a:rPr>
              <a:t>що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вимагає</a:t>
            </a:r>
            <a:r>
              <a:rPr lang="ru-RU" sz="2000" dirty="0">
                <a:latin typeface="+mn-lt"/>
              </a:rPr>
              <a:t> великих затрат часу, а </a:t>
            </a:r>
            <a:r>
              <a:rPr lang="ru-RU" sz="2000" dirty="0" err="1">
                <a:latin typeface="+mn-lt"/>
              </a:rPr>
              <a:t>також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smtClean="0">
                <a:latin typeface="+mn-lt"/>
              </a:rPr>
              <a:t>неминуче </a:t>
            </a:r>
            <a:r>
              <a:rPr lang="ru-RU" sz="2000" dirty="0" err="1" smtClean="0">
                <a:latin typeface="+mn-lt"/>
              </a:rPr>
              <a:t>призводить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>
                <a:latin typeface="+mn-lt"/>
              </a:rPr>
              <a:t>до </a:t>
            </a:r>
            <a:r>
              <a:rPr lang="ru-RU" sz="2000" dirty="0" err="1">
                <a:latin typeface="+mn-lt"/>
              </a:rPr>
              <a:t>помилок</a:t>
            </a:r>
            <a:r>
              <a:rPr lang="ru-RU" sz="2000" dirty="0">
                <a:latin typeface="+mn-lt"/>
              </a:rPr>
              <a:t>, </a:t>
            </a:r>
            <a:r>
              <a:rPr lang="ru-RU" sz="2000" dirty="0" err="1">
                <a:latin typeface="+mn-lt"/>
              </a:rPr>
              <a:t>пов'язаних</a:t>
            </a:r>
            <a:r>
              <a:rPr lang="ru-RU" sz="2000" dirty="0">
                <a:latin typeface="+mn-lt"/>
              </a:rPr>
              <a:t> з </a:t>
            </a:r>
            <a:r>
              <a:rPr lang="ru-RU" sz="2000" dirty="0" err="1">
                <a:latin typeface="+mn-lt"/>
              </a:rPr>
              <a:t>людським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smtClean="0">
                <a:latin typeface="+mn-lt"/>
              </a:rPr>
              <a:t>фактором. </a:t>
            </a:r>
            <a:r>
              <a:rPr lang="ru-RU" sz="2000" dirty="0" err="1" smtClean="0">
                <a:latin typeface="+mn-lt"/>
              </a:rPr>
              <a:t>Цілком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достатньо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розглянути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деяку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частину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всієї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сукупності</a:t>
            </a:r>
            <a:r>
              <a:rPr lang="ru-RU" sz="2000" dirty="0">
                <a:latin typeface="+mn-lt"/>
              </a:rPr>
              <a:t>, </a:t>
            </a:r>
            <a:r>
              <a:rPr lang="ru-RU" sz="2000" dirty="0" err="1">
                <a:latin typeface="+mn-lt"/>
              </a:rPr>
              <a:t>тобто</a:t>
            </a:r>
            <a:r>
              <a:rPr lang="ru-RU" sz="2000" dirty="0">
                <a:latin typeface="+mn-lt"/>
              </a:rPr>
              <a:t> </a:t>
            </a:r>
            <a:r>
              <a:rPr lang="ru-RU" sz="2000" b="1" dirty="0" err="1">
                <a:latin typeface="+mn-lt"/>
              </a:rPr>
              <a:t>вибірку</a:t>
            </a:r>
            <a:r>
              <a:rPr lang="ru-RU" sz="2000" dirty="0">
                <a:latin typeface="+mn-lt"/>
              </a:rPr>
              <a:t>, </a:t>
            </a:r>
            <a:r>
              <a:rPr lang="ru-RU" sz="2000" dirty="0" smtClean="0">
                <a:latin typeface="+mn-lt"/>
              </a:rPr>
              <a:t>і </a:t>
            </a:r>
            <a:r>
              <a:rPr lang="ru-RU" sz="2000" dirty="0" err="1" smtClean="0">
                <a:latin typeface="+mn-lt"/>
              </a:rPr>
              <a:t>отримати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цікаву</a:t>
            </a:r>
            <a:r>
              <a:rPr lang="ru-RU" sz="2000" dirty="0">
                <a:latin typeface="+mn-lt"/>
              </a:rPr>
              <a:t> для нас </a:t>
            </a:r>
            <a:r>
              <a:rPr lang="ru-RU" sz="2000" dirty="0" err="1">
                <a:latin typeface="+mn-lt"/>
              </a:rPr>
              <a:t>інформацію</a:t>
            </a:r>
            <a:r>
              <a:rPr lang="ru-RU" sz="2000" dirty="0">
                <a:latin typeface="+mn-lt"/>
              </a:rPr>
              <a:t> на </a:t>
            </a:r>
            <a:r>
              <a:rPr lang="ru-RU" sz="2000" dirty="0" err="1">
                <a:latin typeface="+mn-lt"/>
              </a:rPr>
              <a:t>її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підставі</a:t>
            </a:r>
            <a:r>
              <a:rPr lang="ru-RU" sz="2000" dirty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dirty="0" err="1">
                <a:latin typeface="+mn-lt"/>
              </a:rPr>
              <a:t>Однак</a:t>
            </a:r>
            <a:r>
              <a:rPr lang="ru-RU" sz="2000" dirty="0">
                <a:latin typeface="+mn-lt"/>
              </a:rPr>
              <a:t> </a:t>
            </a:r>
            <a:r>
              <a:rPr lang="ru-RU" sz="2000" b="1" dirty="0" err="1">
                <a:solidFill>
                  <a:srgbClr val="0000CC"/>
                </a:solidFill>
                <a:latin typeface="+mn-lt"/>
              </a:rPr>
              <a:t>розмір</a:t>
            </a:r>
            <a:r>
              <a:rPr lang="ru-RU" sz="2000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2000" b="1" dirty="0" err="1">
                <a:solidFill>
                  <a:srgbClr val="0000CC"/>
                </a:solidFill>
                <a:latin typeface="+mn-lt"/>
              </a:rPr>
              <a:t>вибірки</a:t>
            </a:r>
            <a:r>
              <a:rPr lang="ru-RU" sz="2000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2000" dirty="0">
                <a:latin typeface="+mn-lt"/>
              </a:rPr>
              <a:t>повинен </a:t>
            </a:r>
            <a:r>
              <a:rPr lang="ru-RU" sz="2000" dirty="0" err="1">
                <a:latin typeface="+mn-lt"/>
              </a:rPr>
              <a:t>залежати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від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різноманітності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об'єктів</a:t>
            </a:r>
            <a:r>
              <a:rPr lang="ru-RU" sz="2000" dirty="0">
                <a:latin typeface="+mn-lt"/>
              </a:rPr>
              <a:t>, </a:t>
            </a:r>
            <a:r>
              <a:rPr lang="ru-RU" sz="2000" dirty="0" err="1">
                <a:latin typeface="+mn-lt"/>
              </a:rPr>
              <a:t>представлених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smtClean="0">
                <a:latin typeface="+mn-lt"/>
              </a:rPr>
              <a:t>в </a:t>
            </a:r>
            <a:r>
              <a:rPr lang="ru-RU" sz="2000" dirty="0" err="1" smtClean="0">
                <a:latin typeface="+mn-lt"/>
              </a:rPr>
              <a:t>генеральної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сукупності</a:t>
            </a:r>
            <a:r>
              <a:rPr lang="ru-RU" sz="2000" dirty="0">
                <a:latin typeface="+mn-lt"/>
              </a:rPr>
              <a:t>. У </a:t>
            </a:r>
            <a:r>
              <a:rPr lang="ru-RU" sz="2000" dirty="0" err="1">
                <a:latin typeface="+mn-lt"/>
              </a:rPr>
              <a:t>вибірці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повинні</a:t>
            </a:r>
            <a:r>
              <a:rPr lang="ru-RU" sz="2000" dirty="0">
                <a:latin typeface="+mn-lt"/>
              </a:rPr>
              <a:t> бути </a:t>
            </a:r>
            <a:r>
              <a:rPr lang="ru-RU" sz="2000" dirty="0" err="1">
                <a:latin typeface="+mn-lt"/>
              </a:rPr>
              <a:t>представлені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різні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 smtClean="0">
                <a:latin typeface="+mn-lt"/>
              </a:rPr>
              <a:t>комбінації</a:t>
            </a:r>
            <a:r>
              <a:rPr lang="ru-RU" sz="2000" dirty="0" smtClean="0">
                <a:latin typeface="+mn-lt"/>
              </a:rPr>
              <a:t> і </a:t>
            </a:r>
            <a:r>
              <a:rPr lang="ru-RU" sz="2000" dirty="0" err="1">
                <a:latin typeface="+mn-lt"/>
              </a:rPr>
              <a:t>елементи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генеральної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сукупності</a:t>
            </a:r>
            <a:r>
              <a:rPr lang="ru-RU" sz="2000" dirty="0" smtClean="0">
                <a:latin typeface="+mn-lt"/>
              </a:rPr>
              <a:t>.</a:t>
            </a:r>
            <a:endParaRPr lang="ru-RU" sz="2000" dirty="0"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53699"/>
            <a:ext cx="91439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 err="1" smtClean="0">
                <a:solidFill>
                  <a:schemeClr val="bg1"/>
                </a:solidFill>
                <a:latin typeface="+mn-lt"/>
              </a:rPr>
              <a:t>Змінна</a:t>
            </a:r>
            <a:r>
              <a:rPr lang="ru-RU" sz="4000" b="1" dirty="0" smtClean="0">
                <a:solidFill>
                  <a:schemeClr val="bg1"/>
                </a:solidFill>
                <a:latin typeface="+mn-lt"/>
              </a:rPr>
              <a:t> та </a:t>
            </a:r>
            <a:r>
              <a:rPr lang="ru-RU" sz="4000" b="1" dirty="0" err="1" smtClean="0">
                <a:solidFill>
                  <a:schemeClr val="bg1"/>
                </a:solidFill>
                <a:latin typeface="+mn-lt"/>
              </a:rPr>
              <a:t>її</a:t>
            </a:r>
            <a:r>
              <a:rPr lang="ru-RU" sz="40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4000" b="1" dirty="0" err="1" smtClean="0">
                <a:solidFill>
                  <a:schemeClr val="bg1"/>
                </a:solidFill>
                <a:latin typeface="+mn-lt"/>
              </a:rPr>
              <a:t>значення</a:t>
            </a:r>
            <a:endParaRPr lang="ru-RU" sz="40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8221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0800" y="905327"/>
            <a:ext cx="912368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b="1" dirty="0" err="1" smtClean="0">
                <a:solidFill>
                  <a:srgbClr val="0000CC"/>
                </a:solidFill>
                <a:latin typeface="+mn-lt"/>
              </a:rPr>
              <a:t>Генеральна</a:t>
            </a:r>
            <a:r>
              <a:rPr lang="ru-RU" sz="2000" b="1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2000" b="1" dirty="0" err="1">
                <a:solidFill>
                  <a:srgbClr val="0000CC"/>
                </a:solidFill>
                <a:latin typeface="+mn-lt"/>
              </a:rPr>
              <a:t>сукупність</a:t>
            </a:r>
            <a:r>
              <a:rPr lang="ru-RU" sz="2000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2000" dirty="0">
                <a:latin typeface="+mn-lt"/>
              </a:rPr>
              <a:t>(</a:t>
            </a:r>
            <a:r>
              <a:rPr lang="en-GB" sz="2000" dirty="0">
                <a:latin typeface="+mn-lt"/>
              </a:rPr>
              <a:t>population) - </a:t>
            </a:r>
            <a:r>
              <a:rPr lang="ru-RU" sz="2000" dirty="0">
                <a:latin typeface="+mn-lt"/>
              </a:rPr>
              <a:t>вся </a:t>
            </a:r>
            <a:r>
              <a:rPr lang="ru-RU" sz="2000" dirty="0" err="1">
                <a:latin typeface="+mn-lt"/>
              </a:rPr>
              <a:t>сукупність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досліджуваних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об'єктів</a:t>
            </a:r>
            <a:r>
              <a:rPr lang="ru-RU" sz="2000" dirty="0" smtClean="0">
                <a:latin typeface="+mn-lt"/>
              </a:rPr>
              <a:t>, </a:t>
            </a:r>
            <a:r>
              <a:rPr lang="ru-RU" sz="2000" dirty="0" err="1" smtClean="0">
                <a:latin typeface="+mn-lt"/>
              </a:rPr>
              <a:t>що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 err="1" smtClean="0">
                <a:latin typeface="+mn-lt"/>
              </a:rPr>
              <a:t>цікавить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дослідника</a:t>
            </a:r>
            <a:r>
              <a:rPr lang="ru-RU" sz="2000" dirty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b="1" dirty="0" err="1">
                <a:solidFill>
                  <a:srgbClr val="0000CC"/>
                </a:solidFill>
                <a:latin typeface="+mn-lt"/>
              </a:rPr>
              <a:t>Вибірка</a:t>
            </a:r>
            <a:r>
              <a:rPr lang="ru-RU" sz="2000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2000" dirty="0">
                <a:latin typeface="+mn-lt"/>
              </a:rPr>
              <a:t>(</a:t>
            </a:r>
            <a:r>
              <a:rPr lang="en-GB" sz="2000" dirty="0">
                <a:latin typeface="+mn-lt"/>
              </a:rPr>
              <a:t>sample) - </a:t>
            </a:r>
            <a:r>
              <a:rPr lang="ru-RU" sz="2000" dirty="0" err="1">
                <a:latin typeface="+mn-lt"/>
              </a:rPr>
              <a:t>частина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генеральної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сукупності</a:t>
            </a:r>
            <a:r>
              <a:rPr lang="ru-RU" sz="2000" dirty="0">
                <a:latin typeface="+mn-lt"/>
              </a:rPr>
              <a:t>, </a:t>
            </a:r>
            <a:r>
              <a:rPr lang="ru-RU" sz="2000" dirty="0" err="1">
                <a:latin typeface="+mn-lt"/>
              </a:rPr>
              <a:t>певним</a:t>
            </a:r>
            <a:r>
              <a:rPr lang="ru-RU" sz="2000" dirty="0">
                <a:latin typeface="+mn-lt"/>
              </a:rPr>
              <a:t> способом </a:t>
            </a:r>
            <a:r>
              <a:rPr lang="ru-RU" sz="2000" dirty="0" err="1" smtClean="0">
                <a:latin typeface="+mn-lt"/>
              </a:rPr>
              <a:t>відібрана</a:t>
            </a:r>
            <a:r>
              <a:rPr lang="ru-RU" sz="2000" dirty="0" smtClean="0">
                <a:latin typeface="+mn-lt"/>
              </a:rPr>
              <a:t> з </a:t>
            </a:r>
            <a:r>
              <a:rPr lang="ru-RU" sz="2000" dirty="0">
                <a:latin typeface="+mn-lt"/>
              </a:rPr>
              <a:t>метою </a:t>
            </a:r>
            <a:r>
              <a:rPr lang="ru-RU" sz="2000" dirty="0" err="1">
                <a:latin typeface="+mn-lt"/>
              </a:rPr>
              <a:t>дослідження</a:t>
            </a:r>
            <a:r>
              <a:rPr lang="ru-RU" sz="2000" dirty="0">
                <a:latin typeface="+mn-lt"/>
              </a:rPr>
              <a:t> і </a:t>
            </a:r>
            <a:r>
              <a:rPr lang="ru-RU" sz="2000" dirty="0" err="1">
                <a:latin typeface="+mn-lt"/>
              </a:rPr>
              <a:t>отримання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висновків</a:t>
            </a:r>
            <a:r>
              <a:rPr lang="ru-RU" sz="2000" dirty="0">
                <a:latin typeface="+mn-lt"/>
              </a:rPr>
              <a:t> про </a:t>
            </a:r>
            <a:r>
              <a:rPr lang="ru-RU" sz="2000" dirty="0" err="1">
                <a:latin typeface="+mn-lt"/>
              </a:rPr>
              <a:t>властивості</a:t>
            </a:r>
            <a:r>
              <a:rPr lang="ru-RU" sz="2000" dirty="0">
                <a:latin typeface="+mn-lt"/>
              </a:rPr>
              <a:t> та характеристики </a:t>
            </a:r>
            <a:r>
              <a:rPr lang="ru-RU" sz="2000" dirty="0" err="1" smtClean="0">
                <a:latin typeface="+mn-lt"/>
              </a:rPr>
              <a:t>генеральної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 err="1" smtClean="0">
                <a:latin typeface="+mn-lt"/>
              </a:rPr>
              <a:t>сукупності</a:t>
            </a:r>
            <a:r>
              <a:rPr lang="ru-RU" sz="2000" dirty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b="1" dirty="0" err="1">
                <a:solidFill>
                  <a:srgbClr val="0000CC"/>
                </a:solidFill>
                <a:latin typeface="+mn-lt"/>
              </a:rPr>
              <a:t>Параметри</a:t>
            </a:r>
            <a:r>
              <a:rPr lang="ru-RU" sz="2000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2000" dirty="0">
                <a:latin typeface="+mn-lt"/>
              </a:rPr>
              <a:t>- </a:t>
            </a:r>
            <a:r>
              <a:rPr lang="ru-RU" sz="2000" dirty="0" err="1">
                <a:latin typeface="+mn-lt"/>
              </a:rPr>
              <a:t>числові</a:t>
            </a:r>
            <a:r>
              <a:rPr lang="ru-RU" sz="2000" dirty="0">
                <a:latin typeface="+mn-lt"/>
              </a:rPr>
              <a:t> характеристики </a:t>
            </a:r>
            <a:r>
              <a:rPr lang="ru-RU" sz="2000" b="1" dirty="0" err="1">
                <a:latin typeface="+mn-lt"/>
              </a:rPr>
              <a:t>генеральної</a:t>
            </a:r>
            <a:r>
              <a:rPr lang="ru-RU" sz="2000" b="1" dirty="0">
                <a:latin typeface="+mn-lt"/>
              </a:rPr>
              <a:t> </a:t>
            </a:r>
            <a:r>
              <a:rPr lang="ru-RU" sz="2000" b="1" dirty="0" err="1">
                <a:latin typeface="+mn-lt"/>
              </a:rPr>
              <a:t>сукупності</a:t>
            </a:r>
            <a:r>
              <a:rPr lang="ru-RU" sz="2000" dirty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b="1" dirty="0">
                <a:solidFill>
                  <a:srgbClr val="0000CC"/>
                </a:solidFill>
                <a:latin typeface="+mn-lt"/>
              </a:rPr>
              <a:t>Статистики</a:t>
            </a:r>
            <a:r>
              <a:rPr lang="ru-RU" sz="2000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2000" dirty="0">
                <a:latin typeface="+mn-lt"/>
              </a:rPr>
              <a:t>- </a:t>
            </a:r>
            <a:r>
              <a:rPr lang="ru-RU" sz="2000" dirty="0" err="1">
                <a:latin typeface="+mn-lt"/>
              </a:rPr>
              <a:t>числові</a:t>
            </a:r>
            <a:r>
              <a:rPr lang="ru-RU" sz="2000" dirty="0">
                <a:latin typeface="+mn-lt"/>
              </a:rPr>
              <a:t> характеристики </a:t>
            </a:r>
            <a:r>
              <a:rPr lang="ru-RU" sz="2000" b="1" dirty="0" err="1">
                <a:latin typeface="+mn-lt"/>
              </a:rPr>
              <a:t>вибірки</a:t>
            </a:r>
            <a:r>
              <a:rPr lang="ru-RU" sz="2000" dirty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dirty="0">
                <a:latin typeface="+mn-lt"/>
              </a:rPr>
              <a:t>Часто </a:t>
            </a:r>
            <a:r>
              <a:rPr lang="ru-RU" sz="2000" dirty="0" err="1">
                <a:latin typeface="+mn-lt"/>
              </a:rPr>
              <a:t>дослідження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ґрунтуються</a:t>
            </a:r>
            <a:r>
              <a:rPr lang="ru-RU" sz="2000" dirty="0">
                <a:latin typeface="+mn-lt"/>
              </a:rPr>
              <a:t> на </a:t>
            </a:r>
            <a:r>
              <a:rPr lang="ru-RU" sz="2000" dirty="0" err="1">
                <a:latin typeface="+mn-lt"/>
              </a:rPr>
              <a:t>гіпотезах</a:t>
            </a:r>
            <a:r>
              <a:rPr lang="ru-RU" sz="2000" dirty="0">
                <a:latin typeface="+mn-lt"/>
              </a:rPr>
              <a:t>. </a:t>
            </a:r>
            <a:r>
              <a:rPr lang="ru-RU" sz="2000" b="1" dirty="0" err="1">
                <a:latin typeface="+mn-lt"/>
              </a:rPr>
              <a:t>Гіпотези</a:t>
            </a:r>
            <a:r>
              <a:rPr lang="ru-RU" sz="2000" b="1" dirty="0">
                <a:latin typeface="+mn-lt"/>
              </a:rPr>
              <a:t> </a:t>
            </a:r>
            <a:r>
              <a:rPr lang="ru-RU" sz="2000" b="1" dirty="0" err="1">
                <a:latin typeface="+mn-lt"/>
              </a:rPr>
              <a:t>перевіряються</a:t>
            </a:r>
            <a:r>
              <a:rPr lang="ru-RU" sz="2000" b="1" dirty="0">
                <a:latin typeface="+mn-lt"/>
              </a:rPr>
              <a:t> за </a:t>
            </a:r>
            <a:r>
              <a:rPr lang="ru-RU" sz="2000" b="1" dirty="0" err="1" smtClean="0">
                <a:latin typeface="+mn-lt"/>
              </a:rPr>
              <a:t>допомогою</a:t>
            </a:r>
            <a:r>
              <a:rPr lang="ru-RU" sz="2000" b="1" dirty="0" smtClean="0">
                <a:latin typeface="+mn-lt"/>
              </a:rPr>
              <a:t> </a:t>
            </a:r>
            <a:r>
              <a:rPr lang="ru-RU" sz="2000" b="1" dirty="0" err="1" smtClean="0">
                <a:latin typeface="+mn-lt"/>
              </a:rPr>
              <a:t>даних</a:t>
            </a:r>
            <a:r>
              <a:rPr lang="ru-RU" sz="2000" dirty="0">
                <a:latin typeface="+mn-lt"/>
              </a:rPr>
              <a:t>. </a:t>
            </a:r>
            <a:endParaRPr lang="ru-RU" sz="2000" dirty="0" smtClean="0"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-4100" y="0"/>
            <a:ext cx="9148100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900" b="1" dirty="0" err="1">
                <a:solidFill>
                  <a:schemeClr val="bg1"/>
                </a:solidFill>
                <a:latin typeface="+mn-lt"/>
              </a:rPr>
              <a:t>Генеральна</a:t>
            </a:r>
            <a:r>
              <a:rPr lang="ru-RU" sz="29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2900" b="1" dirty="0" err="1" smtClean="0">
                <a:solidFill>
                  <a:schemeClr val="bg1"/>
                </a:solidFill>
                <a:latin typeface="+mn-lt"/>
              </a:rPr>
              <a:t>сукупність</a:t>
            </a:r>
            <a:r>
              <a:rPr lang="ru-RU" sz="2900" b="1" dirty="0" smtClean="0">
                <a:solidFill>
                  <a:schemeClr val="bg1"/>
                </a:solidFill>
                <a:latin typeface="+mn-lt"/>
              </a:rPr>
              <a:t>, </a:t>
            </a:r>
            <a:r>
              <a:rPr lang="ru-RU" sz="2900" b="1" dirty="0" err="1" smtClean="0">
                <a:solidFill>
                  <a:schemeClr val="bg1"/>
                </a:solidFill>
                <a:latin typeface="+mn-lt"/>
              </a:rPr>
              <a:t>вибірка</a:t>
            </a:r>
            <a:r>
              <a:rPr lang="ru-RU" sz="2900" b="1" dirty="0" smtClean="0">
                <a:solidFill>
                  <a:schemeClr val="bg1"/>
                </a:solidFill>
                <a:latin typeface="+mn-lt"/>
              </a:rPr>
              <a:t>, </a:t>
            </a:r>
            <a:r>
              <a:rPr lang="ru-RU" sz="2900" b="1" dirty="0" err="1" smtClean="0">
                <a:solidFill>
                  <a:schemeClr val="bg1"/>
                </a:solidFill>
                <a:latin typeface="+mn-lt"/>
              </a:rPr>
              <a:t>параметри</a:t>
            </a:r>
            <a:r>
              <a:rPr lang="ru-RU" sz="2900" b="1" dirty="0" smtClean="0">
                <a:solidFill>
                  <a:schemeClr val="bg1"/>
                </a:solidFill>
                <a:latin typeface="+mn-lt"/>
              </a:rPr>
              <a:t>, статистики </a:t>
            </a:r>
            <a:endParaRPr lang="ru-RU" sz="29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8902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0800" y="763087"/>
            <a:ext cx="91236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800" b="1" dirty="0" err="1" smtClean="0">
                <a:solidFill>
                  <a:srgbClr val="0000CC"/>
                </a:solidFill>
                <a:latin typeface="+mn-lt"/>
              </a:rPr>
              <a:t>Гіпотеза</a:t>
            </a:r>
            <a:r>
              <a:rPr lang="ru-RU" sz="1800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800" dirty="0">
                <a:latin typeface="+mn-lt"/>
              </a:rPr>
              <a:t>- </a:t>
            </a:r>
            <a:r>
              <a:rPr lang="ru-RU" sz="1800" dirty="0" err="1">
                <a:latin typeface="+mn-lt"/>
              </a:rPr>
              <a:t>припущення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щодо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параметрів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сукупності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об'єктів</a:t>
            </a:r>
            <a:r>
              <a:rPr lang="ru-RU" sz="1800" dirty="0" smtClean="0">
                <a:latin typeface="+mn-lt"/>
              </a:rPr>
              <a:t>, яке </a:t>
            </a:r>
            <a:r>
              <a:rPr lang="ru-RU" sz="1800" dirty="0">
                <a:latin typeface="+mn-lt"/>
              </a:rPr>
              <a:t>повинно бути </a:t>
            </a:r>
            <a:r>
              <a:rPr lang="ru-RU" sz="1800" dirty="0" err="1">
                <a:latin typeface="+mn-lt"/>
              </a:rPr>
              <a:t>перевірено</a:t>
            </a:r>
            <a:r>
              <a:rPr lang="ru-RU" sz="1800" dirty="0">
                <a:latin typeface="+mn-lt"/>
              </a:rPr>
              <a:t> на </a:t>
            </a:r>
            <a:r>
              <a:rPr lang="ru-RU" sz="1800" dirty="0" err="1">
                <a:latin typeface="+mn-lt"/>
              </a:rPr>
              <a:t>її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частині</a:t>
            </a:r>
            <a:r>
              <a:rPr lang="ru-RU" sz="1800" dirty="0" smtClean="0">
                <a:latin typeface="+mn-lt"/>
              </a:rPr>
              <a:t>. </a:t>
            </a:r>
          </a:p>
          <a:p>
            <a:pPr algn="l"/>
            <a:r>
              <a:rPr lang="ru-RU" sz="1800" b="1" dirty="0" err="1" smtClean="0">
                <a:solidFill>
                  <a:srgbClr val="0000CC"/>
                </a:solidFill>
                <a:latin typeface="+mn-lt"/>
              </a:rPr>
              <a:t>Гіпотеза</a:t>
            </a:r>
            <a:r>
              <a:rPr lang="ru-RU" sz="1800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800" dirty="0">
                <a:latin typeface="+mn-lt"/>
              </a:rPr>
              <a:t>- </a:t>
            </a:r>
            <a:r>
              <a:rPr lang="ru-RU" sz="1800" dirty="0" err="1">
                <a:latin typeface="+mn-lt"/>
              </a:rPr>
              <a:t>частково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обґрунтована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закономірність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знань</a:t>
            </a:r>
            <a:r>
              <a:rPr lang="ru-RU" sz="1800" dirty="0">
                <a:latin typeface="+mn-lt"/>
              </a:rPr>
              <a:t>, </a:t>
            </a:r>
            <a:r>
              <a:rPr lang="ru-RU" sz="1800" dirty="0" err="1">
                <a:latin typeface="+mn-lt"/>
              </a:rPr>
              <a:t>що</a:t>
            </a:r>
            <a:r>
              <a:rPr lang="ru-RU" sz="1800" dirty="0">
                <a:latin typeface="+mn-lt"/>
              </a:rPr>
              <a:t> служить </a:t>
            </a:r>
            <a:r>
              <a:rPr lang="ru-RU" sz="1800" dirty="0" err="1">
                <a:latin typeface="+mn-lt"/>
              </a:rPr>
              <a:t>або</a:t>
            </a:r>
            <a:r>
              <a:rPr lang="ru-RU" sz="1800" dirty="0">
                <a:latin typeface="+mn-lt"/>
              </a:rPr>
              <a:t> для </a:t>
            </a:r>
            <a:r>
              <a:rPr lang="ru-RU" sz="1800" dirty="0" err="1" smtClean="0">
                <a:latin typeface="+mn-lt"/>
              </a:rPr>
              <a:t>зв'язку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між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різними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емпіричними</a:t>
            </a:r>
            <a:r>
              <a:rPr lang="ru-RU" sz="1800" dirty="0">
                <a:latin typeface="+mn-lt"/>
              </a:rPr>
              <a:t> фактами, </a:t>
            </a:r>
            <a:r>
              <a:rPr lang="ru-RU" sz="1800" dirty="0" err="1">
                <a:latin typeface="+mn-lt"/>
              </a:rPr>
              <a:t>або</a:t>
            </a:r>
            <a:r>
              <a:rPr lang="ru-RU" sz="1800" dirty="0">
                <a:latin typeface="+mn-lt"/>
              </a:rPr>
              <a:t> для </a:t>
            </a:r>
            <a:r>
              <a:rPr lang="ru-RU" sz="1800" dirty="0" err="1">
                <a:latin typeface="+mn-lt"/>
              </a:rPr>
              <a:t>пояснення</a:t>
            </a:r>
            <a:r>
              <a:rPr lang="ru-RU" sz="1800" dirty="0">
                <a:latin typeface="+mn-lt"/>
              </a:rPr>
              <a:t> факту </a:t>
            </a:r>
            <a:r>
              <a:rPr lang="ru-RU" sz="1800" dirty="0" err="1">
                <a:latin typeface="+mn-lt"/>
              </a:rPr>
              <a:t>або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групи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фактів</a:t>
            </a:r>
            <a:r>
              <a:rPr lang="ru-RU" sz="1800" dirty="0">
                <a:latin typeface="+mn-lt"/>
              </a:rPr>
              <a:t>.</a:t>
            </a:r>
          </a:p>
          <a:p>
            <a:pPr marL="355600" lvl="3" algn="l"/>
            <a:r>
              <a:rPr lang="ru-RU" sz="1800" dirty="0" smtClean="0">
                <a:solidFill>
                  <a:srgbClr val="008000"/>
                </a:solidFill>
                <a:latin typeface="+mn-lt"/>
              </a:rPr>
              <a:t>Приклад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гіпотези</a:t>
            </a:r>
            <a:r>
              <a:rPr lang="ru-RU" sz="1800" dirty="0">
                <a:latin typeface="+mn-lt"/>
              </a:rPr>
              <a:t>: </a:t>
            </a:r>
            <a:r>
              <a:rPr lang="ru-RU" sz="1800" dirty="0" err="1">
                <a:latin typeface="+mn-lt"/>
              </a:rPr>
              <a:t>між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показниками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тривалості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життя</a:t>
            </a:r>
            <a:r>
              <a:rPr lang="ru-RU" sz="1800" dirty="0">
                <a:latin typeface="+mn-lt"/>
              </a:rPr>
              <a:t> і </a:t>
            </a:r>
            <a:r>
              <a:rPr lang="ru-RU" sz="1800" dirty="0" err="1">
                <a:latin typeface="+mn-lt"/>
              </a:rPr>
              <a:t>якістю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харчування</a:t>
            </a:r>
            <a:r>
              <a:rPr lang="ru-RU" sz="1800" dirty="0" smtClean="0">
                <a:latin typeface="+mn-lt"/>
              </a:rPr>
              <a:t> є </a:t>
            </a:r>
            <a:r>
              <a:rPr lang="ru-RU" sz="1800" dirty="0" err="1">
                <a:latin typeface="+mn-lt"/>
              </a:rPr>
              <a:t>зв'язок</a:t>
            </a:r>
            <a:r>
              <a:rPr lang="ru-RU" sz="1800" dirty="0">
                <a:latin typeface="+mn-lt"/>
              </a:rPr>
              <a:t>. </a:t>
            </a:r>
            <a:endParaRPr lang="ru-RU" sz="1800" dirty="0" smtClean="0">
              <a:latin typeface="+mn-lt"/>
            </a:endParaRPr>
          </a:p>
          <a:p>
            <a:pPr marL="355600" lvl="3" algn="l"/>
            <a:r>
              <a:rPr lang="ru-RU" sz="1800" dirty="0" smtClean="0">
                <a:latin typeface="+mn-lt"/>
              </a:rPr>
              <a:t>У </a:t>
            </a:r>
            <a:r>
              <a:rPr lang="ru-RU" sz="1800" dirty="0" err="1">
                <a:latin typeface="+mn-lt"/>
              </a:rPr>
              <a:t>цьому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випадку</a:t>
            </a:r>
            <a:r>
              <a:rPr lang="ru-RU" sz="1800" dirty="0">
                <a:latin typeface="+mn-lt"/>
              </a:rPr>
              <a:t> метою </a:t>
            </a:r>
            <a:r>
              <a:rPr lang="ru-RU" sz="1800" dirty="0" err="1">
                <a:latin typeface="+mn-lt"/>
              </a:rPr>
              <a:t>дослідження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може</a:t>
            </a:r>
            <a:r>
              <a:rPr lang="ru-RU" sz="1800" dirty="0">
                <a:latin typeface="+mn-lt"/>
              </a:rPr>
              <a:t> бути </a:t>
            </a:r>
            <a:r>
              <a:rPr lang="ru-RU" sz="1800" dirty="0" err="1">
                <a:latin typeface="+mn-lt"/>
              </a:rPr>
              <a:t>пояснення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змін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тривалості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життя</a:t>
            </a:r>
            <a:r>
              <a:rPr lang="ru-RU" sz="1800" dirty="0">
                <a:latin typeface="+mn-lt"/>
              </a:rPr>
              <a:t>. </a:t>
            </a:r>
            <a:r>
              <a:rPr lang="ru-RU" sz="1800" dirty="0" err="1" smtClean="0">
                <a:latin typeface="+mn-lt"/>
              </a:rPr>
              <a:t>Припустимо</a:t>
            </a:r>
            <a:r>
              <a:rPr lang="ru-RU" sz="1800" dirty="0" smtClean="0">
                <a:latin typeface="+mn-lt"/>
              </a:rPr>
              <a:t>, </a:t>
            </a:r>
            <a:r>
              <a:rPr lang="ru-RU" sz="1800" dirty="0" err="1" smtClean="0">
                <a:latin typeface="+mn-lt"/>
              </a:rPr>
              <a:t>існує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гіпотеза</a:t>
            </a:r>
            <a:r>
              <a:rPr lang="ru-RU" sz="1800" dirty="0">
                <a:latin typeface="+mn-lt"/>
              </a:rPr>
              <a:t>, </a:t>
            </a:r>
            <a:r>
              <a:rPr lang="ru-RU" sz="1800" dirty="0" err="1">
                <a:latin typeface="+mn-lt"/>
              </a:rPr>
              <a:t>що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залежна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змінна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(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тривалість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життя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)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змінюється</a:t>
            </a:r>
            <a:endParaRPr lang="ru-RU" sz="1800" dirty="0">
              <a:solidFill>
                <a:srgbClr val="C00000"/>
              </a:solidFill>
              <a:latin typeface="+mn-lt"/>
            </a:endParaRPr>
          </a:p>
          <a:p>
            <a:pPr marL="355600" lvl="3" algn="l"/>
            <a:r>
              <a:rPr lang="ru-RU" sz="1800" dirty="0">
                <a:solidFill>
                  <a:srgbClr val="C00000"/>
                </a:solidFill>
                <a:latin typeface="+mn-lt"/>
              </a:rPr>
              <a:t>в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залежності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від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деяких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причин (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якість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харчування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,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спосіб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життя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,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місце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проживання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та</a:t>
            </a:r>
          </a:p>
          <a:p>
            <a:pPr marL="355600" algn="l"/>
            <a:r>
              <a:rPr lang="ru-RU" sz="1800" dirty="0">
                <a:solidFill>
                  <a:srgbClr val="C00000"/>
                </a:solidFill>
                <a:latin typeface="+mn-lt"/>
              </a:rPr>
              <a:t>т.д.), </a:t>
            </a:r>
            <a:r>
              <a:rPr lang="ru-RU" sz="1800" dirty="0" err="1">
                <a:solidFill>
                  <a:srgbClr val="C00000"/>
                </a:solidFill>
                <a:latin typeface="+mn-lt"/>
              </a:rPr>
              <a:t>які</a:t>
            </a:r>
            <a:r>
              <a:rPr lang="ru-RU" sz="1800" dirty="0">
                <a:solidFill>
                  <a:srgbClr val="C00000"/>
                </a:solidFill>
                <a:latin typeface="+mn-lt"/>
              </a:rPr>
              <a:t> і є </a:t>
            </a:r>
            <a:r>
              <a:rPr lang="ru-RU" sz="1800" b="1" dirty="0" err="1">
                <a:solidFill>
                  <a:srgbClr val="C00000"/>
                </a:solidFill>
                <a:latin typeface="+mn-lt"/>
              </a:rPr>
              <a:t>незалежними</a:t>
            </a:r>
            <a:r>
              <a:rPr lang="ru-RU" sz="1800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1800" b="1" dirty="0" err="1">
                <a:solidFill>
                  <a:srgbClr val="C00000"/>
                </a:solidFill>
                <a:latin typeface="+mn-lt"/>
              </a:rPr>
              <a:t>змінними</a:t>
            </a:r>
            <a:r>
              <a:rPr lang="ru-RU" sz="1800" dirty="0">
                <a:latin typeface="+mn-lt"/>
              </a:rPr>
              <a:t>.</a:t>
            </a:r>
          </a:p>
          <a:p>
            <a:pPr marL="641350" indent="-285750" algn="l">
              <a:buFont typeface="Wingdings" panose="05000000000000000000" pitchFamily="2" charset="2"/>
              <a:buChar char="Ø"/>
            </a:pPr>
            <a:r>
              <a:rPr lang="ru-RU" sz="1800" dirty="0" err="1">
                <a:latin typeface="+mn-lt"/>
              </a:rPr>
              <a:t>Однак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змінна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спочатку</a:t>
            </a:r>
            <a:r>
              <a:rPr lang="ru-RU" sz="1800" dirty="0">
                <a:latin typeface="+mn-lt"/>
              </a:rPr>
              <a:t> не є залежною </a:t>
            </a:r>
            <a:r>
              <a:rPr lang="ru-RU" sz="1800" dirty="0" err="1">
                <a:latin typeface="+mn-lt"/>
              </a:rPr>
              <a:t>або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незалежною</a:t>
            </a:r>
            <a:r>
              <a:rPr lang="ru-RU" sz="1800" dirty="0">
                <a:latin typeface="+mn-lt"/>
              </a:rPr>
              <a:t>. </a:t>
            </a:r>
            <a:endParaRPr lang="ru-RU" sz="1800" dirty="0" smtClean="0">
              <a:latin typeface="+mn-lt"/>
            </a:endParaRPr>
          </a:p>
          <a:p>
            <a:pPr marL="641350" indent="-285750" algn="l">
              <a:buFont typeface="Wingdings" panose="05000000000000000000" pitchFamily="2" charset="2"/>
              <a:buChar char="Ø"/>
            </a:pPr>
            <a:r>
              <a:rPr lang="ru-RU" sz="1800" dirty="0" err="1" smtClean="0">
                <a:latin typeface="+mn-lt"/>
              </a:rPr>
              <a:t>Змінна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стає</a:t>
            </a:r>
            <a:r>
              <a:rPr lang="ru-RU" sz="1800" dirty="0" smtClean="0">
                <a:latin typeface="+mn-lt"/>
              </a:rPr>
              <a:t> такою </a:t>
            </a:r>
            <a:r>
              <a:rPr lang="ru-RU" sz="1800" dirty="0" err="1">
                <a:latin typeface="+mn-lt"/>
              </a:rPr>
              <a:t>після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формулювання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конкретної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гіпотези</a:t>
            </a:r>
            <a:r>
              <a:rPr lang="ru-RU" sz="1800" dirty="0">
                <a:latin typeface="+mn-lt"/>
              </a:rPr>
              <a:t>. </a:t>
            </a:r>
            <a:endParaRPr lang="ru-RU" sz="1800" dirty="0" smtClean="0">
              <a:latin typeface="+mn-lt"/>
            </a:endParaRPr>
          </a:p>
          <a:p>
            <a:pPr marL="641350" indent="-285750" algn="l">
              <a:buFont typeface="Wingdings" panose="05000000000000000000" pitchFamily="2" charset="2"/>
              <a:buChar char="Ø"/>
            </a:pPr>
            <a:r>
              <a:rPr lang="ru-RU" sz="1800" b="1" dirty="0" err="1" smtClean="0">
                <a:latin typeface="+mn-lt"/>
              </a:rPr>
              <a:t>Залежна</a:t>
            </a:r>
            <a:r>
              <a:rPr lang="ru-RU" sz="1800" b="1" dirty="0" smtClean="0">
                <a:latin typeface="+mn-lt"/>
              </a:rPr>
              <a:t> </a:t>
            </a:r>
            <a:r>
              <a:rPr lang="ru-RU" sz="1800" b="1" dirty="0" err="1">
                <a:latin typeface="+mn-lt"/>
              </a:rPr>
              <a:t>змінна</a:t>
            </a:r>
            <a:r>
              <a:rPr lang="ru-RU" sz="1800" b="1" dirty="0">
                <a:latin typeface="+mn-lt"/>
              </a:rPr>
              <a:t> </a:t>
            </a:r>
            <a:r>
              <a:rPr lang="ru-RU" sz="1800" dirty="0">
                <a:latin typeface="+mn-lt"/>
              </a:rPr>
              <a:t>в </a:t>
            </a:r>
            <a:r>
              <a:rPr lang="ru-RU" sz="1800" dirty="0" err="1" smtClean="0">
                <a:latin typeface="+mn-lt"/>
              </a:rPr>
              <a:t>одній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гіпотезі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може</a:t>
            </a:r>
            <a:r>
              <a:rPr lang="ru-RU" sz="1800" dirty="0">
                <a:latin typeface="+mn-lt"/>
              </a:rPr>
              <a:t> бути </a:t>
            </a:r>
            <a:r>
              <a:rPr lang="ru-RU" sz="1800" dirty="0" err="1">
                <a:latin typeface="+mn-lt"/>
              </a:rPr>
              <a:t>незалежною</a:t>
            </a:r>
            <a:r>
              <a:rPr lang="ru-RU" sz="1800" dirty="0">
                <a:latin typeface="+mn-lt"/>
              </a:rPr>
              <a:t> в </a:t>
            </a:r>
            <a:r>
              <a:rPr lang="ru-RU" sz="1800" dirty="0" err="1">
                <a:latin typeface="+mn-lt"/>
              </a:rPr>
              <a:t>інший</a:t>
            </a:r>
            <a:r>
              <a:rPr lang="ru-RU" sz="1800" dirty="0">
                <a:latin typeface="+mn-lt"/>
              </a:rPr>
              <a:t>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53699"/>
            <a:ext cx="91439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 err="1" smtClean="0">
                <a:solidFill>
                  <a:schemeClr val="bg1"/>
                </a:solidFill>
                <a:latin typeface="+mn-lt"/>
              </a:rPr>
              <a:t>Гіпотеза</a:t>
            </a:r>
            <a:r>
              <a:rPr lang="ru-RU" sz="4000" b="1" dirty="0" smtClean="0">
                <a:solidFill>
                  <a:schemeClr val="bg1"/>
                </a:solidFill>
                <a:latin typeface="+mn-lt"/>
              </a:rPr>
              <a:t>: </a:t>
            </a:r>
            <a:r>
              <a:rPr lang="ru-RU" sz="4000" b="1" dirty="0" err="1" smtClean="0">
                <a:solidFill>
                  <a:schemeClr val="bg1"/>
                </a:solidFill>
                <a:latin typeface="+mn-lt"/>
              </a:rPr>
              <a:t>залежні</a:t>
            </a:r>
            <a:r>
              <a:rPr lang="ru-RU" sz="4000" b="1" dirty="0" smtClean="0">
                <a:solidFill>
                  <a:schemeClr val="bg1"/>
                </a:solidFill>
                <a:latin typeface="+mn-lt"/>
              </a:rPr>
              <a:t> та </a:t>
            </a:r>
            <a:r>
              <a:rPr lang="ru-RU" sz="4000" b="1" dirty="0" err="1" smtClean="0">
                <a:solidFill>
                  <a:schemeClr val="bg1"/>
                </a:solidFill>
                <a:latin typeface="+mn-lt"/>
              </a:rPr>
              <a:t>незалежні</a:t>
            </a:r>
            <a:r>
              <a:rPr lang="ru-RU" sz="40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4000" b="1" dirty="0" err="1" smtClean="0">
                <a:solidFill>
                  <a:schemeClr val="bg1"/>
                </a:solidFill>
                <a:latin typeface="+mn-lt"/>
              </a:rPr>
              <a:t>змінні</a:t>
            </a:r>
            <a:endParaRPr lang="ru-RU" sz="40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4153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5720" y="748611"/>
            <a:ext cx="9052560" cy="427809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1700" b="1" dirty="0" err="1" smtClean="0">
                <a:solidFill>
                  <a:srgbClr val="0000CC"/>
                </a:solidFill>
                <a:latin typeface="+mn-lt"/>
              </a:rPr>
              <a:t>Вимірювання</a:t>
            </a:r>
            <a:r>
              <a:rPr lang="ru-RU" sz="1700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700" dirty="0">
                <a:latin typeface="+mn-lt"/>
              </a:rPr>
              <a:t>- </a:t>
            </a:r>
            <a:r>
              <a:rPr lang="ru-RU" sz="1700" dirty="0" err="1">
                <a:latin typeface="+mn-lt"/>
              </a:rPr>
              <a:t>процес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присвоєння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значень</a:t>
            </a:r>
            <a:r>
              <a:rPr lang="ru-RU" sz="1700" dirty="0" smtClean="0">
                <a:latin typeface="+mn-lt"/>
              </a:rPr>
              <a:t> характеристикам </a:t>
            </a:r>
            <a:r>
              <a:rPr lang="ru-RU" sz="1700" dirty="0" err="1">
                <a:latin typeface="+mn-lt"/>
              </a:rPr>
              <a:t>досліджуваних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об'єктів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згідно</a:t>
            </a:r>
            <a:r>
              <a:rPr lang="ru-RU" sz="1700" dirty="0" smtClean="0">
                <a:latin typeface="+mn-lt"/>
              </a:rPr>
              <a:t> з </a:t>
            </a:r>
            <a:r>
              <a:rPr lang="ru-RU" sz="1700" dirty="0" err="1" smtClean="0">
                <a:latin typeface="+mn-lt"/>
              </a:rPr>
              <a:t>певними</a:t>
            </a:r>
            <a:r>
              <a:rPr lang="ru-RU" sz="1700" dirty="0" smtClean="0">
                <a:latin typeface="+mn-lt"/>
              </a:rPr>
              <a:t> правилами. </a:t>
            </a:r>
            <a:r>
              <a:rPr lang="ru-RU" sz="1700" b="1" dirty="0" smtClean="0">
                <a:latin typeface="+mn-lt"/>
              </a:rPr>
              <a:t>У </a:t>
            </a:r>
            <a:r>
              <a:rPr lang="ru-RU" sz="1700" b="1" dirty="0" err="1">
                <a:latin typeface="+mn-lt"/>
              </a:rPr>
              <a:t>процесі</a:t>
            </a:r>
            <a:r>
              <a:rPr lang="ru-RU" sz="1700" b="1" dirty="0">
                <a:latin typeface="+mn-lt"/>
              </a:rPr>
              <a:t> </a:t>
            </a:r>
            <a:r>
              <a:rPr lang="ru-RU" sz="1700" b="1" dirty="0" err="1">
                <a:latin typeface="+mn-lt"/>
              </a:rPr>
              <a:t>підготовки</a:t>
            </a:r>
            <a:r>
              <a:rPr lang="ru-RU" sz="1700" b="1" dirty="0">
                <a:latin typeface="+mn-lt"/>
              </a:rPr>
              <a:t> </a:t>
            </a:r>
            <a:r>
              <a:rPr lang="ru-RU" sz="1700" b="1" dirty="0" err="1">
                <a:latin typeface="+mn-lt"/>
              </a:rPr>
              <a:t>даних</a:t>
            </a:r>
            <a:r>
              <a:rPr lang="ru-RU" sz="1700" b="1" dirty="0">
                <a:latin typeface="+mn-lt"/>
              </a:rPr>
              <a:t> </a:t>
            </a:r>
            <a:r>
              <a:rPr lang="ru-RU" sz="1700" b="1" dirty="0" err="1">
                <a:latin typeface="+mn-lt"/>
              </a:rPr>
              <a:t>вимірюється</a:t>
            </a:r>
            <a:r>
              <a:rPr lang="ru-RU" sz="1700" b="1" dirty="0">
                <a:latin typeface="+mn-lt"/>
              </a:rPr>
              <a:t> не сам </a:t>
            </a:r>
            <a:r>
              <a:rPr lang="ru-RU" sz="1700" b="1" dirty="0" err="1">
                <a:latin typeface="+mn-lt"/>
              </a:rPr>
              <a:t>об'єкт</a:t>
            </a:r>
            <a:r>
              <a:rPr lang="ru-RU" sz="1700" b="1" dirty="0">
                <a:latin typeface="+mn-lt"/>
              </a:rPr>
              <a:t>, а </a:t>
            </a:r>
            <a:r>
              <a:rPr lang="ru-RU" sz="1700" b="1" dirty="0" err="1">
                <a:latin typeface="+mn-lt"/>
              </a:rPr>
              <a:t>його</a:t>
            </a:r>
            <a:r>
              <a:rPr lang="ru-RU" sz="1700" b="1" dirty="0">
                <a:latin typeface="+mn-lt"/>
              </a:rPr>
              <a:t> характеристики.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1700" b="1" dirty="0">
                <a:solidFill>
                  <a:srgbClr val="0000CC"/>
                </a:solidFill>
                <a:latin typeface="+mn-lt"/>
              </a:rPr>
              <a:t>Шкала</a:t>
            </a:r>
            <a:r>
              <a:rPr lang="ru-RU" sz="1700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700" dirty="0">
                <a:latin typeface="+mn-lt"/>
              </a:rPr>
              <a:t>- правило, </a:t>
            </a:r>
            <a:r>
              <a:rPr lang="ru-RU" sz="1700" dirty="0" err="1">
                <a:latin typeface="+mn-lt"/>
              </a:rPr>
              <a:t>згідно</a:t>
            </a:r>
            <a:r>
              <a:rPr lang="ru-RU" sz="1700" dirty="0">
                <a:latin typeface="+mn-lt"/>
              </a:rPr>
              <a:t> з </a:t>
            </a:r>
            <a:r>
              <a:rPr lang="ru-RU" sz="1700" dirty="0" err="1">
                <a:latin typeface="+mn-lt"/>
              </a:rPr>
              <a:t>яким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об'єктам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присвоюються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значення</a:t>
            </a:r>
            <a:r>
              <a:rPr lang="ru-RU" sz="1700" dirty="0" smtClean="0">
                <a:latin typeface="+mn-lt"/>
              </a:rPr>
              <a:t>.</a:t>
            </a:r>
            <a:endParaRPr lang="ru-RU" sz="1700" dirty="0">
              <a:latin typeface="+mn-lt"/>
            </a:endParaRPr>
          </a:p>
          <a:p>
            <a:pPr marL="355600" algn="l"/>
            <a:r>
              <a:rPr lang="ru-RU" sz="1700" dirty="0" err="1">
                <a:latin typeface="+mn-lt"/>
              </a:rPr>
              <a:t>Багато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інструментів</a:t>
            </a:r>
            <a:r>
              <a:rPr lang="ru-RU" sz="1700" dirty="0" smtClean="0">
                <a:latin typeface="+mn-lt"/>
              </a:rPr>
              <a:t> </a:t>
            </a:r>
            <a:r>
              <a:rPr lang="en-GB" sz="1700" dirty="0">
                <a:latin typeface="+mn-lt"/>
              </a:rPr>
              <a:t>Data Mining </a:t>
            </a:r>
            <a:r>
              <a:rPr lang="ru-RU" sz="1700" dirty="0">
                <a:latin typeface="+mn-lt"/>
              </a:rPr>
              <a:t>при </a:t>
            </a:r>
            <a:r>
              <a:rPr lang="ru-RU" sz="1700" dirty="0" err="1">
                <a:latin typeface="+mn-lt"/>
              </a:rPr>
              <a:t>імпорті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даних</a:t>
            </a:r>
            <a:r>
              <a:rPr lang="ru-RU" sz="1700" dirty="0">
                <a:latin typeface="+mn-lt"/>
              </a:rPr>
              <a:t> з </a:t>
            </a:r>
            <a:r>
              <a:rPr lang="ru-RU" sz="1700" dirty="0" err="1">
                <a:latin typeface="+mn-lt"/>
              </a:rPr>
              <a:t>інших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джерел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пропонують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вибрати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>
                <a:latin typeface="+mn-lt"/>
              </a:rPr>
              <a:t>тип </a:t>
            </a:r>
            <a:r>
              <a:rPr lang="ru-RU" sz="1700" dirty="0" err="1">
                <a:latin typeface="+mn-lt"/>
              </a:rPr>
              <a:t>шкали</a:t>
            </a:r>
            <a:r>
              <a:rPr lang="ru-RU" sz="1700" dirty="0">
                <a:latin typeface="+mn-lt"/>
              </a:rPr>
              <a:t> для </a:t>
            </a:r>
            <a:r>
              <a:rPr lang="ru-RU" sz="1700" dirty="0" err="1">
                <a:latin typeface="+mn-lt"/>
              </a:rPr>
              <a:t>кожної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змінної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smtClean="0">
                <a:latin typeface="+mn-lt"/>
              </a:rPr>
              <a:t>та </a:t>
            </a:r>
            <a:r>
              <a:rPr lang="ru-RU" sz="1700" dirty="0">
                <a:latin typeface="+mn-lt"/>
              </a:rPr>
              <a:t>/ </a:t>
            </a:r>
            <a:r>
              <a:rPr lang="ru-RU" sz="1700" dirty="0" err="1">
                <a:latin typeface="+mn-lt"/>
              </a:rPr>
              <a:t>або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вибрати</a:t>
            </a:r>
            <a:r>
              <a:rPr lang="ru-RU" sz="1700" dirty="0">
                <a:latin typeface="+mn-lt"/>
              </a:rPr>
              <a:t> тип </a:t>
            </a:r>
            <a:r>
              <a:rPr lang="ru-RU" sz="1700" dirty="0" err="1">
                <a:latin typeface="+mn-lt"/>
              </a:rPr>
              <a:t>даних</a:t>
            </a:r>
            <a:r>
              <a:rPr lang="ru-RU" sz="1700" dirty="0">
                <a:latin typeface="+mn-lt"/>
              </a:rPr>
              <a:t> для </a:t>
            </a:r>
            <a:r>
              <a:rPr lang="ru-RU" sz="1700" dirty="0" err="1">
                <a:latin typeface="+mn-lt"/>
              </a:rPr>
              <a:t>вхідних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smtClean="0">
                <a:latin typeface="+mn-lt"/>
              </a:rPr>
              <a:t>і </a:t>
            </a:r>
            <a:r>
              <a:rPr lang="ru-RU" sz="1700" dirty="0" err="1" smtClean="0">
                <a:latin typeface="+mn-lt"/>
              </a:rPr>
              <a:t>вихідних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змінних</a:t>
            </a:r>
            <a:r>
              <a:rPr lang="ru-RU" sz="1700" dirty="0">
                <a:latin typeface="+mn-lt"/>
              </a:rPr>
              <a:t> (</a:t>
            </a:r>
            <a:r>
              <a:rPr lang="ru-RU" sz="1700" dirty="0" err="1">
                <a:latin typeface="+mn-lt"/>
              </a:rPr>
              <a:t>символьні</a:t>
            </a:r>
            <a:r>
              <a:rPr lang="ru-RU" sz="1700" dirty="0">
                <a:latin typeface="+mn-lt"/>
              </a:rPr>
              <a:t>, </a:t>
            </a:r>
            <a:r>
              <a:rPr lang="ru-RU" sz="1700" dirty="0" err="1">
                <a:latin typeface="+mn-lt"/>
              </a:rPr>
              <a:t>числові</a:t>
            </a:r>
            <a:r>
              <a:rPr lang="ru-RU" sz="1700" dirty="0">
                <a:latin typeface="+mn-lt"/>
              </a:rPr>
              <a:t>, </a:t>
            </a:r>
            <a:r>
              <a:rPr lang="ru-RU" sz="1700" dirty="0" err="1">
                <a:latin typeface="+mn-lt"/>
              </a:rPr>
              <a:t>дискретні</a:t>
            </a:r>
            <a:r>
              <a:rPr lang="ru-RU" sz="1700" dirty="0">
                <a:latin typeface="+mn-lt"/>
              </a:rPr>
              <a:t> і </a:t>
            </a:r>
            <a:r>
              <a:rPr lang="ru-RU" sz="1700" dirty="0" err="1">
                <a:latin typeface="+mn-lt"/>
              </a:rPr>
              <a:t>безперервні</a:t>
            </a:r>
            <a:r>
              <a:rPr lang="ru-RU" sz="1700" dirty="0">
                <a:latin typeface="+mn-lt"/>
              </a:rPr>
              <a:t>).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1700" dirty="0" err="1" smtClean="0">
                <a:latin typeface="+mn-lt"/>
              </a:rPr>
              <a:t>Змінні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можуть</a:t>
            </a:r>
            <a:r>
              <a:rPr lang="ru-RU" sz="1700" dirty="0">
                <a:latin typeface="+mn-lt"/>
              </a:rPr>
              <a:t> бути </a:t>
            </a:r>
            <a:r>
              <a:rPr lang="ru-RU" sz="1700" b="1" dirty="0" err="1">
                <a:latin typeface="+mn-lt"/>
              </a:rPr>
              <a:t>числовими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даними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або</a:t>
            </a:r>
            <a:r>
              <a:rPr lang="ru-RU" sz="1700" dirty="0">
                <a:latin typeface="+mn-lt"/>
              </a:rPr>
              <a:t> </a:t>
            </a:r>
            <a:r>
              <a:rPr lang="ru-RU" sz="1700" b="1" dirty="0" err="1">
                <a:latin typeface="+mn-lt"/>
              </a:rPr>
              <a:t>символьними</a:t>
            </a:r>
            <a:r>
              <a:rPr lang="ru-RU" sz="1700" dirty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1700" b="1" dirty="0" err="1">
                <a:solidFill>
                  <a:srgbClr val="0000CC"/>
                </a:solidFill>
                <a:latin typeface="+mn-lt"/>
              </a:rPr>
              <a:t>Числові</a:t>
            </a:r>
            <a:r>
              <a:rPr lang="ru-RU" sz="1700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700" b="1" dirty="0" err="1">
                <a:solidFill>
                  <a:srgbClr val="0000CC"/>
                </a:solidFill>
                <a:latin typeface="+mn-lt"/>
              </a:rPr>
              <a:t>дані</a:t>
            </a:r>
            <a:r>
              <a:rPr lang="ru-RU" sz="1700" dirty="0">
                <a:latin typeface="+mn-lt"/>
              </a:rPr>
              <a:t>, в свою </a:t>
            </a:r>
            <a:r>
              <a:rPr lang="ru-RU" sz="1700" dirty="0" err="1">
                <a:latin typeface="+mn-lt"/>
              </a:rPr>
              <a:t>чергу</a:t>
            </a:r>
            <a:r>
              <a:rPr lang="ru-RU" sz="1700" dirty="0">
                <a:latin typeface="+mn-lt"/>
              </a:rPr>
              <a:t>, </a:t>
            </a:r>
            <a:r>
              <a:rPr lang="ru-RU" sz="1700" dirty="0" err="1">
                <a:latin typeface="+mn-lt"/>
              </a:rPr>
              <a:t>можуть</a:t>
            </a:r>
            <a:r>
              <a:rPr lang="ru-RU" sz="1700" dirty="0">
                <a:latin typeface="+mn-lt"/>
              </a:rPr>
              <a:t> бути </a:t>
            </a:r>
            <a:r>
              <a:rPr lang="ru-RU" sz="1700" b="1" dirty="0" err="1">
                <a:latin typeface="+mn-lt"/>
              </a:rPr>
              <a:t>дискретними</a:t>
            </a:r>
            <a:r>
              <a:rPr lang="ru-RU" sz="1700" b="1" dirty="0">
                <a:latin typeface="+mn-lt"/>
              </a:rPr>
              <a:t> і </a:t>
            </a:r>
            <a:r>
              <a:rPr lang="ru-RU" sz="1700" b="1" dirty="0" err="1" smtClean="0">
                <a:latin typeface="+mn-lt"/>
              </a:rPr>
              <a:t>неперервними</a:t>
            </a:r>
            <a:r>
              <a:rPr lang="ru-RU" sz="1700" dirty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1700" b="1" dirty="0" err="1">
                <a:solidFill>
                  <a:srgbClr val="0000CC"/>
                </a:solidFill>
                <a:latin typeface="+mn-lt"/>
              </a:rPr>
              <a:t>Дискретні</a:t>
            </a:r>
            <a:r>
              <a:rPr lang="ru-RU" sz="1700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700" b="1" dirty="0" err="1">
                <a:solidFill>
                  <a:srgbClr val="0000CC"/>
                </a:solidFill>
                <a:latin typeface="+mn-lt"/>
              </a:rPr>
              <a:t>дані</a:t>
            </a:r>
            <a:r>
              <a:rPr lang="ru-RU" sz="1700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700" dirty="0">
                <a:latin typeface="+mn-lt"/>
              </a:rPr>
              <a:t>є </a:t>
            </a:r>
            <a:r>
              <a:rPr lang="ru-RU" sz="1700" dirty="0" err="1">
                <a:latin typeface="+mn-lt"/>
              </a:rPr>
              <a:t>значеннями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ознаки</a:t>
            </a:r>
            <a:r>
              <a:rPr lang="ru-RU" sz="1700" dirty="0">
                <a:latin typeface="+mn-lt"/>
              </a:rPr>
              <a:t>, </a:t>
            </a:r>
            <a:r>
              <a:rPr lang="ru-RU" sz="1700" dirty="0" err="1" smtClean="0">
                <a:latin typeface="+mn-lt"/>
              </a:rPr>
              <a:t>загальна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кількість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яких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кінцева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або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нескінченна</a:t>
            </a:r>
            <a:r>
              <a:rPr lang="ru-RU" sz="1700" dirty="0" smtClean="0">
                <a:latin typeface="+mn-lt"/>
              </a:rPr>
              <a:t>, </a:t>
            </a:r>
            <a:r>
              <a:rPr lang="ru-RU" sz="1700" dirty="0">
                <a:latin typeface="+mn-lt"/>
              </a:rPr>
              <a:t>але </a:t>
            </a:r>
            <a:r>
              <a:rPr lang="ru-RU" sz="1700" dirty="0" err="1">
                <a:latin typeface="+mn-lt"/>
              </a:rPr>
              <a:t>може</a:t>
            </a:r>
            <a:r>
              <a:rPr lang="ru-RU" sz="1700" dirty="0">
                <a:latin typeface="+mn-lt"/>
              </a:rPr>
              <a:t> бути </a:t>
            </a:r>
            <a:r>
              <a:rPr lang="ru-RU" sz="1700" dirty="0" err="1">
                <a:latin typeface="+mn-lt"/>
              </a:rPr>
              <a:t>підраховано</a:t>
            </a:r>
            <a:r>
              <a:rPr lang="ru-RU" sz="1700" dirty="0">
                <a:latin typeface="+mn-lt"/>
              </a:rPr>
              <a:t> за </a:t>
            </a:r>
            <a:r>
              <a:rPr lang="ru-RU" sz="1700" dirty="0" err="1">
                <a:latin typeface="+mn-lt"/>
              </a:rPr>
              <a:t>допомогою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натуральних</a:t>
            </a:r>
            <a:r>
              <a:rPr lang="ru-RU" sz="1700" dirty="0">
                <a:latin typeface="+mn-lt"/>
              </a:rPr>
              <a:t> чисел </a:t>
            </a:r>
            <a:r>
              <a:rPr lang="ru-RU" sz="1700" dirty="0" err="1">
                <a:latin typeface="+mn-lt"/>
              </a:rPr>
              <a:t>від</a:t>
            </a:r>
            <a:r>
              <a:rPr lang="ru-RU" sz="1700" dirty="0">
                <a:latin typeface="+mn-lt"/>
              </a:rPr>
              <a:t> одного </a:t>
            </a:r>
            <a:r>
              <a:rPr lang="ru-RU" sz="1700" dirty="0" smtClean="0">
                <a:latin typeface="+mn-lt"/>
              </a:rPr>
              <a:t>до </a:t>
            </a:r>
            <a:r>
              <a:rPr lang="ru-RU" sz="1700" dirty="0" err="1" smtClean="0">
                <a:latin typeface="+mn-lt"/>
              </a:rPr>
              <a:t>нескінченності</a:t>
            </a:r>
            <a:r>
              <a:rPr lang="ru-RU" sz="1700" dirty="0">
                <a:latin typeface="+mn-lt"/>
              </a:rPr>
              <a:t>.</a:t>
            </a:r>
          </a:p>
          <a:p>
            <a:pPr algn="l"/>
            <a:r>
              <a:rPr lang="ru-RU" sz="1700" dirty="0" smtClean="0">
                <a:latin typeface="+mn-lt"/>
              </a:rPr>
              <a:t>	</a:t>
            </a:r>
            <a:r>
              <a:rPr lang="ru-RU" sz="1700" b="1" dirty="0" smtClean="0">
                <a:solidFill>
                  <a:srgbClr val="008000"/>
                </a:solidFill>
                <a:latin typeface="+mn-lt"/>
              </a:rPr>
              <a:t>Приклад </a:t>
            </a:r>
            <a:r>
              <a:rPr lang="ru-RU" sz="1700" b="1" dirty="0" err="1">
                <a:solidFill>
                  <a:srgbClr val="008000"/>
                </a:solidFill>
                <a:latin typeface="+mn-lt"/>
              </a:rPr>
              <a:t>дискретних</a:t>
            </a:r>
            <a:r>
              <a:rPr lang="ru-RU" sz="1700" b="1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700" b="1" dirty="0" err="1">
                <a:solidFill>
                  <a:srgbClr val="008000"/>
                </a:solidFill>
                <a:latin typeface="+mn-lt"/>
              </a:rPr>
              <a:t>даних</a:t>
            </a:r>
            <a:r>
              <a:rPr lang="ru-RU" sz="1700" b="1" dirty="0">
                <a:solidFill>
                  <a:srgbClr val="008000"/>
                </a:solidFill>
                <a:latin typeface="+mn-lt"/>
              </a:rPr>
              <a:t>. </a:t>
            </a:r>
            <a:r>
              <a:rPr lang="ru-RU" sz="1700" dirty="0" err="1">
                <a:solidFill>
                  <a:srgbClr val="008000"/>
                </a:solidFill>
                <a:latin typeface="+mn-lt"/>
              </a:rPr>
              <a:t>Тривалість</a:t>
            </a:r>
            <a:r>
              <a:rPr lang="ru-RU" sz="1700" dirty="0">
                <a:solidFill>
                  <a:srgbClr val="008000"/>
                </a:solidFill>
                <a:latin typeface="+mn-lt"/>
              </a:rPr>
              <a:t> маршруту </a:t>
            </a:r>
            <a:r>
              <a:rPr lang="ru-RU" sz="1700" dirty="0" err="1">
                <a:solidFill>
                  <a:srgbClr val="008000"/>
                </a:solidFill>
                <a:latin typeface="+mn-lt"/>
              </a:rPr>
              <a:t>тролейбуса</a:t>
            </a:r>
            <a:r>
              <a:rPr lang="ru-RU" sz="1700" dirty="0">
                <a:solidFill>
                  <a:srgbClr val="008000"/>
                </a:solidFill>
                <a:latin typeface="+mn-lt"/>
              </a:rPr>
              <a:t> (</a:t>
            </a:r>
            <a:r>
              <a:rPr lang="ru-RU" sz="1700" dirty="0" err="1" smtClean="0">
                <a:solidFill>
                  <a:srgbClr val="008000"/>
                </a:solidFill>
                <a:latin typeface="+mn-lt"/>
              </a:rPr>
              <a:t>кількість</a:t>
            </a:r>
            <a:r>
              <a:rPr lang="ru-RU" sz="1700" dirty="0" smtClean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700" dirty="0" err="1" smtClean="0">
                <a:solidFill>
                  <a:srgbClr val="008000"/>
                </a:solidFill>
                <a:latin typeface="+mn-lt"/>
              </a:rPr>
              <a:t>варіантів</a:t>
            </a:r>
            <a:r>
              <a:rPr lang="ru-RU" sz="1700" dirty="0" smtClean="0">
                <a:solidFill>
                  <a:srgbClr val="008000"/>
                </a:solidFill>
                <a:latin typeface="+mn-lt"/>
              </a:rPr>
              <a:t> 	</a:t>
            </a:r>
            <a:r>
              <a:rPr lang="ru-RU" sz="1700" dirty="0" err="1" smtClean="0">
                <a:solidFill>
                  <a:srgbClr val="008000"/>
                </a:solidFill>
                <a:latin typeface="+mn-lt"/>
              </a:rPr>
              <a:t>тривалості</a:t>
            </a:r>
            <a:r>
              <a:rPr lang="ru-RU" sz="1700" dirty="0" smtClean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700" dirty="0" err="1" smtClean="0">
                <a:solidFill>
                  <a:srgbClr val="008000"/>
                </a:solidFill>
                <a:latin typeface="+mn-lt"/>
              </a:rPr>
              <a:t>кінцева</a:t>
            </a:r>
            <a:r>
              <a:rPr lang="ru-RU" sz="1700" dirty="0" smtClean="0">
                <a:solidFill>
                  <a:srgbClr val="008000"/>
                </a:solidFill>
                <a:latin typeface="+mn-lt"/>
              </a:rPr>
              <a:t>): </a:t>
            </a:r>
            <a:r>
              <a:rPr lang="ru-RU" sz="1700" dirty="0">
                <a:solidFill>
                  <a:srgbClr val="008000"/>
                </a:solidFill>
                <a:latin typeface="+mn-lt"/>
              </a:rPr>
              <a:t>10, 15, 25 </a:t>
            </a:r>
            <a:r>
              <a:rPr lang="ru-RU" sz="1700" dirty="0" err="1">
                <a:solidFill>
                  <a:srgbClr val="008000"/>
                </a:solidFill>
                <a:latin typeface="+mn-lt"/>
              </a:rPr>
              <a:t>хв</a:t>
            </a:r>
            <a:r>
              <a:rPr lang="ru-RU" sz="1700" dirty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1700" b="1" dirty="0" err="1" smtClean="0">
                <a:solidFill>
                  <a:srgbClr val="0000CC"/>
                </a:solidFill>
                <a:latin typeface="+mn-lt"/>
              </a:rPr>
              <a:t>Неперервні</a:t>
            </a:r>
            <a:r>
              <a:rPr lang="ru-RU" sz="1700" b="1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700" b="1" dirty="0" err="1">
                <a:solidFill>
                  <a:srgbClr val="0000CC"/>
                </a:solidFill>
                <a:latin typeface="+mn-lt"/>
              </a:rPr>
              <a:t>дані</a:t>
            </a:r>
            <a:r>
              <a:rPr lang="ru-RU" sz="1700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700" dirty="0">
                <a:latin typeface="+mn-lt"/>
              </a:rPr>
              <a:t>- </a:t>
            </a:r>
            <a:r>
              <a:rPr lang="ru-RU" sz="1700" dirty="0" err="1">
                <a:latin typeface="+mn-lt"/>
              </a:rPr>
              <a:t>дані</a:t>
            </a:r>
            <a:r>
              <a:rPr lang="ru-RU" sz="1700" dirty="0">
                <a:latin typeface="+mn-lt"/>
              </a:rPr>
              <a:t>, </a:t>
            </a:r>
            <a:r>
              <a:rPr lang="ru-RU" sz="1700" dirty="0" err="1">
                <a:latin typeface="+mn-lt"/>
              </a:rPr>
              <a:t>значення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яких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можуть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smtClean="0">
                <a:latin typeface="+mn-lt"/>
              </a:rPr>
              <a:t>бути </a:t>
            </a:r>
            <a:r>
              <a:rPr lang="ru-RU" sz="1700" dirty="0" err="1" smtClean="0">
                <a:latin typeface="+mn-lt"/>
              </a:rPr>
              <a:t>яким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завгодно</a:t>
            </a:r>
            <a:r>
              <a:rPr lang="ru-RU" sz="1700" dirty="0" smtClean="0">
                <a:latin typeface="+mn-lt"/>
              </a:rPr>
              <a:t> в </a:t>
            </a:r>
            <a:r>
              <a:rPr lang="ru-RU" sz="1700" dirty="0" err="1">
                <a:latin typeface="+mn-lt"/>
              </a:rPr>
              <a:t>деякому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інтервалі</a:t>
            </a:r>
            <a:r>
              <a:rPr lang="ru-RU" sz="1700" dirty="0">
                <a:latin typeface="+mn-lt"/>
              </a:rPr>
              <a:t>. </a:t>
            </a:r>
            <a:r>
              <a:rPr lang="ru-RU" sz="1700" dirty="0" err="1">
                <a:latin typeface="+mn-lt"/>
              </a:rPr>
              <a:t>Вимірювання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неперервних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даних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>
                <a:latin typeface="+mn-lt"/>
              </a:rPr>
              <a:t>передбачає</a:t>
            </a:r>
            <a:r>
              <a:rPr lang="ru-RU" sz="1700" dirty="0">
                <a:latin typeface="+mn-lt"/>
              </a:rPr>
              <a:t> </a:t>
            </a:r>
            <a:r>
              <a:rPr lang="ru-RU" sz="1700" dirty="0" err="1" smtClean="0">
                <a:latin typeface="+mn-lt"/>
              </a:rPr>
              <a:t>велику</a:t>
            </a:r>
            <a:r>
              <a:rPr lang="ru-RU" sz="1700" dirty="0" smtClean="0">
                <a:latin typeface="+mn-lt"/>
              </a:rPr>
              <a:t> </a:t>
            </a:r>
            <a:r>
              <a:rPr lang="ru-RU" sz="1700" b="1" dirty="0" err="1" smtClean="0">
                <a:latin typeface="+mn-lt"/>
              </a:rPr>
              <a:t>точність</a:t>
            </a:r>
            <a:r>
              <a:rPr lang="ru-RU" sz="1700" dirty="0">
                <a:latin typeface="+mn-lt"/>
              </a:rPr>
              <a:t>.</a:t>
            </a:r>
          </a:p>
          <a:p>
            <a:pPr algn="l"/>
            <a:r>
              <a:rPr lang="ru-RU" sz="1700" dirty="0" smtClean="0">
                <a:latin typeface="+mn-lt"/>
              </a:rPr>
              <a:t>	</a:t>
            </a:r>
            <a:r>
              <a:rPr lang="ru-RU" sz="1700" b="1" dirty="0" smtClean="0">
                <a:solidFill>
                  <a:srgbClr val="008000"/>
                </a:solidFill>
                <a:latin typeface="+mn-lt"/>
              </a:rPr>
              <a:t>Приклад </a:t>
            </a:r>
            <a:r>
              <a:rPr lang="ru-RU" sz="1700" b="1" dirty="0" err="1" smtClean="0">
                <a:solidFill>
                  <a:srgbClr val="008000"/>
                </a:solidFill>
                <a:latin typeface="+mn-lt"/>
              </a:rPr>
              <a:t>неперервних</a:t>
            </a:r>
            <a:r>
              <a:rPr lang="ru-RU" sz="1700" b="1" dirty="0" smtClean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700" b="1" dirty="0" err="1">
                <a:solidFill>
                  <a:srgbClr val="008000"/>
                </a:solidFill>
                <a:latin typeface="+mn-lt"/>
              </a:rPr>
              <a:t>даних</a:t>
            </a:r>
            <a:r>
              <a:rPr lang="ru-RU" sz="1700" b="1" dirty="0">
                <a:solidFill>
                  <a:srgbClr val="008000"/>
                </a:solidFill>
                <a:latin typeface="+mn-lt"/>
              </a:rPr>
              <a:t>: </a:t>
            </a:r>
            <a:r>
              <a:rPr lang="ru-RU" sz="1700" dirty="0">
                <a:solidFill>
                  <a:srgbClr val="008000"/>
                </a:solidFill>
                <a:latin typeface="+mn-lt"/>
              </a:rPr>
              <a:t>температура, </a:t>
            </a:r>
            <a:r>
              <a:rPr lang="ru-RU" sz="1700" dirty="0" err="1">
                <a:solidFill>
                  <a:srgbClr val="008000"/>
                </a:solidFill>
                <a:latin typeface="+mn-lt"/>
              </a:rPr>
              <a:t>висота</a:t>
            </a:r>
            <a:r>
              <a:rPr lang="ru-RU" sz="1700" dirty="0">
                <a:solidFill>
                  <a:srgbClr val="008000"/>
                </a:solidFill>
                <a:latin typeface="+mn-lt"/>
              </a:rPr>
              <a:t>, вага, </a:t>
            </a:r>
            <a:r>
              <a:rPr lang="ru-RU" sz="1700" dirty="0" err="1">
                <a:solidFill>
                  <a:srgbClr val="008000"/>
                </a:solidFill>
                <a:latin typeface="+mn-lt"/>
              </a:rPr>
              <a:t>довжина</a:t>
            </a:r>
            <a:r>
              <a:rPr lang="ru-RU" sz="1700" dirty="0">
                <a:solidFill>
                  <a:srgbClr val="008000"/>
                </a:solidFill>
                <a:latin typeface="+mn-lt"/>
              </a:rPr>
              <a:t> і т.д.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164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Вимірювання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150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5720" y="748611"/>
            <a:ext cx="9052560" cy="3847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endParaRPr lang="ru-RU" dirty="0"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6164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Шкали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720" y="748611"/>
            <a:ext cx="905256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800" dirty="0" err="1">
                <a:latin typeface="+mn-lt"/>
              </a:rPr>
              <a:t>Існує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п'ять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типів</a:t>
            </a:r>
            <a:r>
              <a:rPr lang="ru-RU" sz="1800" dirty="0">
                <a:latin typeface="+mn-lt"/>
              </a:rPr>
              <a:t> шкал </a:t>
            </a:r>
            <a:r>
              <a:rPr lang="ru-RU" sz="1800" dirty="0" err="1">
                <a:latin typeface="+mn-lt"/>
              </a:rPr>
              <a:t>вимірювань</a:t>
            </a:r>
            <a:r>
              <a:rPr lang="ru-RU" sz="1800" dirty="0">
                <a:latin typeface="+mn-lt"/>
              </a:rPr>
              <a:t>: </a:t>
            </a:r>
            <a:endParaRPr lang="ru-RU" sz="1800" dirty="0" smtClean="0">
              <a:latin typeface="+mn-lt"/>
            </a:endParaRPr>
          </a:p>
          <a:p>
            <a:pPr marL="915988" lvl="2" indent="-285750" algn="l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ru-RU" sz="1800" dirty="0" err="1" smtClean="0">
                <a:latin typeface="+mn-lt"/>
              </a:rPr>
              <a:t>номінальна</a:t>
            </a:r>
            <a:r>
              <a:rPr lang="ru-RU" sz="1800" dirty="0">
                <a:latin typeface="+mn-lt"/>
              </a:rPr>
              <a:t>, </a:t>
            </a:r>
            <a:endParaRPr lang="ru-RU" sz="1800" dirty="0" smtClean="0">
              <a:latin typeface="+mn-lt"/>
            </a:endParaRPr>
          </a:p>
          <a:p>
            <a:pPr marL="915988" lvl="2" indent="-285750" algn="l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ru-RU" sz="1800" dirty="0" err="1" smtClean="0">
                <a:latin typeface="+mn-lt"/>
              </a:rPr>
              <a:t>порядкова</a:t>
            </a:r>
            <a:r>
              <a:rPr lang="ru-RU" sz="1800" dirty="0">
                <a:latin typeface="+mn-lt"/>
              </a:rPr>
              <a:t>, </a:t>
            </a:r>
            <a:endParaRPr lang="ru-RU" sz="1800" dirty="0" smtClean="0">
              <a:latin typeface="+mn-lt"/>
            </a:endParaRPr>
          </a:p>
          <a:p>
            <a:pPr marL="915988" lvl="2" indent="-285750" algn="l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ru-RU" sz="1800" dirty="0" err="1" smtClean="0">
                <a:latin typeface="+mn-lt"/>
              </a:rPr>
              <a:t>інтервальна</a:t>
            </a:r>
            <a:r>
              <a:rPr lang="ru-RU" sz="1800" dirty="0">
                <a:latin typeface="+mn-lt"/>
              </a:rPr>
              <a:t>,</a:t>
            </a:r>
          </a:p>
          <a:p>
            <a:pPr marL="915988" lvl="2" indent="-285750" algn="l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ru-RU" sz="1800" dirty="0" err="1">
                <a:latin typeface="+mn-lt"/>
              </a:rPr>
              <a:t>відносна</a:t>
            </a:r>
            <a:r>
              <a:rPr lang="ru-RU" sz="1800" dirty="0">
                <a:latin typeface="+mn-lt"/>
              </a:rPr>
              <a:t> і </a:t>
            </a:r>
            <a:endParaRPr lang="ru-RU" sz="1800" dirty="0" smtClean="0">
              <a:latin typeface="+mn-lt"/>
            </a:endParaRPr>
          </a:p>
          <a:p>
            <a:pPr marL="915988" lvl="2" indent="-285750" algn="l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ru-RU" sz="1800" dirty="0" smtClean="0">
                <a:latin typeface="+mn-lt"/>
              </a:rPr>
              <a:t>дихотомическая</a:t>
            </a:r>
            <a:r>
              <a:rPr lang="ru-RU" sz="1800" dirty="0">
                <a:latin typeface="+mn-lt"/>
              </a:rPr>
              <a:t>.</a:t>
            </a:r>
          </a:p>
          <a:p>
            <a:pPr algn="l"/>
            <a:r>
              <a:rPr lang="ru-RU" sz="1800" b="1" dirty="0" err="1">
                <a:solidFill>
                  <a:srgbClr val="0000CC"/>
                </a:solidFill>
                <a:latin typeface="+mn-lt"/>
              </a:rPr>
              <a:t>Номінальна</a:t>
            </a:r>
            <a:r>
              <a:rPr lang="ru-RU" sz="1800" b="1" dirty="0">
                <a:solidFill>
                  <a:srgbClr val="0000CC"/>
                </a:solidFill>
                <a:latin typeface="+mn-lt"/>
              </a:rPr>
              <a:t> шкала (</a:t>
            </a:r>
            <a:r>
              <a:rPr lang="en-GB" sz="1800" b="1" dirty="0">
                <a:solidFill>
                  <a:srgbClr val="0000CC"/>
                </a:solidFill>
                <a:latin typeface="+mn-lt"/>
              </a:rPr>
              <a:t>nominal scale) </a:t>
            </a:r>
            <a:r>
              <a:rPr lang="en-GB" sz="1800" dirty="0">
                <a:latin typeface="+mn-lt"/>
              </a:rPr>
              <a:t>- </a:t>
            </a:r>
            <a:r>
              <a:rPr lang="ru-RU" sz="1800" dirty="0">
                <a:latin typeface="+mn-lt"/>
              </a:rPr>
              <a:t>шкала, яка </a:t>
            </a:r>
            <a:r>
              <a:rPr lang="ru-RU" sz="1800" dirty="0" err="1">
                <a:latin typeface="+mn-lt"/>
              </a:rPr>
              <a:t>містить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тільки</a:t>
            </a:r>
            <a:r>
              <a:rPr lang="ru-RU" sz="1800" dirty="0">
                <a:latin typeface="+mn-lt"/>
              </a:rPr>
              <a:t> </a:t>
            </a:r>
            <a:r>
              <a:rPr lang="ru-RU" sz="1800" b="1" dirty="0" err="1">
                <a:latin typeface="+mn-lt"/>
              </a:rPr>
              <a:t>категорії</a:t>
            </a:r>
            <a:r>
              <a:rPr lang="ru-RU" sz="1800" dirty="0">
                <a:latin typeface="+mn-lt"/>
              </a:rPr>
              <a:t>; </a:t>
            </a:r>
            <a:r>
              <a:rPr lang="ru-RU" sz="1800" dirty="0" err="1" smtClean="0">
                <a:latin typeface="+mn-lt"/>
              </a:rPr>
              <a:t>дані</a:t>
            </a:r>
            <a:r>
              <a:rPr lang="ru-RU" sz="1800" dirty="0" smtClean="0">
                <a:latin typeface="+mn-lt"/>
              </a:rPr>
              <a:t> в </a:t>
            </a:r>
            <a:r>
              <a:rPr lang="ru-RU" sz="1800" dirty="0" err="1">
                <a:latin typeface="+mn-lt"/>
              </a:rPr>
              <a:t>ній</a:t>
            </a:r>
            <a:r>
              <a:rPr lang="ru-RU" sz="1800" dirty="0">
                <a:latin typeface="+mn-lt"/>
              </a:rPr>
              <a:t> не </a:t>
            </a:r>
            <a:r>
              <a:rPr lang="ru-RU" sz="1800" dirty="0" err="1">
                <a:latin typeface="+mn-lt"/>
              </a:rPr>
              <a:t>можуть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упорядкуватися</a:t>
            </a:r>
            <a:r>
              <a:rPr lang="ru-RU" sz="1800" dirty="0">
                <a:latin typeface="+mn-lt"/>
              </a:rPr>
              <a:t>,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>
                <a:latin typeface="+mn-lt"/>
              </a:rPr>
              <a:t>з ними не </a:t>
            </a:r>
            <a:r>
              <a:rPr lang="ru-RU" sz="1800" dirty="0" err="1">
                <a:latin typeface="+mn-lt"/>
              </a:rPr>
              <a:t>можуть</a:t>
            </a:r>
            <a:r>
              <a:rPr lang="ru-RU" sz="1800" dirty="0">
                <a:latin typeface="+mn-lt"/>
              </a:rPr>
              <a:t> бути </a:t>
            </a:r>
            <a:r>
              <a:rPr lang="ru-RU" sz="1800" dirty="0" err="1">
                <a:latin typeface="+mn-lt"/>
              </a:rPr>
              <a:t>зроблені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ніякі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арифметичні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дії</a:t>
            </a:r>
            <a:r>
              <a:rPr lang="ru-RU" sz="1800" dirty="0">
                <a:latin typeface="+mn-lt"/>
              </a:rPr>
              <a:t>.</a:t>
            </a:r>
          </a:p>
          <a:p>
            <a:pPr algn="l"/>
            <a:r>
              <a:rPr lang="ru-RU" sz="1800" dirty="0" err="1">
                <a:latin typeface="+mn-lt"/>
              </a:rPr>
              <a:t>Номінальна</a:t>
            </a:r>
            <a:r>
              <a:rPr lang="ru-RU" sz="1800" dirty="0">
                <a:latin typeface="+mn-lt"/>
              </a:rPr>
              <a:t> шкала </a:t>
            </a:r>
            <a:r>
              <a:rPr lang="ru-RU" sz="1800" dirty="0" err="1">
                <a:latin typeface="+mn-lt"/>
              </a:rPr>
              <a:t>складається</a:t>
            </a:r>
            <a:r>
              <a:rPr lang="ru-RU" sz="1800" dirty="0">
                <a:latin typeface="+mn-lt"/>
              </a:rPr>
              <a:t> з </a:t>
            </a:r>
            <a:r>
              <a:rPr lang="ru-RU" sz="1800" dirty="0" err="1">
                <a:latin typeface="+mn-lt"/>
              </a:rPr>
              <a:t>назв</a:t>
            </a:r>
            <a:r>
              <a:rPr lang="ru-RU" sz="1800" dirty="0">
                <a:latin typeface="+mn-lt"/>
              </a:rPr>
              <a:t>, </a:t>
            </a:r>
            <a:r>
              <a:rPr lang="ru-RU" sz="1800" dirty="0" err="1">
                <a:latin typeface="+mn-lt"/>
              </a:rPr>
              <a:t>категорій</a:t>
            </a:r>
            <a:r>
              <a:rPr lang="ru-RU" sz="1800" dirty="0">
                <a:latin typeface="+mn-lt"/>
              </a:rPr>
              <a:t>, </a:t>
            </a:r>
            <a:r>
              <a:rPr lang="ru-RU" sz="1800" dirty="0" err="1">
                <a:latin typeface="+mn-lt"/>
              </a:rPr>
              <a:t>імен</a:t>
            </a:r>
            <a:r>
              <a:rPr lang="ru-RU" sz="1800" dirty="0">
                <a:latin typeface="+mn-lt"/>
              </a:rPr>
              <a:t> для </a:t>
            </a:r>
            <a:r>
              <a:rPr lang="ru-RU" sz="1800" dirty="0" err="1">
                <a:latin typeface="+mn-lt"/>
              </a:rPr>
              <a:t>класифікації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smtClean="0">
                <a:latin typeface="+mn-lt"/>
              </a:rPr>
              <a:t>і </a:t>
            </a:r>
            <a:r>
              <a:rPr lang="ru-RU" sz="1800" dirty="0" err="1" smtClean="0">
                <a:latin typeface="+mn-lt"/>
              </a:rPr>
              <a:t>сортування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об'єктів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або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спостережень</a:t>
            </a:r>
            <a:r>
              <a:rPr lang="ru-RU" sz="1800" dirty="0">
                <a:latin typeface="+mn-lt"/>
              </a:rPr>
              <a:t> за </a:t>
            </a:r>
            <a:r>
              <a:rPr lang="ru-RU" sz="1800" dirty="0" err="1">
                <a:latin typeface="+mn-lt"/>
              </a:rPr>
              <a:t>певною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ознакою</a:t>
            </a:r>
            <a:r>
              <a:rPr lang="ru-RU" sz="1800" dirty="0">
                <a:latin typeface="+mn-lt"/>
              </a:rPr>
              <a:t>.</a:t>
            </a:r>
          </a:p>
          <a:p>
            <a:pPr algn="l"/>
            <a:r>
              <a:rPr lang="ru-RU" sz="1800" dirty="0" smtClean="0">
                <a:solidFill>
                  <a:srgbClr val="008000"/>
                </a:solidFill>
                <a:latin typeface="+mn-lt"/>
              </a:rPr>
              <a:t>	Приклад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такої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шкали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: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професії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місто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проживання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сімейний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стан.</a:t>
            </a:r>
          </a:p>
          <a:p>
            <a:pPr algn="l"/>
            <a:r>
              <a:rPr lang="ru-RU" sz="1800" dirty="0">
                <a:latin typeface="+mn-lt"/>
              </a:rPr>
              <a:t>Для </a:t>
            </a:r>
            <a:r>
              <a:rPr lang="ru-RU" sz="1800" dirty="0" err="1">
                <a:latin typeface="+mn-lt"/>
              </a:rPr>
              <a:t>цієї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шкали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можна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застосовувати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лише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такі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операції</a:t>
            </a:r>
            <a:r>
              <a:rPr lang="ru-RU" sz="1800" b="1" dirty="0">
                <a:solidFill>
                  <a:srgbClr val="0000CC"/>
                </a:solidFill>
                <a:latin typeface="+mn-lt"/>
              </a:rPr>
              <a:t>: </a:t>
            </a:r>
            <a:endParaRPr lang="ru-RU" sz="1800" b="1" dirty="0" smtClean="0">
              <a:solidFill>
                <a:srgbClr val="0000CC"/>
              </a:solidFill>
              <a:latin typeface="+mn-lt"/>
            </a:endParaRPr>
          </a:p>
          <a:p>
            <a:pPr marL="915988" indent="-285750" algn="l">
              <a:buFont typeface="Wingdings" panose="05000000000000000000" pitchFamily="2" charset="2"/>
              <a:buChar char="Ø"/>
            </a:pPr>
            <a:r>
              <a:rPr lang="ru-RU" sz="1800" b="1" dirty="0" err="1" smtClean="0">
                <a:solidFill>
                  <a:srgbClr val="0000CC"/>
                </a:solidFill>
                <a:latin typeface="+mn-lt"/>
              </a:rPr>
              <a:t>рівність</a:t>
            </a:r>
            <a:r>
              <a:rPr lang="ru-RU" sz="1800" b="1" dirty="0" smtClean="0">
                <a:solidFill>
                  <a:srgbClr val="0000CC"/>
                </a:solidFill>
                <a:latin typeface="+mn-lt"/>
              </a:rPr>
              <a:t> (=), </a:t>
            </a:r>
          </a:p>
          <a:p>
            <a:pPr marL="915988" indent="-285750" algn="l">
              <a:buFont typeface="Wingdings" panose="05000000000000000000" pitchFamily="2" charset="2"/>
              <a:buChar char="Ø"/>
            </a:pPr>
            <a:r>
              <a:rPr lang="ru-RU" sz="1800" b="1" dirty="0" err="1" smtClean="0">
                <a:solidFill>
                  <a:srgbClr val="0000CC"/>
                </a:solidFill>
                <a:latin typeface="+mn-lt"/>
              </a:rPr>
              <a:t>нерівність</a:t>
            </a:r>
            <a:r>
              <a:rPr lang="ru-RU" sz="1800" b="1" dirty="0" smtClean="0">
                <a:solidFill>
                  <a:srgbClr val="0000CC"/>
                </a:solidFill>
                <a:latin typeface="+mn-lt"/>
              </a:rPr>
              <a:t> (</a:t>
            </a:r>
            <a:r>
              <a:rPr lang="ru-RU" sz="1800" b="1" dirty="0" smtClean="0">
                <a:solidFill>
                  <a:srgbClr val="0000CC"/>
                </a:solidFill>
                <a:latin typeface="+mn-lt"/>
                <a:sym typeface="Symbol" panose="05050102010706020507" pitchFamily="18" charset="2"/>
              </a:rPr>
              <a:t></a:t>
            </a:r>
            <a:r>
              <a:rPr lang="ru-RU" sz="1800" b="1" dirty="0" smtClean="0">
                <a:solidFill>
                  <a:srgbClr val="0000CC"/>
                </a:solidFill>
                <a:latin typeface="+mn-lt"/>
              </a:rPr>
              <a:t>).</a:t>
            </a:r>
            <a:endParaRPr lang="ru-RU" sz="1800" b="1" dirty="0">
              <a:solidFill>
                <a:srgbClr val="0000CC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2862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5720" y="748611"/>
            <a:ext cx="9052560" cy="3847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endParaRPr lang="ru-RU" dirty="0"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6164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Шкали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720" y="748611"/>
            <a:ext cx="905256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800" b="1" dirty="0" err="1" smtClean="0">
                <a:solidFill>
                  <a:srgbClr val="0000CC"/>
                </a:solidFill>
                <a:latin typeface="+mn-lt"/>
              </a:rPr>
              <a:t>Порядкова</a:t>
            </a:r>
            <a:r>
              <a:rPr lang="ru-RU" sz="1800" b="1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800" b="1" dirty="0">
                <a:solidFill>
                  <a:srgbClr val="0000CC"/>
                </a:solidFill>
                <a:latin typeface="+mn-lt"/>
              </a:rPr>
              <a:t>шкала (</a:t>
            </a:r>
            <a:r>
              <a:rPr lang="en-GB" sz="1800" b="1" dirty="0">
                <a:solidFill>
                  <a:srgbClr val="0000CC"/>
                </a:solidFill>
                <a:latin typeface="+mn-lt"/>
              </a:rPr>
              <a:t>ordinal scale) </a:t>
            </a:r>
            <a:r>
              <a:rPr lang="en-GB" sz="1800" dirty="0">
                <a:latin typeface="+mn-lt"/>
              </a:rPr>
              <a:t>- </a:t>
            </a:r>
            <a:r>
              <a:rPr lang="ru-RU" sz="1800" dirty="0">
                <a:latin typeface="+mn-lt"/>
              </a:rPr>
              <a:t>шкала, в </a:t>
            </a:r>
            <a:r>
              <a:rPr lang="ru-RU" sz="1800" dirty="0" err="1">
                <a:latin typeface="+mn-lt"/>
              </a:rPr>
              <a:t>якій</a:t>
            </a:r>
            <a:r>
              <a:rPr lang="ru-RU" sz="1800" dirty="0">
                <a:latin typeface="+mn-lt"/>
              </a:rPr>
              <a:t> числа </a:t>
            </a:r>
            <a:r>
              <a:rPr lang="ru-RU" sz="1800" dirty="0" err="1" smtClean="0">
                <a:latin typeface="+mn-lt"/>
              </a:rPr>
              <a:t>присвоюють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об'єктам</a:t>
            </a:r>
            <a:r>
              <a:rPr lang="ru-RU" sz="1800" dirty="0" smtClean="0">
                <a:latin typeface="+mn-lt"/>
              </a:rPr>
              <a:t> для </a:t>
            </a:r>
            <a:r>
              <a:rPr lang="ru-RU" sz="1800" dirty="0" err="1">
                <a:latin typeface="+mn-lt"/>
              </a:rPr>
              <a:t>позначення</a:t>
            </a:r>
            <a:r>
              <a:rPr lang="ru-RU" sz="1800" dirty="0">
                <a:latin typeface="+mn-lt"/>
              </a:rPr>
              <a:t> </a:t>
            </a:r>
            <a:r>
              <a:rPr lang="ru-RU" sz="1800" b="1" dirty="0" err="1">
                <a:latin typeface="+mn-lt"/>
              </a:rPr>
              <a:t>відносної</a:t>
            </a:r>
            <a:r>
              <a:rPr lang="ru-RU" sz="1800" b="1" dirty="0">
                <a:latin typeface="+mn-lt"/>
              </a:rPr>
              <a:t> </a:t>
            </a:r>
            <a:r>
              <a:rPr lang="ru-RU" sz="1800" b="1" dirty="0" err="1">
                <a:latin typeface="+mn-lt"/>
              </a:rPr>
              <a:t>позиції</a:t>
            </a:r>
            <a:r>
              <a:rPr lang="ru-RU" sz="1800" b="1" dirty="0">
                <a:latin typeface="+mn-lt"/>
              </a:rPr>
              <a:t> </a:t>
            </a:r>
            <a:r>
              <a:rPr lang="ru-RU" sz="1800" b="1" dirty="0" err="1">
                <a:latin typeface="+mn-lt"/>
              </a:rPr>
              <a:t>об'єктів</a:t>
            </a:r>
            <a:r>
              <a:rPr lang="ru-RU" sz="1800" dirty="0">
                <a:latin typeface="+mn-lt"/>
              </a:rPr>
              <a:t>, але не </a:t>
            </a:r>
            <a:r>
              <a:rPr lang="ru-RU" sz="1800" dirty="0" err="1">
                <a:latin typeface="+mn-lt"/>
              </a:rPr>
              <a:t>величини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відмінностей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між</a:t>
            </a:r>
            <a:r>
              <a:rPr lang="ru-RU" sz="1800" dirty="0" smtClean="0">
                <a:latin typeface="+mn-lt"/>
              </a:rPr>
              <a:t> ними</a:t>
            </a:r>
            <a:r>
              <a:rPr lang="ru-RU" sz="1800" dirty="0">
                <a:latin typeface="+mn-lt"/>
              </a:rPr>
              <a:t>.</a:t>
            </a:r>
          </a:p>
          <a:p>
            <a:pPr algn="l"/>
            <a:r>
              <a:rPr lang="ru-RU" sz="1800" dirty="0">
                <a:latin typeface="+mn-lt"/>
              </a:rPr>
              <a:t>Шкала </a:t>
            </a:r>
            <a:r>
              <a:rPr lang="ru-RU" sz="1800" dirty="0" err="1">
                <a:latin typeface="+mn-lt"/>
              </a:rPr>
              <a:t>вимірювань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дає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можливість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ранжувати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значення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змінних</a:t>
            </a:r>
            <a:r>
              <a:rPr lang="ru-RU" sz="1800" dirty="0">
                <a:latin typeface="+mn-lt"/>
              </a:rPr>
              <a:t>. </a:t>
            </a:r>
            <a:r>
              <a:rPr lang="ru-RU" sz="1800" dirty="0" err="1">
                <a:latin typeface="+mn-lt"/>
              </a:rPr>
              <a:t>Вимірювання</a:t>
            </a:r>
            <a:r>
              <a:rPr lang="ru-RU" sz="1800" dirty="0">
                <a:latin typeface="+mn-lt"/>
              </a:rPr>
              <a:t> ж в</a:t>
            </a:r>
          </a:p>
          <a:p>
            <a:pPr algn="l"/>
            <a:r>
              <a:rPr lang="ru-RU" sz="1800" dirty="0" err="1">
                <a:latin typeface="+mn-lt"/>
              </a:rPr>
              <a:t>порядкової</a:t>
            </a:r>
            <a:r>
              <a:rPr lang="ru-RU" sz="1800" dirty="0">
                <a:latin typeface="+mn-lt"/>
              </a:rPr>
              <a:t> шкалою </a:t>
            </a:r>
            <a:r>
              <a:rPr lang="ru-RU" sz="1800" dirty="0" err="1">
                <a:latin typeface="+mn-lt"/>
              </a:rPr>
              <a:t>містять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інформацію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тільки</a:t>
            </a:r>
            <a:r>
              <a:rPr lang="ru-RU" sz="1800" dirty="0">
                <a:latin typeface="+mn-lt"/>
              </a:rPr>
              <a:t> про порядок </a:t>
            </a:r>
            <a:r>
              <a:rPr lang="ru-RU" sz="1800" dirty="0" err="1" smtClean="0">
                <a:latin typeface="+mn-lt"/>
              </a:rPr>
              <a:t>проходслідування</a:t>
            </a:r>
            <a:r>
              <a:rPr lang="ru-RU" sz="1800" dirty="0" smtClean="0">
                <a:latin typeface="+mn-lt"/>
              </a:rPr>
              <a:t> величин</a:t>
            </a:r>
            <a:r>
              <a:rPr lang="ru-RU" sz="1800" dirty="0">
                <a:latin typeface="+mn-lt"/>
              </a:rPr>
              <a:t>, але </a:t>
            </a:r>
            <a:r>
              <a:rPr lang="ru-RU" sz="1800" dirty="0" smtClean="0">
                <a:latin typeface="+mn-lt"/>
              </a:rPr>
              <a:t>не </a:t>
            </a:r>
            <a:r>
              <a:rPr lang="ru-RU" sz="1800" dirty="0" err="1" smtClean="0">
                <a:latin typeface="+mn-lt"/>
              </a:rPr>
              <a:t>дозволяють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сказати</a:t>
            </a:r>
            <a:r>
              <a:rPr lang="ru-RU" sz="1800" dirty="0">
                <a:latin typeface="+mn-lt"/>
              </a:rPr>
              <a:t> "</a:t>
            </a:r>
            <a:r>
              <a:rPr lang="ru-RU" sz="1800" dirty="0" err="1">
                <a:latin typeface="+mn-lt"/>
              </a:rPr>
              <a:t>наскільки</a:t>
            </a:r>
            <a:r>
              <a:rPr lang="ru-RU" sz="1800" dirty="0">
                <a:latin typeface="+mn-lt"/>
              </a:rPr>
              <a:t> одна величина </a:t>
            </a:r>
            <a:r>
              <a:rPr lang="ru-RU" sz="1800" dirty="0" err="1">
                <a:latin typeface="+mn-lt"/>
              </a:rPr>
              <a:t>більша</a:t>
            </a:r>
            <a:r>
              <a:rPr lang="ru-RU" sz="1800" dirty="0">
                <a:latin typeface="+mn-lt"/>
              </a:rPr>
              <a:t> за </a:t>
            </a:r>
            <a:r>
              <a:rPr lang="ru-RU" sz="1800" dirty="0" err="1">
                <a:latin typeface="+mn-lt"/>
              </a:rPr>
              <a:t>іншу</a:t>
            </a:r>
            <a:r>
              <a:rPr lang="ru-RU" sz="1800" dirty="0">
                <a:latin typeface="+mn-lt"/>
              </a:rPr>
              <a:t>", </a:t>
            </a:r>
            <a:r>
              <a:rPr lang="ru-RU" sz="1800" dirty="0" err="1">
                <a:latin typeface="+mn-lt"/>
              </a:rPr>
              <a:t>або</a:t>
            </a:r>
            <a:r>
              <a:rPr lang="ru-RU" sz="1800" dirty="0">
                <a:latin typeface="+mn-lt"/>
              </a:rPr>
              <a:t> "</a:t>
            </a:r>
            <a:r>
              <a:rPr lang="ru-RU" sz="1800" dirty="0" err="1">
                <a:latin typeface="+mn-lt"/>
              </a:rPr>
              <a:t>наскільки</a:t>
            </a:r>
            <a:r>
              <a:rPr lang="ru-RU" sz="1800" dirty="0">
                <a:latin typeface="+mn-lt"/>
              </a:rPr>
              <a:t> вона </a:t>
            </a:r>
            <a:r>
              <a:rPr lang="ru-RU" sz="1800" dirty="0" err="1" smtClean="0">
                <a:latin typeface="+mn-lt"/>
              </a:rPr>
              <a:t>менше</a:t>
            </a:r>
            <a:r>
              <a:rPr lang="ru-RU" sz="1800" dirty="0" smtClean="0">
                <a:latin typeface="+mn-lt"/>
              </a:rPr>
              <a:t> за </a:t>
            </a:r>
            <a:r>
              <a:rPr lang="ru-RU" sz="1800" dirty="0" err="1" smtClean="0">
                <a:latin typeface="+mn-lt"/>
              </a:rPr>
              <a:t>іншу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>
                <a:latin typeface="+mn-lt"/>
              </a:rPr>
              <a:t>".</a:t>
            </a:r>
          </a:p>
          <a:p>
            <a:pPr algn="l"/>
            <a:r>
              <a:rPr lang="ru-RU" sz="1800" dirty="0" smtClean="0">
                <a:latin typeface="+mn-lt"/>
              </a:rPr>
              <a:t>	</a:t>
            </a:r>
            <a:r>
              <a:rPr lang="ru-RU" sz="1800" dirty="0" smtClean="0">
                <a:solidFill>
                  <a:srgbClr val="008000"/>
                </a:solidFill>
                <a:latin typeface="+mn-lt"/>
              </a:rPr>
              <a:t>Приклад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такої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шкали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: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місце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(1, 2, 3-е), яке команда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отримала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на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змаганнях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,</a:t>
            </a:r>
          </a:p>
          <a:p>
            <a:pPr algn="l"/>
            <a:r>
              <a:rPr lang="ru-RU" sz="1800" dirty="0" smtClean="0">
                <a:solidFill>
                  <a:srgbClr val="008000"/>
                </a:solidFill>
                <a:latin typeface="+mn-lt"/>
              </a:rPr>
              <a:t>	номер 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студента в рейтингу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успішності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(1-й, 23-й, і т.д.), при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цьому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невідомо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,</a:t>
            </a:r>
          </a:p>
          <a:p>
            <a:pPr algn="l"/>
            <a:r>
              <a:rPr lang="ru-RU" sz="1800" dirty="0" smtClean="0">
                <a:solidFill>
                  <a:srgbClr val="008000"/>
                </a:solidFill>
                <a:latin typeface="+mn-lt"/>
              </a:rPr>
              <a:t>	</a:t>
            </a:r>
            <a:r>
              <a:rPr lang="ru-RU" sz="1800" dirty="0" err="1" smtClean="0">
                <a:solidFill>
                  <a:srgbClr val="008000"/>
                </a:solidFill>
                <a:latin typeface="+mn-lt"/>
              </a:rPr>
              <a:t>наскільки</a:t>
            </a:r>
            <a:r>
              <a:rPr lang="ru-RU" sz="1800" dirty="0" smtClean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один студент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успішніше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іншого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відомий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лише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його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номер в рейтингу.</a:t>
            </a:r>
          </a:p>
          <a:p>
            <a:pPr algn="l"/>
            <a:r>
              <a:rPr lang="ru-RU" sz="1800" dirty="0">
                <a:latin typeface="+mn-lt"/>
              </a:rPr>
              <a:t>Для </a:t>
            </a:r>
            <a:r>
              <a:rPr lang="ru-RU" sz="1800" dirty="0" err="1">
                <a:latin typeface="+mn-lt"/>
              </a:rPr>
              <a:t>цієї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шкали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можна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застосовувати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лише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такі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операції</a:t>
            </a:r>
            <a:r>
              <a:rPr lang="ru-RU" sz="1800" dirty="0">
                <a:latin typeface="+mn-lt"/>
              </a:rPr>
              <a:t>: </a:t>
            </a:r>
            <a:endParaRPr lang="ru-RU" sz="1800" dirty="0" smtClean="0">
              <a:latin typeface="+mn-lt"/>
            </a:endParaRPr>
          </a:p>
          <a:p>
            <a:pPr marL="355600" algn="l"/>
            <a:r>
              <a:rPr lang="ru-RU" sz="1800" dirty="0" err="1" smtClean="0">
                <a:solidFill>
                  <a:srgbClr val="0000CC"/>
                </a:solidFill>
                <a:latin typeface="+mn-lt"/>
              </a:rPr>
              <a:t>рівність</a:t>
            </a:r>
            <a:r>
              <a:rPr lang="ru-RU" sz="1800" dirty="0" smtClean="0">
                <a:solidFill>
                  <a:srgbClr val="0000CC"/>
                </a:solidFill>
                <a:latin typeface="+mn-lt"/>
              </a:rPr>
              <a:t> (=), </a:t>
            </a:r>
          </a:p>
          <a:p>
            <a:pPr marL="355600" algn="l"/>
            <a:r>
              <a:rPr lang="ru-RU" sz="1800" dirty="0" err="1" smtClean="0">
                <a:solidFill>
                  <a:srgbClr val="0000CC"/>
                </a:solidFill>
                <a:latin typeface="+mn-lt"/>
              </a:rPr>
              <a:t>нерівність</a:t>
            </a:r>
            <a:r>
              <a:rPr lang="ru-RU" sz="1800" dirty="0" smtClean="0">
                <a:solidFill>
                  <a:srgbClr val="0000CC"/>
                </a:solidFill>
                <a:latin typeface="+mn-lt"/>
              </a:rPr>
              <a:t> (</a:t>
            </a:r>
            <a:r>
              <a:rPr lang="ru-RU" sz="1800" dirty="0" smtClean="0">
                <a:solidFill>
                  <a:srgbClr val="0000CC"/>
                </a:solidFill>
                <a:latin typeface="+mn-lt"/>
                <a:sym typeface="Symbol" panose="05050102010706020507" pitchFamily="18" charset="2"/>
              </a:rPr>
              <a:t></a:t>
            </a:r>
            <a:r>
              <a:rPr lang="ru-RU" sz="1800" dirty="0" smtClean="0">
                <a:solidFill>
                  <a:srgbClr val="0000CC"/>
                </a:solidFill>
                <a:latin typeface="+mn-lt"/>
              </a:rPr>
              <a:t>), </a:t>
            </a:r>
          </a:p>
          <a:p>
            <a:pPr marL="355600" algn="l"/>
            <a:r>
              <a:rPr lang="ru-RU" sz="1800" dirty="0" err="1" smtClean="0">
                <a:solidFill>
                  <a:srgbClr val="0000CC"/>
                </a:solidFill>
                <a:latin typeface="+mn-lt"/>
              </a:rPr>
              <a:t>більше</a:t>
            </a:r>
            <a:r>
              <a:rPr lang="ru-RU" sz="1800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800" dirty="0">
                <a:solidFill>
                  <a:srgbClr val="0000CC"/>
                </a:solidFill>
                <a:latin typeface="+mn-lt"/>
              </a:rPr>
              <a:t>(&gt;),</a:t>
            </a:r>
          </a:p>
          <a:p>
            <a:pPr marL="355600" algn="l"/>
            <a:r>
              <a:rPr lang="ru-RU" sz="1800" dirty="0" err="1">
                <a:solidFill>
                  <a:srgbClr val="0000CC"/>
                </a:solidFill>
                <a:latin typeface="+mn-lt"/>
              </a:rPr>
              <a:t>менше</a:t>
            </a:r>
            <a:r>
              <a:rPr lang="ru-RU" sz="1800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800" dirty="0" smtClean="0">
                <a:solidFill>
                  <a:srgbClr val="0000CC"/>
                </a:solidFill>
                <a:latin typeface="+mn-lt"/>
              </a:rPr>
              <a:t>(&lt;).</a:t>
            </a:r>
          </a:p>
        </p:txBody>
      </p:sp>
    </p:spTree>
    <p:extLst>
      <p:ext uri="{BB962C8B-B14F-4D97-AF65-F5344CB8AC3E}">
        <p14:creationId xmlns:p14="http://schemas.microsoft.com/office/powerpoint/2010/main" val="4162706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5720" y="748611"/>
            <a:ext cx="9052560" cy="3847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endParaRPr lang="ru-RU" dirty="0"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6164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Шкали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720" y="748611"/>
            <a:ext cx="9052560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ru-RU" sz="1800" b="1" dirty="0" err="1" smtClean="0">
                <a:solidFill>
                  <a:srgbClr val="0000CC"/>
                </a:solidFill>
                <a:latin typeface="+mn-lt"/>
              </a:rPr>
              <a:t>Інтервальна</a:t>
            </a:r>
            <a:r>
              <a:rPr lang="ru-RU" sz="1800" b="1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800" b="1" dirty="0">
                <a:solidFill>
                  <a:srgbClr val="0000CC"/>
                </a:solidFill>
                <a:latin typeface="+mn-lt"/>
              </a:rPr>
              <a:t>шкала (</a:t>
            </a:r>
            <a:r>
              <a:rPr lang="en-GB" sz="1800" b="1" dirty="0">
                <a:solidFill>
                  <a:srgbClr val="0000CC"/>
                </a:solidFill>
                <a:latin typeface="+mn-lt"/>
              </a:rPr>
              <a:t>interval scale) </a:t>
            </a:r>
            <a:r>
              <a:rPr lang="en-GB" sz="1800" dirty="0">
                <a:latin typeface="+mn-lt"/>
              </a:rPr>
              <a:t>- </a:t>
            </a:r>
            <a:r>
              <a:rPr lang="ru-RU" sz="1800" dirty="0">
                <a:latin typeface="+mn-lt"/>
              </a:rPr>
              <a:t>шкала, </a:t>
            </a:r>
            <a:r>
              <a:rPr lang="ru-RU" sz="1800" dirty="0" err="1">
                <a:latin typeface="+mn-lt"/>
              </a:rPr>
              <a:t>різниці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між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значеннями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якої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можуть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>
                <a:latin typeface="+mn-lt"/>
              </a:rPr>
              <a:t>бути </a:t>
            </a:r>
            <a:r>
              <a:rPr lang="ru-RU" sz="1800" dirty="0" err="1">
                <a:latin typeface="+mn-lt"/>
              </a:rPr>
              <a:t>обчислені</a:t>
            </a:r>
            <a:r>
              <a:rPr lang="ru-RU" sz="1800" dirty="0">
                <a:latin typeface="+mn-lt"/>
              </a:rPr>
              <a:t>, </a:t>
            </a:r>
            <a:r>
              <a:rPr lang="ru-RU" sz="1800" dirty="0" err="1">
                <a:latin typeface="+mn-lt"/>
              </a:rPr>
              <a:t>проте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їхні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відношення</a:t>
            </a:r>
            <a:r>
              <a:rPr lang="ru-RU" sz="1800" dirty="0" smtClean="0">
                <a:latin typeface="+mn-lt"/>
              </a:rPr>
              <a:t> не </a:t>
            </a:r>
            <a:r>
              <a:rPr lang="ru-RU" sz="1800" dirty="0" err="1">
                <a:latin typeface="+mn-lt"/>
              </a:rPr>
              <a:t>мають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сенсу</a:t>
            </a:r>
            <a:r>
              <a:rPr lang="ru-RU" sz="1800" dirty="0">
                <a:latin typeface="+mn-lt"/>
              </a:rPr>
              <a:t>.</a:t>
            </a:r>
          </a:p>
          <a:p>
            <a:pPr algn="l"/>
            <a:r>
              <a:rPr lang="ru-RU" sz="1800" dirty="0" err="1">
                <a:latin typeface="+mn-lt"/>
              </a:rPr>
              <a:t>Ця</a:t>
            </a:r>
            <a:r>
              <a:rPr lang="ru-RU" sz="1800" dirty="0">
                <a:latin typeface="+mn-lt"/>
              </a:rPr>
              <a:t> шкала </a:t>
            </a:r>
            <a:r>
              <a:rPr lang="ru-RU" sz="1800" dirty="0" err="1">
                <a:latin typeface="+mn-lt"/>
              </a:rPr>
              <a:t>дозволяє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знаходити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різницю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між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двома</a:t>
            </a:r>
            <a:r>
              <a:rPr lang="ru-RU" sz="1800" dirty="0">
                <a:latin typeface="+mn-lt"/>
              </a:rPr>
              <a:t> величинами, </a:t>
            </a:r>
            <a:r>
              <a:rPr lang="ru-RU" sz="1800" dirty="0" err="1">
                <a:latin typeface="+mn-lt"/>
              </a:rPr>
              <a:t>має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властивості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номінальної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>
                <a:latin typeface="+mn-lt"/>
              </a:rPr>
              <a:t>і </a:t>
            </a:r>
            <a:r>
              <a:rPr lang="ru-RU" sz="1800" dirty="0" err="1">
                <a:latin typeface="+mn-lt"/>
              </a:rPr>
              <a:t>порядкової</a:t>
            </a:r>
            <a:r>
              <a:rPr lang="ru-RU" sz="1800" dirty="0">
                <a:latin typeface="+mn-lt"/>
              </a:rPr>
              <a:t> шкал, а </a:t>
            </a:r>
            <a:r>
              <a:rPr lang="ru-RU" sz="1800" dirty="0" err="1">
                <a:latin typeface="+mn-lt"/>
              </a:rPr>
              <a:t>також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дозволяє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визначити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кількісну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зміну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ознаки</a:t>
            </a:r>
            <a:r>
              <a:rPr lang="ru-RU" sz="1800" dirty="0">
                <a:latin typeface="+mn-lt"/>
              </a:rPr>
              <a:t>.</a:t>
            </a:r>
          </a:p>
          <a:p>
            <a:pPr marL="447675" algn="l"/>
            <a:r>
              <a:rPr lang="ru-RU" sz="1800" dirty="0">
                <a:solidFill>
                  <a:srgbClr val="008000"/>
                </a:solidFill>
                <a:latin typeface="+mn-lt"/>
              </a:rPr>
              <a:t>Приклад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такої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шкали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: температура води в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морі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вранці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- 19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градусів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ввечері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- 24, </a:t>
            </a:r>
            <a:r>
              <a:rPr lang="ru-RU" sz="1800" dirty="0" err="1" smtClean="0">
                <a:solidFill>
                  <a:srgbClr val="008000"/>
                </a:solidFill>
                <a:latin typeface="+mn-lt"/>
              </a:rPr>
              <a:t>тобто</a:t>
            </a:r>
            <a:r>
              <a:rPr lang="ru-RU" sz="1800" dirty="0" smtClean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 smtClean="0">
                <a:solidFill>
                  <a:srgbClr val="008000"/>
                </a:solidFill>
                <a:latin typeface="+mn-lt"/>
              </a:rPr>
              <a:t>вечірня</a:t>
            </a:r>
            <a:r>
              <a:rPr lang="ru-RU" sz="1800" dirty="0" smtClean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на 5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градусів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вище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, але не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можна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сказати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що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вона в 1,26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разів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вище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.</a:t>
            </a:r>
          </a:p>
          <a:p>
            <a:pPr algn="l"/>
            <a:r>
              <a:rPr lang="ru-RU" sz="1800" dirty="0" err="1">
                <a:latin typeface="+mn-lt"/>
              </a:rPr>
              <a:t>Номінальна</a:t>
            </a:r>
            <a:r>
              <a:rPr lang="ru-RU" sz="1800" dirty="0">
                <a:latin typeface="+mn-lt"/>
              </a:rPr>
              <a:t> і </a:t>
            </a:r>
            <a:r>
              <a:rPr lang="ru-RU" sz="1800" dirty="0" err="1">
                <a:latin typeface="+mn-lt"/>
              </a:rPr>
              <a:t>порядкова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шкали</a:t>
            </a:r>
            <a:r>
              <a:rPr lang="ru-RU" sz="1800" dirty="0">
                <a:latin typeface="+mn-lt"/>
              </a:rPr>
              <a:t> є </a:t>
            </a:r>
            <a:r>
              <a:rPr lang="ru-RU" sz="1800" dirty="0" err="1">
                <a:latin typeface="+mn-lt"/>
              </a:rPr>
              <a:t>дискретними</a:t>
            </a:r>
            <a:r>
              <a:rPr lang="ru-RU" sz="1800" dirty="0">
                <a:latin typeface="+mn-lt"/>
              </a:rPr>
              <a:t>, а </a:t>
            </a:r>
            <a:r>
              <a:rPr lang="ru-RU" sz="1800" dirty="0" err="1">
                <a:latin typeface="+mn-lt"/>
              </a:rPr>
              <a:t>інтервальна</a:t>
            </a:r>
            <a:r>
              <a:rPr lang="ru-RU" sz="1800" dirty="0">
                <a:latin typeface="+mn-lt"/>
              </a:rPr>
              <a:t> шкала -</a:t>
            </a:r>
          </a:p>
          <a:p>
            <a:pPr algn="l"/>
            <a:r>
              <a:rPr lang="ru-RU" sz="1800" dirty="0" err="1" smtClean="0">
                <a:latin typeface="+mn-lt"/>
              </a:rPr>
              <a:t>неперервною</a:t>
            </a:r>
            <a:r>
              <a:rPr lang="ru-RU" sz="1800" dirty="0" smtClean="0">
                <a:latin typeface="+mn-lt"/>
              </a:rPr>
              <a:t>, </a:t>
            </a:r>
            <a:r>
              <a:rPr lang="ru-RU" sz="1800" dirty="0">
                <a:latin typeface="+mn-lt"/>
              </a:rPr>
              <a:t>вона </a:t>
            </a:r>
            <a:r>
              <a:rPr lang="ru-RU" sz="1800" dirty="0" err="1">
                <a:latin typeface="+mn-lt"/>
              </a:rPr>
              <a:t>дозволяє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здійснювати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точні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вимірювання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ознаки</a:t>
            </a:r>
            <a:r>
              <a:rPr lang="ru-RU" sz="1800" dirty="0">
                <a:latin typeface="+mn-lt"/>
              </a:rPr>
              <a:t> і </a:t>
            </a:r>
            <a:r>
              <a:rPr lang="ru-RU" sz="1800" dirty="0" err="1">
                <a:latin typeface="+mn-lt"/>
              </a:rPr>
              <a:t>виробляти</a:t>
            </a:r>
            <a:endParaRPr lang="ru-RU" sz="1800" dirty="0">
              <a:latin typeface="+mn-lt"/>
            </a:endParaRPr>
          </a:p>
          <a:p>
            <a:pPr algn="l"/>
            <a:r>
              <a:rPr lang="ru-RU" sz="1800" dirty="0" err="1">
                <a:latin typeface="+mn-lt"/>
              </a:rPr>
              <a:t>арифметичні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операції</a:t>
            </a:r>
            <a:r>
              <a:rPr lang="ru-RU" sz="1800" dirty="0">
                <a:latin typeface="+mn-lt"/>
              </a:rPr>
              <a:t> </a:t>
            </a:r>
            <a:r>
              <a:rPr lang="ru-RU" sz="1800" b="1" dirty="0" err="1">
                <a:latin typeface="+mn-lt"/>
              </a:rPr>
              <a:t>додавання</a:t>
            </a:r>
            <a:r>
              <a:rPr lang="ru-RU" sz="1800" b="1" dirty="0">
                <a:latin typeface="+mn-lt"/>
              </a:rPr>
              <a:t>, </a:t>
            </a:r>
            <a:r>
              <a:rPr lang="ru-RU" sz="1800" b="1" dirty="0" err="1">
                <a:latin typeface="+mn-lt"/>
              </a:rPr>
              <a:t>віднімання</a:t>
            </a:r>
            <a:r>
              <a:rPr lang="ru-RU" sz="1800" b="1" dirty="0">
                <a:latin typeface="+mn-lt"/>
              </a:rPr>
              <a:t>, </a:t>
            </a:r>
            <a:r>
              <a:rPr lang="ru-RU" sz="1800" b="1" dirty="0" err="1">
                <a:latin typeface="+mn-lt"/>
              </a:rPr>
              <a:t>множення</a:t>
            </a:r>
            <a:r>
              <a:rPr lang="ru-RU" sz="1800" b="1" dirty="0">
                <a:latin typeface="+mn-lt"/>
              </a:rPr>
              <a:t>, </a:t>
            </a:r>
            <a:r>
              <a:rPr lang="ru-RU" sz="1800" b="1" dirty="0" err="1">
                <a:latin typeface="+mn-lt"/>
              </a:rPr>
              <a:t>ділення</a:t>
            </a:r>
            <a:r>
              <a:rPr lang="ru-RU" sz="1800" dirty="0">
                <a:latin typeface="+mn-lt"/>
              </a:rPr>
              <a:t>.</a:t>
            </a:r>
          </a:p>
          <a:p>
            <a:pPr algn="l"/>
            <a:r>
              <a:rPr lang="ru-RU" sz="1800" dirty="0">
                <a:latin typeface="+mn-lt"/>
              </a:rPr>
              <a:t>Для </a:t>
            </a:r>
            <a:r>
              <a:rPr lang="ru-RU" sz="1800" dirty="0" err="1">
                <a:latin typeface="+mn-lt"/>
              </a:rPr>
              <a:t>цієї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шкали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можна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застосовувати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лише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такі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операції</a:t>
            </a:r>
            <a:r>
              <a:rPr lang="ru-RU" sz="1800" dirty="0">
                <a:latin typeface="+mn-lt"/>
              </a:rPr>
              <a:t>: </a:t>
            </a:r>
            <a:endParaRPr lang="ru-RU" sz="1800" dirty="0" smtClean="0">
              <a:latin typeface="+mn-lt"/>
            </a:endParaRPr>
          </a:p>
          <a:p>
            <a:pPr marL="447675" algn="l"/>
            <a:r>
              <a:rPr lang="ru-RU" sz="1800" dirty="0" err="1" smtClean="0">
                <a:solidFill>
                  <a:srgbClr val="0000CC"/>
                </a:solidFill>
                <a:latin typeface="+mn-lt"/>
              </a:rPr>
              <a:t>рівність</a:t>
            </a:r>
            <a:r>
              <a:rPr lang="ru-RU" sz="1800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800" dirty="0">
                <a:solidFill>
                  <a:srgbClr val="0000CC"/>
                </a:solidFill>
                <a:latin typeface="+mn-lt"/>
              </a:rPr>
              <a:t>(=), </a:t>
            </a:r>
            <a:endParaRPr lang="ru-RU" sz="1800" dirty="0" smtClean="0">
              <a:solidFill>
                <a:srgbClr val="0000CC"/>
              </a:solidFill>
              <a:latin typeface="+mn-lt"/>
            </a:endParaRPr>
          </a:p>
          <a:p>
            <a:pPr marL="447675" algn="l"/>
            <a:r>
              <a:rPr lang="ru-RU" sz="1800" dirty="0" err="1" smtClean="0">
                <a:solidFill>
                  <a:srgbClr val="0000CC"/>
                </a:solidFill>
                <a:latin typeface="+mn-lt"/>
              </a:rPr>
              <a:t>нерівність</a:t>
            </a:r>
            <a:r>
              <a:rPr lang="ru-RU" sz="1800" dirty="0" smtClean="0">
                <a:solidFill>
                  <a:srgbClr val="0000CC"/>
                </a:solidFill>
                <a:latin typeface="+mn-lt"/>
              </a:rPr>
              <a:t> (</a:t>
            </a:r>
            <a:r>
              <a:rPr lang="ru-RU" sz="1800" dirty="0" smtClean="0">
                <a:solidFill>
                  <a:srgbClr val="0000CC"/>
                </a:solidFill>
                <a:latin typeface="+mn-lt"/>
                <a:sym typeface="Symbol" panose="05050102010706020507" pitchFamily="18" charset="2"/>
              </a:rPr>
              <a:t></a:t>
            </a:r>
            <a:r>
              <a:rPr lang="ru-RU" sz="1800" dirty="0" smtClean="0">
                <a:solidFill>
                  <a:srgbClr val="0000CC"/>
                </a:solidFill>
                <a:latin typeface="+mn-lt"/>
              </a:rPr>
              <a:t>), </a:t>
            </a:r>
          </a:p>
          <a:p>
            <a:pPr marL="447675" algn="l"/>
            <a:r>
              <a:rPr lang="ru-RU" sz="1800" dirty="0" err="1" smtClean="0">
                <a:solidFill>
                  <a:srgbClr val="0000CC"/>
                </a:solidFill>
                <a:latin typeface="+mn-lt"/>
              </a:rPr>
              <a:t>більше</a:t>
            </a:r>
            <a:r>
              <a:rPr lang="ru-RU" sz="1800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800" dirty="0">
                <a:solidFill>
                  <a:srgbClr val="0000CC"/>
                </a:solidFill>
                <a:latin typeface="+mn-lt"/>
              </a:rPr>
              <a:t>(&gt;),</a:t>
            </a:r>
          </a:p>
          <a:p>
            <a:pPr marL="447675" algn="l"/>
            <a:r>
              <a:rPr lang="ru-RU" sz="1800" dirty="0" err="1">
                <a:solidFill>
                  <a:srgbClr val="0000CC"/>
                </a:solidFill>
                <a:latin typeface="+mn-lt"/>
              </a:rPr>
              <a:t>менше</a:t>
            </a:r>
            <a:r>
              <a:rPr lang="ru-RU" sz="1800" dirty="0">
                <a:solidFill>
                  <a:srgbClr val="0000CC"/>
                </a:solidFill>
                <a:latin typeface="+mn-lt"/>
              </a:rPr>
              <a:t> (&lt;), </a:t>
            </a:r>
            <a:endParaRPr lang="ru-RU" sz="1800" dirty="0" smtClean="0">
              <a:solidFill>
                <a:srgbClr val="0000CC"/>
              </a:solidFill>
              <a:latin typeface="+mn-lt"/>
            </a:endParaRPr>
          </a:p>
          <a:p>
            <a:pPr marL="447675" algn="l"/>
            <a:r>
              <a:rPr lang="ru-RU" sz="1800" dirty="0" err="1" smtClean="0">
                <a:solidFill>
                  <a:srgbClr val="0000CC"/>
                </a:solidFill>
                <a:latin typeface="+mn-lt"/>
              </a:rPr>
              <a:t>операції</a:t>
            </a:r>
            <a:r>
              <a:rPr lang="ru-RU" sz="1800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00CC"/>
                </a:solidFill>
                <a:latin typeface="+mn-lt"/>
              </a:rPr>
              <a:t>додавання</a:t>
            </a:r>
            <a:r>
              <a:rPr lang="ru-RU" sz="1800" dirty="0">
                <a:solidFill>
                  <a:srgbClr val="0000CC"/>
                </a:solidFill>
                <a:latin typeface="+mn-lt"/>
              </a:rPr>
              <a:t> (+) і </a:t>
            </a:r>
            <a:r>
              <a:rPr lang="ru-RU" sz="1800" dirty="0" err="1">
                <a:solidFill>
                  <a:srgbClr val="0000CC"/>
                </a:solidFill>
                <a:latin typeface="+mn-lt"/>
              </a:rPr>
              <a:t>віднімання</a:t>
            </a:r>
            <a:r>
              <a:rPr lang="ru-RU" sz="1800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800" dirty="0" smtClean="0">
                <a:solidFill>
                  <a:srgbClr val="0000CC"/>
                </a:solidFill>
                <a:latin typeface="+mn-lt"/>
              </a:rPr>
              <a:t>(-).</a:t>
            </a:r>
            <a:endParaRPr lang="ru-RU" sz="1800" dirty="0">
              <a:solidFill>
                <a:srgbClr val="0000CC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2637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5720" y="748611"/>
            <a:ext cx="9052560" cy="3847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endParaRPr lang="ru-RU" dirty="0"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6164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Шкали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720" y="748611"/>
            <a:ext cx="9052560" cy="28623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ru-RU" sz="1800" b="1" dirty="0" err="1" smtClean="0">
                <a:solidFill>
                  <a:srgbClr val="0000CC"/>
                </a:solidFill>
                <a:latin typeface="+mn-lt"/>
              </a:rPr>
              <a:t>Відносна</a:t>
            </a:r>
            <a:r>
              <a:rPr lang="ru-RU" sz="1800" b="1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800" b="1" dirty="0">
                <a:solidFill>
                  <a:srgbClr val="0000CC"/>
                </a:solidFill>
                <a:latin typeface="+mn-lt"/>
              </a:rPr>
              <a:t>шкала (</a:t>
            </a:r>
            <a:r>
              <a:rPr lang="en-GB" sz="1800" b="1" dirty="0">
                <a:solidFill>
                  <a:srgbClr val="0000CC"/>
                </a:solidFill>
                <a:latin typeface="+mn-lt"/>
              </a:rPr>
              <a:t>ratio scale) </a:t>
            </a:r>
            <a:r>
              <a:rPr lang="en-GB" sz="1800" dirty="0">
                <a:latin typeface="+mn-lt"/>
              </a:rPr>
              <a:t>- </a:t>
            </a:r>
            <a:r>
              <a:rPr lang="ru-RU" sz="1800" dirty="0">
                <a:latin typeface="+mn-lt"/>
              </a:rPr>
              <a:t>шкала, в </a:t>
            </a:r>
            <a:r>
              <a:rPr lang="ru-RU" sz="1800" dirty="0" err="1">
                <a:latin typeface="+mn-lt"/>
              </a:rPr>
              <a:t>якій</a:t>
            </a:r>
            <a:r>
              <a:rPr lang="ru-RU" sz="1800" dirty="0">
                <a:latin typeface="+mn-lt"/>
              </a:rPr>
              <a:t> є </a:t>
            </a:r>
            <a:r>
              <a:rPr lang="ru-RU" sz="1800" dirty="0" err="1">
                <a:latin typeface="+mn-lt"/>
              </a:rPr>
              <a:t>певна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smtClean="0">
                <a:latin typeface="+mn-lt"/>
              </a:rPr>
              <a:t>точка </a:t>
            </a:r>
            <a:r>
              <a:rPr lang="ru-RU" sz="1800" dirty="0" err="1" smtClean="0">
                <a:latin typeface="+mn-lt"/>
              </a:rPr>
              <a:t>відліку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>
                <a:latin typeface="+mn-lt"/>
              </a:rPr>
              <a:t>і </a:t>
            </a:r>
            <a:r>
              <a:rPr lang="ru-RU" sz="1800" dirty="0" err="1">
                <a:latin typeface="+mn-lt"/>
              </a:rPr>
              <a:t>можливі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відношення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між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значеннями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шкали</a:t>
            </a:r>
            <a:r>
              <a:rPr lang="ru-RU" sz="1800" dirty="0">
                <a:latin typeface="+mn-lt"/>
              </a:rPr>
              <a:t>.</a:t>
            </a:r>
          </a:p>
          <a:p>
            <a:pPr marL="630238" algn="l"/>
            <a:r>
              <a:rPr lang="ru-RU" sz="1800" dirty="0">
                <a:solidFill>
                  <a:srgbClr val="008000"/>
                </a:solidFill>
                <a:latin typeface="+mn-lt"/>
              </a:rPr>
              <a:t>Приклад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такої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шкали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: </a:t>
            </a:r>
            <a:r>
              <a:rPr lang="ru-RU" sz="1800" dirty="0" err="1" smtClean="0">
                <a:solidFill>
                  <a:srgbClr val="008000"/>
                </a:solidFill>
                <a:latin typeface="+mn-lt"/>
              </a:rPr>
              <a:t>ціна</a:t>
            </a:r>
            <a:r>
              <a:rPr lang="ru-RU" sz="1800" dirty="0" smtClean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на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картоплю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в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супермаркеті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вище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в 1,2 рази,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ніж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ціна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на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базарі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.</a:t>
            </a:r>
          </a:p>
          <a:p>
            <a:pPr algn="l"/>
            <a:r>
              <a:rPr lang="ru-RU" sz="1800" b="1" dirty="0" err="1">
                <a:latin typeface="+mn-lt"/>
              </a:rPr>
              <a:t>Відносні</a:t>
            </a:r>
            <a:r>
              <a:rPr lang="ru-RU" sz="1800" b="1" dirty="0">
                <a:latin typeface="+mn-lt"/>
              </a:rPr>
              <a:t> і </a:t>
            </a:r>
            <a:r>
              <a:rPr lang="ru-RU" sz="1800" b="1" dirty="0" err="1">
                <a:latin typeface="+mn-lt"/>
              </a:rPr>
              <a:t>інтервальні</a:t>
            </a:r>
            <a:r>
              <a:rPr lang="ru-RU" sz="1800" b="1" dirty="0">
                <a:latin typeface="+mn-lt"/>
              </a:rPr>
              <a:t> </a:t>
            </a:r>
            <a:r>
              <a:rPr lang="ru-RU" sz="1800" b="1" dirty="0" err="1">
                <a:latin typeface="+mn-lt"/>
              </a:rPr>
              <a:t>шкали</a:t>
            </a:r>
            <a:r>
              <a:rPr lang="ru-RU" sz="1800" b="1" dirty="0">
                <a:latin typeface="+mn-lt"/>
              </a:rPr>
              <a:t> є </a:t>
            </a:r>
            <a:r>
              <a:rPr lang="ru-RU" sz="1800" b="1" dirty="0" err="1">
                <a:latin typeface="+mn-lt"/>
              </a:rPr>
              <a:t>числовими</a:t>
            </a:r>
            <a:r>
              <a:rPr lang="ru-RU" sz="1800" b="1" dirty="0">
                <a:latin typeface="+mn-lt"/>
              </a:rPr>
              <a:t>.</a:t>
            </a:r>
          </a:p>
          <a:p>
            <a:pPr algn="l"/>
            <a:r>
              <a:rPr lang="ru-RU" sz="1800" dirty="0" smtClean="0">
                <a:latin typeface="+mn-lt"/>
              </a:rPr>
              <a:t>Для </a:t>
            </a:r>
            <a:r>
              <a:rPr lang="ru-RU" sz="1800" dirty="0" err="1">
                <a:latin typeface="+mn-lt"/>
              </a:rPr>
              <a:t>цієї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шкали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можна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застосовувати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лише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такі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операції</a:t>
            </a:r>
            <a:r>
              <a:rPr lang="ru-RU" sz="1800" dirty="0">
                <a:latin typeface="+mn-lt"/>
              </a:rPr>
              <a:t>: </a:t>
            </a:r>
            <a:endParaRPr lang="ru-RU" sz="1800" dirty="0" smtClean="0">
              <a:latin typeface="+mn-lt"/>
            </a:endParaRPr>
          </a:p>
          <a:p>
            <a:pPr marL="630238" algn="l"/>
            <a:r>
              <a:rPr lang="ru-RU" sz="1800" dirty="0" err="1" smtClean="0">
                <a:solidFill>
                  <a:srgbClr val="0000CC"/>
                </a:solidFill>
                <a:latin typeface="+mn-lt"/>
              </a:rPr>
              <a:t>рівність</a:t>
            </a:r>
            <a:r>
              <a:rPr lang="ru-RU" sz="1800" dirty="0" smtClean="0">
                <a:solidFill>
                  <a:srgbClr val="0000CC"/>
                </a:solidFill>
                <a:latin typeface="+mn-lt"/>
              </a:rPr>
              <a:t> (=), </a:t>
            </a:r>
          </a:p>
          <a:p>
            <a:pPr marL="630238" algn="l"/>
            <a:r>
              <a:rPr lang="ru-RU" sz="1800" dirty="0" err="1" smtClean="0">
                <a:solidFill>
                  <a:srgbClr val="0000CC"/>
                </a:solidFill>
                <a:latin typeface="+mn-lt"/>
              </a:rPr>
              <a:t>нерівність</a:t>
            </a:r>
            <a:r>
              <a:rPr lang="ru-RU" sz="1800" dirty="0" smtClean="0">
                <a:solidFill>
                  <a:srgbClr val="0000CC"/>
                </a:solidFill>
                <a:latin typeface="+mn-lt"/>
              </a:rPr>
              <a:t> (</a:t>
            </a:r>
            <a:r>
              <a:rPr lang="ru-RU" sz="1800" dirty="0" smtClean="0">
                <a:solidFill>
                  <a:srgbClr val="0000CC"/>
                </a:solidFill>
                <a:latin typeface="+mn-lt"/>
                <a:sym typeface="Symbol" panose="05050102010706020507" pitchFamily="18" charset="2"/>
              </a:rPr>
              <a:t></a:t>
            </a:r>
            <a:r>
              <a:rPr lang="ru-RU" sz="1800" dirty="0" smtClean="0">
                <a:solidFill>
                  <a:srgbClr val="0000CC"/>
                </a:solidFill>
                <a:latin typeface="+mn-lt"/>
              </a:rPr>
              <a:t>), </a:t>
            </a:r>
          </a:p>
          <a:p>
            <a:pPr marL="630238" algn="l"/>
            <a:r>
              <a:rPr lang="ru-RU" sz="1800" dirty="0" err="1" smtClean="0">
                <a:solidFill>
                  <a:srgbClr val="0000CC"/>
                </a:solidFill>
                <a:latin typeface="+mn-lt"/>
              </a:rPr>
              <a:t>більше</a:t>
            </a:r>
            <a:r>
              <a:rPr lang="ru-RU" sz="1800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1800" dirty="0">
                <a:solidFill>
                  <a:srgbClr val="0000CC"/>
                </a:solidFill>
                <a:latin typeface="+mn-lt"/>
              </a:rPr>
              <a:t>(&gt;),</a:t>
            </a:r>
          </a:p>
          <a:p>
            <a:pPr marL="630238" algn="l"/>
            <a:r>
              <a:rPr lang="ru-RU" sz="1800" dirty="0" err="1">
                <a:solidFill>
                  <a:srgbClr val="0000CC"/>
                </a:solidFill>
                <a:latin typeface="+mn-lt"/>
              </a:rPr>
              <a:t>менше</a:t>
            </a:r>
            <a:r>
              <a:rPr lang="ru-RU" sz="1800" dirty="0">
                <a:solidFill>
                  <a:srgbClr val="0000CC"/>
                </a:solidFill>
                <a:latin typeface="+mn-lt"/>
              </a:rPr>
              <a:t> (&lt;), </a:t>
            </a:r>
            <a:endParaRPr lang="ru-RU" sz="1800" dirty="0" smtClean="0">
              <a:solidFill>
                <a:srgbClr val="0000CC"/>
              </a:solidFill>
              <a:latin typeface="+mn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183130" y="2356025"/>
            <a:ext cx="300863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0238" algn="l"/>
            <a:r>
              <a:rPr lang="ru-RU" sz="2000" dirty="0" err="1" smtClean="0">
                <a:solidFill>
                  <a:srgbClr val="0000CC"/>
                </a:solidFill>
                <a:latin typeface="+mn-lt"/>
              </a:rPr>
              <a:t>додавання</a:t>
            </a:r>
            <a:r>
              <a:rPr lang="ru-RU" sz="2000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sz="2000" dirty="0">
                <a:solidFill>
                  <a:srgbClr val="0000CC"/>
                </a:solidFill>
                <a:latin typeface="+mn-lt"/>
              </a:rPr>
              <a:t>(+) </a:t>
            </a:r>
          </a:p>
          <a:p>
            <a:pPr marL="630238" algn="l"/>
            <a:r>
              <a:rPr lang="ru-RU" sz="2000" dirty="0" err="1">
                <a:solidFill>
                  <a:srgbClr val="0000CC"/>
                </a:solidFill>
                <a:latin typeface="+mn-lt"/>
              </a:rPr>
              <a:t>віднімання</a:t>
            </a:r>
            <a:r>
              <a:rPr lang="ru-RU" sz="2000" dirty="0">
                <a:solidFill>
                  <a:srgbClr val="0000CC"/>
                </a:solidFill>
                <a:latin typeface="+mn-lt"/>
              </a:rPr>
              <a:t> (-), </a:t>
            </a:r>
          </a:p>
          <a:p>
            <a:pPr marL="630238" algn="l"/>
            <a:r>
              <a:rPr lang="ru-RU" sz="2000" dirty="0" err="1">
                <a:solidFill>
                  <a:srgbClr val="0000CC"/>
                </a:solidFill>
                <a:latin typeface="+mn-lt"/>
              </a:rPr>
              <a:t>множення</a:t>
            </a:r>
            <a:r>
              <a:rPr lang="ru-RU" sz="2000" dirty="0">
                <a:solidFill>
                  <a:srgbClr val="0000CC"/>
                </a:solidFill>
                <a:latin typeface="+mn-lt"/>
              </a:rPr>
              <a:t> (*) </a:t>
            </a:r>
          </a:p>
          <a:p>
            <a:pPr marL="630238" algn="l"/>
            <a:r>
              <a:rPr lang="ru-RU" sz="2000" dirty="0" err="1">
                <a:solidFill>
                  <a:srgbClr val="0000CC"/>
                </a:solidFill>
                <a:latin typeface="+mn-lt"/>
              </a:rPr>
              <a:t>ділення</a:t>
            </a:r>
            <a:r>
              <a:rPr lang="ru-RU" sz="2000" dirty="0">
                <a:solidFill>
                  <a:srgbClr val="0000CC"/>
                </a:solidFill>
                <a:latin typeface="+mn-lt"/>
              </a:rPr>
              <a:t> (/).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5720" y="3910817"/>
            <a:ext cx="905256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ru-RU" sz="1800" b="1" dirty="0" smtClean="0">
                <a:solidFill>
                  <a:srgbClr val="0000CC"/>
                </a:solidFill>
                <a:latin typeface="+mn-lt"/>
              </a:rPr>
              <a:t>Дихотомическая </a:t>
            </a:r>
            <a:r>
              <a:rPr lang="ru-RU" sz="1800" b="1" dirty="0">
                <a:solidFill>
                  <a:srgbClr val="0000CC"/>
                </a:solidFill>
                <a:latin typeface="+mn-lt"/>
              </a:rPr>
              <a:t>шкала (</a:t>
            </a:r>
            <a:r>
              <a:rPr lang="en-GB" sz="1800" b="1" dirty="0">
                <a:solidFill>
                  <a:srgbClr val="0000CC"/>
                </a:solidFill>
                <a:latin typeface="+mn-lt"/>
              </a:rPr>
              <a:t>dichotomous scale) </a:t>
            </a:r>
            <a:r>
              <a:rPr lang="en-GB" sz="1800" dirty="0">
                <a:latin typeface="+mn-lt"/>
              </a:rPr>
              <a:t>- </a:t>
            </a:r>
            <a:r>
              <a:rPr lang="ru-RU" sz="1800" dirty="0">
                <a:latin typeface="+mn-lt"/>
              </a:rPr>
              <a:t>шкала, яка </a:t>
            </a:r>
            <a:r>
              <a:rPr lang="ru-RU" sz="1800" dirty="0" err="1">
                <a:latin typeface="+mn-lt"/>
              </a:rPr>
              <a:t>містить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тільки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дві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категорії</a:t>
            </a:r>
            <a:r>
              <a:rPr lang="ru-RU" sz="1800" dirty="0">
                <a:latin typeface="+mn-lt"/>
              </a:rPr>
              <a:t>.</a:t>
            </a:r>
          </a:p>
          <a:p>
            <a:pPr marL="720725" algn="l"/>
            <a:r>
              <a:rPr lang="ru-RU" sz="1800" dirty="0">
                <a:solidFill>
                  <a:srgbClr val="008000"/>
                </a:solidFill>
                <a:latin typeface="+mn-lt"/>
              </a:rPr>
              <a:t>Приклад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такої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шкали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: стать (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чоловічий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і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жіночий</a:t>
            </a:r>
            <a:r>
              <a:rPr lang="ru-RU" sz="1800" dirty="0" smtClean="0">
                <a:solidFill>
                  <a:srgbClr val="008000"/>
                </a:solidFill>
                <a:latin typeface="+mn-lt"/>
              </a:rPr>
              <a:t>).</a:t>
            </a:r>
            <a:endParaRPr lang="ru-RU" sz="1800" dirty="0">
              <a:solidFill>
                <a:srgbClr val="008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2237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5720" y="748611"/>
            <a:ext cx="9052560" cy="3847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endParaRPr lang="ru-RU" dirty="0"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6164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Шкали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72720" y="2454344"/>
            <a:ext cx="8808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800" dirty="0">
                <a:solidFill>
                  <a:srgbClr val="008000"/>
                </a:solidFill>
                <a:latin typeface="+mn-lt"/>
              </a:rPr>
              <a:t>Приклад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використання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різних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шкал для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вимірювання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властивостей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+mn-lt"/>
              </a:rPr>
              <a:t>різних</a:t>
            </a:r>
            <a:r>
              <a:rPr lang="ru-RU" sz="18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800" dirty="0" err="1" smtClean="0">
                <a:solidFill>
                  <a:srgbClr val="008000"/>
                </a:solidFill>
                <a:latin typeface="+mn-lt"/>
              </a:rPr>
              <a:t>об'єктів</a:t>
            </a:r>
            <a:r>
              <a:rPr lang="ru-RU" sz="1800" dirty="0" smtClean="0">
                <a:solidFill>
                  <a:srgbClr val="008000"/>
                </a:solidFill>
                <a:latin typeface="+mn-lt"/>
              </a:rPr>
              <a:t>.</a:t>
            </a:r>
            <a:endParaRPr lang="ru-RU" sz="1800" dirty="0">
              <a:solidFill>
                <a:srgbClr val="008000"/>
              </a:solidFill>
              <a:latin typeface="+mn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6200" y="813253"/>
            <a:ext cx="8905240" cy="155427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 marL="342900" indent="-342900" algn="l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Номінальна</a:t>
            </a:r>
            <a:r>
              <a:rPr lang="ru-RU" dirty="0">
                <a:latin typeface="+mn-lt"/>
              </a:rPr>
              <a:t> шкала </a:t>
            </a:r>
            <a:r>
              <a:rPr lang="ru-RU" dirty="0" err="1">
                <a:latin typeface="+mn-lt"/>
              </a:rPr>
              <a:t>описує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об'єкти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спостереження</a:t>
            </a:r>
            <a:r>
              <a:rPr lang="ru-RU" dirty="0" smtClean="0">
                <a:latin typeface="+mn-lt"/>
              </a:rPr>
              <a:t> в </a:t>
            </a:r>
            <a:r>
              <a:rPr lang="ru-RU" dirty="0" err="1">
                <a:latin typeface="+mn-lt"/>
              </a:rPr>
              <a:t>термінах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якісних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ознак</a:t>
            </a:r>
            <a:r>
              <a:rPr lang="ru-RU" dirty="0">
                <a:latin typeface="+mn-lt"/>
              </a:rPr>
              <a:t>. </a:t>
            </a:r>
            <a:endParaRPr lang="ru-RU" dirty="0" smtClean="0">
              <a:latin typeface="+mn-lt"/>
            </a:endParaRPr>
          </a:p>
          <a:p>
            <a:pPr marL="342900" indent="-342900" algn="l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ru-RU" dirty="0" smtClean="0">
                <a:latin typeface="+mn-lt"/>
              </a:rPr>
              <a:t>На </a:t>
            </a:r>
            <a:r>
              <a:rPr lang="ru-RU" dirty="0">
                <a:latin typeface="+mn-lt"/>
              </a:rPr>
              <a:t>один </a:t>
            </a:r>
            <a:r>
              <a:rPr lang="ru-RU" dirty="0" err="1">
                <a:latin typeface="+mn-lt"/>
              </a:rPr>
              <a:t>крок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далі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йдуть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порядкові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шкали</a:t>
            </a:r>
            <a:r>
              <a:rPr lang="ru-RU" dirty="0" smtClean="0">
                <a:latin typeface="+mn-lt"/>
              </a:rPr>
              <a:t>, </a:t>
            </a:r>
            <a:r>
              <a:rPr lang="ru-RU" dirty="0" err="1" smtClean="0">
                <a:latin typeface="+mn-lt"/>
              </a:rPr>
              <a:t>що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дозволяють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упорядковувати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спостереження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об'єкти</a:t>
            </a:r>
            <a:r>
              <a:rPr lang="ru-RU" dirty="0">
                <a:latin typeface="+mn-lt"/>
              </a:rPr>
              <a:t> за </a:t>
            </a:r>
            <a:r>
              <a:rPr lang="ru-RU" dirty="0" err="1">
                <a:latin typeface="+mn-lt"/>
              </a:rPr>
              <a:t>певною</a:t>
            </a:r>
            <a:r>
              <a:rPr lang="ru-RU" dirty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характеристикою.</a:t>
            </a:r>
            <a:endParaRPr lang="ru-RU" dirty="0">
              <a:latin typeface="+mn-lt"/>
            </a:endParaRPr>
          </a:p>
          <a:p>
            <a:pPr marL="342900" indent="-342900" algn="l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Інтервальні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відносні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шкали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більш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складні</a:t>
            </a:r>
            <a:r>
              <a:rPr lang="ru-RU" dirty="0">
                <a:latin typeface="+mn-lt"/>
              </a:rPr>
              <a:t>, в них </a:t>
            </a:r>
            <a:r>
              <a:rPr lang="ru-RU" dirty="0" err="1">
                <a:latin typeface="+mn-lt"/>
              </a:rPr>
              <a:t>можливе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визначення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кількісного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значення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ознаки</a:t>
            </a:r>
            <a:r>
              <a:rPr lang="ru-RU" dirty="0">
                <a:latin typeface="+mn-lt"/>
              </a:rPr>
              <a:t>.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607667"/>
              </p:ext>
            </p:extLst>
          </p:nvPr>
        </p:nvGraphicFramePr>
        <p:xfrm>
          <a:off x="247650" y="3001919"/>
          <a:ext cx="8562340" cy="165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6845"/>
                <a:gridCol w="2060027"/>
                <a:gridCol w="2804883"/>
                <a:gridCol w="2140585"/>
              </a:tblGrid>
              <a:tr h="506971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 smtClean="0">
                          <a:latin typeface="+mn-lt"/>
                        </a:rPr>
                        <a:t>Дата</a:t>
                      </a:r>
                    </a:p>
                    <a:p>
                      <a:pPr algn="l"/>
                      <a:r>
                        <a:rPr lang="ru-RU" sz="1600" b="1" dirty="0" err="1" smtClean="0">
                          <a:latin typeface="+mn-lt"/>
                        </a:rPr>
                        <a:t>виміру</a:t>
                      </a:r>
                      <a:endParaRPr lang="ru-RU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 err="1" smtClean="0">
                          <a:latin typeface="+mn-lt"/>
                        </a:rPr>
                        <a:t>Хмарність</a:t>
                      </a:r>
                      <a:endParaRPr lang="ru-RU" sz="1600" b="1" dirty="0" smtClean="0">
                        <a:latin typeface="+mn-lt"/>
                      </a:endParaRPr>
                    </a:p>
                    <a:p>
                      <a:pPr algn="l"/>
                      <a:r>
                        <a:rPr lang="ru-RU" sz="1600" b="1" dirty="0" smtClean="0">
                          <a:latin typeface="+mn-lt"/>
                        </a:rPr>
                        <a:t>(</a:t>
                      </a:r>
                      <a:r>
                        <a:rPr lang="ru-RU" sz="1600" b="1" dirty="0" err="1" smtClean="0">
                          <a:latin typeface="+mn-lt"/>
                        </a:rPr>
                        <a:t>Номінальна</a:t>
                      </a:r>
                      <a:r>
                        <a:rPr lang="ru-RU" sz="1600" b="1" dirty="0" smtClean="0">
                          <a:latin typeface="+mn-lt"/>
                        </a:rPr>
                        <a:t> шкала)</a:t>
                      </a:r>
                      <a:endParaRPr lang="ru-RU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 smtClean="0">
                          <a:latin typeface="+mn-lt"/>
                        </a:rPr>
                        <a:t>Температура о 8 </a:t>
                      </a:r>
                      <a:r>
                        <a:rPr lang="ru-RU" sz="1600" b="1" dirty="0" err="1" smtClean="0">
                          <a:latin typeface="+mn-lt"/>
                        </a:rPr>
                        <a:t>годині</a:t>
                      </a:r>
                      <a:r>
                        <a:rPr lang="ru-RU" sz="1600" b="1" dirty="0" smtClean="0">
                          <a:latin typeface="+mn-lt"/>
                        </a:rPr>
                        <a:t> ранку</a:t>
                      </a:r>
                    </a:p>
                    <a:p>
                      <a:pPr algn="l"/>
                      <a:r>
                        <a:rPr lang="ru-RU" sz="1600" b="1" dirty="0" smtClean="0">
                          <a:latin typeface="+mn-lt"/>
                        </a:rPr>
                        <a:t>(</a:t>
                      </a:r>
                      <a:r>
                        <a:rPr lang="ru-RU" sz="1600" b="1" dirty="0" err="1" smtClean="0">
                          <a:latin typeface="+mn-lt"/>
                        </a:rPr>
                        <a:t>Інтервальна</a:t>
                      </a:r>
                      <a:r>
                        <a:rPr lang="ru-RU" sz="1600" b="1" dirty="0" smtClean="0">
                          <a:latin typeface="+mn-lt"/>
                        </a:rPr>
                        <a:t> шкала)</a:t>
                      </a:r>
                      <a:endParaRPr lang="ru-RU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 smtClean="0">
                          <a:latin typeface="+mn-lt"/>
                        </a:rPr>
                        <a:t>Сила </a:t>
                      </a:r>
                      <a:r>
                        <a:rPr lang="ru-RU" sz="1600" b="1" dirty="0" err="1" smtClean="0">
                          <a:latin typeface="+mn-lt"/>
                        </a:rPr>
                        <a:t>вітру</a:t>
                      </a:r>
                      <a:endParaRPr lang="ru-RU" sz="1600" b="1" dirty="0" smtClean="0">
                        <a:latin typeface="+mn-lt"/>
                      </a:endParaRPr>
                    </a:p>
                    <a:p>
                      <a:pPr algn="l"/>
                      <a:r>
                        <a:rPr lang="ru-RU" sz="1600" b="1" dirty="0" smtClean="0">
                          <a:latin typeface="+mn-lt"/>
                        </a:rPr>
                        <a:t>(</a:t>
                      </a:r>
                      <a:r>
                        <a:rPr lang="ru-RU" sz="1600" b="1" dirty="0" err="1" smtClean="0">
                          <a:latin typeface="+mn-lt"/>
                        </a:rPr>
                        <a:t>Порядкова</a:t>
                      </a:r>
                      <a:r>
                        <a:rPr lang="ru-RU" sz="1600" b="1" dirty="0" smtClean="0">
                          <a:latin typeface="+mn-lt"/>
                        </a:rPr>
                        <a:t> шкала)</a:t>
                      </a:r>
                      <a:endParaRPr lang="ru-RU" sz="1600" b="1" dirty="0"/>
                    </a:p>
                  </a:txBody>
                  <a:tcPr/>
                </a:tc>
              </a:tr>
              <a:tr h="304121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+mn-lt"/>
                        </a:rPr>
                        <a:t>1 </a:t>
                      </a:r>
                      <a:r>
                        <a:rPr lang="ru-RU" sz="1600" dirty="0" err="1" smtClean="0">
                          <a:latin typeface="+mn-lt"/>
                        </a:rPr>
                        <a:t>вересня</a:t>
                      </a:r>
                      <a:r>
                        <a:rPr lang="ru-RU" sz="1600" dirty="0" smtClean="0">
                          <a:latin typeface="+mn-lt"/>
                        </a:rPr>
                        <a:t> 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err="1" smtClean="0">
                          <a:latin typeface="+mn-lt"/>
                        </a:rPr>
                        <a:t>хмарно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+mn-lt"/>
                        </a:rPr>
                        <a:t>22º С 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 smtClean="0">
                          <a:latin typeface="+mn-lt"/>
                        </a:rPr>
                        <a:t>Вітер</a:t>
                      </a:r>
                      <a:r>
                        <a:rPr lang="ru-RU" sz="1600" dirty="0" smtClean="0">
                          <a:latin typeface="+mn-lt"/>
                        </a:rPr>
                        <a:t> </a:t>
                      </a:r>
                      <a:r>
                        <a:rPr lang="ru-RU" sz="1600" dirty="0" err="1" smtClean="0">
                          <a:latin typeface="+mn-lt"/>
                        </a:rPr>
                        <a:t>сильний</a:t>
                      </a:r>
                      <a:endParaRPr lang="ru-RU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+mn-lt"/>
                        </a:rPr>
                        <a:t>2 </a:t>
                      </a:r>
                      <a:r>
                        <a:rPr lang="ru-RU" sz="1600" dirty="0" err="1" smtClean="0">
                          <a:latin typeface="+mn-lt"/>
                        </a:rPr>
                        <a:t>вересня</a:t>
                      </a:r>
                      <a:r>
                        <a:rPr lang="ru-RU" sz="1600" dirty="0" smtClean="0">
                          <a:latin typeface="+mn-lt"/>
                        </a:rPr>
                        <a:t> 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err="1" smtClean="0">
                          <a:latin typeface="+mn-lt"/>
                        </a:rPr>
                        <a:t>похмуро</a:t>
                      </a:r>
                      <a:r>
                        <a:rPr lang="ru-RU" sz="1600" dirty="0" smtClean="0">
                          <a:latin typeface="+mn-lt"/>
                        </a:rPr>
                        <a:t> 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+mn-lt"/>
                        </a:rPr>
                        <a:t>17º С 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 smtClean="0">
                          <a:latin typeface="+mn-lt"/>
                        </a:rPr>
                        <a:t>Вітер</a:t>
                      </a:r>
                      <a:r>
                        <a:rPr lang="ru-RU" sz="1600" dirty="0" smtClean="0">
                          <a:latin typeface="+mn-lt"/>
                        </a:rPr>
                        <a:t> </a:t>
                      </a:r>
                      <a:r>
                        <a:rPr lang="ru-RU" sz="1600" dirty="0" err="1" smtClean="0">
                          <a:latin typeface="+mn-lt"/>
                        </a:rPr>
                        <a:t>слабкий</a:t>
                      </a:r>
                      <a:endParaRPr lang="ru-RU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+mn-lt"/>
                        </a:rPr>
                        <a:t>3 </a:t>
                      </a:r>
                      <a:r>
                        <a:rPr lang="ru-RU" sz="1600" dirty="0" err="1" smtClean="0">
                          <a:latin typeface="+mn-lt"/>
                        </a:rPr>
                        <a:t>вересня</a:t>
                      </a:r>
                      <a:r>
                        <a:rPr lang="ru-RU" sz="1600" dirty="0" smtClean="0">
                          <a:latin typeface="+mn-lt"/>
                        </a:rPr>
                        <a:t> 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+mn-lt"/>
                        </a:rPr>
                        <a:t>ясно 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latin typeface="+mn-lt"/>
                        </a:rPr>
                        <a:t>23º С 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 smtClean="0">
                          <a:latin typeface="+mn-lt"/>
                        </a:rPr>
                        <a:t>Вітер</a:t>
                      </a:r>
                      <a:r>
                        <a:rPr lang="ru-RU" sz="1600" dirty="0" smtClean="0">
                          <a:latin typeface="+mn-lt"/>
                        </a:rPr>
                        <a:t> </a:t>
                      </a:r>
                      <a:r>
                        <a:rPr lang="ru-RU" sz="1600" dirty="0" err="1" smtClean="0">
                          <a:latin typeface="+mn-lt"/>
                        </a:rPr>
                        <a:t>дуже</a:t>
                      </a:r>
                      <a:r>
                        <a:rPr lang="ru-RU" sz="1600" dirty="0" smtClean="0">
                          <a:latin typeface="+mn-lt"/>
                        </a:rPr>
                        <a:t> </a:t>
                      </a:r>
                      <a:r>
                        <a:rPr lang="ru-RU" sz="1600" dirty="0" err="1" smtClean="0">
                          <a:latin typeface="+mn-lt"/>
                        </a:rPr>
                        <a:t>сильний</a:t>
                      </a:r>
                      <a:endParaRPr lang="ru-RU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858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5143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uk-UA" b="1" dirty="0" smtClean="0">
                <a:solidFill>
                  <a:schemeClr val="bg1"/>
                </a:solidFill>
                <a:latin typeface="+mn-lt"/>
              </a:rPr>
              <a:t>Приклад вимірювання довжини</a:t>
            </a:r>
            <a:r>
              <a:rPr lang="en-US" b="1" dirty="0" smtClean="0">
                <a:solidFill>
                  <a:schemeClr val="bg1"/>
                </a:solidFill>
                <a:latin typeface="+mn-lt"/>
              </a:rPr>
              <a:t> 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828370"/>
            <a:ext cx="9144000" cy="535781"/>
          </a:xfrm>
          <a:prstGeom prst="rect">
            <a:avLst/>
          </a:prstGeom>
          <a:noFill/>
        </p:spPr>
        <p:txBody>
          <a:bodyPr/>
          <a:lstStyle/>
          <a:p>
            <a:pPr marL="0" indent="0">
              <a:lnSpc>
                <a:spcPct val="95000"/>
              </a:lnSpc>
              <a:spcBef>
                <a:spcPct val="20000"/>
              </a:spcBef>
              <a:buNone/>
            </a:pPr>
            <a:r>
              <a:rPr lang="en-US" sz="2000" dirty="0"/>
              <a:t>C</a:t>
            </a:r>
            <a:r>
              <a:rPr lang="ru-RU" sz="2000" dirty="0" err="1"/>
              <a:t>посіб</a:t>
            </a:r>
            <a:r>
              <a:rPr lang="ru-RU" sz="2000" dirty="0"/>
              <a:t> </a:t>
            </a:r>
            <a:r>
              <a:rPr lang="ru-RU" sz="2000" dirty="0" err="1"/>
              <a:t>вимірювання</a:t>
            </a:r>
            <a:r>
              <a:rPr lang="ru-RU" sz="2000" dirty="0"/>
              <a:t> атрибута </a:t>
            </a:r>
            <a:r>
              <a:rPr lang="ru-RU" sz="2000" dirty="0" err="1"/>
              <a:t>може</a:t>
            </a:r>
            <a:r>
              <a:rPr lang="ru-RU" sz="2000" dirty="0"/>
              <a:t> не </a:t>
            </a:r>
            <a:r>
              <a:rPr lang="ru-RU" sz="2000" dirty="0" err="1"/>
              <a:t>відповідати</a:t>
            </a:r>
            <a:r>
              <a:rPr lang="ru-RU" sz="2000" dirty="0"/>
              <a:t> </a:t>
            </a:r>
            <a:r>
              <a:rPr lang="ru-RU" sz="2000" dirty="0" err="1"/>
              <a:t>властивостям</a:t>
            </a:r>
            <a:r>
              <a:rPr lang="ru-RU" sz="2000" dirty="0"/>
              <a:t> </a:t>
            </a:r>
            <a:r>
              <a:rPr lang="ru-RU" sz="2000" dirty="0" err="1"/>
              <a:t>атрибутів</a:t>
            </a:r>
            <a:r>
              <a:rPr lang="ru-RU" sz="2000" dirty="0"/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lvl="1" indent="0">
              <a:lnSpc>
                <a:spcPct val="95000"/>
              </a:lnSpc>
              <a:spcBef>
                <a:spcPct val="20000"/>
              </a:spcBef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922949"/>
              </p:ext>
            </p:extLst>
          </p:nvPr>
        </p:nvGraphicFramePr>
        <p:xfrm>
          <a:off x="1767840" y="1332188"/>
          <a:ext cx="5116354" cy="3412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VISIO" r:id="rId4" imgW="5582412" imgH="4442460" progId="Visio.Drawing.6">
                  <p:embed/>
                </p:oleObj>
              </mc:Choice>
              <mc:Fallback>
                <p:oleObj name="VISIO" r:id="rId4" imgW="5582412" imgH="44424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7840" y="1332188"/>
                        <a:ext cx="5116354" cy="34125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Text Box 8"/>
          <p:cNvSpPr txBox="1">
            <a:spLocks noChangeArrowheads="1"/>
          </p:cNvSpPr>
          <p:nvPr/>
        </p:nvSpPr>
        <p:spPr bwMode="auto">
          <a:xfrm>
            <a:off x="7172324" y="1761773"/>
            <a:ext cx="197167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ru-RU" sz="1800" b="0" dirty="0" err="1">
                <a:latin typeface="+mn-lt"/>
              </a:rPr>
              <a:t>Ця</a:t>
            </a:r>
            <a:r>
              <a:rPr lang="ru-RU" sz="1800" b="0" dirty="0">
                <a:latin typeface="+mn-lt"/>
              </a:rPr>
              <a:t> шкала </a:t>
            </a:r>
            <a:r>
              <a:rPr lang="ru-RU" sz="1800" b="0" dirty="0" err="1">
                <a:latin typeface="+mn-lt"/>
              </a:rPr>
              <a:t>зберігає</a:t>
            </a:r>
            <a:r>
              <a:rPr lang="ru-RU" sz="1800" b="0" dirty="0">
                <a:latin typeface="+mn-lt"/>
              </a:rPr>
              <a:t> </a:t>
            </a:r>
            <a:r>
              <a:rPr lang="ru-RU" sz="1800" b="0" dirty="0" err="1">
                <a:latin typeface="+mn-lt"/>
              </a:rPr>
              <a:t>властивості</a:t>
            </a:r>
            <a:r>
              <a:rPr lang="ru-RU" sz="1800" b="0" dirty="0">
                <a:latin typeface="+mn-lt"/>
              </a:rPr>
              <a:t> </a:t>
            </a:r>
            <a:r>
              <a:rPr lang="ru-RU" sz="1800" b="0" dirty="0" err="1">
                <a:latin typeface="+mn-lt"/>
              </a:rPr>
              <a:t>впорядкування</a:t>
            </a:r>
            <a:r>
              <a:rPr lang="ru-RU" sz="1800" b="0" dirty="0">
                <a:latin typeface="+mn-lt"/>
              </a:rPr>
              <a:t> та </a:t>
            </a:r>
            <a:r>
              <a:rPr lang="ru-RU" sz="1800" b="0" dirty="0" err="1">
                <a:latin typeface="+mn-lt"/>
              </a:rPr>
              <a:t>аддитивності</a:t>
            </a:r>
            <a:r>
              <a:rPr lang="ru-RU" sz="1800" b="0" dirty="0">
                <a:latin typeface="+mn-lt"/>
              </a:rPr>
              <a:t> </a:t>
            </a:r>
            <a:r>
              <a:rPr lang="ru-RU" sz="1800" b="0" dirty="0" err="1">
                <a:latin typeface="+mn-lt"/>
              </a:rPr>
              <a:t>довжини</a:t>
            </a:r>
            <a:r>
              <a:rPr lang="ru-RU" sz="1800" b="0" dirty="0">
                <a:latin typeface="+mn-lt"/>
              </a:rPr>
              <a:t>.</a:t>
            </a:r>
            <a:endParaRPr lang="en-US" sz="1800" b="0" dirty="0">
              <a:latin typeface="+mn-lt"/>
            </a:endParaRPr>
          </a:p>
        </p:txBody>
      </p:sp>
      <p:sp>
        <p:nvSpPr>
          <p:cNvPr id="6151" name="Text Box 9"/>
          <p:cNvSpPr txBox="1">
            <a:spLocks noChangeArrowheads="1"/>
          </p:cNvSpPr>
          <p:nvPr/>
        </p:nvSpPr>
        <p:spPr bwMode="auto">
          <a:xfrm>
            <a:off x="15240" y="1783864"/>
            <a:ext cx="173736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ru-RU" sz="1800" b="0" dirty="0" err="1">
                <a:latin typeface="+mn-lt"/>
              </a:rPr>
              <a:t>Ця</a:t>
            </a:r>
            <a:r>
              <a:rPr lang="ru-RU" sz="1800" b="0" dirty="0">
                <a:latin typeface="+mn-lt"/>
              </a:rPr>
              <a:t> шкала </a:t>
            </a:r>
            <a:r>
              <a:rPr lang="ru-RU" sz="1800" b="0" dirty="0" err="1">
                <a:latin typeface="+mn-lt"/>
              </a:rPr>
              <a:t>зберігає</a:t>
            </a:r>
            <a:r>
              <a:rPr lang="ru-RU" sz="1800" b="0" dirty="0">
                <a:latin typeface="+mn-lt"/>
              </a:rPr>
              <a:t> </a:t>
            </a:r>
            <a:r>
              <a:rPr lang="ru-RU" sz="1800" b="0" dirty="0" err="1">
                <a:latin typeface="+mn-lt"/>
              </a:rPr>
              <a:t>лише</a:t>
            </a:r>
            <a:r>
              <a:rPr lang="ru-RU" sz="1800" b="0" dirty="0">
                <a:latin typeface="+mn-lt"/>
              </a:rPr>
              <a:t> </a:t>
            </a:r>
            <a:r>
              <a:rPr lang="ru-RU" sz="1800" b="0" dirty="0" err="1">
                <a:latin typeface="+mn-lt"/>
              </a:rPr>
              <a:t>властивість</a:t>
            </a:r>
            <a:r>
              <a:rPr lang="ru-RU" sz="1800" b="0" dirty="0">
                <a:latin typeface="+mn-lt"/>
              </a:rPr>
              <a:t> </a:t>
            </a:r>
            <a:r>
              <a:rPr lang="ru-RU" sz="1800" b="0" dirty="0" err="1">
                <a:latin typeface="+mn-lt"/>
              </a:rPr>
              <a:t>упорядкування</a:t>
            </a:r>
            <a:r>
              <a:rPr lang="ru-RU" sz="1800" b="0" dirty="0">
                <a:latin typeface="+mn-lt"/>
              </a:rPr>
              <a:t> </a:t>
            </a:r>
            <a:r>
              <a:rPr lang="ru-RU" sz="1800" b="0" dirty="0" err="1">
                <a:latin typeface="+mn-lt"/>
              </a:rPr>
              <a:t>довжини</a:t>
            </a:r>
            <a:r>
              <a:rPr lang="ru-RU" sz="1800" b="0" dirty="0">
                <a:latin typeface="+mn-lt"/>
              </a:rPr>
              <a:t/>
            </a:r>
            <a:br>
              <a:rPr lang="ru-RU" sz="1800" b="0" dirty="0">
                <a:latin typeface="+mn-lt"/>
              </a:rPr>
            </a:br>
            <a:endParaRPr lang="en-US" sz="1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3790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0"/>
            <a:ext cx="9144000" cy="51435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b="1" dirty="0" smtClean="0">
                <a:solidFill>
                  <a:schemeClr val="bg1"/>
                </a:solidFill>
                <a:latin typeface="+mn-lt"/>
              </a:rPr>
              <a:t>Типи атрибутів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32080" y="913252"/>
            <a:ext cx="891032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2000" dirty="0" err="1">
                <a:latin typeface="+mn-lt"/>
              </a:rPr>
              <a:t>Існують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різні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типи</a:t>
            </a:r>
            <a:r>
              <a:rPr lang="ru-RU" sz="2000" dirty="0">
                <a:latin typeface="+mn-lt"/>
              </a:rPr>
              <a:t> </a:t>
            </a:r>
            <a:r>
              <a:rPr lang="ru-RU" sz="2000" dirty="0" err="1">
                <a:latin typeface="+mn-lt"/>
              </a:rPr>
              <a:t>атрибутів</a:t>
            </a:r>
            <a:endParaRPr lang="ru-RU" sz="2000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dirty="0" err="1" smtClean="0">
                <a:solidFill>
                  <a:srgbClr val="0000CC"/>
                </a:solidFill>
                <a:latin typeface="+mn-lt"/>
              </a:rPr>
              <a:t>Номінальний</a:t>
            </a:r>
            <a:endParaRPr lang="ru-RU" sz="2000" dirty="0">
              <a:solidFill>
                <a:srgbClr val="0000CC"/>
              </a:solidFill>
              <a:latin typeface="+mn-lt"/>
            </a:endParaRPr>
          </a:p>
          <a:p>
            <a:pPr algn="l"/>
            <a:r>
              <a:rPr lang="ru-RU" sz="2000" dirty="0" smtClean="0">
                <a:solidFill>
                  <a:srgbClr val="008000"/>
                </a:solidFill>
                <a:latin typeface="+mn-lt"/>
              </a:rPr>
              <a:t>	</a:t>
            </a:r>
            <a:r>
              <a:rPr lang="ru-RU" sz="2000" dirty="0" err="1" smtClean="0">
                <a:solidFill>
                  <a:srgbClr val="008000"/>
                </a:solidFill>
                <a:latin typeface="+mn-lt"/>
              </a:rPr>
              <a:t>Приклади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: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ідентифікаційні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номери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колір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очей,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поштові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індекси</a:t>
            </a:r>
            <a:endParaRPr lang="ru-RU" sz="2000" dirty="0">
              <a:solidFill>
                <a:srgbClr val="008000"/>
              </a:solidFill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dirty="0" err="1">
                <a:solidFill>
                  <a:srgbClr val="0000CC"/>
                </a:solidFill>
                <a:latin typeface="+mn-lt"/>
              </a:rPr>
              <a:t>Порядковий</a:t>
            </a:r>
            <a:endParaRPr lang="ru-RU" sz="2000" dirty="0">
              <a:solidFill>
                <a:srgbClr val="0000CC"/>
              </a:solidFill>
              <a:latin typeface="+mn-lt"/>
            </a:endParaRPr>
          </a:p>
          <a:p>
            <a:pPr algn="l"/>
            <a:r>
              <a:rPr lang="ru-RU" sz="2000" dirty="0" smtClean="0">
                <a:solidFill>
                  <a:srgbClr val="008000"/>
                </a:solidFill>
                <a:latin typeface="+mn-lt"/>
              </a:rPr>
              <a:t>	</a:t>
            </a:r>
            <a:r>
              <a:rPr lang="ru-RU" sz="2000" dirty="0" err="1" smtClean="0">
                <a:solidFill>
                  <a:srgbClr val="008000"/>
                </a:solidFill>
                <a:latin typeface="+mn-lt"/>
              </a:rPr>
              <a:t>Приклади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: рейтинги (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наприклад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, смак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картопляних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чіпсів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за шкалою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від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2000" dirty="0" smtClean="0">
                <a:solidFill>
                  <a:srgbClr val="008000"/>
                </a:solidFill>
                <a:latin typeface="+mn-lt"/>
              </a:rPr>
              <a:t>1-	10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),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сорти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зріст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{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високий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середній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низький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}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dirty="0" err="1">
                <a:solidFill>
                  <a:srgbClr val="0000CC"/>
                </a:solidFill>
                <a:latin typeface="+mn-lt"/>
              </a:rPr>
              <a:t>Інтервал</a:t>
            </a:r>
            <a:endParaRPr lang="ru-RU" sz="2000" dirty="0">
              <a:solidFill>
                <a:srgbClr val="0000CC"/>
              </a:solidFill>
              <a:latin typeface="+mn-lt"/>
            </a:endParaRPr>
          </a:p>
          <a:p>
            <a:pPr algn="l"/>
            <a:r>
              <a:rPr lang="ru-RU" sz="2000" dirty="0" smtClean="0">
                <a:latin typeface="+mn-lt"/>
              </a:rPr>
              <a:t>	</a:t>
            </a:r>
            <a:r>
              <a:rPr lang="ru-RU" sz="2000" dirty="0" err="1" smtClean="0">
                <a:solidFill>
                  <a:srgbClr val="008000"/>
                </a:solidFill>
                <a:latin typeface="+mn-lt"/>
              </a:rPr>
              <a:t>Приклади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: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календарні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дати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температури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за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Цельсієм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або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Фаренгейтом.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sz="2000" dirty="0" err="1">
                <a:solidFill>
                  <a:srgbClr val="0000CC"/>
                </a:solidFill>
                <a:latin typeface="+mn-lt"/>
              </a:rPr>
              <a:t>Співвідношення</a:t>
            </a:r>
            <a:endParaRPr lang="ru-RU" sz="2000" dirty="0">
              <a:solidFill>
                <a:srgbClr val="0000CC"/>
              </a:solidFill>
              <a:latin typeface="+mn-lt"/>
            </a:endParaRPr>
          </a:p>
          <a:p>
            <a:pPr algn="l"/>
            <a:r>
              <a:rPr lang="ru-RU" sz="2000" dirty="0" smtClean="0">
                <a:solidFill>
                  <a:srgbClr val="008000"/>
                </a:solidFill>
                <a:latin typeface="+mn-lt"/>
              </a:rPr>
              <a:t>	</a:t>
            </a:r>
            <a:r>
              <a:rPr lang="ru-RU" sz="2000" dirty="0" err="1" smtClean="0">
                <a:solidFill>
                  <a:srgbClr val="008000"/>
                </a:solidFill>
                <a:latin typeface="+mn-lt"/>
              </a:rPr>
              <a:t>Приклади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: температура </a:t>
            </a:r>
            <a:r>
              <a:rPr lang="ru-RU" sz="2000" dirty="0" smtClean="0">
                <a:solidFill>
                  <a:srgbClr val="008000"/>
                </a:solidFill>
                <a:latin typeface="+mn-lt"/>
              </a:rPr>
              <a:t>за </a:t>
            </a:r>
            <a:r>
              <a:rPr lang="ru-RU" sz="2000" dirty="0" err="1" smtClean="0">
                <a:solidFill>
                  <a:srgbClr val="008000"/>
                </a:solidFill>
                <a:latin typeface="+mn-lt"/>
              </a:rPr>
              <a:t>Кельвіном</a:t>
            </a:r>
            <a:r>
              <a:rPr lang="ru-RU" sz="2000" dirty="0" smtClean="0">
                <a:solidFill>
                  <a:srgbClr val="008000"/>
                </a:solidFill>
                <a:latin typeface="+mn-lt"/>
              </a:rPr>
              <a:t>,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довжина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відліки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минулий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 час </a:t>
            </a:r>
            <a:r>
              <a:rPr lang="ru-RU" sz="2000" dirty="0" smtClean="0">
                <a:solidFill>
                  <a:srgbClr val="008000"/>
                </a:solidFill>
                <a:latin typeface="+mn-lt"/>
              </a:rPr>
              <a:t>	(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наприклад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, час для </a:t>
            </a:r>
            <a:r>
              <a:rPr lang="ru-RU" sz="2000" dirty="0" err="1">
                <a:solidFill>
                  <a:srgbClr val="008000"/>
                </a:solidFill>
                <a:latin typeface="+mn-lt"/>
              </a:rPr>
              <a:t>бігу</a:t>
            </a:r>
            <a:r>
              <a:rPr lang="ru-RU" sz="2000" dirty="0">
                <a:solidFill>
                  <a:srgbClr val="008000"/>
                </a:solidFill>
                <a:latin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54510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0" y="0"/>
            <a:ext cx="9144000" cy="51435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b="1" dirty="0" smtClean="0">
                <a:solidFill>
                  <a:schemeClr val="bg1"/>
                </a:solidFill>
                <a:latin typeface="+mn-lt"/>
              </a:rPr>
              <a:t>Ключові висновки для типів атрибутів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1440" y="997890"/>
            <a:ext cx="9052560" cy="2816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spcAft>
                <a:spcPts val="600"/>
              </a:spcAft>
              <a:buFont typeface="+mj-lt"/>
              <a:buAutoNum type="arabicPeriod"/>
            </a:pPr>
            <a:r>
              <a:rPr lang="ru-RU" dirty="0" err="1">
                <a:latin typeface="+mn-lt"/>
              </a:rPr>
              <a:t>Вибрані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типи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операцій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повинні</a:t>
            </a:r>
            <a:r>
              <a:rPr lang="ru-RU" dirty="0">
                <a:latin typeface="+mn-lt"/>
              </a:rPr>
              <a:t> бути “</a:t>
            </a:r>
            <a:r>
              <a:rPr lang="ru-RU" dirty="0" err="1">
                <a:latin typeface="+mn-lt"/>
              </a:rPr>
              <a:t>значущими</a:t>
            </a:r>
            <a:r>
              <a:rPr lang="ru-RU" dirty="0">
                <a:latin typeface="+mn-lt"/>
              </a:rPr>
              <a:t>” для типу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які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маєте</a:t>
            </a:r>
            <a:r>
              <a:rPr lang="ru-RU" dirty="0" smtClean="0">
                <a:latin typeface="+mn-lt"/>
              </a:rPr>
              <a:t>.</a:t>
            </a:r>
            <a:endParaRPr lang="ru-RU" dirty="0">
              <a:latin typeface="+mn-lt"/>
            </a:endParaRPr>
          </a:p>
          <a:p>
            <a:pPr marL="457200" indent="-457200" algn="l">
              <a:spcAft>
                <a:spcPts val="600"/>
              </a:spcAft>
              <a:buFont typeface="+mj-lt"/>
              <a:buAutoNum type="arabicPeriod"/>
            </a:pPr>
            <a:r>
              <a:rPr lang="ru-RU" dirty="0" err="1">
                <a:latin typeface="+mn-lt"/>
              </a:rPr>
              <a:t>Виразність</a:t>
            </a:r>
            <a:r>
              <a:rPr lang="ru-RU" dirty="0">
                <a:latin typeface="+mn-lt"/>
              </a:rPr>
              <a:t>, порядок, </a:t>
            </a:r>
            <a:r>
              <a:rPr lang="ru-RU" dirty="0" err="1">
                <a:latin typeface="+mn-lt"/>
              </a:rPr>
              <a:t>значущі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інтервали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значущі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співвідношення</a:t>
            </a:r>
            <a:r>
              <a:rPr lang="ru-RU" dirty="0">
                <a:latin typeface="+mn-lt"/>
              </a:rPr>
              <a:t> - </a:t>
            </a:r>
            <a:r>
              <a:rPr lang="ru-RU" dirty="0" err="1">
                <a:latin typeface="+mn-lt"/>
              </a:rPr>
              <a:t>це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лише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чотири</a:t>
            </a:r>
            <a:r>
              <a:rPr lang="ru-RU" dirty="0">
                <a:latin typeface="+mn-lt"/>
              </a:rPr>
              <a:t> (</a:t>
            </a:r>
            <a:r>
              <a:rPr lang="ru-RU" dirty="0" err="1">
                <a:latin typeface="+mn-lt"/>
              </a:rPr>
              <a:t>серед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багатьох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можливих</a:t>
            </a:r>
            <a:r>
              <a:rPr lang="ru-RU" dirty="0">
                <a:latin typeface="+mn-lt"/>
              </a:rPr>
              <a:t>) </a:t>
            </a:r>
            <a:r>
              <a:rPr lang="ru-RU" dirty="0" err="1">
                <a:latin typeface="+mn-lt"/>
              </a:rPr>
              <a:t>властивостей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даних</a:t>
            </a:r>
            <a:r>
              <a:rPr lang="ru-RU" dirty="0" smtClean="0">
                <a:latin typeface="+mn-lt"/>
              </a:rPr>
              <a:t>.</a:t>
            </a:r>
            <a:endParaRPr lang="ru-RU" dirty="0">
              <a:latin typeface="+mn-lt"/>
            </a:endParaRPr>
          </a:p>
          <a:p>
            <a:pPr marL="457200" indent="-457200" algn="l">
              <a:spcAft>
                <a:spcPts val="600"/>
              </a:spcAft>
              <a:buFont typeface="+mj-lt"/>
              <a:buAutoNum type="arabicPeriod"/>
            </a:pPr>
            <a:r>
              <a:rPr lang="ru-RU" dirty="0">
                <a:latin typeface="+mn-lt"/>
              </a:rPr>
              <a:t>Тип </a:t>
            </a:r>
            <a:r>
              <a:rPr lang="ru-RU" dirty="0" err="1" smtClean="0">
                <a:latin typeface="+mn-lt"/>
              </a:rPr>
              <a:t>даних</a:t>
            </a:r>
            <a:r>
              <a:rPr lang="ru-RU" dirty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(</a:t>
            </a:r>
            <a:r>
              <a:rPr lang="ru-RU" dirty="0" err="1" smtClean="0">
                <a:latin typeface="+mn-lt"/>
              </a:rPr>
              <a:t>цифри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рядки) </a:t>
            </a:r>
            <a:r>
              <a:rPr lang="ru-RU" dirty="0" err="1">
                <a:latin typeface="+mn-lt"/>
              </a:rPr>
              <a:t>може</a:t>
            </a:r>
            <a:r>
              <a:rPr lang="ru-RU" dirty="0">
                <a:latin typeface="+mn-lt"/>
              </a:rPr>
              <a:t> не </a:t>
            </a:r>
            <a:r>
              <a:rPr lang="ru-RU" dirty="0" err="1">
                <a:latin typeface="+mn-lt"/>
              </a:rPr>
              <a:t>охоплювати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всіх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властивостей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може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пропонувати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властивості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яких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немає</a:t>
            </a:r>
            <a:r>
              <a:rPr lang="ru-RU" dirty="0" smtClean="0">
                <a:latin typeface="+mn-lt"/>
              </a:rPr>
              <a:t>.</a:t>
            </a:r>
            <a:endParaRPr lang="ru-RU" dirty="0">
              <a:latin typeface="+mn-lt"/>
            </a:endParaRPr>
          </a:p>
          <a:p>
            <a:pPr marL="457200" indent="-457200" algn="l">
              <a:spcAft>
                <a:spcPts val="600"/>
              </a:spcAft>
              <a:buFont typeface="+mj-lt"/>
              <a:buAutoNum type="arabicPeriod"/>
            </a:pPr>
            <a:r>
              <a:rPr lang="ru-RU" dirty="0" err="1">
                <a:latin typeface="+mn-lt"/>
              </a:rPr>
              <a:t>Аналіз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даних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може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залежати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цих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або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інших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властивостей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даних</a:t>
            </a:r>
            <a:r>
              <a:rPr lang="ru-RU" dirty="0" smtClean="0">
                <a:latin typeface="+mn-lt"/>
              </a:rPr>
              <a:t>.</a:t>
            </a:r>
            <a:endParaRPr lang="ru-RU" dirty="0">
              <a:latin typeface="+mn-lt"/>
            </a:endParaRPr>
          </a:p>
          <a:p>
            <a:pPr marL="457200" indent="-457200" algn="l">
              <a:spcAft>
                <a:spcPts val="600"/>
              </a:spcAft>
              <a:buFont typeface="+mj-lt"/>
              <a:buAutoNum type="arabicPeriod"/>
            </a:pPr>
            <a:r>
              <a:rPr lang="ru-RU" dirty="0" err="1">
                <a:latin typeface="+mn-lt"/>
              </a:rPr>
              <a:t>Багато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статистичних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аналізів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залежать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лише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розподілу</a:t>
            </a:r>
            <a:r>
              <a:rPr lang="ru-RU" dirty="0" smtClean="0">
                <a:latin typeface="+mn-lt"/>
              </a:rPr>
              <a:t>.</a:t>
            </a:r>
            <a:endParaRPr lang="ru-RU" dirty="0">
              <a:latin typeface="+mn-lt"/>
            </a:endParaRPr>
          </a:p>
          <a:p>
            <a:pPr marL="457200" indent="-457200" algn="l">
              <a:spcAft>
                <a:spcPts val="600"/>
              </a:spcAft>
              <a:buFont typeface="+mj-lt"/>
              <a:buAutoNum type="arabicPeriod"/>
            </a:pPr>
            <a:r>
              <a:rPr lang="ru-RU" dirty="0" err="1">
                <a:latin typeface="+mn-lt"/>
              </a:rPr>
              <a:t>Зрештою</a:t>
            </a:r>
            <a:r>
              <a:rPr lang="ru-RU" dirty="0">
                <a:latin typeface="+mn-lt"/>
              </a:rPr>
              <a:t>, те, </a:t>
            </a:r>
            <a:r>
              <a:rPr lang="ru-RU" dirty="0" err="1">
                <a:latin typeface="+mn-lt"/>
              </a:rPr>
              <a:t>що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має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значення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може</a:t>
            </a:r>
            <a:r>
              <a:rPr lang="ru-RU" dirty="0">
                <a:latin typeface="+mn-lt"/>
              </a:rPr>
              <a:t> бути </a:t>
            </a:r>
            <a:r>
              <a:rPr lang="ru-RU" dirty="0" err="1">
                <a:latin typeface="+mn-lt"/>
              </a:rPr>
              <a:t>специфічним</a:t>
            </a:r>
            <a:r>
              <a:rPr lang="ru-RU" dirty="0">
                <a:latin typeface="+mn-lt"/>
              </a:rPr>
              <a:t> для </a:t>
            </a:r>
            <a:r>
              <a:rPr lang="ru-RU" dirty="0" smtClean="0">
                <a:latin typeface="+mn-lt"/>
              </a:rPr>
              <a:t>домену.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46788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0" y="0"/>
            <a:ext cx="9144000" cy="51435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b="1" dirty="0">
                <a:solidFill>
                  <a:schemeClr val="bg1"/>
                </a:solidFill>
                <a:latin typeface="+mn-lt"/>
              </a:rPr>
              <a:t>Важливі характеристики даних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92693" y="868903"/>
            <a:ext cx="8341360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b="1" dirty="0" err="1">
                <a:latin typeface="+mn-lt"/>
              </a:rPr>
              <a:t>Розмірність</a:t>
            </a:r>
            <a:r>
              <a:rPr lang="ru-RU" b="1" dirty="0">
                <a:latin typeface="+mn-lt"/>
              </a:rPr>
              <a:t> (</a:t>
            </a:r>
            <a:r>
              <a:rPr lang="ru-RU" b="1" dirty="0" err="1">
                <a:latin typeface="+mn-lt"/>
              </a:rPr>
              <a:t>кількість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атрибутів</a:t>
            </a:r>
            <a:r>
              <a:rPr lang="ru-RU" b="1" dirty="0" smtClean="0">
                <a:latin typeface="+mn-lt"/>
              </a:rPr>
              <a:t>) (</a:t>
            </a:r>
            <a:r>
              <a:rPr lang="en-US" b="1" dirty="0" smtClean="0">
                <a:latin typeface="+mn-lt"/>
              </a:rPr>
              <a:t>Dimensionality</a:t>
            </a:r>
            <a:r>
              <a:rPr lang="uk-UA" b="1" dirty="0" smtClean="0">
                <a:latin typeface="+mn-lt"/>
              </a:rPr>
              <a:t>)</a:t>
            </a:r>
            <a:r>
              <a:rPr lang="en-US" b="1" dirty="0" smtClean="0">
                <a:latin typeface="+mn-lt"/>
              </a:rPr>
              <a:t> </a:t>
            </a:r>
            <a:endParaRPr lang="ru-RU" b="1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ru-RU" dirty="0">
                <a:latin typeface="+mn-lt"/>
              </a:rPr>
              <a:t>  </a:t>
            </a:r>
            <a:r>
              <a:rPr lang="ru-RU" dirty="0" err="1">
                <a:latin typeface="+mn-lt"/>
              </a:rPr>
              <a:t>Дані</a:t>
            </a:r>
            <a:r>
              <a:rPr lang="ru-RU" dirty="0">
                <a:latin typeface="+mn-lt"/>
              </a:rPr>
              <a:t> великих </a:t>
            </a:r>
            <a:r>
              <a:rPr lang="ru-RU" dirty="0" err="1">
                <a:latin typeface="+mn-lt"/>
              </a:rPr>
              <a:t>розмірів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викликають</a:t>
            </a:r>
            <a:r>
              <a:rPr lang="ru-RU" dirty="0">
                <a:latin typeface="+mn-lt"/>
              </a:rPr>
              <a:t> низку проблем</a:t>
            </a:r>
          </a:p>
          <a:p>
            <a:pPr algn="l"/>
            <a:endParaRPr lang="ru-RU" dirty="0" smtClean="0">
              <a:latin typeface="+mn-lt"/>
            </a:endParaRPr>
          </a:p>
          <a:p>
            <a:pPr lvl="1" algn="l"/>
            <a:r>
              <a:rPr lang="ru-RU" b="1" dirty="0" err="1" smtClean="0">
                <a:latin typeface="+mn-lt"/>
              </a:rPr>
              <a:t>Розрідженість</a:t>
            </a:r>
            <a:r>
              <a:rPr lang="ru-RU" b="1" dirty="0" smtClean="0">
                <a:latin typeface="+mn-lt"/>
              </a:rPr>
              <a:t> (</a:t>
            </a:r>
            <a:r>
              <a:rPr lang="en-US" b="1" dirty="0" err="1" smtClean="0">
                <a:latin typeface="+mn-lt"/>
              </a:rPr>
              <a:t>Sparsity</a:t>
            </a:r>
            <a:r>
              <a:rPr lang="uk-UA" b="1" dirty="0" smtClean="0">
                <a:latin typeface="+mn-lt"/>
              </a:rPr>
              <a:t>)</a:t>
            </a:r>
            <a:endParaRPr lang="en-US" b="1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ru-RU" dirty="0" smtClean="0">
                <a:latin typeface="+mn-lt"/>
              </a:rPr>
              <a:t>  </a:t>
            </a:r>
            <a:r>
              <a:rPr lang="ru-RU" dirty="0" err="1">
                <a:latin typeface="+mn-lt"/>
              </a:rPr>
              <a:t>Враховується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лише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присутність</a:t>
            </a:r>
            <a:endParaRPr lang="ru-RU" dirty="0">
              <a:latin typeface="+mn-lt"/>
            </a:endParaRPr>
          </a:p>
          <a:p>
            <a:pPr algn="l"/>
            <a:endParaRPr lang="ru-RU" dirty="0">
              <a:latin typeface="+mn-lt"/>
            </a:endParaRPr>
          </a:p>
          <a:p>
            <a:pPr algn="l"/>
            <a:r>
              <a:rPr lang="ru-RU" b="1" dirty="0" err="1" smtClean="0">
                <a:latin typeface="+mn-lt"/>
              </a:rPr>
              <a:t>Резолюція</a:t>
            </a:r>
            <a:r>
              <a:rPr lang="ru-RU" b="1" dirty="0" smtClean="0">
                <a:latin typeface="+mn-lt"/>
              </a:rPr>
              <a:t> (</a:t>
            </a:r>
            <a:r>
              <a:rPr lang="en-US" b="1" dirty="0" smtClean="0">
                <a:latin typeface="+mn-lt"/>
              </a:rPr>
              <a:t>Resolution</a:t>
            </a:r>
            <a:r>
              <a:rPr lang="uk-UA" b="1" dirty="0" smtClean="0">
                <a:latin typeface="+mn-lt"/>
              </a:rPr>
              <a:t>)</a:t>
            </a:r>
            <a:endParaRPr lang="ru-RU" b="1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ru-RU" dirty="0">
                <a:latin typeface="+mn-lt"/>
              </a:rPr>
              <a:t>  </a:t>
            </a:r>
            <a:r>
              <a:rPr lang="ru-RU" dirty="0" err="1">
                <a:latin typeface="+mn-lt"/>
              </a:rPr>
              <a:t>Візерунки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залежать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</a:t>
            </a:r>
            <a:r>
              <a:rPr lang="ru-RU" dirty="0">
                <a:latin typeface="+mn-lt"/>
              </a:rPr>
              <a:t> масштабу</a:t>
            </a:r>
          </a:p>
          <a:p>
            <a:pPr algn="l"/>
            <a:endParaRPr lang="ru-RU" dirty="0">
              <a:latin typeface="+mn-lt"/>
            </a:endParaRPr>
          </a:p>
          <a:p>
            <a:pPr algn="l"/>
            <a:r>
              <a:rPr lang="ru-RU" b="1" dirty="0" err="1" smtClean="0">
                <a:latin typeface="+mn-lt"/>
              </a:rPr>
              <a:t>Розмір</a:t>
            </a:r>
            <a:r>
              <a:rPr lang="ru-RU" b="1" dirty="0" smtClean="0">
                <a:latin typeface="+mn-lt"/>
              </a:rPr>
              <a:t> (</a:t>
            </a:r>
            <a:r>
              <a:rPr lang="en-US" b="1" dirty="0" smtClean="0">
                <a:latin typeface="+mn-lt"/>
              </a:rPr>
              <a:t>Size</a:t>
            </a:r>
            <a:r>
              <a:rPr lang="uk-UA" b="1" dirty="0" smtClean="0">
                <a:latin typeface="+mn-lt"/>
              </a:rPr>
              <a:t>)</a:t>
            </a:r>
            <a:endParaRPr lang="ru-RU" b="1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ru-RU" dirty="0">
                <a:latin typeface="+mn-lt"/>
              </a:rPr>
              <a:t>Тип </a:t>
            </a:r>
            <a:r>
              <a:rPr lang="ru-RU" dirty="0" err="1">
                <a:latin typeface="+mn-lt"/>
              </a:rPr>
              <a:t>аналізу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може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залежати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обсягу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9453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1599" y="771493"/>
            <a:ext cx="8961119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 smtClean="0">
                <a:solidFill>
                  <a:srgbClr val="C00000"/>
                </a:solidFill>
                <a:latin typeface="+mn-lt"/>
              </a:rPr>
              <a:t>Дані</a:t>
            </a:r>
            <a:r>
              <a:rPr lang="ru-RU" sz="2400" b="1" dirty="0">
                <a:solidFill>
                  <a:srgbClr val="C00000"/>
                </a:solidFill>
                <a:latin typeface="+mn-lt"/>
              </a:rPr>
              <a:t>, </a:t>
            </a:r>
            <a:r>
              <a:rPr lang="ru-RU" sz="2400" b="1" dirty="0" err="1">
                <a:solidFill>
                  <a:srgbClr val="C00000"/>
                </a:solidFill>
                <a:latin typeface="+mn-lt"/>
              </a:rPr>
              <a:t>що</a:t>
            </a:r>
            <a:r>
              <a:rPr lang="ru-RU" sz="2400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2400" b="1" dirty="0" err="1">
                <a:solidFill>
                  <a:srgbClr val="C00000"/>
                </a:solidFill>
                <a:latin typeface="+mn-lt"/>
              </a:rPr>
              <a:t>складаються</a:t>
            </a:r>
            <a:r>
              <a:rPr lang="ru-RU" sz="2400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2400" b="1" dirty="0" err="1">
                <a:solidFill>
                  <a:srgbClr val="C00000"/>
                </a:solidFill>
                <a:latin typeface="+mn-lt"/>
              </a:rPr>
              <a:t>із</a:t>
            </a:r>
            <a:r>
              <a:rPr lang="ru-RU" sz="2400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2400" b="1" dirty="0" err="1">
                <a:solidFill>
                  <a:srgbClr val="C00000"/>
                </a:solidFill>
                <a:latin typeface="+mn-lt"/>
              </a:rPr>
              <a:t>записів</a:t>
            </a:r>
            <a:endParaRPr lang="ru-RU" sz="2400" b="1" dirty="0">
              <a:solidFill>
                <a:srgbClr val="C00000"/>
              </a:solidFill>
              <a:latin typeface="+mn-lt"/>
            </a:endParaRPr>
          </a:p>
          <a:p>
            <a:pPr algn="l"/>
            <a:r>
              <a:rPr lang="ru-RU" dirty="0" err="1">
                <a:latin typeface="+mn-lt"/>
              </a:rPr>
              <a:t>Найбільш</a:t>
            </a:r>
            <a:r>
              <a:rPr lang="ru-RU" dirty="0">
                <a:latin typeface="+mn-lt"/>
              </a:rPr>
              <a:t> часто </a:t>
            </a:r>
            <a:r>
              <a:rPr lang="ru-RU" dirty="0" err="1">
                <a:latin typeface="+mn-lt"/>
              </a:rPr>
              <a:t>зустрічаються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дані</a:t>
            </a:r>
            <a:r>
              <a:rPr lang="ru-RU" dirty="0" smtClean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що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складаються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із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записів</a:t>
            </a:r>
            <a:r>
              <a:rPr lang="ru-RU" dirty="0">
                <a:latin typeface="+mn-lt"/>
              </a:rPr>
              <a:t> (</a:t>
            </a:r>
            <a:r>
              <a:rPr lang="en-GB" b="1" dirty="0">
                <a:solidFill>
                  <a:srgbClr val="0000CC"/>
                </a:solidFill>
                <a:latin typeface="+mn-lt"/>
              </a:rPr>
              <a:t>record data</a:t>
            </a:r>
            <a:r>
              <a:rPr lang="en-GB" dirty="0">
                <a:latin typeface="+mn-lt"/>
              </a:rPr>
              <a:t>) </a:t>
            </a:r>
            <a:endParaRPr lang="uk-UA" dirty="0" smtClean="0">
              <a:latin typeface="+mn-lt"/>
            </a:endParaRPr>
          </a:p>
          <a:p>
            <a:pPr algn="l"/>
            <a:endParaRPr lang="en-GB" dirty="0"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0627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Типи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наборів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даних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72720" y="1648656"/>
            <a:ext cx="3495040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ru-RU" b="1" dirty="0" err="1">
                <a:solidFill>
                  <a:schemeClr val="tx1"/>
                </a:solidFill>
                <a:latin typeface="+mn-lt"/>
              </a:rPr>
              <a:t>Різновиди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+mn-lt"/>
              </a:rPr>
              <a:t>даних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 (</a:t>
            </a:r>
            <a:r>
              <a:rPr lang="en-GB" b="1" dirty="0">
                <a:solidFill>
                  <a:srgbClr val="0000CC"/>
                </a:solidFill>
              </a:rPr>
              <a:t>record data</a:t>
            </a:r>
            <a:r>
              <a:rPr lang="uk-UA" b="1" dirty="0">
                <a:solidFill>
                  <a:srgbClr val="0000CC"/>
                </a:solidFill>
              </a:rPr>
              <a:t>)</a:t>
            </a:r>
            <a:r>
              <a:rPr lang="en-GB" b="1" dirty="0">
                <a:solidFill>
                  <a:srgbClr val="0000CC"/>
                </a:solidFill>
              </a:rPr>
              <a:t>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:</a:t>
            </a:r>
          </a:p>
          <a:p>
            <a:pPr marL="355600" lvl="1" indent="-355600" algn="l">
              <a:buFont typeface="Wingdings" panose="05000000000000000000" pitchFamily="2" charset="2"/>
              <a:buChar char="Ø"/>
            </a:pPr>
            <a:r>
              <a:rPr lang="ru-RU" dirty="0" err="1">
                <a:solidFill>
                  <a:srgbClr val="0000CC"/>
                </a:solidFill>
                <a:latin typeface="+mn-lt"/>
              </a:rPr>
              <a:t>табличні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дані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, </a:t>
            </a:r>
          </a:p>
          <a:p>
            <a:pPr marL="355600" lvl="1" indent="-355600" algn="l">
              <a:buFont typeface="Wingdings" panose="05000000000000000000" pitchFamily="2" charset="2"/>
              <a:buChar char="Ø"/>
            </a:pPr>
            <a:r>
              <a:rPr lang="ru-RU" dirty="0" err="1">
                <a:solidFill>
                  <a:srgbClr val="0000CC"/>
                </a:solidFill>
                <a:latin typeface="+mn-lt"/>
              </a:rPr>
              <a:t>матричні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дані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, </a:t>
            </a:r>
          </a:p>
          <a:p>
            <a:pPr marL="355600" lvl="1" indent="-355600" algn="l">
              <a:buFont typeface="Wingdings" panose="05000000000000000000" pitchFamily="2" charset="2"/>
              <a:buChar char="Ø"/>
            </a:pPr>
            <a:r>
              <a:rPr lang="ru-RU" dirty="0" err="1">
                <a:solidFill>
                  <a:srgbClr val="0000CC"/>
                </a:solidFill>
                <a:latin typeface="+mn-lt"/>
              </a:rPr>
              <a:t>документальні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дані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, </a:t>
            </a:r>
          </a:p>
          <a:p>
            <a:pPr marL="355600" lvl="1" indent="-355600" algn="l">
              <a:buFont typeface="Wingdings" panose="05000000000000000000" pitchFamily="2" charset="2"/>
              <a:buChar char="Ø"/>
            </a:pPr>
            <a:r>
              <a:rPr lang="ru-RU" dirty="0" err="1">
                <a:solidFill>
                  <a:srgbClr val="0000CC"/>
                </a:solidFill>
                <a:latin typeface="+mn-lt"/>
              </a:rPr>
              <a:t>транзакційні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або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операційні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.</a:t>
            </a:r>
            <a:endParaRPr lang="ru-RU" dirty="0">
              <a:latin typeface="+mn-lt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266" y="1553773"/>
            <a:ext cx="3179240" cy="310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840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916739" y="79950"/>
            <a:ext cx="33105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Матриця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даних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21920" y="870605"/>
            <a:ext cx="893064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err="1">
                <a:latin typeface="+mn-lt"/>
              </a:rPr>
              <a:t>Якщо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об’єкти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мають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однаковий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фіксований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набір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числових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атрибутів</a:t>
            </a:r>
            <a:r>
              <a:rPr lang="ru-RU" dirty="0">
                <a:latin typeface="+mn-lt"/>
              </a:rPr>
              <a:t>, то </a:t>
            </a:r>
            <a:r>
              <a:rPr lang="ru-RU" dirty="0" err="1">
                <a:latin typeface="+mn-lt"/>
              </a:rPr>
              <a:t>об’єкти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можна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розглядати</a:t>
            </a:r>
            <a:r>
              <a:rPr lang="ru-RU" dirty="0">
                <a:latin typeface="+mn-lt"/>
              </a:rPr>
              <a:t> як точки в </a:t>
            </a:r>
            <a:r>
              <a:rPr lang="ru-RU" dirty="0" err="1">
                <a:latin typeface="+mn-lt"/>
              </a:rPr>
              <a:t>багатовимірному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просторі</a:t>
            </a:r>
            <a:r>
              <a:rPr lang="ru-RU" dirty="0">
                <a:latin typeface="+mn-lt"/>
              </a:rPr>
              <a:t>, де </a:t>
            </a:r>
            <a:r>
              <a:rPr lang="ru-RU" dirty="0" err="1">
                <a:latin typeface="+mn-lt"/>
              </a:rPr>
              <a:t>кожен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вимір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представляє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окремий</a:t>
            </a:r>
            <a:r>
              <a:rPr lang="ru-RU" dirty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атрибут.</a:t>
            </a:r>
            <a:endParaRPr lang="ru-RU" dirty="0">
              <a:latin typeface="+mn-lt"/>
            </a:endParaRPr>
          </a:p>
          <a:p>
            <a:pPr algn="l"/>
            <a:endParaRPr lang="ru-RU" dirty="0">
              <a:latin typeface="+mn-lt"/>
            </a:endParaRPr>
          </a:p>
          <a:p>
            <a:pPr algn="l"/>
            <a:r>
              <a:rPr lang="ru-RU" dirty="0" err="1">
                <a:latin typeface="+mn-lt"/>
              </a:rPr>
              <a:t>Такий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набір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може</a:t>
            </a:r>
            <a:r>
              <a:rPr lang="ru-RU" dirty="0">
                <a:latin typeface="+mn-lt"/>
              </a:rPr>
              <a:t> бути представлений матрицею </a:t>
            </a:r>
            <a:r>
              <a:rPr lang="ru-RU" i="1" dirty="0">
                <a:latin typeface="+mn-lt"/>
              </a:rPr>
              <a:t>m</a:t>
            </a:r>
            <a:r>
              <a:rPr lang="ru-RU" dirty="0">
                <a:latin typeface="+mn-lt"/>
              </a:rPr>
              <a:t> на </a:t>
            </a:r>
            <a:r>
              <a:rPr lang="ru-RU" i="1" dirty="0">
                <a:latin typeface="+mn-lt"/>
              </a:rPr>
              <a:t>n</a:t>
            </a:r>
            <a:r>
              <a:rPr lang="ru-RU" dirty="0">
                <a:latin typeface="+mn-lt"/>
              </a:rPr>
              <a:t>, де є </a:t>
            </a:r>
            <a:r>
              <a:rPr lang="ru-RU" i="1" dirty="0">
                <a:latin typeface="+mn-lt"/>
              </a:rPr>
              <a:t>m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рядків</a:t>
            </a:r>
            <a:r>
              <a:rPr lang="ru-RU" dirty="0">
                <a:latin typeface="+mn-lt"/>
              </a:rPr>
              <a:t>, по одному для кожного </a:t>
            </a:r>
            <a:r>
              <a:rPr lang="ru-RU" dirty="0" err="1">
                <a:latin typeface="+mn-lt"/>
              </a:rPr>
              <a:t>об'єкта</a:t>
            </a:r>
            <a:r>
              <a:rPr lang="ru-RU" dirty="0">
                <a:latin typeface="+mn-lt"/>
              </a:rPr>
              <a:t>, і </a:t>
            </a:r>
            <a:r>
              <a:rPr lang="ru-RU" i="1" dirty="0">
                <a:latin typeface="+mn-lt"/>
              </a:rPr>
              <a:t>n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стовпців</a:t>
            </a:r>
            <a:r>
              <a:rPr lang="ru-RU" dirty="0">
                <a:latin typeface="+mn-lt"/>
              </a:rPr>
              <a:t>, по одному для кожного </a:t>
            </a:r>
            <a:r>
              <a:rPr lang="ru-RU" dirty="0" smtClean="0">
                <a:latin typeface="+mn-lt"/>
              </a:rPr>
              <a:t>атрибута.</a:t>
            </a:r>
            <a:endParaRPr lang="ru-RU" dirty="0">
              <a:latin typeface="+mn-lt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59" y="2861588"/>
            <a:ext cx="6796497" cy="176024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-161741" y="1116332"/>
            <a:ext cx="33105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Матриця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даних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5227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883879" y="79950"/>
            <a:ext cx="33762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Дані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документа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64160" y="1065347"/>
            <a:ext cx="877824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Кожен</a:t>
            </a:r>
            <a:r>
              <a:rPr lang="ru-RU" dirty="0">
                <a:latin typeface="+mn-lt"/>
              </a:rPr>
              <a:t> документ </a:t>
            </a:r>
            <a:r>
              <a:rPr lang="ru-RU" dirty="0" err="1">
                <a:latin typeface="+mn-lt"/>
              </a:rPr>
              <a:t>стає</a:t>
            </a:r>
            <a:r>
              <a:rPr lang="ru-RU" dirty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вектором </a:t>
            </a:r>
            <a:r>
              <a:rPr lang="ru-RU" dirty="0" err="1" smtClean="0">
                <a:latin typeface="+mn-lt"/>
              </a:rPr>
              <a:t>термів</a:t>
            </a:r>
            <a:endParaRPr lang="ru-RU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Кожен</a:t>
            </a:r>
            <a:r>
              <a:rPr lang="ru-RU" dirty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терм (</a:t>
            </a:r>
            <a:r>
              <a:rPr lang="ru-RU" dirty="0" err="1" smtClean="0">
                <a:latin typeface="+mn-lt"/>
              </a:rPr>
              <a:t>термін</a:t>
            </a:r>
            <a:r>
              <a:rPr lang="ru-RU" dirty="0" smtClean="0">
                <a:latin typeface="+mn-lt"/>
              </a:rPr>
              <a:t>) </a:t>
            </a:r>
            <a:r>
              <a:rPr lang="ru-RU" dirty="0">
                <a:latin typeface="+mn-lt"/>
              </a:rPr>
              <a:t>є компонентом (атрибутом) </a:t>
            </a:r>
            <a:r>
              <a:rPr lang="ru-RU" dirty="0" smtClean="0">
                <a:latin typeface="+mn-lt"/>
              </a:rPr>
              <a:t>вектора.</a:t>
            </a:r>
            <a:endParaRPr lang="ru-RU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Значення</a:t>
            </a:r>
            <a:r>
              <a:rPr lang="ru-RU" dirty="0">
                <a:latin typeface="+mn-lt"/>
              </a:rPr>
              <a:t> кожного компонента - </a:t>
            </a:r>
            <a:r>
              <a:rPr lang="ru-RU" dirty="0" err="1">
                <a:latin typeface="+mn-lt"/>
              </a:rPr>
              <a:t>це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кількість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випадків</a:t>
            </a:r>
            <a:r>
              <a:rPr lang="ru-RU" dirty="0">
                <a:latin typeface="+mn-lt"/>
              </a:rPr>
              <a:t>, коли </a:t>
            </a:r>
            <a:r>
              <a:rPr lang="ru-RU" dirty="0" err="1">
                <a:latin typeface="+mn-lt"/>
              </a:rPr>
              <a:t>відповідний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термін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зустрічається</a:t>
            </a:r>
            <a:r>
              <a:rPr lang="ru-RU" dirty="0">
                <a:latin typeface="+mn-lt"/>
              </a:rPr>
              <a:t> в </a:t>
            </a:r>
            <a:r>
              <a:rPr lang="ru-RU" dirty="0" err="1">
                <a:latin typeface="+mn-lt"/>
              </a:rPr>
              <a:t>документі</a:t>
            </a:r>
            <a:r>
              <a:rPr lang="ru-RU" dirty="0">
                <a:latin typeface="+mn-lt"/>
              </a:rPr>
              <a:t>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67013" y="2585091"/>
            <a:ext cx="806704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ru-RU" dirty="0">
                <a:latin typeface="+mn-lt"/>
              </a:rPr>
              <a:t>Рядки </a:t>
            </a:r>
            <a:r>
              <a:rPr lang="ru-RU" dirty="0" err="1">
                <a:latin typeface="+mn-lt"/>
              </a:rPr>
              <a:t>матриці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відповідають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термінам</a:t>
            </a:r>
            <a:r>
              <a:rPr lang="ru-RU" dirty="0">
                <a:latin typeface="+mn-lt"/>
              </a:rPr>
              <a:t>, "</a:t>
            </a:r>
            <a:r>
              <a:rPr lang="ru-RU" dirty="0" err="1">
                <a:latin typeface="+mn-lt"/>
              </a:rPr>
              <a:t>зваженим</a:t>
            </a:r>
            <a:r>
              <a:rPr lang="ru-RU" dirty="0">
                <a:latin typeface="+mn-lt"/>
              </a:rPr>
              <a:t>" метрикою, такою як </a:t>
            </a:r>
            <a:r>
              <a:rPr lang="en-GB" dirty="0">
                <a:latin typeface="+mn-lt"/>
              </a:rPr>
              <a:t>TF-IDF,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на </a:t>
            </a:r>
            <a:r>
              <a:rPr lang="ru-RU" dirty="0" err="1">
                <a:latin typeface="+mn-lt"/>
              </a:rPr>
              <a:t>основі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ентропії</a:t>
            </a:r>
            <a:r>
              <a:rPr lang="ru-RU" dirty="0">
                <a:latin typeface="+mn-lt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Стовпці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матриці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відповідають</a:t>
            </a:r>
            <a:r>
              <a:rPr lang="ru-RU" dirty="0">
                <a:latin typeface="+mn-lt"/>
              </a:rPr>
              <a:t> документам.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Елементами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матриці</a:t>
            </a:r>
            <a:r>
              <a:rPr lang="ru-RU" dirty="0">
                <a:latin typeface="+mn-lt"/>
              </a:rPr>
              <a:t> є частота </a:t>
            </a:r>
            <a:r>
              <a:rPr lang="ru-RU" dirty="0" err="1">
                <a:latin typeface="+mn-lt"/>
              </a:rPr>
              <a:t>використання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термінів</a:t>
            </a:r>
            <a:r>
              <a:rPr lang="ru-RU" dirty="0">
                <a:latin typeface="+mn-lt"/>
              </a:rPr>
              <a:t> у документах.</a:t>
            </a:r>
          </a:p>
        </p:txBody>
      </p:sp>
    </p:spTree>
    <p:extLst>
      <p:ext uri="{BB962C8B-B14F-4D97-AF65-F5344CB8AC3E}">
        <p14:creationId xmlns:p14="http://schemas.microsoft.com/office/powerpoint/2010/main" val="1471505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1" y="67866"/>
            <a:ext cx="9143999" cy="411956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altLang="ru-RU" sz="2700" b="1" dirty="0">
                <a:solidFill>
                  <a:schemeClr val="bg1"/>
                </a:solidFill>
                <a:latin typeface="+mn-lt"/>
              </a:rPr>
              <a:t>Example of the </a:t>
            </a:r>
            <a:r>
              <a:rPr lang="en-US" sz="2700" b="1" dirty="0">
                <a:solidFill>
                  <a:schemeClr val="bg1"/>
                </a:solidFill>
                <a:latin typeface="+mn-lt"/>
              </a:rPr>
              <a:t>Frequency</a:t>
            </a:r>
            <a:r>
              <a:rPr lang="en-US" sz="2700" dirty="0">
                <a:solidFill>
                  <a:schemeClr val="bg1"/>
                </a:solidFill>
                <a:latin typeface="+mn-lt"/>
              </a:rPr>
              <a:t> </a:t>
            </a:r>
            <a:r>
              <a:rPr lang="tr-TR" altLang="ru-RU" sz="2700" b="1" dirty="0">
                <a:solidFill>
                  <a:schemeClr val="bg1"/>
                </a:solidFill>
                <a:latin typeface="+mn-lt"/>
              </a:rPr>
              <a:t>Term-document Matrıx</a:t>
            </a:r>
            <a:endParaRPr lang="en-US" altLang="ru-RU" sz="27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4281" name="Rectangle 1033"/>
          <p:cNvSpPr>
            <a:spLocks noChangeArrowheads="1"/>
          </p:cNvSpPr>
          <p:nvPr/>
        </p:nvSpPr>
        <p:spPr bwMode="auto">
          <a:xfrm>
            <a:off x="0" y="851453"/>
            <a:ext cx="6382146" cy="2527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ru-RU" sz="1800" b="1" dirty="0">
                <a:latin typeface="+mn-lt"/>
                <a:cs typeface="Times New Roman" panose="02020603050405020304" pitchFamily="18" charset="0"/>
              </a:rPr>
              <a:t>Query:</a:t>
            </a:r>
            <a:r>
              <a:rPr lang="en-US" altLang="ru-RU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tr-TR" altLang="ru-RU" sz="1800" dirty="0">
                <a:solidFill>
                  <a:srgbClr val="C00000"/>
                </a:solidFill>
                <a:latin typeface="+mn-lt"/>
              </a:rPr>
              <a:t>H</a:t>
            </a:r>
            <a:r>
              <a:rPr lang="en-US" altLang="ru-RU" sz="1800" dirty="0" err="1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uman</a:t>
            </a:r>
            <a:r>
              <a:rPr lang="en-US" altLang="ru-RU" sz="18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-</a:t>
            </a:r>
            <a:r>
              <a:rPr lang="tr-TR" altLang="ru-RU" sz="1800" dirty="0">
                <a:solidFill>
                  <a:srgbClr val="C00000"/>
                </a:solidFill>
                <a:latin typeface="+mn-lt"/>
              </a:rPr>
              <a:t>C</a:t>
            </a:r>
            <a:r>
              <a:rPr lang="en-US" altLang="ru-RU" sz="1800" dirty="0" err="1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omputer</a:t>
            </a:r>
            <a:r>
              <a:rPr lang="en-US" altLang="ru-RU" sz="18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tr-TR" altLang="ru-RU" sz="1800" dirty="0">
                <a:solidFill>
                  <a:srgbClr val="C00000"/>
                </a:solidFill>
                <a:latin typeface="+mn-lt"/>
              </a:rPr>
              <a:t>I</a:t>
            </a:r>
            <a:r>
              <a:rPr lang="en-US" altLang="ru-RU" sz="1800" dirty="0" err="1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nteraction</a:t>
            </a:r>
            <a:r>
              <a:rPr lang="en-US" altLang="ru-RU" sz="1800" dirty="0">
                <a:solidFill>
                  <a:srgbClr val="C00000"/>
                </a:solidFill>
                <a:latin typeface="+mn-lt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en-US" altLang="ru-RU" sz="1800" b="1" dirty="0">
                <a:latin typeface="+mn-lt"/>
              </a:rPr>
              <a:t>Dataset:</a:t>
            </a:r>
          </a:p>
          <a:p>
            <a:pPr marL="198835" lvl="1" indent="0" algn="l" defTabSz="706041">
              <a:spcBef>
                <a:spcPct val="20000"/>
              </a:spcBef>
              <a:tabLst>
                <a:tab pos="536972" algn="l"/>
              </a:tabLst>
            </a:pPr>
            <a:r>
              <a:rPr lang="en-US" altLang="ru-RU" sz="1800" b="1" dirty="0">
                <a:latin typeface="+mn-lt"/>
                <a:cs typeface="Times New Roman" panose="02020603050405020304" pitchFamily="18" charset="0"/>
              </a:rPr>
              <a:t>d1</a:t>
            </a:r>
            <a:r>
              <a:rPr lang="en-US" altLang="ru-RU" sz="1800" dirty="0">
                <a:latin typeface="+mn-lt"/>
                <a:cs typeface="Times New Roman" panose="02020603050405020304" pitchFamily="18" charset="0"/>
              </a:rPr>
              <a:t>	</a:t>
            </a:r>
            <a:r>
              <a:rPr lang="en-US" altLang="ru-RU" sz="1800" b="1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Human</a:t>
            </a:r>
            <a:r>
              <a:rPr lang="en-US" altLang="ru-RU" sz="1800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+mn-lt"/>
                <a:cs typeface="Times New Roman" panose="02020603050405020304" pitchFamily="18" charset="0"/>
              </a:rPr>
              <a:t>machine </a:t>
            </a:r>
            <a:r>
              <a:rPr lang="en-US" altLang="ru-RU" sz="1800" b="1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interface</a:t>
            </a:r>
            <a:r>
              <a:rPr lang="en-US" altLang="ru-RU" sz="1800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+mn-lt"/>
                <a:cs typeface="Times New Roman" panose="02020603050405020304" pitchFamily="18" charset="0"/>
              </a:rPr>
              <a:t>for Lab </a:t>
            </a:r>
            <a:r>
              <a:rPr lang="en-US" altLang="ru-RU" sz="1800" b="1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computer</a:t>
            </a:r>
            <a:r>
              <a:rPr lang="en-US" altLang="ru-RU" sz="1800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+mn-lt"/>
                <a:cs typeface="Times New Roman" panose="02020603050405020304" pitchFamily="18" charset="0"/>
              </a:rPr>
              <a:t>application</a:t>
            </a:r>
          </a:p>
          <a:p>
            <a:pPr marL="198835" lvl="1" indent="0" algn="l" defTabSz="706041">
              <a:spcBef>
                <a:spcPct val="20000"/>
              </a:spcBef>
              <a:tabLst>
                <a:tab pos="536972" algn="l"/>
              </a:tabLst>
            </a:pPr>
            <a:r>
              <a:rPr lang="en-US" altLang="ru-RU" sz="1800" b="1" dirty="0">
                <a:latin typeface="+mn-lt"/>
                <a:cs typeface="Times New Roman" panose="02020603050405020304" pitchFamily="18" charset="0"/>
              </a:rPr>
              <a:t>d2</a:t>
            </a:r>
            <a:r>
              <a:rPr lang="en-US" altLang="ru-RU" sz="1800" dirty="0">
                <a:latin typeface="+mn-lt"/>
                <a:cs typeface="Times New Roman" panose="02020603050405020304" pitchFamily="18" charset="0"/>
              </a:rPr>
              <a:t>	A </a:t>
            </a:r>
            <a:r>
              <a:rPr lang="en-US" altLang="ru-RU" sz="1800" b="1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survey </a:t>
            </a:r>
            <a:r>
              <a:rPr lang="en-US" altLang="ru-RU" sz="1800" dirty="0">
                <a:latin typeface="+mn-lt"/>
                <a:cs typeface="Times New Roman" panose="02020603050405020304" pitchFamily="18" charset="0"/>
              </a:rPr>
              <a:t>of </a:t>
            </a:r>
            <a:r>
              <a:rPr lang="en-US" altLang="ru-RU" sz="1800" b="1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user </a:t>
            </a:r>
            <a:r>
              <a:rPr lang="en-US" altLang="ru-RU" sz="1800" dirty="0">
                <a:latin typeface="+mn-lt"/>
                <a:cs typeface="Times New Roman" panose="02020603050405020304" pitchFamily="18" charset="0"/>
              </a:rPr>
              <a:t>opinion of </a:t>
            </a:r>
            <a:r>
              <a:rPr lang="en-US" altLang="ru-RU" sz="1800" b="1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computer system response time</a:t>
            </a:r>
          </a:p>
          <a:p>
            <a:pPr marL="198835" lvl="1" indent="0" algn="l" defTabSz="706041">
              <a:spcBef>
                <a:spcPct val="20000"/>
              </a:spcBef>
              <a:tabLst>
                <a:tab pos="536972" algn="l"/>
              </a:tabLst>
            </a:pPr>
            <a:r>
              <a:rPr lang="en-US" altLang="ru-RU" sz="1800" b="1" dirty="0">
                <a:latin typeface="+mn-lt"/>
                <a:cs typeface="Times New Roman" panose="02020603050405020304" pitchFamily="18" charset="0"/>
              </a:rPr>
              <a:t>d3</a:t>
            </a:r>
            <a:r>
              <a:rPr lang="en-US" altLang="ru-RU" sz="1800" dirty="0">
                <a:latin typeface="+mn-lt"/>
                <a:cs typeface="Times New Roman" panose="02020603050405020304" pitchFamily="18" charset="0"/>
              </a:rPr>
              <a:t>	The </a:t>
            </a:r>
            <a:r>
              <a:rPr lang="en-US" altLang="ru-RU" sz="1800" b="1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EPS</a:t>
            </a:r>
            <a:r>
              <a:rPr lang="en-US" altLang="ru-RU" sz="1800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+mn-lt"/>
                <a:cs typeface="Times New Roman" panose="02020603050405020304" pitchFamily="18" charset="0"/>
              </a:rPr>
              <a:t>user </a:t>
            </a:r>
            <a:r>
              <a:rPr lang="en-US" altLang="ru-RU" sz="1800" b="1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interface</a:t>
            </a:r>
            <a:r>
              <a:rPr lang="en-US" altLang="ru-RU" sz="1800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+mn-lt"/>
                <a:cs typeface="Times New Roman" panose="02020603050405020304" pitchFamily="18" charset="0"/>
              </a:rPr>
              <a:t>management </a:t>
            </a:r>
            <a:r>
              <a:rPr lang="en-US" altLang="ru-RU" sz="1800" b="1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system</a:t>
            </a:r>
          </a:p>
          <a:p>
            <a:pPr marL="198835" lvl="1" indent="0" algn="l" defTabSz="706041">
              <a:spcBef>
                <a:spcPct val="20000"/>
              </a:spcBef>
              <a:tabLst>
                <a:tab pos="536972" algn="l"/>
              </a:tabLst>
            </a:pPr>
            <a:r>
              <a:rPr lang="en-US" altLang="ru-RU" sz="1800" b="1" dirty="0">
                <a:latin typeface="+mn-lt"/>
                <a:cs typeface="Times New Roman" panose="02020603050405020304" pitchFamily="18" charset="0"/>
              </a:rPr>
              <a:t>d4</a:t>
            </a:r>
            <a:r>
              <a:rPr lang="en-US" altLang="ru-RU" sz="1800" dirty="0">
                <a:latin typeface="+mn-lt"/>
                <a:cs typeface="Times New Roman" panose="02020603050405020304" pitchFamily="18" charset="0"/>
              </a:rPr>
              <a:t>	</a:t>
            </a:r>
            <a:r>
              <a:rPr lang="en-US" altLang="ru-RU" sz="1800" b="1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System</a:t>
            </a:r>
            <a:r>
              <a:rPr lang="en-US" altLang="ru-RU" sz="1800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+mn-lt"/>
                <a:cs typeface="Times New Roman" panose="02020603050405020304" pitchFamily="18" charset="0"/>
              </a:rPr>
              <a:t>and </a:t>
            </a:r>
            <a:r>
              <a:rPr lang="en-US" altLang="ru-RU" sz="1800" b="1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human system</a:t>
            </a:r>
            <a:r>
              <a:rPr lang="en-US" altLang="ru-RU" sz="1800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+mn-lt"/>
                <a:cs typeface="Times New Roman" panose="02020603050405020304" pitchFamily="18" charset="0"/>
              </a:rPr>
              <a:t>engineering testing of </a:t>
            </a:r>
            <a:r>
              <a:rPr lang="en-US" altLang="ru-RU" sz="1800" b="1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EPS</a:t>
            </a:r>
          </a:p>
          <a:p>
            <a:pPr marL="536972" lvl="1" indent="-338138" algn="l" defTabSz="706041">
              <a:spcBef>
                <a:spcPct val="20000"/>
              </a:spcBef>
              <a:tabLst>
                <a:tab pos="536972" algn="l"/>
              </a:tabLst>
            </a:pPr>
            <a:r>
              <a:rPr lang="en-US" altLang="ru-RU" sz="1800" b="1" dirty="0">
                <a:latin typeface="+mn-lt"/>
                <a:cs typeface="Times New Roman" panose="02020603050405020304" pitchFamily="18" charset="0"/>
              </a:rPr>
              <a:t>d5</a:t>
            </a:r>
            <a:r>
              <a:rPr lang="en-US" altLang="ru-RU" sz="1800" dirty="0">
                <a:latin typeface="+mn-lt"/>
                <a:cs typeface="Times New Roman" panose="02020603050405020304" pitchFamily="18" charset="0"/>
              </a:rPr>
              <a:t>	Relations of </a:t>
            </a:r>
            <a:r>
              <a:rPr lang="en-US" altLang="ru-RU" sz="1800" b="1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user</a:t>
            </a:r>
            <a:r>
              <a:rPr lang="en-US" altLang="ru-RU" sz="1800" dirty="0">
                <a:latin typeface="+mn-lt"/>
                <a:cs typeface="Times New Roman" panose="02020603050405020304" pitchFamily="18" charset="0"/>
              </a:rPr>
              <a:t>-perceived </a:t>
            </a:r>
            <a:r>
              <a:rPr lang="en-US" altLang="ru-RU" sz="1800" b="1" dirty="0">
                <a:solidFill>
                  <a:srgbClr val="0000CC"/>
                </a:solidFill>
                <a:latin typeface="+mn-lt"/>
                <a:cs typeface="Times New Roman" panose="02020603050405020304" pitchFamily="18" charset="0"/>
              </a:rPr>
              <a:t>response time </a:t>
            </a:r>
            <a:r>
              <a:rPr lang="en-US" altLang="ru-RU" sz="1800" dirty="0">
                <a:latin typeface="+mn-lt"/>
                <a:cs typeface="Times New Roman" panose="02020603050405020304" pitchFamily="18" charset="0"/>
              </a:rPr>
              <a:t>to error         measurement</a:t>
            </a:r>
            <a:endParaRPr lang="en-US" altLang="ru-RU" sz="1800" dirty="0">
              <a:latin typeface="+mn-lt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145" y="1310928"/>
            <a:ext cx="2761854" cy="237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08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667311" y="0"/>
            <a:ext cx="33826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Дані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транзакцій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0786" y="854239"/>
            <a:ext cx="9001934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err="1">
                <a:latin typeface="+mn-lt"/>
              </a:rPr>
              <a:t>Особливий</a:t>
            </a:r>
            <a:r>
              <a:rPr lang="ru-RU" dirty="0">
                <a:latin typeface="+mn-lt"/>
              </a:rPr>
              <a:t> тип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, </a:t>
            </a:r>
            <a:r>
              <a:rPr lang="ru-RU" dirty="0" smtClean="0">
                <a:latin typeface="+mn-lt"/>
              </a:rPr>
              <a:t>де </a:t>
            </a:r>
            <a:r>
              <a:rPr lang="ru-RU" dirty="0" err="1" smtClean="0">
                <a:latin typeface="+mn-lt"/>
              </a:rPr>
              <a:t>кожна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операція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включає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набір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предметів</a:t>
            </a:r>
            <a:r>
              <a:rPr lang="ru-RU" dirty="0">
                <a:latin typeface="+mn-lt"/>
              </a:rPr>
              <a:t>.</a:t>
            </a:r>
          </a:p>
          <a:p>
            <a:pPr marL="630238" algn="l"/>
            <a:r>
              <a:rPr lang="ru-RU" dirty="0" err="1">
                <a:solidFill>
                  <a:srgbClr val="008000"/>
                </a:solidFill>
                <a:latin typeface="+mn-lt"/>
              </a:rPr>
              <a:t>Наприклад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розглянемо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продуктовий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магазин.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Набір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продуктів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придбаних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smtClean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 smtClean="0">
                <a:solidFill>
                  <a:srgbClr val="008000"/>
                </a:solidFill>
                <a:latin typeface="+mn-lt"/>
              </a:rPr>
              <a:t>замовником</a:t>
            </a:r>
            <a:r>
              <a:rPr lang="ru-RU" dirty="0" smtClean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під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час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однієї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поїздки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за покупками, є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транзакцією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тоді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як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окремі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товари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які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були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придбані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, є товарами.</a:t>
            </a:r>
          </a:p>
          <a:p>
            <a:pPr algn="l"/>
            <a:r>
              <a:rPr lang="ru-RU" dirty="0" err="1">
                <a:latin typeface="+mn-lt"/>
              </a:rPr>
              <a:t>Може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представляти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транзакцій</a:t>
            </a:r>
            <a:r>
              <a:rPr lang="ru-RU" dirty="0">
                <a:latin typeface="+mn-lt"/>
              </a:rPr>
              <a:t> як </a:t>
            </a:r>
            <a:r>
              <a:rPr lang="ru-RU" dirty="0" err="1">
                <a:latin typeface="+mn-lt"/>
              </a:rPr>
              <a:t>дані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записів</a:t>
            </a:r>
            <a:endParaRPr lang="ru-RU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456" y="2603733"/>
            <a:ext cx="3807512" cy="199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211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885320" y="0"/>
            <a:ext cx="29466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Графічні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дані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93040" y="841276"/>
            <a:ext cx="8829040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err="1">
                <a:latin typeface="+mn-lt"/>
              </a:rPr>
              <a:t>Приклади</a:t>
            </a:r>
            <a:r>
              <a:rPr lang="ru-RU" dirty="0">
                <a:latin typeface="+mn-lt"/>
              </a:rPr>
              <a:t>: </a:t>
            </a:r>
            <a:r>
              <a:rPr lang="ru-RU" dirty="0" err="1">
                <a:latin typeface="+mn-lt"/>
              </a:rPr>
              <a:t>загальний</a:t>
            </a:r>
            <a:r>
              <a:rPr lang="ru-RU" dirty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граф, </a:t>
            </a:r>
            <a:r>
              <a:rPr lang="ru-RU" dirty="0" err="1" smtClean="0">
                <a:latin typeface="+mn-lt"/>
              </a:rPr>
              <a:t>зображення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молекули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та </a:t>
            </a:r>
            <a:r>
              <a:rPr lang="ru-RU" dirty="0" err="1" smtClean="0">
                <a:latin typeface="+mn-lt"/>
              </a:rPr>
              <a:t>скрін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шот</a:t>
            </a:r>
            <a:r>
              <a:rPr lang="ru-RU" dirty="0" smtClean="0">
                <a:latin typeface="+mn-lt"/>
              </a:rPr>
              <a:t> веб-</a:t>
            </a:r>
            <a:r>
              <a:rPr lang="ru-RU" dirty="0" err="1" smtClean="0">
                <a:latin typeface="+mn-lt"/>
              </a:rPr>
              <a:t>сторінки</a:t>
            </a:r>
            <a:endParaRPr lang="ru-RU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79" y="1292086"/>
            <a:ext cx="7579361" cy="343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69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885320" y="0"/>
            <a:ext cx="29466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Графічні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дані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21920" y="823759"/>
            <a:ext cx="8829040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>
                <a:latin typeface="+mn-lt"/>
              </a:rPr>
              <a:t>За </a:t>
            </a:r>
            <a:r>
              <a:rPr lang="ru-RU" dirty="0" err="1">
                <a:latin typeface="+mn-lt"/>
              </a:rPr>
              <a:t>допомогою</a:t>
            </a:r>
            <a:r>
              <a:rPr lang="ru-RU" dirty="0">
                <a:latin typeface="+mn-lt"/>
              </a:rPr>
              <a:t> карт, </a:t>
            </a:r>
            <a:r>
              <a:rPr lang="ru-RU" dirty="0" err="1">
                <a:latin typeface="+mn-lt"/>
              </a:rPr>
              <a:t>наприклад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можна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відстежити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зміни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об'єктів</a:t>
            </a:r>
            <a:r>
              <a:rPr lang="ru-RU" dirty="0">
                <a:latin typeface="+mn-lt"/>
              </a:rPr>
              <a:t> в </a:t>
            </a:r>
            <a:r>
              <a:rPr lang="ru-RU" dirty="0" err="1">
                <a:latin typeface="+mn-lt"/>
              </a:rPr>
              <a:t>часі</a:t>
            </a:r>
            <a:r>
              <a:rPr lang="ru-RU" dirty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і </a:t>
            </a:r>
            <a:r>
              <a:rPr lang="ru-RU" dirty="0" err="1" smtClean="0">
                <a:latin typeface="+mn-lt"/>
              </a:rPr>
              <a:t>просторі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визначити</a:t>
            </a:r>
            <a:r>
              <a:rPr lang="ru-RU" dirty="0">
                <a:latin typeface="+mn-lt"/>
              </a:rPr>
              <a:t> характер </a:t>
            </a:r>
            <a:r>
              <a:rPr lang="ru-RU" dirty="0" err="1">
                <a:latin typeface="+mn-lt"/>
              </a:rPr>
              <a:t>їх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розподілу</a:t>
            </a:r>
            <a:r>
              <a:rPr lang="ru-RU" dirty="0">
                <a:latin typeface="+mn-lt"/>
              </a:rPr>
              <a:t> на </a:t>
            </a:r>
            <a:r>
              <a:rPr lang="ru-RU" dirty="0" err="1">
                <a:latin typeface="+mn-lt"/>
              </a:rPr>
              <a:t>площині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в </a:t>
            </a:r>
            <a:r>
              <a:rPr lang="ru-RU" dirty="0" err="1">
                <a:latin typeface="+mn-lt"/>
              </a:rPr>
              <a:t>просторі</a:t>
            </a:r>
            <a:r>
              <a:rPr lang="ru-RU" dirty="0">
                <a:latin typeface="+mn-lt"/>
              </a:rPr>
              <a:t>.</a:t>
            </a:r>
          </a:p>
          <a:p>
            <a:pPr algn="l"/>
            <a:r>
              <a:rPr lang="ru-RU" dirty="0" err="1">
                <a:latin typeface="+mn-lt"/>
              </a:rPr>
              <a:t>Перевагою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графічного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представлення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 є </a:t>
            </a:r>
            <a:r>
              <a:rPr lang="ru-RU" dirty="0" smtClean="0">
                <a:latin typeface="+mn-lt"/>
              </a:rPr>
              <a:t>простота </a:t>
            </a:r>
            <a:r>
              <a:rPr lang="ru-RU" dirty="0" err="1" smtClean="0">
                <a:latin typeface="+mn-lt"/>
              </a:rPr>
              <a:t>їх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сприйняття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ніж</a:t>
            </a:r>
            <a:r>
              <a:rPr lang="ru-RU" dirty="0">
                <a:latin typeface="+mn-lt"/>
              </a:rPr>
              <a:t>, </a:t>
            </a:r>
            <a:r>
              <a:rPr lang="ru-RU" dirty="0" err="1" smtClean="0">
                <a:latin typeface="+mn-lt"/>
              </a:rPr>
              <a:t>наприклад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табличних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.</a:t>
            </a:r>
          </a:p>
          <a:p>
            <a:pPr algn="l"/>
            <a:r>
              <a:rPr lang="ru-RU" dirty="0">
                <a:latin typeface="+mn-lt"/>
              </a:rPr>
              <a:t>Приклад </a:t>
            </a:r>
            <a:r>
              <a:rPr lang="ru-RU" dirty="0" err="1">
                <a:latin typeface="+mn-lt"/>
              </a:rPr>
              <a:t>карти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що</a:t>
            </a:r>
            <a:r>
              <a:rPr lang="ru-RU" dirty="0">
                <a:latin typeface="+mn-lt"/>
              </a:rPr>
              <a:t> є картою </a:t>
            </a:r>
            <a:r>
              <a:rPr lang="ru-RU" dirty="0" err="1" smtClean="0">
                <a:latin typeface="+mn-lt"/>
              </a:rPr>
              <a:t>Кохонена</a:t>
            </a:r>
            <a:r>
              <a:rPr lang="ru-RU" dirty="0" smtClean="0">
                <a:latin typeface="+mn-lt"/>
              </a:rPr>
              <a:t> для </a:t>
            </a:r>
            <a:r>
              <a:rPr lang="ru-RU" dirty="0" err="1" smtClean="0">
                <a:latin typeface="+mn-lt"/>
              </a:rPr>
              <a:t>моделі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нейронних</a:t>
            </a:r>
            <a:r>
              <a:rPr lang="ru-RU" dirty="0" smtClean="0">
                <a:latin typeface="+mn-lt"/>
              </a:rPr>
              <a:t> мереж:</a:t>
            </a:r>
            <a:endParaRPr lang="ru-RU" dirty="0">
              <a:latin typeface="+mn-lt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800" y="2465310"/>
            <a:ext cx="2334960" cy="131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81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275840" y="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fontAlgn="t"/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Впорядковані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дані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44499" y="856069"/>
            <a:ext cx="2884123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err="1" smtClean="0">
                <a:solidFill>
                  <a:srgbClr val="0000CC"/>
                </a:solidFill>
                <a:latin typeface="+mn-lt"/>
              </a:rPr>
              <a:t>Послідовності</a:t>
            </a:r>
            <a:r>
              <a:rPr lang="ru-RU" b="1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0000CC"/>
                </a:solidFill>
                <a:latin typeface="+mn-lt"/>
              </a:rPr>
              <a:t>транзакцій</a:t>
            </a:r>
            <a:endParaRPr lang="ru-RU" b="1" dirty="0">
              <a:solidFill>
                <a:srgbClr val="0000CC"/>
              </a:solidFill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30" y="1373549"/>
            <a:ext cx="3457670" cy="238565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160289" y="817579"/>
            <a:ext cx="3890810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err="1">
                <a:solidFill>
                  <a:srgbClr val="0000CC"/>
                </a:solidFill>
                <a:latin typeface="+mn-lt"/>
              </a:rPr>
              <a:t>Дані</a:t>
            </a:r>
            <a:r>
              <a:rPr lang="ru-RU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0000CC"/>
                </a:solidFill>
                <a:latin typeface="+mn-lt"/>
              </a:rPr>
              <a:t>геномної</a:t>
            </a:r>
            <a:r>
              <a:rPr lang="ru-RU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  <a:latin typeface="+mn-lt"/>
              </a:rPr>
              <a:t>послідовності</a:t>
            </a:r>
            <a:r>
              <a:rPr lang="en-US" b="1" dirty="0" smtClean="0">
                <a:solidFill>
                  <a:srgbClr val="0000CC"/>
                </a:solidFill>
                <a:latin typeface="+mn-lt"/>
              </a:rPr>
              <a:t> </a:t>
            </a:r>
            <a:r>
              <a:rPr lang="uk-UA" b="1" dirty="0" smtClean="0">
                <a:solidFill>
                  <a:srgbClr val="0000CC"/>
                </a:solidFill>
                <a:latin typeface="+mn-lt"/>
              </a:rPr>
              <a:t>в ДНК</a:t>
            </a:r>
            <a:endParaRPr lang="ru-RU" b="1" dirty="0">
              <a:solidFill>
                <a:srgbClr val="0000CC"/>
              </a:solidFill>
              <a:latin typeface="+mn-lt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438" y="1181980"/>
            <a:ext cx="3230946" cy="25772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92498" y="1476420"/>
            <a:ext cx="12923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sz="1800" dirty="0" smtClean="0">
                <a:latin typeface="+mn-lt"/>
              </a:rPr>
              <a:t>А-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аденін</a:t>
            </a:r>
            <a:endParaRPr lang="ru-RU" sz="1800" dirty="0" smtClean="0">
              <a:latin typeface="+mn-lt"/>
            </a:endParaRPr>
          </a:p>
          <a:p>
            <a:pPr algn="l"/>
            <a:r>
              <a:rPr lang="en-US" sz="1800" dirty="0" smtClean="0">
                <a:latin typeface="+mn-lt"/>
              </a:rPr>
              <a:t>G – </a:t>
            </a:r>
            <a:r>
              <a:rPr lang="ru-RU" sz="1800" dirty="0" err="1" smtClean="0">
                <a:latin typeface="+mn-lt"/>
              </a:rPr>
              <a:t>гуанін</a:t>
            </a:r>
            <a:endParaRPr lang="en-US" sz="1800" dirty="0" smtClean="0">
              <a:latin typeface="+mn-lt"/>
            </a:endParaRPr>
          </a:p>
          <a:p>
            <a:pPr algn="l"/>
            <a:r>
              <a:rPr lang="en-US" sz="1800" dirty="0" smtClean="0">
                <a:latin typeface="+mn-lt"/>
              </a:rPr>
              <a:t>T - </a:t>
            </a:r>
            <a:r>
              <a:rPr lang="ru-RU" sz="1800" dirty="0" err="1">
                <a:latin typeface="+mn-lt"/>
              </a:rPr>
              <a:t>тимін</a:t>
            </a:r>
            <a:r>
              <a:rPr lang="ru-RU" sz="1800" dirty="0">
                <a:latin typeface="+mn-lt"/>
              </a:rPr>
              <a:t> </a:t>
            </a:r>
            <a:endParaRPr lang="en-US" sz="1800" dirty="0" smtClean="0">
              <a:latin typeface="+mn-lt"/>
            </a:endParaRPr>
          </a:p>
          <a:p>
            <a:pPr algn="l"/>
            <a:r>
              <a:rPr lang="en-US" sz="1800" dirty="0" smtClean="0">
                <a:latin typeface="+mn-lt"/>
              </a:rPr>
              <a:t>C- </a:t>
            </a:r>
            <a:r>
              <a:rPr lang="ru-RU" sz="1800" dirty="0" err="1">
                <a:latin typeface="+mn-lt"/>
              </a:rPr>
              <a:t>цитозин</a:t>
            </a:r>
            <a:r>
              <a:rPr lang="ru-RU" sz="1800" dirty="0"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65616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40849" y="876306"/>
            <a:ext cx="2680542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err="1">
                <a:solidFill>
                  <a:srgbClr val="0000CC"/>
                </a:solidFill>
                <a:latin typeface="+mn-lt"/>
              </a:rPr>
              <a:t>Просторово-часові</a:t>
            </a:r>
            <a:r>
              <a:rPr lang="ru-RU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0000CC"/>
                </a:solidFill>
                <a:latin typeface="+mn-lt"/>
              </a:rPr>
              <a:t>дані</a:t>
            </a:r>
            <a:endParaRPr lang="ru-RU" b="1" dirty="0">
              <a:solidFill>
                <a:srgbClr val="0000CC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275840" y="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fontAlgn="t"/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Впорядковані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дані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898" y="1397811"/>
            <a:ext cx="5275942" cy="283890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976120" y="4242064"/>
            <a:ext cx="51714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 err="1">
                <a:latin typeface="+mn-lt"/>
              </a:rPr>
              <a:t>Середня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щомісячна</a:t>
            </a:r>
            <a:r>
              <a:rPr lang="ru-RU" sz="1800" dirty="0">
                <a:latin typeface="+mn-lt"/>
              </a:rPr>
              <a:t> температура </a:t>
            </a:r>
            <a:r>
              <a:rPr lang="ru-RU" sz="1800" dirty="0" err="1">
                <a:latin typeface="+mn-lt"/>
              </a:rPr>
              <a:t>суші</a:t>
            </a:r>
            <a:r>
              <a:rPr lang="ru-RU" sz="1800" dirty="0">
                <a:latin typeface="+mn-lt"/>
              </a:rPr>
              <a:t> та океану</a:t>
            </a:r>
          </a:p>
        </p:txBody>
      </p:sp>
    </p:spTree>
    <p:extLst>
      <p:ext uri="{BB962C8B-B14F-4D97-AF65-F5344CB8AC3E}">
        <p14:creationId xmlns:p14="http://schemas.microsoft.com/office/powerpoint/2010/main" val="134025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900740" y="22270"/>
            <a:ext cx="27126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Якість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даних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895430"/>
            <a:ext cx="904240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err="1">
                <a:latin typeface="+mn-lt"/>
              </a:rPr>
              <a:t>Погана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якість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 негативно </a:t>
            </a:r>
            <a:r>
              <a:rPr lang="ru-RU" dirty="0" err="1">
                <a:latin typeface="+mn-lt"/>
              </a:rPr>
              <a:t>позначається</a:t>
            </a:r>
            <a:r>
              <a:rPr lang="ru-RU" dirty="0">
                <a:latin typeface="+mn-lt"/>
              </a:rPr>
              <a:t> на </a:t>
            </a:r>
            <a:r>
              <a:rPr lang="ru-RU" dirty="0" err="1">
                <a:latin typeface="+mn-lt"/>
              </a:rPr>
              <a:t>багатьох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зусиллях</a:t>
            </a:r>
            <a:r>
              <a:rPr lang="ru-RU" dirty="0">
                <a:latin typeface="+mn-lt"/>
              </a:rPr>
              <a:t> з </a:t>
            </a:r>
            <a:r>
              <a:rPr lang="ru-RU" dirty="0" err="1">
                <a:latin typeface="+mn-lt"/>
              </a:rPr>
              <a:t>обробки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даних</a:t>
            </a:r>
            <a:r>
              <a:rPr lang="ru-RU" dirty="0" smtClean="0">
                <a:latin typeface="+mn-lt"/>
              </a:rPr>
              <a:t>.</a:t>
            </a:r>
            <a:endParaRPr lang="ru-RU" dirty="0">
              <a:latin typeface="+mn-lt"/>
            </a:endParaRPr>
          </a:p>
          <a:p>
            <a:pPr marL="360000" algn="l"/>
            <a:r>
              <a:rPr lang="ru-RU" dirty="0" smtClean="0">
                <a:solidFill>
                  <a:srgbClr val="008000"/>
                </a:solidFill>
                <a:latin typeface="+mn-lt"/>
              </a:rPr>
              <a:t>Приклад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інтелектуального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аналізу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даних</a:t>
            </a:r>
            <a:r>
              <a:rPr lang="ru-RU" dirty="0">
                <a:latin typeface="+mn-lt"/>
              </a:rPr>
              <a:t>: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класифікаційна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модель для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виявлення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людей,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які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перебувають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під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кредитним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ризиком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побудована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з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використанням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поганих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 smtClean="0">
                <a:solidFill>
                  <a:srgbClr val="008000"/>
                </a:solidFill>
                <a:latin typeface="+mn-lt"/>
              </a:rPr>
              <a:t>даних</a:t>
            </a:r>
            <a:r>
              <a:rPr lang="ru-RU" dirty="0" smtClean="0">
                <a:solidFill>
                  <a:srgbClr val="008000"/>
                </a:solidFill>
                <a:latin typeface="+mn-lt"/>
              </a:rPr>
              <a:t>. В </a:t>
            </a:r>
            <a:r>
              <a:rPr lang="ru-RU" dirty="0" err="1" smtClean="0">
                <a:solidFill>
                  <a:srgbClr val="008000"/>
                </a:solidFill>
                <a:latin typeface="+mn-lt"/>
              </a:rPr>
              <a:t>результаті</a:t>
            </a:r>
            <a:r>
              <a:rPr lang="ru-RU" dirty="0" smtClean="0">
                <a:solidFill>
                  <a:srgbClr val="008000"/>
                </a:solidFill>
                <a:latin typeface="+mn-lt"/>
              </a:rPr>
              <a:t>: </a:t>
            </a:r>
            <a:endParaRPr lang="ru-RU" dirty="0">
              <a:solidFill>
                <a:srgbClr val="008000"/>
              </a:solidFill>
              <a:latin typeface="+mn-lt"/>
            </a:endParaRPr>
          </a:p>
          <a:p>
            <a:pPr marL="720725" lvl="1" indent="-182563" algn="l">
              <a:buFont typeface="Wingdings" panose="05000000000000000000" pitchFamily="2" charset="2"/>
              <a:buChar char="ü"/>
            </a:pPr>
            <a:r>
              <a:rPr lang="ru-RU" dirty="0" err="1">
                <a:latin typeface="+mn-lt"/>
              </a:rPr>
              <a:t>Деяким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кредитоспроможним</a:t>
            </a:r>
            <a:r>
              <a:rPr lang="ru-RU" dirty="0">
                <a:latin typeface="+mn-lt"/>
              </a:rPr>
              <a:t> кандидатам </a:t>
            </a:r>
            <a:r>
              <a:rPr lang="ru-RU" dirty="0" err="1">
                <a:latin typeface="+mn-lt"/>
              </a:rPr>
              <a:t>відмовляють</a:t>
            </a:r>
            <a:r>
              <a:rPr lang="ru-RU" dirty="0">
                <a:latin typeface="+mn-lt"/>
              </a:rPr>
              <a:t> у </a:t>
            </a:r>
            <a:r>
              <a:rPr lang="ru-RU" dirty="0" err="1" smtClean="0">
                <a:latin typeface="+mn-lt"/>
              </a:rPr>
              <a:t>позиках</a:t>
            </a:r>
            <a:r>
              <a:rPr lang="ru-RU" dirty="0" smtClean="0">
                <a:latin typeface="+mn-lt"/>
              </a:rPr>
              <a:t>;</a:t>
            </a:r>
            <a:endParaRPr lang="ru-RU" dirty="0">
              <a:latin typeface="+mn-lt"/>
            </a:endParaRPr>
          </a:p>
          <a:p>
            <a:pPr marL="720725" lvl="1" indent="-182563" algn="l">
              <a:buFont typeface="Wingdings" panose="05000000000000000000" pitchFamily="2" charset="2"/>
              <a:buChar char="ü"/>
            </a:pPr>
            <a:r>
              <a:rPr lang="ru-RU" dirty="0" err="1">
                <a:latin typeface="+mn-lt"/>
              </a:rPr>
              <a:t>Більше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позик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надається</a:t>
            </a:r>
            <a:r>
              <a:rPr lang="ru-RU" dirty="0">
                <a:latin typeface="+mn-lt"/>
              </a:rPr>
              <a:t> особам, </a:t>
            </a:r>
            <a:r>
              <a:rPr lang="ru-RU" dirty="0" err="1">
                <a:latin typeface="+mn-lt"/>
              </a:rPr>
              <a:t>які</a:t>
            </a:r>
            <a:r>
              <a:rPr lang="ru-RU" dirty="0">
                <a:latin typeface="+mn-lt"/>
              </a:rPr>
              <a:t> не </a:t>
            </a:r>
            <a:r>
              <a:rPr lang="ru-RU" dirty="0" err="1">
                <a:latin typeface="+mn-lt"/>
              </a:rPr>
              <a:t>виконують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зобов’язання</a:t>
            </a:r>
            <a:r>
              <a:rPr lang="ru-RU" dirty="0" smtClean="0">
                <a:latin typeface="+mn-lt"/>
              </a:rPr>
              <a:t>.</a:t>
            </a:r>
            <a:endParaRPr lang="ru-RU" dirty="0"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971041" y="2748886"/>
            <a:ext cx="4572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ru-RU" b="1" dirty="0" err="1">
                <a:solidFill>
                  <a:srgbClr val="0000CC"/>
                </a:solidFill>
                <a:latin typeface="+mn-lt"/>
              </a:rPr>
              <a:t>Приклади</a:t>
            </a:r>
            <a:r>
              <a:rPr lang="ru-RU" b="1" dirty="0">
                <a:solidFill>
                  <a:srgbClr val="0000CC"/>
                </a:solidFill>
                <a:latin typeface="+mn-lt"/>
              </a:rPr>
              <a:t> проблем </a:t>
            </a:r>
            <a:r>
              <a:rPr lang="ru-RU" b="1" dirty="0" err="1">
                <a:solidFill>
                  <a:srgbClr val="0000CC"/>
                </a:solidFill>
                <a:latin typeface="+mn-lt"/>
              </a:rPr>
              <a:t>із</a:t>
            </a:r>
            <a:r>
              <a:rPr lang="ru-RU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0000CC"/>
                </a:solidFill>
                <a:latin typeface="+mn-lt"/>
              </a:rPr>
              <a:t>якістю</a:t>
            </a:r>
            <a:r>
              <a:rPr lang="ru-RU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0000CC"/>
                </a:solidFill>
                <a:latin typeface="+mn-lt"/>
              </a:rPr>
              <a:t>даних</a:t>
            </a:r>
            <a:r>
              <a:rPr lang="ru-RU" dirty="0">
                <a:latin typeface="+mn-lt"/>
              </a:rPr>
              <a:t>: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b="1" dirty="0">
                <a:solidFill>
                  <a:srgbClr val="C00000"/>
                </a:solidFill>
                <a:latin typeface="+mn-lt"/>
              </a:rPr>
              <a:t>Шум і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викиди</a:t>
            </a:r>
            <a:endParaRPr lang="ru-RU" b="1" dirty="0">
              <a:solidFill>
                <a:srgbClr val="C00000"/>
              </a:solidFill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b="1" dirty="0" err="1">
                <a:solidFill>
                  <a:srgbClr val="C00000"/>
                </a:solidFill>
                <a:latin typeface="+mn-lt"/>
              </a:rPr>
              <a:t>Неправильні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дані</a:t>
            </a:r>
            <a:endParaRPr lang="ru-RU" b="1" dirty="0">
              <a:solidFill>
                <a:srgbClr val="C00000"/>
              </a:solidFill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b="1" dirty="0" err="1">
                <a:solidFill>
                  <a:srgbClr val="C00000"/>
                </a:solidFill>
                <a:latin typeface="+mn-lt"/>
              </a:rPr>
              <a:t>Фальшиві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дані</a:t>
            </a:r>
            <a:endParaRPr lang="ru-RU" b="1" dirty="0">
              <a:solidFill>
                <a:srgbClr val="C00000"/>
              </a:solidFill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b="1" dirty="0" err="1">
                <a:solidFill>
                  <a:srgbClr val="C00000"/>
                </a:solidFill>
                <a:latin typeface="+mn-lt"/>
              </a:rPr>
              <a:t>Відсутні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значення</a:t>
            </a:r>
            <a:endParaRPr lang="ru-RU" b="1" dirty="0">
              <a:solidFill>
                <a:srgbClr val="C00000"/>
              </a:solidFill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b="1" dirty="0" err="1">
                <a:solidFill>
                  <a:srgbClr val="C00000"/>
                </a:solidFill>
                <a:latin typeface="+mn-lt"/>
              </a:rPr>
              <a:t>Повторювані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дані</a:t>
            </a:r>
            <a:endParaRPr lang="ru-RU" b="1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113877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43666" y="814180"/>
            <a:ext cx="859536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>
                <a:latin typeface="+mn-lt"/>
              </a:rPr>
              <a:t>Для </a:t>
            </a:r>
            <a:r>
              <a:rPr lang="ru-RU" dirty="0" err="1">
                <a:latin typeface="+mn-lt"/>
              </a:rPr>
              <a:t>предметів</a:t>
            </a:r>
            <a:r>
              <a:rPr lang="ru-RU" dirty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шум - </a:t>
            </a:r>
            <a:r>
              <a:rPr lang="ru-RU" dirty="0" err="1">
                <a:latin typeface="+mn-lt"/>
              </a:rPr>
              <a:t>це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сторонній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об’єкт</a:t>
            </a:r>
            <a:r>
              <a:rPr lang="ru-RU" dirty="0" smtClean="0">
                <a:latin typeface="+mn-lt"/>
              </a:rPr>
              <a:t>.</a:t>
            </a:r>
            <a:endParaRPr lang="ru-RU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smtClean="0">
                <a:latin typeface="+mn-lt"/>
              </a:rPr>
              <a:t>Для </a:t>
            </a:r>
            <a:r>
              <a:rPr lang="ru-RU" dirty="0" err="1" smtClean="0">
                <a:latin typeface="+mn-lt"/>
              </a:rPr>
              <a:t>атрибутів</a:t>
            </a:r>
            <a:r>
              <a:rPr lang="ru-RU" dirty="0" smtClean="0">
                <a:latin typeface="+mn-lt"/>
              </a:rPr>
              <a:t> -  </a:t>
            </a:r>
            <a:r>
              <a:rPr lang="ru-RU" dirty="0">
                <a:latin typeface="+mn-lt"/>
              </a:rPr>
              <a:t>шум </a:t>
            </a:r>
            <a:r>
              <a:rPr lang="ru-RU" dirty="0" err="1">
                <a:latin typeface="+mn-lt"/>
              </a:rPr>
              <a:t>відноситься</a:t>
            </a:r>
            <a:r>
              <a:rPr lang="ru-RU" dirty="0">
                <a:latin typeface="+mn-lt"/>
              </a:rPr>
              <a:t> до </a:t>
            </a:r>
            <a:r>
              <a:rPr lang="ru-RU" dirty="0" err="1">
                <a:latin typeface="+mn-lt"/>
              </a:rPr>
              <a:t>модифікації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вихідних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значень</a:t>
            </a:r>
            <a:r>
              <a:rPr lang="ru-RU" dirty="0" smtClean="0">
                <a:latin typeface="+mn-lt"/>
              </a:rPr>
              <a:t>.</a:t>
            </a:r>
            <a:endParaRPr lang="ru-RU" dirty="0">
              <a:latin typeface="+mn-lt"/>
            </a:endParaRPr>
          </a:p>
          <a:p>
            <a:pPr marL="355600" algn="l"/>
            <a:r>
              <a:rPr lang="ru-RU" dirty="0" err="1">
                <a:solidFill>
                  <a:srgbClr val="008000"/>
                </a:solidFill>
                <a:latin typeface="+mn-lt"/>
              </a:rPr>
              <a:t>Приклади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: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спотворення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голосу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людини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під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час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розмови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по поганому телефону та "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сніг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" на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екрані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 smtClean="0">
                <a:solidFill>
                  <a:srgbClr val="008000"/>
                </a:solidFill>
                <a:latin typeface="+mn-lt"/>
              </a:rPr>
              <a:t>телевізора</a:t>
            </a:r>
            <a:r>
              <a:rPr lang="ru-RU" dirty="0" smtClean="0">
                <a:solidFill>
                  <a:srgbClr val="008000"/>
                </a:solidFill>
                <a:latin typeface="+mn-lt"/>
              </a:rPr>
              <a:t>.</a:t>
            </a:r>
            <a:endParaRPr lang="ru-RU" dirty="0">
              <a:solidFill>
                <a:srgbClr val="008000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016849" y="-41934"/>
            <a:ext cx="148470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+mn-lt"/>
              </a:rPr>
              <a:t>Шум  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782418" y="2306248"/>
            <a:ext cx="1266990" cy="132343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ru-RU" sz="1600" dirty="0" smtClean="0">
                <a:latin typeface="+mn-lt"/>
              </a:rPr>
              <a:t>Величина </a:t>
            </a:r>
            <a:r>
              <a:rPr lang="ru-RU" sz="1600" dirty="0">
                <a:latin typeface="+mn-lt"/>
              </a:rPr>
              <a:t>та форма </a:t>
            </a:r>
            <a:r>
              <a:rPr lang="ru-RU" sz="1600" dirty="0" err="1">
                <a:latin typeface="+mn-lt"/>
              </a:rPr>
              <a:t>вихідного</a:t>
            </a:r>
            <a:r>
              <a:rPr lang="ru-RU" sz="1600" dirty="0">
                <a:latin typeface="+mn-lt"/>
              </a:rPr>
              <a:t> сигналу </a:t>
            </a:r>
            <a:r>
              <a:rPr lang="ru-RU" sz="1600" dirty="0" err="1">
                <a:latin typeface="+mn-lt"/>
              </a:rPr>
              <a:t>спотворені</a:t>
            </a:r>
            <a:endParaRPr lang="ru-RU" sz="1600" dirty="0">
              <a:latin typeface="+mn-lt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3919" y="2076064"/>
            <a:ext cx="7459629" cy="1973423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0" y="4036304"/>
            <a:ext cx="27520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err="1" smtClean="0">
                <a:latin typeface="+mn-lt"/>
              </a:rPr>
              <a:t>Дві</a:t>
            </a:r>
            <a:r>
              <a:rPr lang="ru-RU" sz="1600" dirty="0" smtClean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синусоїди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однакової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величини</a:t>
            </a:r>
            <a:r>
              <a:rPr lang="ru-RU" sz="1600" dirty="0">
                <a:latin typeface="+mn-lt"/>
              </a:rPr>
              <a:t> та </a:t>
            </a:r>
            <a:r>
              <a:rPr lang="ru-RU" sz="1600" dirty="0" err="1">
                <a:latin typeface="+mn-lt"/>
              </a:rPr>
              <a:t>різних</a:t>
            </a:r>
            <a:r>
              <a:rPr lang="ru-RU" sz="1600" dirty="0">
                <a:latin typeface="+mn-lt"/>
              </a:rPr>
              <a:t> частот</a:t>
            </a:r>
            <a:endParaRPr lang="ru-RU" sz="16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996705" y="4015990"/>
            <a:ext cx="15295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 err="1" smtClean="0">
                <a:latin typeface="+mn-lt"/>
              </a:rPr>
              <a:t>Поєднані</a:t>
            </a:r>
            <a:r>
              <a:rPr lang="ru-RU" sz="1600" dirty="0" smtClean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хвилі</a:t>
            </a:r>
            <a:r>
              <a:rPr lang="ru-RU" sz="1600" dirty="0">
                <a:latin typeface="+mn-lt"/>
              </a:rPr>
              <a:t> </a:t>
            </a:r>
            <a:endParaRPr lang="ru-RU" sz="1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137821" y="4062156"/>
            <a:ext cx="22719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err="1" smtClean="0">
                <a:latin typeface="+mn-lt"/>
              </a:rPr>
              <a:t>Дві</a:t>
            </a:r>
            <a:r>
              <a:rPr lang="ru-RU" sz="1600" dirty="0" smtClean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синусоїди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із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випадковим</a:t>
            </a:r>
            <a:r>
              <a:rPr lang="ru-RU" sz="1600" dirty="0">
                <a:latin typeface="+mn-lt"/>
              </a:rPr>
              <a:t> шумом</a:t>
            </a:r>
            <a:endParaRPr lang="ru-RU" sz="1600" dirty="0"/>
          </a:p>
        </p:txBody>
      </p:sp>
      <p:sp>
        <p:nvSpPr>
          <p:cNvPr id="10" name="Стрелка вправо 9"/>
          <p:cNvSpPr/>
          <p:nvPr/>
        </p:nvSpPr>
        <p:spPr>
          <a:xfrm>
            <a:off x="7178565" y="2900855"/>
            <a:ext cx="462455" cy="241738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0173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52399" y="926060"/>
            <a:ext cx="8381653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err="1" smtClean="0">
                <a:latin typeface="+mn-lt"/>
              </a:rPr>
              <a:t>Викиди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- </a:t>
            </a:r>
            <a:r>
              <a:rPr lang="ru-RU" dirty="0" err="1">
                <a:latin typeface="+mn-lt"/>
              </a:rPr>
              <a:t>це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об’єкти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із</a:t>
            </a:r>
            <a:r>
              <a:rPr lang="ru-RU" dirty="0">
                <a:latin typeface="+mn-lt"/>
              </a:rPr>
              <a:t> характеристиками, </a:t>
            </a:r>
            <a:r>
              <a:rPr lang="ru-RU" dirty="0" err="1">
                <a:latin typeface="+mn-lt"/>
              </a:rPr>
              <a:t>які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значно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відрізняються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більшості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інших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об’єктів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 у </a:t>
            </a:r>
            <a:r>
              <a:rPr lang="ru-RU" dirty="0" err="1">
                <a:latin typeface="+mn-lt"/>
              </a:rPr>
              <a:t>наборі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даних</a:t>
            </a:r>
            <a:endParaRPr lang="ru-RU" dirty="0"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117256" y="75327"/>
            <a:ext cx="17091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Викиди</a:t>
            </a:r>
            <a:endParaRPr lang="ru-RU" sz="3600" b="1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251" y="1529321"/>
            <a:ext cx="3152775" cy="28956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52399" y="1703655"/>
            <a:ext cx="4572001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ru-RU" dirty="0" err="1">
                <a:latin typeface="+mn-lt"/>
              </a:rPr>
              <a:t>Випадок</a:t>
            </a:r>
            <a:r>
              <a:rPr lang="ru-RU" dirty="0">
                <a:latin typeface="+mn-lt"/>
              </a:rPr>
              <a:t> 1: </a:t>
            </a:r>
            <a:r>
              <a:rPr lang="ru-RU" dirty="0" err="1">
                <a:latin typeface="+mn-lt"/>
              </a:rPr>
              <a:t>Викиди</a:t>
            </a:r>
            <a:r>
              <a:rPr lang="ru-RU" dirty="0">
                <a:latin typeface="+mn-lt"/>
              </a:rPr>
              <a:t> - </a:t>
            </a:r>
            <a:r>
              <a:rPr lang="ru-RU" dirty="0" err="1">
                <a:latin typeface="+mn-lt"/>
              </a:rPr>
              <a:t>це</a:t>
            </a:r>
            <a:r>
              <a:rPr lang="ru-RU" dirty="0">
                <a:latin typeface="+mn-lt"/>
              </a:rPr>
              <a:t> шум, </a:t>
            </a:r>
            <a:r>
              <a:rPr lang="ru-RU" dirty="0" err="1">
                <a:latin typeface="+mn-lt"/>
              </a:rPr>
              <a:t>який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заважає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аналізу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endParaRPr lang="ru-RU" dirty="0">
              <a:latin typeface="+mn-lt"/>
            </a:endParaRPr>
          </a:p>
          <a:p>
            <a:pPr algn="l"/>
            <a:r>
              <a:rPr lang="ru-RU" dirty="0" err="1">
                <a:latin typeface="+mn-lt"/>
              </a:rPr>
              <a:t>Випадок</a:t>
            </a:r>
            <a:r>
              <a:rPr lang="ru-RU" dirty="0">
                <a:latin typeface="+mn-lt"/>
              </a:rPr>
              <a:t> 2: </a:t>
            </a:r>
            <a:r>
              <a:rPr lang="ru-RU" dirty="0" err="1" smtClean="0">
                <a:latin typeface="+mn-lt"/>
              </a:rPr>
              <a:t>Викиди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- </a:t>
            </a:r>
            <a:r>
              <a:rPr lang="ru-RU" dirty="0" err="1">
                <a:latin typeface="+mn-lt"/>
              </a:rPr>
              <a:t>це</a:t>
            </a:r>
            <a:r>
              <a:rPr lang="ru-RU" dirty="0">
                <a:latin typeface="+mn-lt"/>
              </a:rPr>
              <a:t> мета </a:t>
            </a:r>
            <a:r>
              <a:rPr lang="ru-RU" dirty="0" err="1">
                <a:latin typeface="+mn-lt"/>
              </a:rPr>
              <a:t>нашого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аналізу</a:t>
            </a:r>
            <a:endParaRPr lang="ru-RU" dirty="0">
              <a:latin typeface="+mn-lt"/>
            </a:endParaRPr>
          </a:p>
          <a:p>
            <a:pPr marL="630238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solidFill>
                  <a:srgbClr val="0000CC"/>
                </a:solidFill>
                <a:latin typeface="+mn-lt"/>
              </a:rPr>
              <a:t>Шахрайство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з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кредитними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картками</a:t>
            </a:r>
            <a:endParaRPr lang="ru-RU" dirty="0">
              <a:solidFill>
                <a:srgbClr val="0000CC"/>
              </a:solidFill>
              <a:latin typeface="+mn-lt"/>
            </a:endParaRPr>
          </a:p>
          <a:p>
            <a:pPr marL="630238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solidFill>
                  <a:srgbClr val="0000CC"/>
                </a:solidFill>
                <a:latin typeface="+mn-lt"/>
              </a:rPr>
              <a:t>Виявлення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вторгнень</a:t>
            </a:r>
            <a:endParaRPr lang="ru-RU" dirty="0">
              <a:solidFill>
                <a:srgbClr val="0000CC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25090" y="3836276"/>
            <a:ext cx="169216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 smtClean="0">
                <a:solidFill>
                  <a:srgbClr val="C00000"/>
                </a:solidFill>
                <a:latin typeface="+mn-lt"/>
              </a:rPr>
              <a:t>ПРИЧИНИ?</a:t>
            </a:r>
            <a:endParaRPr lang="ru-RU" b="1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286694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03200" y="830516"/>
            <a:ext cx="875792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b="1" dirty="0" smtClean="0">
                <a:latin typeface="+mn-lt"/>
              </a:rPr>
              <a:t>Причини </a:t>
            </a:r>
            <a:r>
              <a:rPr lang="ru-RU" b="1" dirty="0" err="1">
                <a:latin typeface="+mn-lt"/>
              </a:rPr>
              <a:t>відсутніх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значень</a:t>
            </a:r>
            <a:endParaRPr lang="ru-RU" b="1" dirty="0">
              <a:latin typeface="+mn-lt"/>
            </a:endParaRPr>
          </a:p>
          <a:p>
            <a:pPr marL="985838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Інформація</a:t>
            </a:r>
            <a:r>
              <a:rPr lang="ru-RU" dirty="0">
                <a:latin typeface="+mn-lt"/>
              </a:rPr>
              <a:t> не </a:t>
            </a:r>
            <a:r>
              <a:rPr lang="ru-RU" dirty="0" err="1">
                <a:latin typeface="+mn-lt"/>
              </a:rPr>
              <a:t>збирається</a:t>
            </a:r>
            <a:r>
              <a:rPr lang="ru-RU" dirty="0">
                <a:latin typeface="+mn-lt"/>
              </a:rPr>
              <a:t> (</a:t>
            </a:r>
            <a:r>
              <a:rPr lang="ru-RU" dirty="0" err="1">
                <a:latin typeface="+mn-lt"/>
              </a:rPr>
              <a:t>наприклад</a:t>
            </a:r>
            <a:r>
              <a:rPr lang="ru-RU" dirty="0">
                <a:latin typeface="+mn-lt"/>
              </a:rPr>
              <a:t>, люди </a:t>
            </a:r>
            <a:r>
              <a:rPr lang="ru-RU" dirty="0" err="1">
                <a:latin typeface="+mn-lt"/>
              </a:rPr>
              <a:t>відмовляються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називати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свій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вік</a:t>
            </a:r>
            <a:r>
              <a:rPr lang="ru-RU" dirty="0">
                <a:latin typeface="+mn-lt"/>
              </a:rPr>
              <a:t> та вагу)</a:t>
            </a:r>
          </a:p>
          <a:p>
            <a:pPr marL="985838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Атрибути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можуть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застосовуватися</a:t>
            </a:r>
            <a:r>
              <a:rPr lang="ru-RU" dirty="0">
                <a:latin typeface="+mn-lt"/>
              </a:rPr>
              <a:t> не у </a:t>
            </a:r>
            <a:r>
              <a:rPr lang="ru-RU" dirty="0" err="1">
                <a:latin typeface="+mn-lt"/>
              </a:rPr>
              <a:t>всіх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випадках</a:t>
            </a:r>
            <a:r>
              <a:rPr lang="ru-RU" dirty="0">
                <a:latin typeface="+mn-lt"/>
              </a:rPr>
              <a:t> (</a:t>
            </a:r>
            <a:r>
              <a:rPr lang="ru-RU" dirty="0" err="1">
                <a:latin typeface="+mn-lt"/>
              </a:rPr>
              <a:t>наприклад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річний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дохід</a:t>
            </a:r>
            <a:r>
              <a:rPr lang="ru-RU" dirty="0">
                <a:latin typeface="+mn-lt"/>
              </a:rPr>
              <a:t> не </a:t>
            </a:r>
            <a:r>
              <a:rPr lang="ru-RU" dirty="0" err="1">
                <a:latin typeface="+mn-lt"/>
              </a:rPr>
              <a:t>застосовується</a:t>
            </a:r>
            <a:r>
              <a:rPr lang="ru-RU" dirty="0">
                <a:latin typeface="+mn-lt"/>
              </a:rPr>
              <a:t> до </a:t>
            </a:r>
            <a:r>
              <a:rPr lang="ru-RU" dirty="0" err="1">
                <a:latin typeface="+mn-lt"/>
              </a:rPr>
              <a:t>дітей</a:t>
            </a:r>
            <a:r>
              <a:rPr lang="ru-RU" dirty="0">
                <a:latin typeface="+mn-lt"/>
              </a:rPr>
              <a:t>)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ru-RU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b="1" dirty="0" err="1">
                <a:latin typeface="+mn-lt"/>
              </a:rPr>
              <a:t>Обробка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відсутніх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значень</a:t>
            </a:r>
            <a:endParaRPr lang="ru-RU" b="1" dirty="0">
              <a:latin typeface="+mn-lt"/>
            </a:endParaRPr>
          </a:p>
          <a:p>
            <a:pPr marL="985838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Виключіть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об’єкти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змінні</a:t>
            </a:r>
            <a:endParaRPr lang="ru-RU" dirty="0">
              <a:latin typeface="+mn-lt"/>
            </a:endParaRPr>
          </a:p>
          <a:p>
            <a:pPr marL="985838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Оцініть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відсутні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значення</a:t>
            </a:r>
            <a:endParaRPr lang="ru-RU" dirty="0">
              <a:latin typeface="+mn-lt"/>
            </a:endParaRPr>
          </a:p>
          <a:p>
            <a:pPr marL="1971675" indent="-342900" algn="l">
              <a:buFont typeface="Wingdings" panose="05000000000000000000" pitchFamily="2" charset="2"/>
              <a:buChar char="v"/>
            </a:pPr>
            <a:r>
              <a:rPr lang="ru-RU" dirty="0">
                <a:solidFill>
                  <a:srgbClr val="008000"/>
                </a:solidFill>
                <a:latin typeface="+mn-lt"/>
              </a:rPr>
              <a:t>Приклад: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часовий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ряд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температури</a:t>
            </a:r>
            <a:endParaRPr lang="ru-RU" dirty="0">
              <a:solidFill>
                <a:srgbClr val="008000"/>
              </a:solidFill>
              <a:latin typeface="+mn-lt"/>
            </a:endParaRPr>
          </a:p>
          <a:p>
            <a:pPr marL="1971675" indent="-342900" algn="l">
              <a:buFont typeface="Wingdings" panose="05000000000000000000" pitchFamily="2" charset="2"/>
              <a:buChar char="v"/>
            </a:pPr>
            <a:r>
              <a:rPr lang="ru-RU" dirty="0">
                <a:solidFill>
                  <a:srgbClr val="008000"/>
                </a:solidFill>
                <a:latin typeface="+mn-lt"/>
              </a:rPr>
              <a:t>Приклад: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результати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 smtClean="0">
                <a:solidFill>
                  <a:srgbClr val="008000"/>
                </a:solidFill>
                <a:latin typeface="+mn-lt"/>
              </a:rPr>
              <a:t>перепису</a:t>
            </a:r>
            <a:r>
              <a:rPr lang="ru-RU" dirty="0" smtClean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 smtClean="0">
                <a:solidFill>
                  <a:srgbClr val="008000"/>
                </a:solidFill>
                <a:latin typeface="+mn-lt"/>
              </a:rPr>
              <a:t>населення</a:t>
            </a:r>
            <a:endParaRPr lang="ru-RU" dirty="0">
              <a:solidFill>
                <a:srgbClr val="008000"/>
              </a:solidFill>
              <a:latin typeface="+mn-lt"/>
            </a:endParaRPr>
          </a:p>
          <a:p>
            <a:pPr marL="985838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Ігноруйте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відсутні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значення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під</a:t>
            </a:r>
            <a:r>
              <a:rPr lang="ru-RU" dirty="0">
                <a:latin typeface="+mn-lt"/>
              </a:rPr>
              <a:t> час </a:t>
            </a:r>
            <a:r>
              <a:rPr lang="ru-RU" dirty="0" err="1">
                <a:latin typeface="+mn-lt"/>
              </a:rPr>
              <a:t>аналізу</a:t>
            </a:r>
            <a:endParaRPr lang="ru-RU" dirty="0"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160669" y="40050"/>
            <a:ext cx="37545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Відсутні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значення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060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52400" y="867202"/>
            <a:ext cx="8920480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dirty="0" err="1" smtClean="0">
                <a:latin typeface="+mn-lt"/>
              </a:rPr>
              <a:t>Набір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може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включати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об'єкти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які</a:t>
            </a:r>
            <a:r>
              <a:rPr lang="ru-RU" dirty="0">
                <a:latin typeface="+mn-lt"/>
              </a:rPr>
              <a:t> є </a:t>
            </a:r>
            <a:r>
              <a:rPr lang="ru-RU" dirty="0" err="1">
                <a:latin typeface="+mn-lt"/>
              </a:rPr>
              <a:t>дублікатами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майже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дублікатами</a:t>
            </a:r>
            <a:r>
              <a:rPr lang="ru-RU" dirty="0">
                <a:latin typeface="+mn-lt"/>
              </a:rPr>
              <a:t> один </a:t>
            </a:r>
            <a:r>
              <a:rPr lang="ru-RU" dirty="0" smtClean="0">
                <a:latin typeface="+mn-lt"/>
              </a:rPr>
              <a:t>одного:</a:t>
            </a:r>
            <a:endParaRPr lang="ru-RU" dirty="0">
              <a:latin typeface="+mn-lt"/>
            </a:endParaRPr>
          </a:p>
          <a:p>
            <a:pPr marL="803275" lvl="1" algn="l"/>
            <a:r>
              <a:rPr lang="ru-RU" b="1" dirty="0" err="1">
                <a:latin typeface="+mn-lt"/>
              </a:rPr>
              <a:t>Основна</a:t>
            </a:r>
            <a:r>
              <a:rPr lang="ru-RU" b="1" dirty="0">
                <a:latin typeface="+mn-lt"/>
              </a:rPr>
              <a:t> </a:t>
            </a:r>
            <a:r>
              <a:rPr lang="ru-RU" b="1" dirty="0" smtClean="0">
                <a:latin typeface="+mn-lt"/>
              </a:rPr>
              <a:t>причина – </a:t>
            </a:r>
            <a:r>
              <a:rPr lang="ru-RU" b="1" dirty="0" err="1" smtClean="0">
                <a:latin typeface="+mn-lt"/>
              </a:rPr>
              <a:t>це</a:t>
            </a:r>
            <a:r>
              <a:rPr lang="ru-RU" b="1" dirty="0" smtClean="0">
                <a:latin typeface="+mn-lt"/>
              </a:rPr>
              <a:t>  </a:t>
            </a:r>
            <a:r>
              <a:rPr lang="ru-RU" b="1" dirty="0" err="1" smtClean="0">
                <a:latin typeface="+mn-lt"/>
              </a:rPr>
              <a:t>об’єднання</a:t>
            </a:r>
            <a:r>
              <a:rPr lang="ru-RU" b="1" dirty="0" smtClean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даних</a:t>
            </a:r>
            <a:r>
              <a:rPr lang="ru-RU" b="1" dirty="0">
                <a:latin typeface="+mn-lt"/>
              </a:rPr>
              <a:t> з </a:t>
            </a:r>
            <a:r>
              <a:rPr lang="ru-RU" b="1" dirty="0" err="1">
                <a:latin typeface="+mn-lt"/>
              </a:rPr>
              <a:t>неоднорідних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джерел</a:t>
            </a:r>
            <a:endParaRPr lang="ru-RU" b="1" dirty="0">
              <a:latin typeface="+mn-lt"/>
            </a:endParaRPr>
          </a:p>
          <a:p>
            <a:pPr marL="803275" algn="l"/>
            <a:r>
              <a:rPr lang="ru-RU" dirty="0" err="1" smtClean="0">
                <a:solidFill>
                  <a:srgbClr val="008000"/>
                </a:solidFill>
                <a:latin typeface="+mn-lt"/>
              </a:rPr>
              <a:t>Приклади</a:t>
            </a:r>
            <a:r>
              <a:rPr lang="ru-RU" dirty="0" smtClean="0">
                <a:solidFill>
                  <a:srgbClr val="008000"/>
                </a:solidFill>
                <a:latin typeface="+mn-lt"/>
              </a:rPr>
              <a:t>: Одна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людина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з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декількома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адресами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електронної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пошти</a:t>
            </a:r>
            <a:endParaRPr lang="ru-RU" dirty="0">
              <a:solidFill>
                <a:srgbClr val="008000"/>
              </a:solidFill>
              <a:latin typeface="+mn-lt"/>
            </a:endParaRPr>
          </a:p>
          <a:p>
            <a:pPr algn="l"/>
            <a:endParaRPr lang="ru-RU" dirty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b="1" dirty="0" err="1">
                <a:latin typeface="+mn-lt"/>
              </a:rPr>
              <a:t>Очищення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даних</a:t>
            </a:r>
            <a:endParaRPr lang="ru-RU" b="1" dirty="0">
              <a:latin typeface="+mn-lt"/>
            </a:endParaRPr>
          </a:p>
          <a:p>
            <a:pPr marL="803275" algn="l"/>
            <a:r>
              <a:rPr lang="ru-RU" dirty="0" err="1">
                <a:latin typeface="+mn-lt"/>
              </a:rPr>
              <a:t>Процес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вирішення</a:t>
            </a:r>
            <a:r>
              <a:rPr lang="ru-RU" dirty="0">
                <a:latin typeface="+mn-lt"/>
              </a:rPr>
              <a:t> проблем </a:t>
            </a:r>
            <a:r>
              <a:rPr lang="ru-RU" dirty="0" err="1">
                <a:latin typeface="+mn-lt"/>
              </a:rPr>
              <a:t>дублікатів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endParaRPr lang="ru-RU" dirty="0">
              <a:latin typeface="+mn-lt"/>
            </a:endParaRPr>
          </a:p>
          <a:p>
            <a:pPr algn="l"/>
            <a:endParaRPr lang="ru-RU" dirty="0">
              <a:latin typeface="+mn-lt"/>
            </a:endParaRPr>
          </a:p>
          <a:p>
            <a:pPr algn="l"/>
            <a:r>
              <a:rPr lang="ru-RU" dirty="0">
                <a:solidFill>
                  <a:srgbClr val="C00000"/>
                </a:solidFill>
                <a:latin typeface="+mn-lt"/>
              </a:rPr>
              <a:t>Коли не </a:t>
            </a:r>
            <a:r>
              <a:rPr lang="ru-RU" dirty="0" err="1">
                <a:solidFill>
                  <a:srgbClr val="C00000"/>
                </a:solidFill>
                <a:latin typeface="+mn-lt"/>
              </a:rPr>
              <a:t>слід</a:t>
            </a:r>
            <a:r>
              <a:rPr lang="ru-RU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C00000"/>
                </a:solidFill>
                <a:latin typeface="+mn-lt"/>
              </a:rPr>
              <a:t>видаляти</a:t>
            </a:r>
            <a:r>
              <a:rPr lang="ru-RU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C00000"/>
                </a:solidFill>
                <a:latin typeface="+mn-lt"/>
              </a:rPr>
              <a:t>дублікати</a:t>
            </a:r>
            <a:r>
              <a:rPr lang="ru-RU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C00000"/>
                </a:solidFill>
                <a:latin typeface="+mn-lt"/>
              </a:rPr>
              <a:t>даних</a:t>
            </a:r>
            <a:r>
              <a:rPr lang="ru-RU" dirty="0">
                <a:solidFill>
                  <a:srgbClr val="C00000"/>
                </a:solidFill>
                <a:latin typeface="+mn-lt"/>
              </a:rPr>
              <a:t>?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262312" y="40050"/>
            <a:ext cx="4423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Дублювання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данних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77794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92055" y="12110"/>
            <a:ext cx="64347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Міри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подібності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та </a:t>
            </a:r>
            <a:r>
              <a:rPr lang="uk-UA" sz="3600" b="1" dirty="0" smtClean="0">
                <a:solidFill>
                  <a:schemeClr val="bg1"/>
                </a:solidFill>
                <a:latin typeface="+mn-lt"/>
              </a:rPr>
              <a:t>відмінності 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45440" y="896655"/>
            <a:ext cx="839216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b="1" dirty="0" err="1">
                <a:latin typeface="+mn-lt"/>
              </a:rPr>
              <a:t>Міра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подібності</a:t>
            </a:r>
            <a:endParaRPr lang="ru-RU" b="1" dirty="0">
              <a:latin typeface="+mn-lt"/>
            </a:endParaRPr>
          </a:p>
          <a:p>
            <a:pPr marL="698500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Числовий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показник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схожості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двох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об’єктів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.</a:t>
            </a:r>
          </a:p>
          <a:p>
            <a:pPr marL="698500" indent="-342900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Вище</a:t>
            </a:r>
            <a:r>
              <a:rPr lang="ru-RU" dirty="0">
                <a:latin typeface="+mn-lt"/>
              </a:rPr>
              <a:t>, коли </a:t>
            </a:r>
            <a:r>
              <a:rPr lang="ru-RU" dirty="0" err="1">
                <a:latin typeface="+mn-lt"/>
              </a:rPr>
              <a:t>об’єкти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більш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схожі</a:t>
            </a:r>
            <a:r>
              <a:rPr lang="ru-RU" dirty="0">
                <a:latin typeface="+mn-lt"/>
              </a:rPr>
              <a:t>.</a:t>
            </a:r>
          </a:p>
          <a:p>
            <a:pPr marL="698500" indent="-342900" algn="l">
              <a:buFont typeface="Wingdings" panose="05000000000000000000" pitchFamily="2" charset="2"/>
              <a:buChar char="Ø"/>
            </a:pPr>
            <a:r>
              <a:rPr lang="ru-RU" dirty="0">
                <a:latin typeface="+mn-lt"/>
              </a:rPr>
              <a:t>Часто </a:t>
            </a:r>
            <a:r>
              <a:rPr lang="ru-RU" dirty="0" err="1">
                <a:latin typeface="+mn-lt"/>
              </a:rPr>
              <a:t>потрапляє</a:t>
            </a:r>
            <a:r>
              <a:rPr lang="ru-RU" dirty="0">
                <a:latin typeface="+mn-lt"/>
              </a:rPr>
              <a:t> в </a:t>
            </a:r>
            <a:r>
              <a:rPr lang="ru-RU" dirty="0" err="1">
                <a:latin typeface="+mn-lt"/>
              </a:rPr>
              <a:t>діапазон</a:t>
            </a:r>
            <a:r>
              <a:rPr lang="ru-RU" dirty="0">
                <a:latin typeface="+mn-lt"/>
              </a:rPr>
              <a:t> [0,1]</a:t>
            </a:r>
          </a:p>
          <a:p>
            <a:pPr algn="l"/>
            <a:endParaRPr lang="ru-RU" dirty="0" smtClean="0">
              <a:latin typeface="+mn-lt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ru-RU" b="1" dirty="0" err="1" smtClean="0">
                <a:latin typeface="+mn-lt"/>
              </a:rPr>
              <a:t>Міра</a:t>
            </a:r>
            <a:r>
              <a:rPr lang="ru-RU" b="1" dirty="0" smtClean="0">
                <a:latin typeface="+mn-lt"/>
              </a:rPr>
              <a:t> </a:t>
            </a:r>
            <a:r>
              <a:rPr lang="ru-RU" b="1" dirty="0" err="1" smtClean="0">
                <a:latin typeface="+mn-lt"/>
              </a:rPr>
              <a:t>відмінності</a:t>
            </a:r>
            <a:r>
              <a:rPr lang="ru-RU" b="1" dirty="0" smtClean="0">
                <a:latin typeface="+mn-lt"/>
              </a:rPr>
              <a:t> (</a:t>
            </a:r>
            <a:r>
              <a:rPr lang="ru-RU" b="1" dirty="0" err="1" smtClean="0">
                <a:latin typeface="+mn-lt"/>
              </a:rPr>
              <a:t>несхожості</a:t>
            </a:r>
            <a:r>
              <a:rPr lang="ru-RU" b="1" dirty="0" smtClean="0">
                <a:latin typeface="+mn-lt"/>
              </a:rPr>
              <a:t>)</a:t>
            </a:r>
            <a:endParaRPr lang="ru-RU" b="1" dirty="0">
              <a:latin typeface="+mn-lt"/>
            </a:endParaRPr>
          </a:p>
          <a:p>
            <a:pPr marL="720725" indent="-365125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Чисельна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міра</a:t>
            </a:r>
            <a:r>
              <a:rPr lang="ru-RU" dirty="0">
                <a:latin typeface="+mn-lt"/>
              </a:rPr>
              <a:t> того, як </a:t>
            </a:r>
            <a:r>
              <a:rPr lang="ru-RU" dirty="0" err="1">
                <a:latin typeface="+mn-lt"/>
              </a:rPr>
              <a:t>відрізняються</a:t>
            </a:r>
            <a:r>
              <a:rPr lang="ru-RU" dirty="0">
                <a:latin typeface="+mn-lt"/>
              </a:rPr>
              <a:t> два </a:t>
            </a:r>
            <a:r>
              <a:rPr lang="ru-RU" dirty="0" err="1">
                <a:latin typeface="+mn-lt"/>
              </a:rPr>
              <a:t>об'єкти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endParaRPr lang="ru-RU" dirty="0">
              <a:latin typeface="+mn-lt"/>
            </a:endParaRPr>
          </a:p>
          <a:p>
            <a:pPr marL="720725" indent="-365125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Нижче</a:t>
            </a:r>
            <a:r>
              <a:rPr lang="ru-RU" dirty="0">
                <a:latin typeface="+mn-lt"/>
              </a:rPr>
              <a:t>, коли </a:t>
            </a:r>
            <a:r>
              <a:rPr lang="ru-RU" dirty="0" err="1">
                <a:latin typeface="+mn-lt"/>
              </a:rPr>
              <a:t>об'єкти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більш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схожі</a:t>
            </a:r>
            <a:endParaRPr lang="ru-RU" dirty="0">
              <a:latin typeface="+mn-lt"/>
            </a:endParaRPr>
          </a:p>
          <a:p>
            <a:pPr marL="720725" indent="-365125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Мінімальна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несхожість</a:t>
            </a:r>
            <a:r>
              <a:rPr lang="ru-RU" dirty="0">
                <a:latin typeface="+mn-lt"/>
              </a:rPr>
              <a:t> часто </a:t>
            </a:r>
            <a:r>
              <a:rPr lang="ru-RU" dirty="0" err="1">
                <a:latin typeface="+mn-lt"/>
              </a:rPr>
              <a:t>дорівнює</a:t>
            </a:r>
            <a:r>
              <a:rPr lang="ru-RU" dirty="0">
                <a:latin typeface="+mn-lt"/>
              </a:rPr>
              <a:t> 0</a:t>
            </a:r>
          </a:p>
          <a:p>
            <a:pPr marL="720725" indent="-365125" algn="l">
              <a:buFont typeface="Wingdings" panose="05000000000000000000" pitchFamily="2" charset="2"/>
              <a:buChar char="Ø"/>
            </a:pPr>
            <a:r>
              <a:rPr lang="ru-RU" dirty="0" err="1">
                <a:latin typeface="+mn-lt"/>
              </a:rPr>
              <a:t>Верхня</a:t>
            </a:r>
            <a:r>
              <a:rPr lang="ru-RU" dirty="0">
                <a:latin typeface="+mn-lt"/>
              </a:rPr>
              <a:t> межа </a:t>
            </a:r>
            <a:r>
              <a:rPr lang="ru-RU" dirty="0" err="1" smtClean="0">
                <a:latin typeface="+mn-lt"/>
              </a:rPr>
              <a:t>варіюється</a:t>
            </a:r>
            <a:endParaRPr lang="ru-RU" dirty="0" smtClean="0">
              <a:latin typeface="+mn-lt"/>
            </a:endParaRPr>
          </a:p>
          <a:p>
            <a:pPr marL="720725" indent="-365125" algn="l">
              <a:buFont typeface="Wingdings" panose="05000000000000000000" pitchFamily="2" charset="2"/>
              <a:buChar char="Ø"/>
            </a:pPr>
            <a:endParaRPr lang="ru-RU" dirty="0">
              <a:latin typeface="+mn-lt"/>
            </a:endParaRPr>
          </a:p>
          <a:p>
            <a:pPr algn="l"/>
            <a:r>
              <a:rPr lang="ru-RU" dirty="0" err="1">
                <a:solidFill>
                  <a:srgbClr val="C00000"/>
                </a:solidFill>
                <a:latin typeface="+mn-lt"/>
              </a:rPr>
              <a:t>Близькість</a:t>
            </a:r>
            <a:r>
              <a:rPr lang="ru-RU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C00000"/>
                </a:solidFill>
                <a:latin typeface="+mn-lt"/>
              </a:rPr>
              <a:t>відноситься</a:t>
            </a:r>
            <a:r>
              <a:rPr lang="ru-RU" dirty="0">
                <a:solidFill>
                  <a:srgbClr val="C00000"/>
                </a:solidFill>
                <a:latin typeface="+mn-lt"/>
              </a:rPr>
              <a:t> до </a:t>
            </a:r>
            <a:r>
              <a:rPr lang="ru-RU" dirty="0" err="1">
                <a:solidFill>
                  <a:srgbClr val="C00000"/>
                </a:solidFill>
                <a:latin typeface="+mn-lt"/>
              </a:rPr>
              <a:t>подібності</a:t>
            </a:r>
            <a:r>
              <a:rPr lang="ru-RU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C00000"/>
                </a:solidFill>
                <a:latin typeface="+mn-lt"/>
              </a:rPr>
              <a:t>чи</a:t>
            </a:r>
            <a:r>
              <a:rPr lang="ru-RU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dirty="0" err="1" smtClean="0">
                <a:solidFill>
                  <a:srgbClr val="C00000"/>
                </a:solidFill>
                <a:latin typeface="+mn-lt"/>
              </a:rPr>
              <a:t>несхожості</a:t>
            </a:r>
            <a:r>
              <a:rPr lang="ru-RU" dirty="0" smtClean="0">
                <a:solidFill>
                  <a:srgbClr val="C00000"/>
                </a:solidFill>
                <a:latin typeface="+mn-lt"/>
              </a:rPr>
              <a:t>.</a:t>
            </a:r>
            <a:endParaRPr lang="ru-RU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35336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2880" y="896655"/>
            <a:ext cx="8148320" cy="3893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smtClean="0">
                <a:latin typeface="+mn-lt"/>
              </a:rPr>
              <a:t>• </a:t>
            </a:r>
            <a:r>
              <a:rPr lang="ru-RU" dirty="0" err="1">
                <a:latin typeface="+mn-lt"/>
              </a:rPr>
              <a:t>Відстань</a:t>
            </a:r>
            <a:r>
              <a:rPr lang="ru-RU" dirty="0">
                <a:latin typeface="+mn-lt"/>
              </a:rPr>
              <a:t> </a:t>
            </a:r>
            <a:r>
              <a:rPr lang="en-GB" dirty="0">
                <a:latin typeface="+mn-lt"/>
              </a:rPr>
              <a:t>d (p, q) </a:t>
            </a:r>
            <a:r>
              <a:rPr lang="ru-RU" dirty="0" err="1">
                <a:latin typeface="+mn-lt"/>
              </a:rPr>
              <a:t>між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двома</a:t>
            </a:r>
            <a:r>
              <a:rPr lang="ru-RU" dirty="0">
                <a:latin typeface="+mn-lt"/>
              </a:rPr>
              <a:t> точками </a:t>
            </a:r>
            <a:r>
              <a:rPr lang="en-GB" dirty="0">
                <a:latin typeface="+mn-lt"/>
              </a:rPr>
              <a:t>p </a:t>
            </a:r>
            <a:r>
              <a:rPr lang="ru-RU" dirty="0">
                <a:latin typeface="+mn-lt"/>
              </a:rPr>
              <a:t>і </a:t>
            </a:r>
            <a:r>
              <a:rPr lang="en-GB" dirty="0">
                <a:latin typeface="+mn-lt"/>
              </a:rPr>
              <a:t>q </a:t>
            </a:r>
            <a:r>
              <a:rPr lang="ru-RU" dirty="0" smtClean="0">
                <a:latin typeface="+mn-lt"/>
              </a:rPr>
              <a:t>є </a:t>
            </a:r>
            <a:r>
              <a:rPr lang="ru-RU" dirty="0" err="1" smtClean="0">
                <a:latin typeface="+mn-lt"/>
              </a:rPr>
              <a:t>міра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відмінності</a:t>
            </a:r>
            <a:r>
              <a:rPr lang="ru-RU" dirty="0" smtClean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якщо</a:t>
            </a:r>
            <a:r>
              <a:rPr lang="ru-RU" dirty="0">
                <a:latin typeface="+mn-lt"/>
              </a:rPr>
              <a:t> вона </a:t>
            </a:r>
            <a:r>
              <a:rPr lang="ru-RU" dirty="0" err="1">
                <a:latin typeface="+mn-lt"/>
              </a:rPr>
              <a:t>задовольняє</a:t>
            </a:r>
            <a:r>
              <a:rPr lang="ru-RU" dirty="0">
                <a:latin typeface="+mn-lt"/>
              </a:rPr>
              <a:t>:</a:t>
            </a:r>
          </a:p>
          <a:p>
            <a:pPr algn="l"/>
            <a:r>
              <a:rPr lang="ru-RU" dirty="0">
                <a:latin typeface="+mn-lt"/>
              </a:rPr>
              <a:t>1. </a:t>
            </a:r>
            <a:r>
              <a:rPr lang="ru-RU" dirty="0" err="1" smtClean="0">
                <a:latin typeface="+mn-lt"/>
              </a:rPr>
              <a:t>Додатня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визначеність</a:t>
            </a:r>
            <a:r>
              <a:rPr lang="ru-RU" dirty="0">
                <a:latin typeface="+mn-lt"/>
              </a:rPr>
              <a:t>:</a:t>
            </a:r>
          </a:p>
          <a:p>
            <a:pPr marL="447675" algn="l"/>
            <a:r>
              <a:rPr lang="en-GB" dirty="0">
                <a:solidFill>
                  <a:srgbClr val="0000CC"/>
                </a:solidFill>
                <a:latin typeface="+mn-lt"/>
              </a:rPr>
              <a:t>d (p, q) ≥ 0 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для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всіх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p 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і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q 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і</a:t>
            </a:r>
          </a:p>
          <a:p>
            <a:pPr marL="447675" algn="l"/>
            <a:r>
              <a:rPr lang="en-GB" dirty="0">
                <a:solidFill>
                  <a:srgbClr val="0000CC"/>
                </a:solidFill>
                <a:latin typeface="+mn-lt"/>
              </a:rPr>
              <a:t>d (p, q) = 0,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лише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якщо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p = q.</a:t>
            </a:r>
          </a:p>
          <a:p>
            <a:pPr algn="l"/>
            <a:r>
              <a:rPr lang="en-GB" dirty="0">
                <a:latin typeface="+mn-lt"/>
              </a:rPr>
              <a:t>2. </a:t>
            </a:r>
            <a:r>
              <a:rPr lang="ru-RU" dirty="0" err="1">
                <a:latin typeface="+mn-lt"/>
              </a:rPr>
              <a:t>Симетрія</a:t>
            </a:r>
            <a:r>
              <a:rPr lang="ru-RU" dirty="0">
                <a:latin typeface="+mn-lt"/>
              </a:rPr>
              <a:t>: </a:t>
            </a:r>
            <a:endParaRPr lang="ru-RU" dirty="0" smtClean="0">
              <a:latin typeface="+mn-lt"/>
            </a:endParaRPr>
          </a:p>
          <a:p>
            <a:pPr marL="447675" algn="l"/>
            <a:r>
              <a:rPr lang="en-GB" dirty="0" smtClean="0">
                <a:solidFill>
                  <a:srgbClr val="0000CC"/>
                </a:solidFill>
                <a:latin typeface="+mn-lt"/>
              </a:rPr>
              <a:t>d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(p, q) = d (q, p) 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для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всіх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p 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і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q.</a:t>
            </a:r>
          </a:p>
          <a:p>
            <a:pPr algn="l"/>
            <a:r>
              <a:rPr lang="en-GB" dirty="0">
                <a:latin typeface="+mn-lt"/>
              </a:rPr>
              <a:t>3. </a:t>
            </a:r>
            <a:r>
              <a:rPr lang="ru-RU" dirty="0" err="1">
                <a:latin typeface="+mn-lt"/>
              </a:rPr>
              <a:t>Нерівність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трикутника</a:t>
            </a:r>
            <a:r>
              <a:rPr lang="ru-RU" dirty="0">
                <a:latin typeface="+mn-lt"/>
              </a:rPr>
              <a:t>:</a:t>
            </a:r>
          </a:p>
          <a:p>
            <a:pPr marL="447675" algn="l"/>
            <a:r>
              <a:rPr lang="en-GB" dirty="0">
                <a:solidFill>
                  <a:srgbClr val="0000CC"/>
                </a:solidFill>
                <a:latin typeface="+mn-lt"/>
              </a:rPr>
              <a:t>d (p, r) ≤ d (p, q) + d (q, r) 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для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всіх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00CC"/>
                </a:solidFill>
                <a:latin typeface="+mn-lt"/>
              </a:rPr>
              <a:t>точок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p, q </a:t>
            </a:r>
            <a:r>
              <a:rPr lang="ru-RU" dirty="0">
                <a:solidFill>
                  <a:srgbClr val="0000CC"/>
                </a:solidFill>
                <a:latin typeface="+mn-lt"/>
              </a:rPr>
              <a:t>та </a:t>
            </a:r>
            <a:r>
              <a:rPr lang="en-GB" dirty="0">
                <a:solidFill>
                  <a:srgbClr val="0000CC"/>
                </a:solidFill>
                <a:latin typeface="+mn-lt"/>
              </a:rPr>
              <a:t>r.</a:t>
            </a:r>
          </a:p>
          <a:p>
            <a:pPr algn="l"/>
            <a:r>
              <a:rPr lang="en-GB" dirty="0">
                <a:latin typeface="+mn-lt"/>
              </a:rPr>
              <a:t>•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Приклади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:</a:t>
            </a:r>
          </a:p>
          <a:p>
            <a:pPr marL="790575" indent="-342900" algn="l">
              <a:buFont typeface="Wingdings" panose="05000000000000000000" pitchFamily="2" charset="2"/>
              <a:buChar char="q"/>
            </a:pPr>
            <a:r>
              <a:rPr lang="ru-RU" dirty="0" err="1" smtClean="0">
                <a:solidFill>
                  <a:srgbClr val="C00000"/>
                </a:solidFill>
                <a:latin typeface="+mn-lt"/>
              </a:rPr>
              <a:t>Евклідова</a:t>
            </a:r>
            <a:r>
              <a:rPr lang="ru-RU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C00000"/>
                </a:solidFill>
                <a:latin typeface="+mn-lt"/>
              </a:rPr>
              <a:t>відстань</a:t>
            </a:r>
            <a:endParaRPr lang="ru-RU" dirty="0">
              <a:solidFill>
                <a:srgbClr val="C00000"/>
              </a:solidFill>
              <a:latin typeface="+mn-lt"/>
            </a:endParaRPr>
          </a:p>
          <a:p>
            <a:pPr marL="790575" indent="-342900" algn="l">
              <a:buFont typeface="Wingdings" panose="05000000000000000000" pitchFamily="2" charset="2"/>
              <a:buChar char="q"/>
            </a:pPr>
            <a:r>
              <a:rPr lang="ru-RU" dirty="0" err="1" smtClean="0">
                <a:solidFill>
                  <a:srgbClr val="C00000"/>
                </a:solidFill>
                <a:latin typeface="+mn-lt"/>
              </a:rPr>
              <a:t>Відстань</a:t>
            </a:r>
            <a:r>
              <a:rPr lang="ru-RU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C00000"/>
                </a:solidFill>
                <a:latin typeface="+mn-lt"/>
              </a:rPr>
              <a:t>Мінковського</a:t>
            </a:r>
            <a:endParaRPr lang="ru-RU" dirty="0">
              <a:solidFill>
                <a:srgbClr val="C00000"/>
              </a:solidFill>
              <a:latin typeface="+mn-lt"/>
            </a:endParaRPr>
          </a:p>
          <a:p>
            <a:pPr marL="790575" indent="-342900" algn="l">
              <a:buFont typeface="Wingdings" panose="05000000000000000000" pitchFamily="2" charset="2"/>
              <a:buChar char="q"/>
            </a:pPr>
            <a:r>
              <a:rPr lang="ru-RU" dirty="0" err="1" smtClean="0">
                <a:solidFill>
                  <a:srgbClr val="C00000"/>
                </a:solidFill>
                <a:latin typeface="+mn-lt"/>
              </a:rPr>
              <a:t>Відстань</a:t>
            </a:r>
            <a:r>
              <a:rPr lang="ru-RU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ru-RU" dirty="0" err="1" smtClean="0">
                <a:solidFill>
                  <a:srgbClr val="C00000"/>
                </a:solidFill>
                <a:latin typeface="+mn-lt"/>
              </a:rPr>
              <a:t>Махаланобіса</a:t>
            </a:r>
            <a:endParaRPr lang="ru-RU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180896" y="10840"/>
            <a:ext cx="36711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Метрики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відстані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3333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6587" y="22270"/>
            <a:ext cx="86869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Подібність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/ </a:t>
            </a:r>
            <a:r>
              <a:rPr lang="uk-UA" sz="3600" b="1" dirty="0" smtClean="0">
                <a:solidFill>
                  <a:schemeClr val="bg1"/>
                </a:solidFill>
                <a:latin typeface="+mn-lt"/>
              </a:rPr>
              <a:t>відмінність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простих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атрибутів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5856" y="877962"/>
            <a:ext cx="8805103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err="1">
                <a:latin typeface="+mn-lt"/>
              </a:rPr>
              <a:t>Наступна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таблиця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показує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схожість</a:t>
            </a:r>
            <a:r>
              <a:rPr lang="ru-RU" dirty="0">
                <a:latin typeface="+mn-lt"/>
              </a:rPr>
              <a:t> та </a:t>
            </a:r>
            <a:r>
              <a:rPr lang="ru-RU" dirty="0" err="1" smtClean="0">
                <a:latin typeface="+mn-lt"/>
              </a:rPr>
              <a:t>відмінність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між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двома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об'єктами</a:t>
            </a:r>
            <a:r>
              <a:rPr lang="ru-RU" dirty="0">
                <a:latin typeface="+mn-lt"/>
              </a:rPr>
              <a:t>, x та y, </a:t>
            </a:r>
            <a:r>
              <a:rPr lang="ru-RU" dirty="0" err="1">
                <a:latin typeface="+mn-lt"/>
              </a:rPr>
              <a:t>щодо</a:t>
            </a:r>
            <a:r>
              <a:rPr lang="ru-RU" dirty="0">
                <a:latin typeface="+mn-lt"/>
              </a:rPr>
              <a:t> одного простого атрибута.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9" y="1746396"/>
            <a:ext cx="8362076" cy="250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7682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-5387"/>
            <a:ext cx="90733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Евклідова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відстань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як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міра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схожості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об</a:t>
            </a:r>
            <a:r>
              <a:rPr lang="en-US" sz="3600" b="1" dirty="0" smtClean="0">
                <a:solidFill>
                  <a:schemeClr val="bg1"/>
                </a:solidFill>
                <a:latin typeface="+mn-lt"/>
              </a:rPr>
              <a:t>’</a:t>
            </a:r>
            <a:r>
              <a:rPr lang="uk-UA" sz="3600" b="1" dirty="0" err="1" smtClean="0">
                <a:solidFill>
                  <a:schemeClr val="bg1"/>
                </a:solidFill>
                <a:latin typeface="+mn-lt"/>
              </a:rPr>
              <a:t>єктів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0" y="1025913"/>
            <a:ext cx="3242229" cy="111035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25120" y="2011928"/>
            <a:ext cx="8676640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>
                <a:latin typeface="+mn-lt"/>
              </a:rPr>
              <a:t> </a:t>
            </a:r>
          </a:p>
          <a:p>
            <a:pPr algn="l"/>
            <a:r>
              <a:rPr lang="ru-RU" dirty="0">
                <a:latin typeface="+mn-lt"/>
              </a:rPr>
              <a:t>де</a:t>
            </a:r>
            <a:r>
              <a:rPr lang="ru-RU" i="1" dirty="0">
                <a:latin typeface="+mn-lt"/>
              </a:rPr>
              <a:t> </a:t>
            </a:r>
            <a:r>
              <a:rPr lang="en-GB" i="1" dirty="0">
                <a:latin typeface="+mn-lt"/>
              </a:rPr>
              <a:t>n </a:t>
            </a:r>
            <a:r>
              <a:rPr lang="en-GB" dirty="0">
                <a:latin typeface="+mn-lt"/>
              </a:rPr>
              <a:t>- </a:t>
            </a:r>
            <a:r>
              <a:rPr lang="ru-RU" dirty="0" err="1">
                <a:latin typeface="+mn-lt"/>
              </a:rPr>
              <a:t>кількість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вимірів</a:t>
            </a:r>
            <a:r>
              <a:rPr lang="ru-RU" dirty="0">
                <a:latin typeface="+mn-lt"/>
              </a:rPr>
              <a:t> (</a:t>
            </a:r>
            <a:r>
              <a:rPr lang="ru-RU" dirty="0" err="1">
                <a:latin typeface="+mn-lt"/>
              </a:rPr>
              <a:t>атрибутів</a:t>
            </a:r>
            <a:r>
              <a:rPr lang="ru-RU" dirty="0">
                <a:latin typeface="+mn-lt"/>
              </a:rPr>
              <a:t>), </a:t>
            </a:r>
            <a:endParaRPr lang="en-US" dirty="0" smtClean="0">
              <a:latin typeface="+mn-lt"/>
            </a:endParaRPr>
          </a:p>
          <a:p>
            <a:pPr algn="l"/>
            <a:r>
              <a:rPr lang="en-GB" i="1" dirty="0" err="1" smtClean="0">
                <a:latin typeface="+mn-lt"/>
              </a:rPr>
              <a:t>x</a:t>
            </a:r>
            <a:r>
              <a:rPr lang="en-GB" i="1" baseline="-25000" dirty="0" err="1" smtClean="0">
                <a:latin typeface="+mn-lt"/>
              </a:rPr>
              <a:t>k</a:t>
            </a:r>
            <a:r>
              <a:rPr lang="en-GB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та </a:t>
            </a:r>
            <a:r>
              <a:rPr lang="en-GB" i="1" dirty="0" err="1">
                <a:latin typeface="+mn-lt"/>
              </a:rPr>
              <a:t>y</a:t>
            </a:r>
            <a:r>
              <a:rPr lang="en-GB" i="1" baseline="-25000" dirty="0" err="1">
                <a:latin typeface="+mn-lt"/>
              </a:rPr>
              <a:t>k</a:t>
            </a:r>
            <a:r>
              <a:rPr lang="en-GB" dirty="0">
                <a:latin typeface="+mn-lt"/>
              </a:rPr>
              <a:t> - </a:t>
            </a:r>
            <a:r>
              <a:rPr lang="ru-RU" dirty="0" err="1">
                <a:latin typeface="+mn-lt"/>
              </a:rPr>
              <a:t>відповідно</a:t>
            </a:r>
            <a:r>
              <a:rPr lang="ru-RU" dirty="0">
                <a:latin typeface="+mn-lt"/>
              </a:rPr>
              <a:t> </a:t>
            </a:r>
            <a:r>
              <a:rPr lang="en-GB" i="1" dirty="0">
                <a:latin typeface="+mn-lt"/>
              </a:rPr>
              <a:t>k</a:t>
            </a:r>
            <a:r>
              <a:rPr lang="en-GB" dirty="0">
                <a:latin typeface="+mn-lt"/>
              </a:rPr>
              <a:t>-</a:t>
            </a:r>
            <a:r>
              <a:rPr lang="ru-RU" dirty="0" err="1">
                <a:latin typeface="+mn-lt"/>
              </a:rPr>
              <a:t>ті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атрибути</a:t>
            </a:r>
            <a:r>
              <a:rPr lang="ru-RU" dirty="0">
                <a:latin typeface="+mn-lt"/>
              </a:rPr>
              <a:t> (</a:t>
            </a:r>
            <a:r>
              <a:rPr lang="ru-RU" dirty="0" err="1">
                <a:latin typeface="+mn-lt"/>
              </a:rPr>
              <a:t>компоненти</a:t>
            </a:r>
            <a:r>
              <a:rPr lang="ru-RU" dirty="0">
                <a:latin typeface="+mn-lt"/>
              </a:rPr>
              <a:t>)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об'єкти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 </a:t>
            </a:r>
            <a:r>
              <a:rPr lang="en-GB" i="1" dirty="0">
                <a:latin typeface="+mn-lt"/>
              </a:rPr>
              <a:t>x</a:t>
            </a:r>
            <a:r>
              <a:rPr lang="en-GB" dirty="0">
                <a:latin typeface="+mn-lt"/>
              </a:rPr>
              <a:t> </a:t>
            </a:r>
            <a:r>
              <a:rPr lang="ru-RU" dirty="0">
                <a:latin typeface="+mn-lt"/>
              </a:rPr>
              <a:t>та</a:t>
            </a:r>
            <a:r>
              <a:rPr lang="ru-RU" i="1" dirty="0">
                <a:latin typeface="+mn-lt"/>
              </a:rPr>
              <a:t> </a:t>
            </a:r>
            <a:r>
              <a:rPr lang="en-GB" i="1" dirty="0">
                <a:latin typeface="+mn-lt"/>
              </a:rPr>
              <a:t>y</a:t>
            </a:r>
            <a:r>
              <a:rPr lang="en-GB" dirty="0">
                <a:latin typeface="+mn-lt"/>
              </a:rPr>
              <a:t>.</a:t>
            </a:r>
            <a:endParaRPr lang="ru-RU" dirty="0">
              <a:latin typeface="+mn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960880" y="3105032"/>
            <a:ext cx="5821680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err="1">
                <a:latin typeface="+mn-lt"/>
              </a:rPr>
              <a:t>Стандартизація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необхідна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якщо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шкали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різняться</a:t>
            </a:r>
            <a:r>
              <a:rPr lang="ru-RU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81791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-5387"/>
            <a:ext cx="90733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Евклідова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відстань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як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міра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схожості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об</a:t>
            </a:r>
            <a:r>
              <a:rPr lang="en-US" sz="3600" b="1" dirty="0" smtClean="0">
                <a:solidFill>
                  <a:schemeClr val="bg1"/>
                </a:solidFill>
                <a:latin typeface="+mn-lt"/>
              </a:rPr>
              <a:t>’</a:t>
            </a:r>
            <a:r>
              <a:rPr lang="uk-UA" sz="3600" b="1" dirty="0" err="1" smtClean="0">
                <a:solidFill>
                  <a:schemeClr val="bg1"/>
                </a:solidFill>
                <a:latin typeface="+mn-lt"/>
              </a:rPr>
              <a:t>єктів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21" y="901576"/>
            <a:ext cx="2225040" cy="762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21920" y="1759234"/>
            <a:ext cx="3708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800" dirty="0">
                <a:latin typeface="+mn-lt"/>
              </a:rPr>
              <a:t> </a:t>
            </a:r>
            <a:r>
              <a:rPr lang="ru-RU" sz="1800" dirty="0" smtClean="0">
                <a:latin typeface="+mn-lt"/>
              </a:rPr>
              <a:t>де</a:t>
            </a:r>
            <a:r>
              <a:rPr lang="ru-RU" sz="1800" i="1" dirty="0" smtClean="0">
                <a:latin typeface="+mn-lt"/>
              </a:rPr>
              <a:t> </a:t>
            </a:r>
            <a:r>
              <a:rPr lang="en-GB" sz="1800" i="1" dirty="0">
                <a:latin typeface="+mn-lt"/>
              </a:rPr>
              <a:t>n </a:t>
            </a:r>
            <a:r>
              <a:rPr lang="en-GB" sz="1800" dirty="0">
                <a:latin typeface="+mn-lt"/>
              </a:rPr>
              <a:t>- </a:t>
            </a:r>
            <a:r>
              <a:rPr lang="ru-RU" sz="1800" dirty="0" err="1">
                <a:latin typeface="+mn-lt"/>
              </a:rPr>
              <a:t>кількість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вимірів</a:t>
            </a:r>
            <a:r>
              <a:rPr lang="ru-RU" sz="1800" dirty="0">
                <a:latin typeface="+mn-lt"/>
              </a:rPr>
              <a:t> (</a:t>
            </a:r>
            <a:r>
              <a:rPr lang="ru-RU" sz="1800" dirty="0" err="1">
                <a:latin typeface="+mn-lt"/>
              </a:rPr>
              <a:t>атрибутів</a:t>
            </a:r>
            <a:r>
              <a:rPr lang="ru-RU" sz="1800" dirty="0">
                <a:latin typeface="+mn-lt"/>
              </a:rPr>
              <a:t>), </a:t>
            </a:r>
            <a:endParaRPr lang="en-US" sz="1800" dirty="0" smtClean="0">
              <a:latin typeface="+mn-lt"/>
            </a:endParaRPr>
          </a:p>
          <a:p>
            <a:pPr algn="l"/>
            <a:r>
              <a:rPr lang="en-GB" sz="1800" i="1" dirty="0" err="1" smtClean="0">
                <a:latin typeface="+mn-lt"/>
              </a:rPr>
              <a:t>x</a:t>
            </a:r>
            <a:r>
              <a:rPr lang="en-GB" sz="1800" i="1" baseline="-25000" dirty="0" err="1" smtClean="0">
                <a:latin typeface="+mn-lt"/>
              </a:rPr>
              <a:t>k</a:t>
            </a:r>
            <a:r>
              <a:rPr lang="en-GB" sz="1800" dirty="0" smtClean="0">
                <a:latin typeface="+mn-lt"/>
              </a:rPr>
              <a:t> </a:t>
            </a:r>
            <a:r>
              <a:rPr lang="ru-RU" sz="1800" dirty="0">
                <a:latin typeface="+mn-lt"/>
              </a:rPr>
              <a:t>та </a:t>
            </a:r>
            <a:r>
              <a:rPr lang="en-GB" sz="1800" i="1" dirty="0" err="1">
                <a:latin typeface="+mn-lt"/>
              </a:rPr>
              <a:t>y</a:t>
            </a:r>
            <a:r>
              <a:rPr lang="en-GB" sz="1800" i="1" baseline="-25000" dirty="0" err="1">
                <a:latin typeface="+mn-lt"/>
              </a:rPr>
              <a:t>k</a:t>
            </a:r>
            <a:r>
              <a:rPr lang="en-GB" sz="1800" dirty="0">
                <a:latin typeface="+mn-lt"/>
              </a:rPr>
              <a:t> - </a:t>
            </a:r>
            <a:r>
              <a:rPr lang="ru-RU" sz="1800" dirty="0" err="1">
                <a:latin typeface="+mn-lt"/>
              </a:rPr>
              <a:t>відповідно</a:t>
            </a:r>
            <a:r>
              <a:rPr lang="ru-RU" sz="1800" dirty="0">
                <a:latin typeface="+mn-lt"/>
              </a:rPr>
              <a:t> </a:t>
            </a:r>
            <a:r>
              <a:rPr lang="en-GB" sz="1800" i="1" dirty="0">
                <a:latin typeface="+mn-lt"/>
              </a:rPr>
              <a:t>k</a:t>
            </a:r>
            <a:r>
              <a:rPr lang="en-GB" sz="1800" dirty="0">
                <a:latin typeface="+mn-lt"/>
              </a:rPr>
              <a:t>-</a:t>
            </a:r>
            <a:r>
              <a:rPr lang="ru-RU" sz="1800" dirty="0" err="1">
                <a:latin typeface="+mn-lt"/>
              </a:rPr>
              <a:t>ті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атрибути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 smtClean="0">
                <a:latin typeface="+mn-lt"/>
              </a:rPr>
              <a:t>або</a:t>
            </a:r>
            <a:r>
              <a:rPr lang="ru-RU" sz="1800" dirty="0" smtClean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об'єкти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даних</a:t>
            </a:r>
            <a:r>
              <a:rPr lang="ru-RU" sz="1800" dirty="0">
                <a:latin typeface="+mn-lt"/>
              </a:rPr>
              <a:t> </a:t>
            </a:r>
            <a:r>
              <a:rPr lang="en-GB" sz="1800" i="1" dirty="0">
                <a:latin typeface="+mn-lt"/>
              </a:rPr>
              <a:t>x</a:t>
            </a:r>
            <a:r>
              <a:rPr lang="en-GB" sz="1800" dirty="0">
                <a:latin typeface="+mn-lt"/>
              </a:rPr>
              <a:t> </a:t>
            </a:r>
            <a:r>
              <a:rPr lang="ru-RU" sz="1800" dirty="0">
                <a:latin typeface="+mn-lt"/>
              </a:rPr>
              <a:t>та</a:t>
            </a:r>
            <a:r>
              <a:rPr lang="ru-RU" sz="1800" i="1" dirty="0">
                <a:latin typeface="+mn-lt"/>
              </a:rPr>
              <a:t> </a:t>
            </a:r>
            <a:r>
              <a:rPr lang="en-GB" sz="1800" i="1" dirty="0">
                <a:latin typeface="+mn-lt"/>
              </a:rPr>
              <a:t>y</a:t>
            </a:r>
            <a:r>
              <a:rPr lang="en-GB" sz="1800" dirty="0">
                <a:latin typeface="+mn-lt"/>
              </a:rPr>
              <a:t>.</a:t>
            </a:r>
            <a:endParaRPr lang="ru-RU" sz="1800" dirty="0">
              <a:latin typeface="+mn-lt"/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87650"/>
              </p:ext>
            </p:extLst>
          </p:nvPr>
        </p:nvGraphicFramePr>
        <p:xfrm>
          <a:off x="3967281" y="987588"/>
          <a:ext cx="2543292" cy="20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VISIO" r:id="rId4" imgW="3631692" imgH="2656332" progId="Visio.Drawing.6">
                  <p:embed/>
                </p:oleObj>
              </mc:Choice>
              <mc:Fallback>
                <p:oleObj name="VISIO" r:id="rId4" imgW="3631692" imgH="26563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7281" y="987588"/>
                        <a:ext cx="2543292" cy="20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850171"/>
              </p:ext>
            </p:extLst>
          </p:nvPr>
        </p:nvGraphicFramePr>
        <p:xfrm>
          <a:off x="6711003" y="1361235"/>
          <a:ext cx="2362315" cy="108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Worksheet" r:id="rId6" imgW="1836725" imgH="846287" progId="Excel.Sheet.8">
                  <p:embed/>
                </p:oleObj>
              </mc:Choice>
              <mc:Fallback>
                <p:oleObj name="Worksheet" r:id="rId6" imgW="18367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1003" y="1361235"/>
                        <a:ext cx="2362315" cy="108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446867"/>
              </p:ext>
            </p:extLst>
          </p:nvPr>
        </p:nvGraphicFramePr>
        <p:xfrm>
          <a:off x="4405961" y="3046231"/>
          <a:ext cx="4128092" cy="1143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Worksheet" r:id="rId8" imgW="3055925" imgH="846287" progId="Excel.Sheet.8">
                  <p:embed/>
                </p:oleObj>
              </mc:Choice>
              <mc:Fallback>
                <p:oleObj name="Worksheet" r:id="rId8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5961" y="3046231"/>
                        <a:ext cx="4128092" cy="11439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45631" y="4344676"/>
            <a:ext cx="3534943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>
                <a:latin typeface="+mn-lt"/>
              </a:rPr>
              <a:t>Матриця відстаней між точками</a:t>
            </a:r>
            <a:endParaRPr lang="ru-RU" dirty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1920" y="3372030"/>
            <a:ext cx="350519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uk-UA" dirty="0" smtClean="0">
                <a:solidFill>
                  <a:srgbClr val="C00000"/>
                </a:solidFill>
                <a:latin typeface="+mn-lt"/>
              </a:rPr>
              <a:t>Використовується в задачах кластерного аналізу </a:t>
            </a:r>
            <a:endParaRPr lang="ru-RU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31073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41670" y="12110"/>
            <a:ext cx="47933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Відстань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Мінковського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48" y="883920"/>
            <a:ext cx="3088937" cy="82936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01600" y="1835457"/>
            <a:ext cx="3931920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>
                <a:latin typeface="+mn-lt"/>
              </a:rPr>
              <a:t>Де </a:t>
            </a:r>
            <a:r>
              <a:rPr lang="en-GB" i="1" dirty="0">
                <a:latin typeface="+mn-lt"/>
              </a:rPr>
              <a:t>r</a:t>
            </a:r>
            <a:r>
              <a:rPr lang="en-GB" dirty="0">
                <a:latin typeface="+mn-lt"/>
              </a:rPr>
              <a:t> - </a:t>
            </a:r>
            <a:r>
              <a:rPr lang="ru-RU" dirty="0">
                <a:latin typeface="+mn-lt"/>
              </a:rPr>
              <a:t>параметр, </a:t>
            </a:r>
            <a:r>
              <a:rPr lang="en-GB" i="1" dirty="0">
                <a:latin typeface="+mn-lt"/>
              </a:rPr>
              <a:t>n</a:t>
            </a:r>
            <a:r>
              <a:rPr lang="en-GB" dirty="0">
                <a:latin typeface="+mn-lt"/>
              </a:rPr>
              <a:t> - </a:t>
            </a:r>
            <a:r>
              <a:rPr lang="ru-RU" dirty="0" err="1">
                <a:latin typeface="+mn-lt"/>
              </a:rPr>
              <a:t>кількість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вимірів</a:t>
            </a:r>
            <a:r>
              <a:rPr lang="ru-RU" dirty="0">
                <a:latin typeface="+mn-lt"/>
              </a:rPr>
              <a:t> (</a:t>
            </a:r>
            <a:r>
              <a:rPr lang="ru-RU" dirty="0" err="1">
                <a:latin typeface="+mn-lt"/>
              </a:rPr>
              <a:t>атрибутів</a:t>
            </a:r>
            <a:r>
              <a:rPr lang="ru-RU" dirty="0">
                <a:latin typeface="+mn-lt"/>
              </a:rPr>
              <a:t>), </a:t>
            </a:r>
            <a:r>
              <a:rPr lang="en-GB" i="1" dirty="0" err="1" smtClean="0">
                <a:latin typeface="+mn-lt"/>
              </a:rPr>
              <a:t>x</a:t>
            </a:r>
            <a:r>
              <a:rPr lang="en-GB" i="1" baseline="-25000" dirty="0" err="1" smtClean="0">
                <a:latin typeface="+mn-lt"/>
              </a:rPr>
              <a:t>k</a:t>
            </a:r>
            <a:r>
              <a:rPr lang="en-GB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та </a:t>
            </a:r>
            <a:r>
              <a:rPr lang="en-GB" i="1" dirty="0" err="1">
                <a:latin typeface="+mn-lt"/>
              </a:rPr>
              <a:t>y</a:t>
            </a:r>
            <a:r>
              <a:rPr lang="en-GB" i="1" baseline="-25000" dirty="0" err="1">
                <a:latin typeface="+mn-lt"/>
              </a:rPr>
              <a:t>k</a:t>
            </a:r>
            <a:r>
              <a:rPr lang="en-GB" dirty="0">
                <a:latin typeface="+mn-lt"/>
              </a:rPr>
              <a:t> - </a:t>
            </a:r>
            <a:r>
              <a:rPr lang="ru-RU" dirty="0" err="1">
                <a:latin typeface="+mn-lt"/>
              </a:rPr>
              <a:t>відповідно</a:t>
            </a:r>
            <a:r>
              <a:rPr lang="ru-RU" dirty="0">
                <a:latin typeface="+mn-lt"/>
              </a:rPr>
              <a:t> </a:t>
            </a:r>
            <a:r>
              <a:rPr lang="en-GB" i="1" dirty="0">
                <a:latin typeface="+mn-lt"/>
              </a:rPr>
              <a:t>k</a:t>
            </a:r>
            <a:r>
              <a:rPr lang="en-GB" dirty="0">
                <a:latin typeface="+mn-lt"/>
              </a:rPr>
              <a:t>-</a:t>
            </a:r>
            <a:r>
              <a:rPr lang="ru-RU" dirty="0" err="1">
                <a:latin typeface="+mn-lt"/>
              </a:rPr>
              <a:t>ті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атрибути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або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об’єкти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 </a:t>
            </a:r>
            <a:r>
              <a:rPr lang="en-GB" i="1" dirty="0">
                <a:latin typeface="+mn-lt"/>
              </a:rPr>
              <a:t>x </a:t>
            </a:r>
            <a:r>
              <a:rPr lang="ru-RU" dirty="0">
                <a:latin typeface="+mn-lt"/>
              </a:rPr>
              <a:t>та </a:t>
            </a:r>
            <a:r>
              <a:rPr lang="en-GB" i="1" dirty="0">
                <a:latin typeface="+mn-lt"/>
              </a:rPr>
              <a:t>y</a:t>
            </a:r>
            <a:r>
              <a:rPr lang="en-GB" dirty="0">
                <a:latin typeface="+mn-lt"/>
              </a:rPr>
              <a:t>.</a:t>
            </a:r>
            <a:endParaRPr lang="ru-RU" dirty="0">
              <a:latin typeface="+mn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338320" y="782320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GB" sz="1800" dirty="0">
                <a:latin typeface="+mn-lt"/>
              </a:rPr>
              <a:t>r = 1. </a:t>
            </a:r>
            <a:r>
              <a:rPr lang="ru-RU" sz="1800" dirty="0" err="1">
                <a:latin typeface="+mn-lt"/>
              </a:rPr>
              <a:t>Міський</a:t>
            </a:r>
            <a:r>
              <a:rPr lang="ru-RU" sz="1800" dirty="0">
                <a:latin typeface="+mn-lt"/>
              </a:rPr>
              <a:t> квартал (Манхеттен, </a:t>
            </a:r>
            <a:r>
              <a:rPr lang="ru-RU" sz="1800" dirty="0" err="1">
                <a:latin typeface="+mn-lt"/>
              </a:rPr>
              <a:t>таксі</a:t>
            </a:r>
            <a:r>
              <a:rPr lang="ru-RU" sz="1800" dirty="0">
                <a:latin typeface="+mn-lt"/>
              </a:rPr>
              <a:t>, норма </a:t>
            </a:r>
            <a:r>
              <a:rPr lang="en-GB" sz="1800" dirty="0">
                <a:latin typeface="+mn-lt"/>
              </a:rPr>
              <a:t>L1) </a:t>
            </a:r>
            <a:r>
              <a:rPr lang="ru-RU" sz="1800" dirty="0" err="1">
                <a:latin typeface="+mn-lt"/>
              </a:rPr>
              <a:t>відстань</a:t>
            </a:r>
            <a:r>
              <a:rPr lang="ru-RU" sz="1800" dirty="0">
                <a:latin typeface="+mn-lt"/>
              </a:rPr>
              <a:t>.</a:t>
            </a:r>
          </a:p>
          <a:p>
            <a:pPr algn="l"/>
            <a:r>
              <a:rPr lang="ru-RU" sz="1800" dirty="0" err="1">
                <a:latin typeface="+mn-lt"/>
              </a:rPr>
              <a:t>Типовим</a:t>
            </a:r>
            <a:r>
              <a:rPr lang="ru-RU" sz="1800" dirty="0">
                <a:latin typeface="+mn-lt"/>
              </a:rPr>
              <a:t> прикладом </a:t>
            </a:r>
            <a:r>
              <a:rPr lang="ru-RU" sz="1800" dirty="0" err="1">
                <a:latin typeface="+mn-lt"/>
              </a:rPr>
              <a:t>цього</a:t>
            </a:r>
            <a:r>
              <a:rPr lang="ru-RU" sz="1800" dirty="0">
                <a:latin typeface="+mn-lt"/>
              </a:rPr>
              <a:t> для </a:t>
            </a:r>
            <a:r>
              <a:rPr lang="ru-RU" sz="1800" dirty="0" err="1">
                <a:latin typeface="+mn-lt"/>
              </a:rPr>
              <a:t>двійкових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векторів</a:t>
            </a:r>
            <a:r>
              <a:rPr lang="ru-RU" sz="1800" dirty="0">
                <a:latin typeface="+mn-lt"/>
              </a:rPr>
              <a:t> є </a:t>
            </a:r>
            <a:r>
              <a:rPr lang="ru-RU" sz="1800" dirty="0" err="1">
                <a:latin typeface="+mn-lt"/>
              </a:rPr>
              <a:t>відстань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Хеммінга</a:t>
            </a:r>
            <a:r>
              <a:rPr lang="ru-RU" sz="1800" dirty="0">
                <a:latin typeface="+mn-lt"/>
              </a:rPr>
              <a:t>, яка є просто </a:t>
            </a:r>
            <a:r>
              <a:rPr lang="ru-RU" sz="1800" dirty="0" err="1">
                <a:latin typeface="+mn-lt"/>
              </a:rPr>
              <a:t>кількістю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розрядів</a:t>
            </a:r>
            <a:r>
              <a:rPr lang="ru-RU" sz="1800" dirty="0">
                <a:latin typeface="+mn-lt"/>
              </a:rPr>
              <a:t>, </a:t>
            </a:r>
            <a:r>
              <a:rPr lang="ru-RU" sz="1800" dirty="0" err="1">
                <a:latin typeface="+mn-lt"/>
              </a:rPr>
              <a:t>які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відрізняються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між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двома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двійковими</a:t>
            </a:r>
            <a:r>
              <a:rPr lang="ru-RU" sz="1800" dirty="0">
                <a:latin typeface="+mn-lt"/>
              </a:rPr>
              <a:t> векторами</a:t>
            </a:r>
          </a:p>
          <a:p>
            <a:pPr algn="l"/>
            <a:endParaRPr lang="ru-RU" sz="1800" dirty="0">
              <a:latin typeface="+mn-lt"/>
            </a:endParaRPr>
          </a:p>
          <a:p>
            <a:pPr algn="l"/>
            <a:r>
              <a:rPr lang="en-GB" sz="1800" dirty="0">
                <a:latin typeface="+mn-lt"/>
              </a:rPr>
              <a:t>r = 2. </a:t>
            </a:r>
            <a:r>
              <a:rPr lang="ru-RU" sz="1800" dirty="0" err="1">
                <a:latin typeface="+mn-lt"/>
              </a:rPr>
              <a:t>Евклідова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відстань</a:t>
            </a:r>
            <a:endParaRPr lang="ru-RU" sz="1800" dirty="0">
              <a:latin typeface="+mn-lt"/>
            </a:endParaRPr>
          </a:p>
          <a:p>
            <a:pPr algn="l"/>
            <a:endParaRPr lang="ru-RU" sz="1800" dirty="0">
              <a:latin typeface="+mn-lt"/>
            </a:endParaRPr>
          </a:p>
          <a:p>
            <a:pPr algn="l"/>
            <a:r>
              <a:rPr lang="en-GB" sz="1800" dirty="0" smtClean="0">
                <a:latin typeface="+mn-lt"/>
              </a:rPr>
              <a:t>r</a:t>
            </a:r>
            <a:r>
              <a:rPr lang="en-GB" sz="1800" dirty="0" smtClean="0">
                <a:latin typeface="+mn-lt"/>
                <a:sym typeface="Symbol" panose="05050102010706020507" pitchFamily="18" charset="2"/>
              </a:rPr>
              <a:t></a:t>
            </a:r>
            <a:r>
              <a:rPr lang="en-GB" sz="1800" dirty="0" smtClean="0">
                <a:latin typeface="+mn-lt"/>
              </a:rPr>
              <a:t>. </a:t>
            </a:r>
            <a:r>
              <a:rPr lang="en-GB" sz="1800" dirty="0">
                <a:latin typeface="+mn-lt"/>
              </a:rPr>
              <a:t>“</a:t>
            </a:r>
            <a:r>
              <a:rPr lang="ru-RU" sz="1800" dirty="0" err="1">
                <a:latin typeface="+mn-lt"/>
              </a:rPr>
              <a:t>Супремум</a:t>
            </a:r>
            <a:r>
              <a:rPr lang="ru-RU" sz="1800" dirty="0">
                <a:latin typeface="+mn-lt"/>
              </a:rPr>
              <a:t>” (норма </a:t>
            </a:r>
            <a:r>
              <a:rPr lang="en-GB" sz="1800" dirty="0" err="1">
                <a:latin typeface="+mn-lt"/>
              </a:rPr>
              <a:t>Lmax</a:t>
            </a:r>
            <a:r>
              <a:rPr lang="en-GB" sz="1800" dirty="0">
                <a:latin typeface="+mn-lt"/>
              </a:rPr>
              <a:t>, </a:t>
            </a:r>
            <a:r>
              <a:rPr lang="ru-RU" sz="1800" dirty="0">
                <a:latin typeface="+mn-lt"/>
              </a:rPr>
              <a:t>норма </a:t>
            </a:r>
            <a:r>
              <a:rPr lang="en-GB" sz="1800" dirty="0" smtClean="0">
                <a:latin typeface="+mn-lt"/>
              </a:rPr>
              <a:t>L</a:t>
            </a:r>
            <a:r>
              <a:rPr lang="en-GB" sz="1800" baseline="-25000" dirty="0" smtClean="0">
                <a:latin typeface="+mn-lt"/>
                <a:sym typeface="Symbol" panose="05050102010706020507" pitchFamily="18" charset="2"/>
              </a:rPr>
              <a:t></a:t>
            </a:r>
            <a:r>
              <a:rPr lang="en-GB" sz="1800" dirty="0" smtClean="0">
                <a:latin typeface="+mn-lt"/>
              </a:rPr>
              <a:t>) </a:t>
            </a:r>
            <a:r>
              <a:rPr lang="ru-RU" sz="1800" dirty="0" err="1">
                <a:latin typeface="+mn-lt"/>
              </a:rPr>
              <a:t>відстань</a:t>
            </a:r>
            <a:r>
              <a:rPr lang="ru-RU" sz="1800" dirty="0">
                <a:latin typeface="+mn-lt"/>
              </a:rPr>
              <a:t>.</a:t>
            </a:r>
          </a:p>
          <a:p>
            <a:pPr algn="l"/>
            <a:r>
              <a:rPr lang="ru-RU" sz="1800" dirty="0" err="1">
                <a:latin typeface="+mn-lt"/>
              </a:rPr>
              <a:t>Це</a:t>
            </a:r>
            <a:r>
              <a:rPr lang="ru-RU" sz="1800" dirty="0">
                <a:latin typeface="+mn-lt"/>
              </a:rPr>
              <a:t> максимальна </a:t>
            </a:r>
            <a:r>
              <a:rPr lang="ru-RU" sz="1800" dirty="0" err="1">
                <a:latin typeface="+mn-lt"/>
              </a:rPr>
              <a:t>різниця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між</a:t>
            </a:r>
            <a:r>
              <a:rPr lang="ru-RU" sz="1800" dirty="0">
                <a:latin typeface="+mn-lt"/>
              </a:rPr>
              <a:t> будь-</a:t>
            </a:r>
            <a:r>
              <a:rPr lang="ru-RU" sz="1800" dirty="0" err="1">
                <a:latin typeface="+mn-lt"/>
              </a:rPr>
              <a:t>якими</a:t>
            </a:r>
            <a:r>
              <a:rPr lang="ru-RU" sz="1800" dirty="0">
                <a:latin typeface="+mn-lt"/>
              </a:rPr>
              <a:t> компонентами </a:t>
            </a:r>
            <a:r>
              <a:rPr lang="ru-RU" sz="1800" dirty="0" err="1" smtClean="0">
                <a:latin typeface="+mn-lt"/>
              </a:rPr>
              <a:t>векторів</a:t>
            </a:r>
            <a:r>
              <a:rPr lang="ru-RU" sz="1800" dirty="0" smtClean="0">
                <a:latin typeface="+mn-lt"/>
              </a:rPr>
              <a:t>.</a:t>
            </a:r>
            <a:endParaRPr lang="ru-RU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04853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" y="12110"/>
            <a:ext cx="9229250" cy="890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Відстань</a:t>
            </a:r>
            <a:r>
              <a:rPr lang="ru-RU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Мінковського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 в задачах кластерного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аналізу</a:t>
            </a:r>
            <a:endParaRPr lang="ru-RU" sz="32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48" y="883920"/>
            <a:ext cx="3088937" cy="82936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01600" y="1835457"/>
            <a:ext cx="39319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dirty="0">
                <a:latin typeface="+mn-lt"/>
              </a:rPr>
              <a:t>Де </a:t>
            </a:r>
            <a:r>
              <a:rPr lang="en-GB" sz="1600" i="1" dirty="0">
                <a:latin typeface="+mn-lt"/>
              </a:rPr>
              <a:t>r</a:t>
            </a:r>
            <a:r>
              <a:rPr lang="en-GB" sz="1600" dirty="0">
                <a:latin typeface="+mn-lt"/>
              </a:rPr>
              <a:t> - </a:t>
            </a:r>
            <a:r>
              <a:rPr lang="ru-RU" sz="1600" dirty="0">
                <a:latin typeface="+mn-lt"/>
              </a:rPr>
              <a:t>параметр, </a:t>
            </a:r>
            <a:r>
              <a:rPr lang="en-GB" sz="1600" i="1" dirty="0">
                <a:latin typeface="+mn-lt"/>
              </a:rPr>
              <a:t>n</a:t>
            </a:r>
            <a:r>
              <a:rPr lang="en-GB" sz="1600" dirty="0">
                <a:latin typeface="+mn-lt"/>
              </a:rPr>
              <a:t> - </a:t>
            </a:r>
            <a:r>
              <a:rPr lang="ru-RU" sz="1600" dirty="0" err="1">
                <a:latin typeface="+mn-lt"/>
              </a:rPr>
              <a:t>кількість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вимірів</a:t>
            </a:r>
            <a:r>
              <a:rPr lang="ru-RU" sz="1600" dirty="0">
                <a:latin typeface="+mn-lt"/>
              </a:rPr>
              <a:t> (</a:t>
            </a:r>
            <a:r>
              <a:rPr lang="ru-RU" sz="1600" dirty="0" err="1">
                <a:latin typeface="+mn-lt"/>
              </a:rPr>
              <a:t>атрибутів</a:t>
            </a:r>
            <a:r>
              <a:rPr lang="ru-RU" sz="1600" dirty="0">
                <a:latin typeface="+mn-lt"/>
              </a:rPr>
              <a:t>), </a:t>
            </a:r>
            <a:r>
              <a:rPr lang="en-GB" sz="1600" i="1" dirty="0" err="1" smtClean="0">
                <a:latin typeface="+mn-lt"/>
              </a:rPr>
              <a:t>x</a:t>
            </a:r>
            <a:r>
              <a:rPr lang="en-GB" sz="1600" i="1" baseline="-25000" dirty="0" err="1" smtClean="0">
                <a:latin typeface="+mn-lt"/>
              </a:rPr>
              <a:t>k</a:t>
            </a:r>
            <a:r>
              <a:rPr lang="en-GB" sz="1600" dirty="0" smtClean="0">
                <a:latin typeface="+mn-lt"/>
              </a:rPr>
              <a:t> </a:t>
            </a:r>
            <a:r>
              <a:rPr lang="ru-RU" sz="1600" dirty="0">
                <a:latin typeface="+mn-lt"/>
              </a:rPr>
              <a:t>та </a:t>
            </a:r>
            <a:r>
              <a:rPr lang="en-GB" sz="1600" i="1" dirty="0" err="1">
                <a:latin typeface="+mn-lt"/>
              </a:rPr>
              <a:t>y</a:t>
            </a:r>
            <a:r>
              <a:rPr lang="en-GB" sz="1600" i="1" baseline="-25000" dirty="0" err="1">
                <a:latin typeface="+mn-lt"/>
              </a:rPr>
              <a:t>k</a:t>
            </a:r>
            <a:r>
              <a:rPr lang="en-GB" sz="1600" dirty="0">
                <a:latin typeface="+mn-lt"/>
              </a:rPr>
              <a:t> - </a:t>
            </a:r>
            <a:r>
              <a:rPr lang="ru-RU" sz="1600" dirty="0" err="1">
                <a:latin typeface="+mn-lt"/>
              </a:rPr>
              <a:t>відповідно</a:t>
            </a:r>
            <a:r>
              <a:rPr lang="ru-RU" sz="1600" dirty="0">
                <a:latin typeface="+mn-lt"/>
              </a:rPr>
              <a:t> </a:t>
            </a:r>
            <a:r>
              <a:rPr lang="en-GB" sz="1600" i="1" dirty="0">
                <a:latin typeface="+mn-lt"/>
              </a:rPr>
              <a:t>k</a:t>
            </a:r>
            <a:r>
              <a:rPr lang="en-GB" sz="1600" dirty="0">
                <a:latin typeface="+mn-lt"/>
              </a:rPr>
              <a:t>-</a:t>
            </a:r>
            <a:r>
              <a:rPr lang="ru-RU" sz="1600" dirty="0" err="1">
                <a:latin typeface="+mn-lt"/>
              </a:rPr>
              <a:t>ті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атрибути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 smtClean="0">
                <a:latin typeface="+mn-lt"/>
              </a:rPr>
              <a:t>або</a:t>
            </a:r>
            <a:r>
              <a:rPr lang="ru-RU" sz="1600" dirty="0" smtClean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об’єкти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даних</a:t>
            </a:r>
            <a:r>
              <a:rPr lang="ru-RU" sz="1600" dirty="0">
                <a:latin typeface="+mn-lt"/>
              </a:rPr>
              <a:t> </a:t>
            </a:r>
            <a:r>
              <a:rPr lang="en-GB" sz="1600" i="1" dirty="0">
                <a:latin typeface="+mn-lt"/>
              </a:rPr>
              <a:t>x </a:t>
            </a:r>
            <a:r>
              <a:rPr lang="ru-RU" sz="1600" dirty="0">
                <a:latin typeface="+mn-lt"/>
              </a:rPr>
              <a:t>та </a:t>
            </a:r>
            <a:r>
              <a:rPr lang="en-GB" sz="1600" i="1" dirty="0">
                <a:latin typeface="+mn-lt"/>
              </a:rPr>
              <a:t>y</a:t>
            </a:r>
            <a:r>
              <a:rPr lang="en-GB" sz="1600" dirty="0">
                <a:latin typeface="+mn-lt"/>
              </a:rPr>
              <a:t>.</a:t>
            </a:r>
            <a:endParaRPr lang="ru-RU" sz="1600" dirty="0">
              <a:latin typeface="+mn-lt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73" y="1173469"/>
            <a:ext cx="2590800" cy="1323975"/>
          </a:xfrm>
          <a:prstGeom prst="rect">
            <a:avLst/>
          </a:prstGeom>
        </p:spPr>
      </p:pic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343294"/>
              </p:ext>
            </p:extLst>
          </p:nvPr>
        </p:nvGraphicFramePr>
        <p:xfrm>
          <a:off x="3967281" y="880417"/>
          <a:ext cx="2543292" cy="20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VISIO" r:id="rId5" imgW="3631692" imgH="2656332" progId="Visio.Drawing.6">
                  <p:embed/>
                </p:oleObj>
              </mc:Choice>
              <mc:Fallback>
                <p:oleObj name="VISIO" r:id="rId5" imgW="3631692" imgH="26563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7281" y="880417"/>
                        <a:ext cx="2543292" cy="20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535" y="2613490"/>
            <a:ext cx="4333875" cy="130492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1418" y="2613490"/>
            <a:ext cx="4229100" cy="12573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9256" y="3885674"/>
            <a:ext cx="412432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2605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80496" y="0"/>
            <a:ext cx="49359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Відстань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Махаланобіса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 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280" y="849299"/>
            <a:ext cx="4865944" cy="36103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0" y="1300480"/>
            <a:ext cx="3533351" cy="24886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79014" y="1444842"/>
            <a:ext cx="5020926" cy="872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Symbol" panose="05050102010706020507" pitchFamily="18" charset="2"/>
              <a:buChar char="S"/>
            </a:pPr>
            <a:r>
              <a:rPr lang="ru-RU" dirty="0" smtClean="0">
                <a:latin typeface="+mn-lt"/>
                <a:sym typeface="Symbol" panose="05050102010706020507" pitchFamily="18" charset="2"/>
              </a:rPr>
              <a:t>- </a:t>
            </a:r>
            <a:r>
              <a:rPr lang="ru-RU" dirty="0" err="1" smtClean="0">
                <a:latin typeface="+mn-lt"/>
                <a:sym typeface="Symbol" panose="05050102010706020507" pitchFamily="18" charset="2"/>
              </a:rPr>
              <a:t>коваріаційна</a:t>
            </a:r>
            <a:r>
              <a:rPr lang="ru-RU" dirty="0" smtClean="0">
                <a:latin typeface="+mn-lt"/>
                <a:sym typeface="Symbol" panose="05050102010706020507" pitchFamily="18" charset="2"/>
              </a:rPr>
              <a:t> </a:t>
            </a:r>
            <a:r>
              <a:rPr lang="ru-RU" dirty="0" err="1" smtClean="0">
                <a:latin typeface="+mn-lt"/>
                <a:sym typeface="Symbol" panose="05050102010706020507" pitchFamily="18" charset="2"/>
              </a:rPr>
              <a:t>матриця</a:t>
            </a:r>
            <a:r>
              <a:rPr lang="ru-RU" dirty="0" smtClean="0">
                <a:latin typeface="+mn-lt"/>
                <a:sym typeface="Symbol" panose="05050102010706020507" pitchFamily="18" charset="2"/>
              </a:rPr>
              <a:t>,</a:t>
            </a:r>
          </a:p>
          <a:p>
            <a:pPr algn="l"/>
            <a:r>
              <a:rPr lang="uk-UA" dirty="0" smtClean="0">
                <a:latin typeface="+mn-lt"/>
                <a:sym typeface="Symbol" panose="05050102010706020507" pitchFamily="18" charset="2"/>
              </a:rPr>
              <a:t></a:t>
            </a:r>
            <a:r>
              <a:rPr lang="uk-UA" baseline="30000" dirty="0" smtClean="0">
                <a:latin typeface="+mn-lt"/>
                <a:sym typeface="Symbol" panose="05050102010706020507" pitchFamily="18" charset="2"/>
              </a:rPr>
              <a:t>-1 </a:t>
            </a:r>
            <a:r>
              <a:rPr lang="uk-UA" dirty="0" smtClean="0">
                <a:latin typeface="+mn-lt"/>
                <a:sym typeface="Symbol" panose="05050102010706020507" pitchFamily="18" charset="2"/>
              </a:rPr>
              <a:t> - </a:t>
            </a:r>
            <a:r>
              <a:rPr lang="ru-RU" dirty="0" err="1">
                <a:latin typeface="+mn-lt"/>
              </a:rPr>
              <a:t>матриця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обернена</a:t>
            </a:r>
            <a:r>
              <a:rPr lang="ru-RU" dirty="0">
                <a:latin typeface="+mn-lt"/>
              </a:rPr>
              <a:t> до </a:t>
            </a:r>
            <a:r>
              <a:rPr lang="ru-RU" dirty="0" err="1">
                <a:latin typeface="+mn-lt"/>
              </a:rPr>
              <a:t>матриці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коваріації</a:t>
            </a:r>
            <a:r>
              <a:rPr lang="ru-RU" dirty="0" smtClean="0">
                <a:latin typeface="+mn-lt"/>
              </a:rPr>
              <a:t>,</a:t>
            </a:r>
          </a:p>
          <a:p>
            <a:pPr algn="l"/>
            <a:endParaRPr lang="ru-RU" baseline="30000" dirty="0">
              <a:latin typeface="+mn-lt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962053" y="3006378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ru-RU" sz="1600" dirty="0">
                <a:latin typeface="+mn-lt"/>
              </a:rPr>
              <a:t>Для </a:t>
            </a:r>
            <a:r>
              <a:rPr lang="ru-RU" sz="1600" dirty="0" err="1">
                <a:latin typeface="+mn-lt"/>
              </a:rPr>
              <a:t>червоних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точок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відстань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Евкліда</a:t>
            </a:r>
            <a:r>
              <a:rPr lang="ru-RU" sz="1600" dirty="0">
                <a:latin typeface="+mn-lt"/>
              </a:rPr>
              <a:t> становить 14,7, </a:t>
            </a:r>
            <a:r>
              <a:rPr lang="ru-RU" sz="1600" dirty="0" err="1">
                <a:latin typeface="+mn-lt"/>
              </a:rPr>
              <a:t>відстань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Махаланобіса</a:t>
            </a:r>
            <a:r>
              <a:rPr lang="ru-RU" sz="1600" dirty="0">
                <a:latin typeface="+mn-lt"/>
              </a:rPr>
              <a:t> - 6.</a:t>
            </a:r>
          </a:p>
        </p:txBody>
      </p:sp>
    </p:spTree>
    <p:extLst>
      <p:ext uri="{BB962C8B-B14F-4D97-AF65-F5344CB8AC3E}">
        <p14:creationId xmlns:p14="http://schemas.microsoft.com/office/powerpoint/2010/main" val="42129460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C376FC-16FB-4681-ABB6-8281487B905A}" type="slidenum">
              <a:rPr lang="en-US">
                <a:solidFill>
                  <a:srgbClr val="000000"/>
                </a:solidFill>
              </a:rPr>
              <a:pPr/>
              <a:t>43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9133"/>
            <a:ext cx="9144000" cy="465137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3600" b="1" dirty="0">
                <a:solidFill>
                  <a:schemeClr val="bg1"/>
                </a:solidFill>
                <a:latin typeface="+mn-lt"/>
              </a:rPr>
              <a:t>Distance: Euclidean, </a:t>
            </a:r>
            <a:r>
              <a:rPr lang="en-US" sz="3600" b="1" dirty="0" err="1">
                <a:solidFill>
                  <a:schemeClr val="bg1"/>
                </a:solidFill>
                <a:latin typeface="+mn-lt"/>
              </a:rPr>
              <a:t>Minkowski</a:t>
            </a:r>
            <a:r>
              <a:rPr lang="en-US" sz="3600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bg1"/>
                </a:solidFill>
                <a:latin typeface="+mn-lt"/>
              </a:rPr>
              <a:t>Mahalanobis</a:t>
            </a:r>
            <a:endParaRPr lang="en-US" sz="3600" b="1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2050" name="Object 8"/>
          <p:cNvGraphicFramePr>
            <a:graphicFrameLocks noChangeAspect="1"/>
          </p:cNvGraphicFramePr>
          <p:nvPr/>
        </p:nvGraphicFramePr>
        <p:xfrm>
          <a:off x="1981200" y="859632"/>
          <a:ext cx="5229225" cy="388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" name="Equation" r:id="rId3" imgW="3251160" imgH="241200" progId="Equation.DSMT4">
                  <p:embed/>
                </p:oleObj>
              </mc:Choice>
              <mc:Fallback>
                <p:oleObj name="Equation" r:id="rId3" imgW="3251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859632"/>
                        <a:ext cx="5229225" cy="388144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" name="Line 14"/>
          <p:cNvSpPr>
            <a:spLocks noChangeShapeType="1"/>
          </p:cNvSpPr>
          <p:nvPr/>
        </p:nvSpPr>
        <p:spPr bwMode="auto">
          <a:xfrm>
            <a:off x="2849404" y="1764507"/>
            <a:ext cx="0" cy="29789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pPr algn="l" defTabSz="685800" fontAlgn="base" hangingPunct="1">
              <a:spcBef>
                <a:spcPct val="0"/>
              </a:spcBef>
              <a:spcAft>
                <a:spcPct val="0"/>
              </a:spcAft>
            </a:pPr>
            <a:endParaRPr lang="en-US" sz="1500" kern="1200">
              <a:ea typeface="+mn-ea"/>
            </a:endParaRPr>
          </a:p>
        </p:txBody>
      </p:sp>
      <p:sp>
        <p:nvSpPr>
          <p:cNvPr id="2059" name="Line 15"/>
          <p:cNvSpPr>
            <a:spLocks noChangeShapeType="1"/>
          </p:cNvSpPr>
          <p:nvPr/>
        </p:nvSpPr>
        <p:spPr bwMode="auto">
          <a:xfrm>
            <a:off x="5765324" y="1763554"/>
            <a:ext cx="0" cy="29789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pPr algn="l" defTabSz="685800" fontAlgn="base" hangingPunct="1">
              <a:spcBef>
                <a:spcPct val="0"/>
              </a:spcBef>
              <a:spcAft>
                <a:spcPct val="0"/>
              </a:spcAft>
            </a:pPr>
            <a:endParaRPr lang="en-US" sz="1500" kern="1200">
              <a:ea typeface="+mn-ea"/>
            </a:endParaRPr>
          </a:p>
        </p:txBody>
      </p:sp>
      <p:graphicFrame>
        <p:nvGraphicFramePr>
          <p:cNvPr id="205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143658"/>
              </p:ext>
            </p:extLst>
          </p:nvPr>
        </p:nvGraphicFramePr>
        <p:xfrm>
          <a:off x="773966" y="1763554"/>
          <a:ext cx="1772841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" name="Equation" r:id="rId5" imgW="1536480" imgH="495000" progId="Equation.DSMT4">
                  <p:embed/>
                </p:oleObj>
              </mc:Choice>
              <mc:Fallback>
                <p:oleObj name="Equation" r:id="rId5" imgW="153648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966" y="1763554"/>
                        <a:ext cx="1772841" cy="5715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0" name="Text Box 17"/>
          <p:cNvSpPr txBox="1">
            <a:spLocks noChangeArrowheads="1"/>
          </p:cNvSpPr>
          <p:nvPr/>
        </p:nvSpPr>
        <p:spPr bwMode="auto">
          <a:xfrm>
            <a:off x="1238250" y="1422797"/>
            <a:ext cx="1372492" cy="36933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defTabSz="685800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800" b="1" kern="1200">
                <a:ea typeface="+mn-ea"/>
              </a:rPr>
              <a:t>Euclidean</a:t>
            </a:r>
          </a:p>
        </p:txBody>
      </p:sp>
      <p:graphicFrame>
        <p:nvGraphicFramePr>
          <p:cNvPr id="2052" name="Object 18"/>
          <p:cNvGraphicFramePr>
            <a:graphicFrameLocks noChangeAspect="1"/>
          </p:cNvGraphicFramePr>
          <p:nvPr/>
        </p:nvGraphicFramePr>
        <p:xfrm>
          <a:off x="3176588" y="1785938"/>
          <a:ext cx="2141935" cy="735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0" name="Equation" r:id="rId7" imgW="1663560" imgH="571320" progId="Equation.DSMT4">
                  <p:embed/>
                </p:oleObj>
              </mc:Choice>
              <mc:Fallback>
                <p:oleObj name="Equation" r:id="rId7" imgW="166356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6588" y="1785938"/>
                        <a:ext cx="2141935" cy="735806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1" name="Text Box 19"/>
          <p:cNvSpPr txBox="1">
            <a:spLocks noChangeArrowheads="1"/>
          </p:cNvSpPr>
          <p:nvPr/>
        </p:nvSpPr>
        <p:spPr bwMode="auto">
          <a:xfrm>
            <a:off x="3707242" y="1404540"/>
            <a:ext cx="1499128" cy="36933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defTabSz="685800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800" b="1" kern="1200" dirty="0" err="1">
                <a:ea typeface="+mn-ea"/>
              </a:rPr>
              <a:t>Minkowski</a:t>
            </a:r>
            <a:endParaRPr lang="en-US" sz="1800" b="1" kern="1200" dirty="0">
              <a:ea typeface="+mn-ea"/>
            </a:endParaRPr>
          </a:p>
        </p:txBody>
      </p:sp>
      <p:graphicFrame>
        <p:nvGraphicFramePr>
          <p:cNvPr id="2053" name="Object 20"/>
          <p:cNvGraphicFramePr>
            <a:graphicFrameLocks noChangeAspect="1"/>
          </p:cNvGraphicFramePr>
          <p:nvPr/>
        </p:nvGraphicFramePr>
        <p:xfrm>
          <a:off x="3202782" y="2659856"/>
          <a:ext cx="1802606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" name="Equation" r:id="rId9" imgW="1231560" imgH="888840" progId="Equation.DSMT4">
                  <p:embed/>
                </p:oleObj>
              </mc:Choice>
              <mc:Fallback>
                <p:oleObj name="Equation" r:id="rId9" imgW="123156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2782" y="2659856"/>
                        <a:ext cx="1802606" cy="130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846777"/>
              </p:ext>
            </p:extLst>
          </p:nvPr>
        </p:nvGraphicFramePr>
        <p:xfrm>
          <a:off x="3246544" y="3972085"/>
          <a:ext cx="1901429" cy="659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2" name="Equation" r:id="rId11" imgW="1244520" imgH="431640" progId="Equation.DSMT4">
                  <p:embed/>
                </p:oleObj>
              </mc:Choice>
              <mc:Fallback>
                <p:oleObj name="Equation" r:id="rId11" imgW="1244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544" y="3972085"/>
                        <a:ext cx="1901429" cy="659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2" name="Text Box 22"/>
          <p:cNvSpPr txBox="1">
            <a:spLocks noChangeArrowheads="1"/>
          </p:cNvSpPr>
          <p:nvPr/>
        </p:nvSpPr>
        <p:spPr bwMode="auto">
          <a:xfrm>
            <a:off x="6430740" y="1421924"/>
            <a:ext cx="1726755" cy="36933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defTabSz="685800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800" b="1" kern="1200" dirty="0" err="1">
                <a:ea typeface="+mn-ea"/>
              </a:rPr>
              <a:t>Mahalanobis</a:t>
            </a:r>
            <a:endParaRPr lang="en-US" sz="1800" b="1" kern="1200" dirty="0">
              <a:ea typeface="+mn-ea"/>
            </a:endParaRPr>
          </a:p>
        </p:txBody>
      </p:sp>
      <p:graphicFrame>
        <p:nvGraphicFramePr>
          <p:cNvPr id="205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882155"/>
              </p:ext>
            </p:extLst>
          </p:nvPr>
        </p:nvGraphicFramePr>
        <p:xfrm>
          <a:off x="5987058" y="1778794"/>
          <a:ext cx="2446734" cy="321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" name="Equation" r:id="rId13" imgW="1739880" imgH="228600" progId="Equation.DSMT4">
                  <p:embed/>
                </p:oleObj>
              </mc:Choice>
              <mc:Fallback>
                <p:oleObj name="Equation" r:id="rId13" imgW="1739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7058" y="1778794"/>
                        <a:ext cx="2446734" cy="321469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195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724998" y="22270"/>
            <a:ext cx="59378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Загальні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властивості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відстані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84480" y="957739"/>
            <a:ext cx="9062720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err="1" smtClean="0">
                <a:latin typeface="+mn-lt"/>
              </a:rPr>
              <a:t>Відстані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мають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такі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властивості</a:t>
            </a:r>
            <a:r>
              <a:rPr lang="ru-RU" dirty="0" smtClean="0">
                <a:latin typeface="+mn-lt"/>
              </a:rPr>
              <a:t>:</a:t>
            </a:r>
            <a:endParaRPr lang="ru-RU" dirty="0">
              <a:latin typeface="+mn-lt"/>
            </a:endParaRPr>
          </a:p>
          <a:p>
            <a:pPr algn="l"/>
            <a:endParaRPr lang="ru-RU" dirty="0">
              <a:latin typeface="+mn-lt"/>
            </a:endParaRPr>
          </a:p>
          <a:p>
            <a:pPr algn="l"/>
            <a:r>
              <a:rPr lang="en-GB" i="1" dirty="0">
                <a:latin typeface="+mn-lt"/>
              </a:rPr>
              <a:t>d</a:t>
            </a:r>
            <a:r>
              <a:rPr lang="en-GB" dirty="0">
                <a:latin typeface="+mn-lt"/>
              </a:rPr>
              <a:t> (</a:t>
            </a:r>
            <a:r>
              <a:rPr lang="en-GB" i="1" dirty="0">
                <a:latin typeface="+mn-lt"/>
              </a:rPr>
              <a:t>x, y</a:t>
            </a:r>
            <a:r>
              <a:rPr lang="en-GB" dirty="0">
                <a:latin typeface="+mn-lt"/>
              </a:rPr>
              <a:t>) </a:t>
            </a:r>
            <a:r>
              <a:rPr lang="en-US" dirty="0" smtClean="0">
                <a:latin typeface="+mn-lt"/>
              </a:rPr>
              <a:t>&gt;=</a:t>
            </a:r>
            <a:r>
              <a:rPr lang="en-GB" dirty="0" smtClean="0">
                <a:latin typeface="+mn-lt"/>
              </a:rPr>
              <a:t> </a:t>
            </a:r>
            <a:r>
              <a:rPr lang="en-GB" dirty="0">
                <a:latin typeface="+mn-lt"/>
              </a:rPr>
              <a:t>0 </a:t>
            </a:r>
            <a:r>
              <a:rPr lang="ru-RU" dirty="0">
                <a:latin typeface="+mn-lt"/>
              </a:rPr>
              <a:t>для </a:t>
            </a:r>
            <a:r>
              <a:rPr lang="ru-RU" dirty="0" err="1">
                <a:latin typeface="+mn-lt"/>
              </a:rPr>
              <a:t>всіх</a:t>
            </a:r>
            <a:r>
              <a:rPr lang="ru-RU" dirty="0">
                <a:latin typeface="+mn-lt"/>
              </a:rPr>
              <a:t> </a:t>
            </a:r>
            <a:r>
              <a:rPr lang="en-GB" i="1" dirty="0">
                <a:latin typeface="+mn-lt"/>
              </a:rPr>
              <a:t>x</a:t>
            </a:r>
            <a:r>
              <a:rPr lang="en-GB" dirty="0">
                <a:latin typeface="+mn-lt"/>
              </a:rPr>
              <a:t> </a:t>
            </a:r>
            <a:r>
              <a:rPr lang="ru-RU" dirty="0">
                <a:latin typeface="+mn-lt"/>
              </a:rPr>
              <a:t>і </a:t>
            </a:r>
            <a:r>
              <a:rPr lang="en-GB" i="1" dirty="0">
                <a:latin typeface="+mn-lt"/>
              </a:rPr>
              <a:t>y</a:t>
            </a:r>
            <a:r>
              <a:rPr lang="en-GB" dirty="0">
                <a:latin typeface="+mn-lt"/>
              </a:rPr>
              <a:t>, </a:t>
            </a:r>
            <a:r>
              <a:rPr lang="ru-RU" dirty="0">
                <a:latin typeface="+mn-lt"/>
              </a:rPr>
              <a:t>а </a:t>
            </a:r>
            <a:r>
              <a:rPr lang="en-GB" i="1" dirty="0">
                <a:latin typeface="+mn-lt"/>
              </a:rPr>
              <a:t>d</a:t>
            </a:r>
            <a:r>
              <a:rPr lang="en-GB" dirty="0">
                <a:latin typeface="+mn-lt"/>
              </a:rPr>
              <a:t> (</a:t>
            </a:r>
            <a:r>
              <a:rPr lang="en-GB" i="1" dirty="0">
                <a:latin typeface="+mn-lt"/>
              </a:rPr>
              <a:t>x, y</a:t>
            </a:r>
            <a:r>
              <a:rPr lang="en-GB" dirty="0">
                <a:latin typeface="+mn-lt"/>
              </a:rPr>
              <a:t>) = 0 </a:t>
            </a:r>
            <a:r>
              <a:rPr lang="ru-RU" dirty="0" err="1">
                <a:latin typeface="+mn-lt"/>
              </a:rPr>
              <a:t>тоді</a:t>
            </a:r>
            <a:r>
              <a:rPr lang="ru-RU" dirty="0">
                <a:latin typeface="+mn-lt"/>
              </a:rPr>
              <a:t> і </a:t>
            </a:r>
            <a:r>
              <a:rPr lang="ru-RU" dirty="0" err="1">
                <a:latin typeface="+mn-lt"/>
              </a:rPr>
              <a:t>лише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тоді</a:t>
            </a:r>
            <a:r>
              <a:rPr lang="ru-RU" dirty="0">
                <a:latin typeface="+mn-lt"/>
              </a:rPr>
              <a:t>, коли </a:t>
            </a:r>
            <a:r>
              <a:rPr lang="en-GB" i="1" dirty="0">
                <a:latin typeface="+mn-lt"/>
              </a:rPr>
              <a:t>x</a:t>
            </a:r>
            <a:r>
              <a:rPr lang="en-GB" dirty="0">
                <a:latin typeface="+mn-lt"/>
              </a:rPr>
              <a:t> =</a:t>
            </a:r>
            <a:r>
              <a:rPr lang="en-GB" i="1" dirty="0">
                <a:latin typeface="+mn-lt"/>
              </a:rPr>
              <a:t> y</a:t>
            </a:r>
            <a:r>
              <a:rPr lang="en-GB" dirty="0">
                <a:latin typeface="+mn-lt"/>
              </a:rPr>
              <a:t>.</a:t>
            </a:r>
          </a:p>
          <a:p>
            <a:pPr algn="l"/>
            <a:r>
              <a:rPr lang="en-GB" i="1" dirty="0">
                <a:latin typeface="+mn-lt"/>
              </a:rPr>
              <a:t>d </a:t>
            </a:r>
            <a:r>
              <a:rPr lang="en-GB" dirty="0">
                <a:latin typeface="+mn-lt"/>
              </a:rPr>
              <a:t>(</a:t>
            </a:r>
            <a:r>
              <a:rPr lang="en-GB" i="1" dirty="0">
                <a:latin typeface="+mn-lt"/>
              </a:rPr>
              <a:t>x, y</a:t>
            </a:r>
            <a:r>
              <a:rPr lang="en-GB" dirty="0">
                <a:latin typeface="+mn-lt"/>
              </a:rPr>
              <a:t>) = </a:t>
            </a:r>
            <a:r>
              <a:rPr lang="en-GB" i="1" dirty="0">
                <a:latin typeface="+mn-lt"/>
              </a:rPr>
              <a:t>d</a:t>
            </a:r>
            <a:r>
              <a:rPr lang="en-GB" dirty="0">
                <a:latin typeface="+mn-lt"/>
              </a:rPr>
              <a:t> (</a:t>
            </a:r>
            <a:r>
              <a:rPr lang="en-GB" i="1" dirty="0">
                <a:latin typeface="+mn-lt"/>
              </a:rPr>
              <a:t>y, x</a:t>
            </a:r>
            <a:r>
              <a:rPr lang="en-GB" dirty="0">
                <a:latin typeface="+mn-lt"/>
              </a:rPr>
              <a:t>) </a:t>
            </a:r>
            <a:r>
              <a:rPr lang="ru-RU" dirty="0">
                <a:latin typeface="+mn-lt"/>
              </a:rPr>
              <a:t>для </a:t>
            </a:r>
            <a:r>
              <a:rPr lang="ru-RU" dirty="0" err="1">
                <a:latin typeface="+mn-lt"/>
              </a:rPr>
              <a:t>всіх</a:t>
            </a:r>
            <a:r>
              <a:rPr lang="ru-RU" dirty="0">
                <a:latin typeface="+mn-lt"/>
              </a:rPr>
              <a:t> </a:t>
            </a:r>
            <a:r>
              <a:rPr lang="en-GB" i="1" dirty="0">
                <a:latin typeface="+mn-lt"/>
              </a:rPr>
              <a:t>x </a:t>
            </a:r>
            <a:r>
              <a:rPr lang="ru-RU" dirty="0">
                <a:latin typeface="+mn-lt"/>
              </a:rPr>
              <a:t>та </a:t>
            </a:r>
            <a:r>
              <a:rPr lang="en-GB" i="1" dirty="0">
                <a:latin typeface="+mn-lt"/>
              </a:rPr>
              <a:t>y</a:t>
            </a:r>
            <a:r>
              <a:rPr lang="en-GB" dirty="0">
                <a:latin typeface="+mn-lt"/>
              </a:rPr>
              <a:t>. (</a:t>
            </a:r>
            <a:r>
              <a:rPr lang="ru-RU" dirty="0" err="1">
                <a:latin typeface="+mn-lt"/>
              </a:rPr>
              <a:t>Симетрія</a:t>
            </a:r>
            <a:r>
              <a:rPr lang="ru-RU" dirty="0">
                <a:latin typeface="+mn-lt"/>
              </a:rPr>
              <a:t>)</a:t>
            </a:r>
          </a:p>
          <a:p>
            <a:pPr algn="l"/>
            <a:r>
              <a:rPr lang="en-GB" i="1" dirty="0">
                <a:latin typeface="+mn-lt"/>
              </a:rPr>
              <a:t>d </a:t>
            </a:r>
            <a:r>
              <a:rPr lang="en-GB" dirty="0">
                <a:latin typeface="+mn-lt"/>
              </a:rPr>
              <a:t>(</a:t>
            </a:r>
            <a:r>
              <a:rPr lang="en-GB" i="1" dirty="0">
                <a:latin typeface="+mn-lt"/>
              </a:rPr>
              <a:t>x, z</a:t>
            </a:r>
            <a:r>
              <a:rPr lang="en-GB" dirty="0">
                <a:latin typeface="+mn-lt"/>
              </a:rPr>
              <a:t>) </a:t>
            </a:r>
            <a:r>
              <a:rPr lang="en-GB" dirty="0" smtClean="0">
                <a:latin typeface="+mn-lt"/>
              </a:rPr>
              <a:t>&lt;= </a:t>
            </a:r>
            <a:r>
              <a:rPr lang="en-GB" i="1" dirty="0">
                <a:latin typeface="+mn-lt"/>
              </a:rPr>
              <a:t>d</a:t>
            </a:r>
            <a:r>
              <a:rPr lang="en-GB" dirty="0">
                <a:latin typeface="+mn-lt"/>
              </a:rPr>
              <a:t> (</a:t>
            </a:r>
            <a:r>
              <a:rPr lang="en-GB" i="1" dirty="0">
                <a:latin typeface="+mn-lt"/>
              </a:rPr>
              <a:t>x, y</a:t>
            </a:r>
            <a:r>
              <a:rPr lang="en-GB" dirty="0">
                <a:latin typeface="+mn-lt"/>
              </a:rPr>
              <a:t>) + </a:t>
            </a:r>
            <a:r>
              <a:rPr lang="en-GB" i="1" dirty="0">
                <a:latin typeface="+mn-lt"/>
              </a:rPr>
              <a:t>d</a:t>
            </a:r>
            <a:r>
              <a:rPr lang="en-GB" dirty="0">
                <a:latin typeface="+mn-lt"/>
              </a:rPr>
              <a:t> (</a:t>
            </a:r>
            <a:r>
              <a:rPr lang="en-GB" i="1" dirty="0">
                <a:latin typeface="+mn-lt"/>
              </a:rPr>
              <a:t>y, z</a:t>
            </a:r>
            <a:r>
              <a:rPr lang="en-GB" dirty="0">
                <a:latin typeface="+mn-lt"/>
              </a:rPr>
              <a:t>) </a:t>
            </a:r>
            <a:r>
              <a:rPr lang="ru-RU" dirty="0">
                <a:latin typeface="+mn-lt"/>
              </a:rPr>
              <a:t>для </a:t>
            </a:r>
            <a:r>
              <a:rPr lang="ru-RU" dirty="0" err="1">
                <a:latin typeface="+mn-lt"/>
              </a:rPr>
              <a:t>всіх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точок</a:t>
            </a:r>
            <a:r>
              <a:rPr lang="ru-RU" dirty="0">
                <a:latin typeface="+mn-lt"/>
              </a:rPr>
              <a:t> </a:t>
            </a:r>
            <a:r>
              <a:rPr lang="en-GB" i="1" dirty="0">
                <a:latin typeface="+mn-lt"/>
              </a:rPr>
              <a:t>x</a:t>
            </a:r>
            <a:r>
              <a:rPr lang="en-GB" dirty="0">
                <a:latin typeface="+mn-lt"/>
              </a:rPr>
              <a:t>, </a:t>
            </a:r>
            <a:r>
              <a:rPr lang="en-GB" i="1" dirty="0">
                <a:latin typeface="+mn-lt"/>
              </a:rPr>
              <a:t>y</a:t>
            </a:r>
            <a:r>
              <a:rPr lang="en-GB" dirty="0">
                <a:latin typeface="+mn-lt"/>
              </a:rPr>
              <a:t> </a:t>
            </a:r>
            <a:r>
              <a:rPr lang="ru-RU" dirty="0">
                <a:latin typeface="+mn-lt"/>
              </a:rPr>
              <a:t>та</a:t>
            </a:r>
            <a:r>
              <a:rPr lang="ru-RU" i="1" dirty="0">
                <a:latin typeface="+mn-lt"/>
              </a:rPr>
              <a:t> </a:t>
            </a:r>
            <a:r>
              <a:rPr lang="en-GB" i="1" dirty="0">
                <a:latin typeface="+mn-lt"/>
              </a:rPr>
              <a:t>z</a:t>
            </a:r>
            <a:r>
              <a:rPr lang="en-GB" dirty="0">
                <a:latin typeface="+mn-lt"/>
              </a:rPr>
              <a:t>. (</a:t>
            </a:r>
            <a:r>
              <a:rPr lang="ru-RU" dirty="0" err="1">
                <a:latin typeface="+mn-lt"/>
              </a:rPr>
              <a:t>Нерівність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трикутника</a:t>
            </a:r>
            <a:r>
              <a:rPr lang="ru-RU" dirty="0">
                <a:latin typeface="+mn-lt"/>
              </a:rPr>
              <a:t>)</a:t>
            </a:r>
          </a:p>
          <a:p>
            <a:pPr algn="l"/>
            <a:endParaRPr lang="ru-RU" dirty="0">
              <a:latin typeface="+mn-lt"/>
            </a:endParaRPr>
          </a:p>
          <a:p>
            <a:pPr algn="l"/>
            <a:r>
              <a:rPr lang="ru-RU" dirty="0">
                <a:latin typeface="+mn-lt"/>
              </a:rPr>
              <a:t>де </a:t>
            </a:r>
            <a:r>
              <a:rPr lang="en-GB" i="1" dirty="0">
                <a:latin typeface="+mn-lt"/>
              </a:rPr>
              <a:t>d</a:t>
            </a:r>
            <a:r>
              <a:rPr lang="en-GB" dirty="0">
                <a:latin typeface="+mn-lt"/>
              </a:rPr>
              <a:t> (</a:t>
            </a:r>
            <a:r>
              <a:rPr lang="en-GB" i="1" dirty="0">
                <a:latin typeface="+mn-lt"/>
              </a:rPr>
              <a:t>x, y</a:t>
            </a:r>
            <a:r>
              <a:rPr lang="en-GB" dirty="0">
                <a:latin typeface="+mn-lt"/>
              </a:rPr>
              <a:t>) - </a:t>
            </a:r>
            <a:r>
              <a:rPr lang="ru-RU" dirty="0" err="1">
                <a:latin typeface="+mn-lt"/>
              </a:rPr>
              <a:t>відстань</a:t>
            </a:r>
            <a:r>
              <a:rPr lang="ru-RU" dirty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(</a:t>
            </a:r>
            <a:r>
              <a:rPr lang="uk-UA" dirty="0" smtClean="0">
                <a:latin typeface="+mn-lt"/>
              </a:rPr>
              <a:t>відмінність</a:t>
            </a:r>
            <a:r>
              <a:rPr lang="ru-RU" dirty="0" smtClean="0">
                <a:latin typeface="+mn-lt"/>
              </a:rPr>
              <a:t>) </a:t>
            </a:r>
            <a:r>
              <a:rPr lang="ru-RU" dirty="0" err="1">
                <a:latin typeface="+mn-lt"/>
              </a:rPr>
              <a:t>між</a:t>
            </a:r>
            <a:r>
              <a:rPr lang="ru-RU" dirty="0">
                <a:latin typeface="+mn-lt"/>
              </a:rPr>
              <a:t> точками (</a:t>
            </a:r>
            <a:r>
              <a:rPr lang="ru-RU" dirty="0" err="1">
                <a:latin typeface="+mn-lt"/>
              </a:rPr>
              <a:t>об'єктами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),</a:t>
            </a:r>
            <a:r>
              <a:rPr lang="ru-RU" i="1" dirty="0">
                <a:latin typeface="+mn-lt"/>
              </a:rPr>
              <a:t> </a:t>
            </a:r>
            <a:r>
              <a:rPr lang="en-GB" i="1" dirty="0">
                <a:latin typeface="+mn-lt"/>
              </a:rPr>
              <a:t>x </a:t>
            </a:r>
            <a:r>
              <a:rPr lang="ru-RU" dirty="0">
                <a:latin typeface="+mn-lt"/>
              </a:rPr>
              <a:t>та </a:t>
            </a:r>
            <a:r>
              <a:rPr lang="en-GB" i="1" dirty="0">
                <a:latin typeface="+mn-lt"/>
              </a:rPr>
              <a:t>y</a:t>
            </a:r>
            <a:r>
              <a:rPr lang="en-GB" dirty="0">
                <a:latin typeface="+mn-lt"/>
              </a:rPr>
              <a:t>.</a:t>
            </a:r>
          </a:p>
          <a:p>
            <a:pPr algn="l"/>
            <a:endParaRPr lang="en-GB" dirty="0">
              <a:latin typeface="+mn-lt"/>
            </a:endParaRPr>
          </a:p>
          <a:p>
            <a:pPr algn="l"/>
            <a:r>
              <a:rPr lang="ru-RU" b="1" dirty="0" err="1">
                <a:latin typeface="+mn-lt"/>
              </a:rPr>
              <a:t>Відстань</a:t>
            </a:r>
            <a:r>
              <a:rPr lang="ru-RU" b="1" dirty="0">
                <a:latin typeface="+mn-lt"/>
              </a:rPr>
              <a:t>, яка </a:t>
            </a:r>
            <a:r>
              <a:rPr lang="ru-RU" b="1" dirty="0" err="1">
                <a:latin typeface="+mn-lt"/>
              </a:rPr>
              <a:t>задовольняє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цим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властивостям</a:t>
            </a:r>
            <a:r>
              <a:rPr lang="ru-RU" b="1" dirty="0">
                <a:latin typeface="+mn-lt"/>
              </a:rPr>
              <a:t>, є 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метрикою</a:t>
            </a:r>
          </a:p>
        </p:txBody>
      </p:sp>
    </p:spTree>
    <p:extLst>
      <p:ext uri="{BB962C8B-B14F-4D97-AF65-F5344CB8AC3E}">
        <p14:creationId xmlns:p14="http://schemas.microsoft.com/office/powerpoint/2010/main" val="18811470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22819" y="42590"/>
            <a:ext cx="64716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Загальні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властивості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подібності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14960" y="915199"/>
            <a:ext cx="855472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err="1">
                <a:latin typeface="+mn-lt"/>
              </a:rPr>
              <a:t>Подібності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мають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такі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загальні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властивості</a:t>
            </a:r>
            <a:r>
              <a:rPr lang="ru-RU" dirty="0">
                <a:latin typeface="+mn-lt"/>
              </a:rPr>
              <a:t>.</a:t>
            </a:r>
          </a:p>
          <a:p>
            <a:pPr algn="l"/>
            <a:endParaRPr lang="ru-RU" dirty="0">
              <a:latin typeface="+mn-lt"/>
            </a:endParaRPr>
          </a:p>
          <a:p>
            <a:pPr algn="l"/>
            <a:r>
              <a:rPr lang="uk-UA" dirty="0" smtClean="0">
                <a:latin typeface="+mn-lt"/>
              </a:rPr>
              <a:t>1. </a:t>
            </a:r>
            <a:r>
              <a:rPr lang="en-GB" i="1" dirty="0" smtClean="0">
                <a:latin typeface="+mn-lt"/>
              </a:rPr>
              <a:t>s</a:t>
            </a:r>
            <a:r>
              <a:rPr lang="en-GB" dirty="0" smtClean="0">
                <a:latin typeface="+mn-lt"/>
              </a:rPr>
              <a:t> </a:t>
            </a:r>
            <a:r>
              <a:rPr lang="en-GB" dirty="0">
                <a:latin typeface="+mn-lt"/>
              </a:rPr>
              <a:t>(</a:t>
            </a:r>
            <a:r>
              <a:rPr lang="en-GB" i="1" dirty="0">
                <a:latin typeface="+mn-lt"/>
              </a:rPr>
              <a:t>x, y</a:t>
            </a:r>
            <a:r>
              <a:rPr lang="en-GB" dirty="0">
                <a:latin typeface="+mn-lt"/>
              </a:rPr>
              <a:t>) = 1 (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</a:t>
            </a:r>
            <a:r>
              <a:rPr lang="ru-RU" b="1" dirty="0">
                <a:latin typeface="+mn-lt"/>
              </a:rPr>
              <a:t>максимальна </a:t>
            </a:r>
            <a:r>
              <a:rPr lang="ru-RU" b="1" dirty="0" err="1">
                <a:latin typeface="+mn-lt"/>
              </a:rPr>
              <a:t>подібність</a:t>
            </a:r>
            <a:r>
              <a:rPr lang="ru-RU" dirty="0">
                <a:latin typeface="+mn-lt"/>
              </a:rPr>
              <a:t>) </a:t>
            </a:r>
            <a:r>
              <a:rPr lang="ru-RU" dirty="0" err="1">
                <a:latin typeface="+mn-lt"/>
              </a:rPr>
              <a:t>лише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тоді</a:t>
            </a:r>
            <a:r>
              <a:rPr lang="ru-RU" dirty="0">
                <a:latin typeface="+mn-lt"/>
              </a:rPr>
              <a:t>, коли </a:t>
            </a:r>
            <a:r>
              <a:rPr lang="en-GB" i="1" dirty="0">
                <a:latin typeface="+mn-lt"/>
              </a:rPr>
              <a:t>x</a:t>
            </a:r>
            <a:r>
              <a:rPr lang="en-GB" dirty="0">
                <a:latin typeface="+mn-lt"/>
              </a:rPr>
              <a:t> =</a:t>
            </a:r>
            <a:r>
              <a:rPr lang="en-GB" i="1" dirty="0">
                <a:latin typeface="+mn-lt"/>
              </a:rPr>
              <a:t> y</a:t>
            </a:r>
            <a:r>
              <a:rPr lang="en-GB" dirty="0">
                <a:latin typeface="+mn-lt"/>
              </a:rPr>
              <a:t>. (</a:t>
            </a:r>
            <a:r>
              <a:rPr lang="ru-RU" dirty="0">
                <a:latin typeface="+mn-lt"/>
              </a:rPr>
              <a:t>не </a:t>
            </a:r>
            <a:r>
              <a:rPr lang="ru-RU" dirty="0" err="1">
                <a:latin typeface="+mn-lt"/>
              </a:rPr>
              <a:t>завжди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виконується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наприклад</a:t>
            </a:r>
            <a:r>
              <a:rPr lang="ru-RU" dirty="0">
                <a:latin typeface="+mn-lt"/>
              </a:rPr>
              <a:t>, косинус)</a:t>
            </a:r>
          </a:p>
          <a:p>
            <a:pPr algn="l"/>
            <a:r>
              <a:rPr lang="uk-UA" dirty="0" smtClean="0">
                <a:latin typeface="+mn-lt"/>
              </a:rPr>
              <a:t>2. </a:t>
            </a:r>
            <a:r>
              <a:rPr lang="en-GB" i="1" dirty="0" smtClean="0">
                <a:latin typeface="+mn-lt"/>
              </a:rPr>
              <a:t>s</a:t>
            </a:r>
            <a:r>
              <a:rPr lang="en-GB" dirty="0" smtClean="0">
                <a:latin typeface="+mn-lt"/>
              </a:rPr>
              <a:t> </a:t>
            </a:r>
            <a:r>
              <a:rPr lang="en-GB" dirty="0">
                <a:latin typeface="+mn-lt"/>
              </a:rPr>
              <a:t>(</a:t>
            </a:r>
            <a:r>
              <a:rPr lang="en-GB" i="1" dirty="0">
                <a:latin typeface="+mn-lt"/>
              </a:rPr>
              <a:t>x, y</a:t>
            </a:r>
            <a:r>
              <a:rPr lang="en-GB" dirty="0">
                <a:latin typeface="+mn-lt"/>
              </a:rPr>
              <a:t>) = </a:t>
            </a:r>
            <a:r>
              <a:rPr lang="en-GB" i="1" dirty="0">
                <a:latin typeface="+mn-lt"/>
              </a:rPr>
              <a:t>s</a:t>
            </a:r>
            <a:r>
              <a:rPr lang="en-GB" dirty="0">
                <a:latin typeface="+mn-lt"/>
              </a:rPr>
              <a:t> (</a:t>
            </a:r>
            <a:r>
              <a:rPr lang="en-GB" i="1" dirty="0">
                <a:latin typeface="+mn-lt"/>
              </a:rPr>
              <a:t>y, x</a:t>
            </a:r>
            <a:r>
              <a:rPr lang="en-GB" dirty="0">
                <a:latin typeface="+mn-lt"/>
              </a:rPr>
              <a:t>) </a:t>
            </a:r>
            <a:r>
              <a:rPr lang="ru-RU" dirty="0">
                <a:latin typeface="+mn-lt"/>
              </a:rPr>
              <a:t>для </a:t>
            </a:r>
            <a:r>
              <a:rPr lang="ru-RU" dirty="0" err="1">
                <a:latin typeface="+mn-lt"/>
              </a:rPr>
              <a:t>всіх</a:t>
            </a:r>
            <a:r>
              <a:rPr lang="ru-RU" i="1" dirty="0">
                <a:latin typeface="+mn-lt"/>
              </a:rPr>
              <a:t> </a:t>
            </a:r>
            <a:r>
              <a:rPr lang="en-GB" i="1" dirty="0">
                <a:latin typeface="+mn-lt"/>
              </a:rPr>
              <a:t>x </a:t>
            </a:r>
            <a:r>
              <a:rPr lang="ru-RU" dirty="0">
                <a:latin typeface="+mn-lt"/>
              </a:rPr>
              <a:t>та</a:t>
            </a:r>
            <a:r>
              <a:rPr lang="ru-RU" i="1" dirty="0">
                <a:latin typeface="+mn-lt"/>
              </a:rPr>
              <a:t> </a:t>
            </a:r>
            <a:r>
              <a:rPr lang="en-GB" i="1" dirty="0">
                <a:latin typeface="+mn-lt"/>
              </a:rPr>
              <a:t>y</a:t>
            </a:r>
            <a:r>
              <a:rPr lang="en-GB" dirty="0">
                <a:latin typeface="+mn-lt"/>
              </a:rPr>
              <a:t>. (</a:t>
            </a:r>
            <a:r>
              <a:rPr lang="ru-RU" b="1" dirty="0" err="1">
                <a:latin typeface="+mn-lt"/>
              </a:rPr>
              <a:t>Симетрія</a:t>
            </a:r>
            <a:r>
              <a:rPr lang="ru-RU" dirty="0">
                <a:latin typeface="+mn-lt"/>
              </a:rPr>
              <a:t>)</a:t>
            </a:r>
          </a:p>
          <a:p>
            <a:pPr algn="l"/>
            <a:r>
              <a:rPr lang="ru-RU" dirty="0">
                <a:latin typeface="+mn-lt"/>
              </a:rPr>
              <a:t>де </a:t>
            </a:r>
            <a:r>
              <a:rPr lang="en-GB" i="1" dirty="0">
                <a:latin typeface="+mn-lt"/>
              </a:rPr>
              <a:t>s</a:t>
            </a:r>
            <a:r>
              <a:rPr lang="en-GB" dirty="0">
                <a:latin typeface="+mn-lt"/>
              </a:rPr>
              <a:t> (</a:t>
            </a:r>
            <a:r>
              <a:rPr lang="en-GB" i="1" dirty="0">
                <a:latin typeface="+mn-lt"/>
              </a:rPr>
              <a:t>x, y</a:t>
            </a:r>
            <a:r>
              <a:rPr lang="en-GB" dirty="0">
                <a:latin typeface="+mn-lt"/>
              </a:rPr>
              <a:t>) - </a:t>
            </a:r>
            <a:r>
              <a:rPr lang="ru-RU" dirty="0" err="1">
                <a:latin typeface="+mn-lt"/>
              </a:rPr>
              <a:t>подібність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між</a:t>
            </a:r>
            <a:r>
              <a:rPr lang="ru-RU" dirty="0">
                <a:latin typeface="+mn-lt"/>
              </a:rPr>
              <a:t> точками (</a:t>
            </a:r>
            <a:r>
              <a:rPr lang="ru-RU" dirty="0" err="1">
                <a:latin typeface="+mn-lt"/>
              </a:rPr>
              <a:t>об'єктами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даних</a:t>
            </a:r>
            <a:r>
              <a:rPr lang="ru-RU" dirty="0">
                <a:latin typeface="+mn-lt"/>
              </a:rPr>
              <a:t>), </a:t>
            </a:r>
            <a:r>
              <a:rPr lang="en-GB" i="1" dirty="0">
                <a:latin typeface="+mn-lt"/>
              </a:rPr>
              <a:t>x</a:t>
            </a:r>
            <a:r>
              <a:rPr lang="en-GB" dirty="0">
                <a:latin typeface="+mn-lt"/>
              </a:rPr>
              <a:t> </a:t>
            </a:r>
            <a:r>
              <a:rPr lang="ru-RU" dirty="0">
                <a:latin typeface="+mn-lt"/>
              </a:rPr>
              <a:t>та </a:t>
            </a:r>
            <a:r>
              <a:rPr lang="en-GB" i="1" dirty="0">
                <a:latin typeface="+mn-lt"/>
              </a:rPr>
              <a:t>y</a:t>
            </a:r>
            <a:r>
              <a:rPr lang="en-GB" dirty="0">
                <a:latin typeface="+mn-lt"/>
              </a:rPr>
              <a:t>.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738176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B1E1FFA-CE14-4AC6-89AB-52327ADF06BC}" type="slidenum">
              <a:rPr lang="en-US"/>
              <a:pPr/>
              <a:t>46</a:t>
            </a:fld>
            <a:endParaRPr lang="en-US"/>
          </a:p>
        </p:txBody>
      </p:sp>
      <p:sp>
        <p:nvSpPr>
          <p:cNvPr id="103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6363"/>
            <a:ext cx="8810625" cy="465137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3600" b="1" dirty="0" smtClean="0">
                <a:solidFill>
                  <a:schemeClr val="bg1"/>
                </a:solidFill>
                <a:latin typeface="+mn-lt"/>
              </a:rPr>
              <a:t>Is this a distance metric?</a:t>
            </a:r>
          </a:p>
        </p:txBody>
      </p:sp>
      <p:grpSp>
        <p:nvGrpSpPr>
          <p:cNvPr id="2" name="Группа 1"/>
          <p:cNvGrpSpPr/>
          <p:nvPr/>
        </p:nvGrpSpPr>
        <p:grpSpPr>
          <a:xfrm>
            <a:off x="1369218" y="851298"/>
            <a:ext cx="6240490" cy="3912393"/>
            <a:chOff x="1290638" y="859632"/>
            <a:chExt cx="6240490" cy="3912393"/>
          </a:xfrm>
        </p:grpSpPr>
        <p:sp>
          <p:nvSpPr>
            <p:cNvPr id="1033" name="Text Box 4"/>
            <p:cNvSpPr txBox="1">
              <a:spLocks noChangeArrowheads="1"/>
            </p:cNvSpPr>
            <p:nvPr/>
          </p:nvSpPr>
          <p:spPr bwMode="auto">
            <a:xfrm>
              <a:off x="5294371" y="1444229"/>
              <a:ext cx="208903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 dirty="0">
                  <a:solidFill>
                    <a:srgbClr val="0000CC"/>
                  </a:solidFill>
                </a:rPr>
                <a:t>Not: Positive definite</a:t>
              </a:r>
            </a:p>
          </p:txBody>
        </p:sp>
        <p:sp>
          <p:nvSpPr>
            <p:cNvPr id="1034" name="Text Box 5"/>
            <p:cNvSpPr txBox="1">
              <a:spLocks noChangeArrowheads="1"/>
            </p:cNvSpPr>
            <p:nvPr/>
          </p:nvSpPr>
          <p:spPr bwMode="auto">
            <a:xfrm>
              <a:off x="5569373" y="2322910"/>
              <a:ext cx="1603324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0000CC"/>
                  </a:solidFill>
                </a:rPr>
                <a:t>Not: Symmetric</a:t>
              </a:r>
            </a:p>
          </p:txBody>
        </p:sp>
        <p:sp>
          <p:nvSpPr>
            <p:cNvPr id="1035" name="Text Box 6"/>
            <p:cNvSpPr txBox="1">
              <a:spLocks noChangeArrowheads="1"/>
            </p:cNvSpPr>
            <p:nvPr/>
          </p:nvSpPr>
          <p:spPr bwMode="auto">
            <a:xfrm>
              <a:off x="5219277" y="2994422"/>
              <a:ext cx="2311851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0000CC"/>
                  </a:solidFill>
                </a:rPr>
                <a:t>Not: Triangle Inequality</a:t>
              </a:r>
            </a:p>
          </p:txBody>
        </p:sp>
        <p:graphicFrame>
          <p:nvGraphicFramePr>
            <p:cNvPr id="43008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5835637"/>
                </p:ext>
              </p:extLst>
            </p:nvPr>
          </p:nvGraphicFramePr>
          <p:xfrm>
            <a:off x="1310879" y="1572817"/>
            <a:ext cx="2314575" cy="4976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6" name="Equation" r:id="rId3" imgW="1358640" imgH="291960" progId="Equation.DSMT4">
                    <p:embed/>
                  </p:oleObj>
                </mc:Choice>
                <mc:Fallback>
                  <p:oleObj name="Equation" r:id="rId3" imgW="135864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0879" y="1572817"/>
                          <a:ext cx="2314575" cy="497681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6" name="Text Box 9"/>
            <p:cNvSpPr txBox="1">
              <a:spLocks noChangeArrowheads="1"/>
            </p:cNvSpPr>
            <p:nvPr/>
          </p:nvSpPr>
          <p:spPr bwMode="auto">
            <a:xfrm>
              <a:off x="5649465" y="4015979"/>
              <a:ext cx="1619354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0000CC"/>
                  </a:solidFill>
                </a:rPr>
                <a:t>Distance Metric</a:t>
              </a:r>
            </a:p>
          </p:txBody>
        </p:sp>
        <p:graphicFrame>
          <p:nvGraphicFramePr>
            <p:cNvPr id="1027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5377505"/>
                </p:ext>
              </p:extLst>
            </p:nvPr>
          </p:nvGraphicFramePr>
          <p:xfrm>
            <a:off x="1981200" y="859632"/>
            <a:ext cx="5229225" cy="388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7" name="Equation" r:id="rId5" imgW="3251160" imgH="241200" progId="Equation.DSMT4">
                    <p:embed/>
                  </p:oleObj>
                </mc:Choice>
                <mc:Fallback>
                  <p:oleObj name="Equation" r:id="rId5" imgW="32511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1200" y="859632"/>
                          <a:ext cx="5229225" cy="388144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091" name="Line 11"/>
            <p:cNvSpPr>
              <a:spLocks noChangeShapeType="1"/>
            </p:cNvSpPr>
            <p:nvPr/>
          </p:nvSpPr>
          <p:spPr bwMode="auto">
            <a:xfrm>
              <a:off x="3636169" y="2143125"/>
              <a:ext cx="1771650" cy="20073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 sz="1425"/>
            </a:p>
          </p:txBody>
        </p:sp>
        <p:graphicFrame>
          <p:nvGraphicFramePr>
            <p:cNvPr id="430092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9735017"/>
                </p:ext>
              </p:extLst>
            </p:nvPr>
          </p:nvGraphicFramePr>
          <p:xfrm>
            <a:off x="1290638" y="2572940"/>
            <a:ext cx="2305050" cy="469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8" name="Equation" r:id="rId7" imgW="1434960" imgH="291960" progId="Equation.DSMT4">
                    <p:embed/>
                  </p:oleObj>
                </mc:Choice>
                <mc:Fallback>
                  <p:oleObj name="Equation" r:id="rId7" imgW="143496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0638" y="2572940"/>
                          <a:ext cx="2305050" cy="469106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093" name="Line 13"/>
            <p:cNvSpPr>
              <a:spLocks noChangeShapeType="1"/>
            </p:cNvSpPr>
            <p:nvPr/>
          </p:nvSpPr>
          <p:spPr bwMode="auto">
            <a:xfrm flipV="1">
              <a:off x="3632597" y="1668065"/>
              <a:ext cx="1350169" cy="10358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 sz="1425"/>
            </a:p>
          </p:txBody>
        </p:sp>
        <p:sp>
          <p:nvSpPr>
            <p:cNvPr id="430094" name="Line 14"/>
            <p:cNvSpPr>
              <a:spLocks noChangeShapeType="1"/>
            </p:cNvSpPr>
            <p:nvPr/>
          </p:nvSpPr>
          <p:spPr bwMode="auto">
            <a:xfrm flipV="1">
              <a:off x="3664744" y="2450307"/>
              <a:ext cx="1535906" cy="3571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 sz="1425"/>
            </a:p>
          </p:txBody>
        </p:sp>
        <p:sp>
          <p:nvSpPr>
            <p:cNvPr id="430095" name="Line 15"/>
            <p:cNvSpPr>
              <a:spLocks noChangeShapeType="1"/>
            </p:cNvSpPr>
            <p:nvPr/>
          </p:nvSpPr>
          <p:spPr bwMode="auto">
            <a:xfrm>
              <a:off x="3674918" y="2961084"/>
              <a:ext cx="1207294" cy="1000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 sz="1425"/>
            </a:p>
          </p:txBody>
        </p:sp>
        <p:graphicFrame>
          <p:nvGraphicFramePr>
            <p:cNvPr id="430096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154453"/>
                </p:ext>
              </p:extLst>
            </p:nvPr>
          </p:nvGraphicFramePr>
          <p:xfrm>
            <a:off x="1369218" y="3319543"/>
            <a:ext cx="2284810" cy="7369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9" name="Equation" r:id="rId9" imgW="1536480" imgH="495000" progId="Equation.DSMT4">
                    <p:embed/>
                  </p:oleObj>
                </mc:Choice>
                <mc:Fallback>
                  <p:oleObj name="Equation" r:id="rId9" imgW="1536480" imgH="495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9218" y="3319543"/>
                          <a:ext cx="2284810" cy="736997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097" name="Line 17"/>
            <p:cNvSpPr>
              <a:spLocks noChangeShapeType="1"/>
            </p:cNvSpPr>
            <p:nvPr/>
          </p:nvSpPr>
          <p:spPr bwMode="auto">
            <a:xfrm>
              <a:off x="3674918" y="3660696"/>
              <a:ext cx="1732901" cy="2957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 sz="1425"/>
            </a:p>
          </p:txBody>
        </p:sp>
        <p:graphicFrame>
          <p:nvGraphicFramePr>
            <p:cNvPr id="430098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5816540"/>
                </p:ext>
              </p:extLst>
            </p:nvPr>
          </p:nvGraphicFramePr>
          <p:xfrm>
            <a:off x="1319213" y="4226322"/>
            <a:ext cx="2324100" cy="4726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0" name="Equation" r:id="rId11" imgW="1434960" imgH="291960" progId="Equation.DSMT4">
                    <p:embed/>
                  </p:oleObj>
                </mc:Choice>
                <mc:Fallback>
                  <p:oleObj name="Equation" r:id="rId11" imgW="143496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9213" y="4226322"/>
                          <a:ext cx="2324100" cy="472679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099" name="Line 19"/>
            <p:cNvSpPr>
              <a:spLocks noChangeShapeType="1"/>
            </p:cNvSpPr>
            <p:nvPr/>
          </p:nvSpPr>
          <p:spPr bwMode="auto">
            <a:xfrm flipV="1">
              <a:off x="3654028" y="2721769"/>
              <a:ext cx="1368029" cy="17180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 sz="1425"/>
            </a:p>
          </p:txBody>
        </p:sp>
        <p:sp>
          <p:nvSpPr>
            <p:cNvPr id="430100" name="Line 20"/>
            <p:cNvSpPr>
              <a:spLocks noChangeShapeType="1"/>
            </p:cNvSpPr>
            <p:nvPr/>
          </p:nvSpPr>
          <p:spPr bwMode="auto">
            <a:xfrm flipV="1">
              <a:off x="3700463" y="3350419"/>
              <a:ext cx="1264444" cy="14216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 sz="1425"/>
            </a:p>
          </p:txBody>
        </p:sp>
      </p:grpSp>
    </p:spTree>
    <p:extLst>
      <p:ext uri="{BB962C8B-B14F-4D97-AF65-F5344CB8AC3E}">
        <p14:creationId xmlns:p14="http://schemas.microsoft.com/office/powerpoint/2010/main" val="74739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95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Подібність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між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двійковими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векторами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11760" y="903750"/>
            <a:ext cx="8920480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smtClean="0">
                <a:latin typeface="+mn-lt"/>
              </a:rPr>
              <a:t>1. </a:t>
            </a:r>
            <a:r>
              <a:rPr lang="ru-RU" dirty="0" err="1" smtClean="0">
                <a:latin typeface="+mn-lt"/>
              </a:rPr>
              <a:t>Обчислити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подібність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використовуючи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такі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величини</a:t>
            </a:r>
            <a:endParaRPr lang="ru-RU" dirty="0">
              <a:latin typeface="+mn-lt"/>
            </a:endParaRPr>
          </a:p>
          <a:p>
            <a:pPr algn="l"/>
            <a:r>
              <a:rPr lang="en-GB" dirty="0">
                <a:latin typeface="+mn-lt"/>
              </a:rPr>
              <a:t>f01 = </a:t>
            </a:r>
            <a:r>
              <a:rPr lang="ru-RU" dirty="0" err="1">
                <a:latin typeface="+mn-lt"/>
              </a:rPr>
              <a:t>кількість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атрибутів</a:t>
            </a:r>
            <a:r>
              <a:rPr lang="ru-RU" dirty="0">
                <a:latin typeface="+mn-lt"/>
              </a:rPr>
              <a:t>, де </a:t>
            </a:r>
            <a:r>
              <a:rPr lang="en-GB" dirty="0">
                <a:latin typeface="+mn-lt"/>
              </a:rPr>
              <a:t>x </a:t>
            </a:r>
            <a:r>
              <a:rPr lang="ru-RU" dirty="0" err="1">
                <a:latin typeface="+mn-lt"/>
              </a:rPr>
              <a:t>дорівнює</a:t>
            </a:r>
            <a:r>
              <a:rPr lang="ru-RU" dirty="0">
                <a:latin typeface="+mn-lt"/>
              </a:rPr>
              <a:t> 0, а </a:t>
            </a:r>
            <a:r>
              <a:rPr lang="en-GB" dirty="0">
                <a:latin typeface="+mn-lt"/>
              </a:rPr>
              <a:t>y </a:t>
            </a:r>
            <a:r>
              <a:rPr lang="ru-RU" dirty="0" err="1">
                <a:latin typeface="+mn-lt"/>
              </a:rPr>
              <a:t>дорівнює</a:t>
            </a:r>
            <a:r>
              <a:rPr lang="ru-RU" dirty="0">
                <a:latin typeface="+mn-lt"/>
              </a:rPr>
              <a:t> 1</a:t>
            </a:r>
          </a:p>
          <a:p>
            <a:pPr algn="l"/>
            <a:r>
              <a:rPr lang="en-GB" dirty="0">
                <a:latin typeface="+mn-lt"/>
              </a:rPr>
              <a:t>f10 = </a:t>
            </a:r>
            <a:r>
              <a:rPr lang="ru-RU" dirty="0" err="1">
                <a:latin typeface="+mn-lt"/>
              </a:rPr>
              <a:t>кількість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атрибутів</a:t>
            </a:r>
            <a:r>
              <a:rPr lang="ru-RU" dirty="0">
                <a:latin typeface="+mn-lt"/>
              </a:rPr>
              <a:t>, де </a:t>
            </a:r>
            <a:r>
              <a:rPr lang="en-GB" dirty="0">
                <a:latin typeface="+mn-lt"/>
              </a:rPr>
              <a:t>x </a:t>
            </a:r>
            <a:r>
              <a:rPr lang="ru-RU" dirty="0" err="1">
                <a:latin typeface="+mn-lt"/>
              </a:rPr>
              <a:t>дорівнює</a:t>
            </a:r>
            <a:r>
              <a:rPr lang="ru-RU" dirty="0">
                <a:latin typeface="+mn-lt"/>
              </a:rPr>
              <a:t> 1, а </a:t>
            </a:r>
            <a:r>
              <a:rPr lang="en-GB" dirty="0">
                <a:latin typeface="+mn-lt"/>
              </a:rPr>
              <a:t>y </a:t>
            </a:r>
            <a:r>
              <a:rPr lang="ru-RU" dirty="0" err="1">
                <a:latin typeface="+mn-lt"/>
              </a:rPr>
              <a:t>дорівнює</a:t>
            </a:r>
            <a:r>
              <a:rPr lang="ru-RU" dirty="0">
                <a:latin typeface="+mn-lt"/>
              </a:rPr>
              <a:t> 0</a:t>
            </a:r>
          </a:p>
          <a:p>
            <a:pPr algn="l"/>
            <a:r>
              <a:rPr lang="en-GB" dirty="0">
                <a:latin typeface="+mn-lt"/>
              </a:rPr>
              <a:t>f00 = </a:t>
            </a:r>
            <a:r>
              <a:rPr lang="ru-RU" dirty="0" err="1">
                <a:latin typeface="+mn-lt"/>
              </a:rPr>
              <a:t>кількість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атрибутів</a:t>
            </a:r>
            <a:r>
              <a:rPr lang="ru-RU" dirty="0">
                <a:latin typeface="+mn-lt"/>
              </a:rPr>
              <a:t>, де </a:t>
            </a:r>
            <a:r>
              <a:rPr lang="en-GB" dirty="0">
                <a:latin typeface="+mn-lt"/>
              </a:rPr>
              <a:t>x </a:t>
            </a:r>
            <a:r>
              <a:rPr lang="ru-RU" dirty="0" err="1">
                <a:latin typeface="+mn-lt"/>
              </a:rPr>
              <a:t>дорівнює</a:t>
            </a:r>
            <a:r>
              <a:rPr lang="ru-RU" dirty="0">
                <a:latin typeface="+mn-lt"/>
              </a:rPr>
              <a:t> 0, а </a:t>
            </a:r>
            <a:r>
              <a:rPr lang="en-GB" dirty="0">
                <a:latin typeface="+mn-lt"/>
              </a:rPr>
              <a:t>y </a:t>
            </a:r>
            <a:r>
              <a:rPr lang="ru-RU" dirty="0" err="1">
                <a:latin typeface="+mn-lt"/>
              </a:rPr>
              <a:t>дорівнює</a:t>
            </a:r>
            <a:r>
              <a:rPr lang="ru-RU" dirty="0">
                <a:latin typeface="+mn-lt"/>
              </a:rPr>
              <a:t> 0</a:t>
            </a:r>
          </a:p>
          <a:p>
            <a:pPr algn="l"/>
            <a:r>
              <a:rPr lang="en-GB" dirty="0">
                <a:latin typeface="+mn-lt"/>
              </a:rPr>
              <a:t>f11 = </a:t>
            </a:r>
            <a:r>
              <a:rPr lang="ru-RU" dirty="0" err="1">
                <a:latin typeface="+mn-lt"/>
              </a:rPr>
              <a:t>кількість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атрибутів</a:t>
            </a:r>
            <a:r>
              <a:rPr lang="ru-RU" dirty="0">
                <a:latin typeface="+mn-lt"/>
              </a:rPr>
              <a:t>, де </a:t>
            </a:r>
            <a:r>
              <a:rPr lang="en-GB" dirty="0">
                <a:latin typeface="+mn-lt"/>
              </a:rPr>
              <a:t>x </a:t>
            </a:r>
            <a:r>
              <a:rPr lang="ru-RU" dirty="0" err="1">
                <a:latin typeface="+mn-lt"/>
              </a:rPr>
              <a:t>дорівнює</a:t>
            </a:r>
            <a:r>
              <a:rPr lang="ru-RU" dirty="0">
                <a:latin typeface="+mn-lt"/>
              </a:rPr>
              <a:t> 1, а </a:t>
            </a:r>
            <a:r>
              <a:rPr lang="en-GB" dirty="0">
                <a:latin typeface="+mn-lt"/>
              </a:rPr>
              <a:t>y </a:t>
            </a:r>
            <a:r>
              <a:rPr lang="ru-RU" dirty="0" err="1">
                <a:latin typeface="+mn-lt"/>
              </a:rPr>
              <a:t>дорівнює</a:t>
            </a:r>
            <a:r>
              <a:rPr lang="ru-RU" dirty="0">
                <a:latin typeface="+mn-lt"/>
              </a:rPr>
              <a:t> 1</a:t>
            </a:r>
          </a:p>
          <a:p>
            <a:pPr algn="l"/>
            <a:endParaRPr lang="ru-RU" dirty="0">
              <a:latin typeface="+mn-lt"/>
            </a:endParaRPr>
          </a:p>
          <a:p>
            <a:pPr algn="l"/>
            <a:r>
              <a:rPr lang="ru-RU" dirty="0" smtClean="0">
                <a:latin typeface="+mn-lt"/>
              </a:rPr>
              <a:t>2. </a:t>
            </a:r>
            <a:r>
              <a:rPr lang="ru-RU" dirty="0" err="1" smtClean="0">
                <a:latin typeface="+mn-lt"/>
              </a:rPr>
              <a:t>Коефіцієнти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простого </a:t>
            </a:r>
            <a:r>
              <a:rPr lang="ru-RU" dirty="0" err="1">
                <a:latin typeface="+mn-lt"/>
              </a:rPr>
              <a:t>збігу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жаккарда</a:t>
            </a:r>
            <a:endParaRPr lang="ru-RU" dirty="0">
              <a:latin typeface="+mn-lt"/>
            </a:endParaRPr>
          </a:p>
          <a:p>
            <a:pPr algn="l"/>
            <a:r>
              <a:rPr lang="en-GB" dirty="0">
                <a:latin typeface="+mn-lt"/>
              </a:rPr>
              <a:t>SMC = </a:t>
            </a:r>
            <a:r>
              <a:rPr lang="ru-RU" dirty="0" err="1">
                <a:latin typeface="+mn-lt"/>
              </a:rPr>
              <a:t>кількість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збігів</a:t>
            </a:r>
            <a:r>
              <a:rPr lang="ru-RU" dirty="0">
                <a:latin typeface="+mn-lt"/>
              </a:rPr>
              <a:t> / </a:t>
            </a:r>
            <a:r>
              <a:rPr lang="ru-RU" dirty="0" err="1">
                <a:latin typeface="+mn-lt"/>
              </a:rPr>
              <a:t>кількість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атрибутів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= (</a:t>
            </a:r>
            <a:r>
              <a:rPr lang="en-GB" dirty="0">
                <a:latin typeface="+mn-lt"/>
              </a:rPr>
              <a:t>f11 + f00) / (f01 + f10 + f11 + f00)</a:t>
            </a:r>
          </a:p>
          <a:p>
            <a:pPr algn="l"/>
            <a:endParaRPr lang="en-GB" dirty="0">
              <a:latin typeface="+mn-lt"/>
            </a:endParaRPr>
          </a:p>
          <a:p>
            <a:pPr algn="l"/>
            <a:r>
              <a:rPr lang="ru-RU" dirty="0" err="1">
                <a:latin typeface="+mn-lt"/>
              </a:rPr>
              <a:t>Подібність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між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двійковими</a:t>
            </a:r>
            <a:r>
              <a:rPr lang="ru-RU" dirty="0">
                <a:latin typeface="+mn-lt"/>
              </a:rPr>
              <a:t> </a:t>
            </a:r>
            <a:r>
              <a:rPr lang="ru-RU" dirty="0" smtClean="0">
                <a:latin typeface="+mn-lt"/>
              </a:rPr>
              <a:t>векторами:</a:t>
            </a:r>
          </a:p>
          <a:p>
            <a:pPr algn="l"/>
            <a:r>
              <a:rPr lang="ru-RU" dirty="0" smtClean="0">
                <a:latin typeface="+mn-lt"/>
              </a:rPr>
              <a:t> </a:t>
            </a:r>
            <a:r>
              <a:rPr lang="en-GB" dirty="0" smtClean="0">
                <a:latin typeface="+mn-lt"/>
              </a:rPr>
              <a:t>J </a:t>
            </a:r>
            <a:r>
              <a:rPr lang="en-GB" dirty="0">
                <a:latin typeface="+mn-lt"/>
              </a:rPr>
              <a:t>= </a:t>
            </a:r>
            <a:r>
              <a:rPr lang="ru-RU" dirty="0" err="1">
                <a:latin typeface="+mn-lt"/>
              </a:rPr>
              <a:t>кількість</a:t>
            </a:r>
            <a:r>
              <a:rPr lang="ru-RU" dirty="0">
                <a:latin typeface="+mn-lt"/>
              </a:rPr>
              <a:t> </a:t>
            </a:r>
            <a:r>
              <a:rPr lang="en-GB" dirty="0"/>
              <a:t>f11 </a:t>
            </a:r>
            <a:r>
              <a:rPr lang="ru-RU" dirty="0" err="1" smtClean="0">
                <a:latin typeface="+mn-lt"/>
              </a:rPr>
              <a:t>збігів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/ </a:t>
            </a:r>
            <a:r>
              <a:rPr lang="ru-RU" dirty="0" err="1">
                <a:latin typeface="+mn-lt"/>
              </a:rPr>
              <a:t>кількість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ненульових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атрибутів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= (</a:t>
            </a:r>
            <a:r>
              <a:rPr lang="en-GB" dirty="0">
                <a:latin typeface="+mn-lt"/>
              </a:rPr>
              <a:t>f11) / (f01 + f10 + f11</a:t>
            </a:r>
            <a:r>
              <a:rPr lang="en-GB" dirty="0" smtClean="0">
                <a:latin typeface="+mn-lt"/>
              </a:rPr>
              <a:t>)</a:t>
            </a:r>
            <a:r>
              <a:rPr lang="ru-RU" dirty="0" smtClean="0">
                <a:latin typeface="+mn-lt"/>
              </a:rPr>
              <a:t>. 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890247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95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Приклад. </a:t>
            </a:r>
            <a:r>
              <a:rPr lang="ru-RU" sz="3200" b="1" dirty="0" err="1" smtClean="0">
                <a:solidFill>
                  <a:schemeClr val="bg1"/>
                </a:solidFill>
                <a:latin typeface="+mn-lt"/>
              </a:rPr>
              <a:t>Подібність</a:t>
            </a:r>
            <a:r>
              <a:rPr lang="ru-RU" sz="32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між</a:t>
            </a:r>
            <a:r>
              <a:rPr lang="ru-RU" sz="32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+mn-lt"/>
              </a:rPr>
              <a:t>двійковими</a:t>
            </a:r>
            <a:r>
              <a:rPr lang="ru-RU" sz="3200" b="1" dirty="0">
                <a:solidFill>
                  <a:schemeClr val="bg1"/>
                </a:solidFill>
                <a:latin typeface="+mn-lt"/>
              </a:rPr>
              <a:t> векторами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55600" y="887884"/>
            <a:ext cx="8432800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dirty="0">
                <a:latin typeface="+mn-lt"/>
              </a:rPr>
              <a:t>x =  1 0 0 0 0 0 0 0 0 0    		</a:t>
            </a:r>
          </a:p>
          <a:p>
            <a:pPr algn="l"/>
            <a:r>
              <a:rPr lang="en-GB" dirty="0">
                <a:latin typeface="+mn-lt"/>
              </a:rPr>
              <a:t>y =  0 0 0 0 0 0 1 0 0 1 </a:t>
            </a:r>
          </a:p>
          <a:p>
            <a:pPr algn="l"/>
            <a:endParaRPr lang="en-GB" dirty="0">
              <a:latin typeface="+mn-lt"/>
            </a:endParaRPr>
          </a:p>
          <a:p>
            <a:pPr algn="l"/>
            <a:r>
              <a:rPr lang="en-GB" dirty="0">
                <a:latin typeface="+mn-lt"/>
              </a:rPr>
              <a:t>f01 = 2   (</a:t>
            </a:r>
            <a:r>
              <a:rPr lang="ru-RU" dirty="0" err="1">
                <a:latin typeface="+mn-lt"/>
              </a:rPr>
              <a:t>кількість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атрибутів</a:t>
            </a:r>
            <a:r>
              <a:rPr lang="ru-RU" dirty="0">
                <a:latin typeface="+mn-lt"/>
              </a:rPr>
              <a:t>, де </a:t>
            </a:r>
            <a:r>
              <a:rPr lang="en-GB" dirty="0">
                <a:latin typeface="+mn-lt"/>
              </a:rPr>
              <a:t>x </a:t>
            </a:r>
            <a:r>
              <a:rPr lang="ru-RU" dirty="0" err="1">
                <a:latin typeface="+mn-lt"/>
              </a:rPr>
              <a:t>дорівнює</a:t>
            </a:r>
            <a:r>
              <a:rPr lang="ru-RU" dirty="0">
                <a:latin typeface="+mn-lt"/>
              </a:rPr>
              <a:t> 0, а </a:t>
            </a:r>
            <a:r>
              <a:rPr lang="en-GB" dirty="0">
                <a:latin typeface="+mn-lt"/>
              </a:rPr>
              <a:t>y </a:t>
            </a:r>
            <a:r>
              <a:rPr lang="ru-RU" dirty="0" err="1">
                <a:latin typeface="+mn-lt"/>
              </a:rPr>
              <a:t>дорівнює</a:t>
            </a:r>
            <a:r>
              <a:rPr lang="ru-RU" dirty="0">
                <a:latin typeface="+mn-lt"/>
              </a:rPr>
              <a:t> 1)</a:t>
            </a:r>
          </a:p>
          <a:p>
            <a:pPr algn="l"/>
            <a:r>
              <a:rPr lang="en-GB" dirty="0">
                <a:latin typeface="+mn-lt"/>
              </a:rPr>
              <a:t>f10 = 1   (</a:t>
            </a:r>
            <a:r>
              <a:rPr lang="ru-RU" dirty="0" err="1">
                <a:latin typeface="+mn-lt"/>
              </a:rPr>
              <a:t>кількість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атрибутів</a:t>
            </a:r>
            <a:r>
              <a:rPr lang="ru-RU" dirty="0">
                <a:latin typeface="+mn-lt"/>
              </a:rPr>
              <a:t>, де </a:t>
            </a:r>
            <a:r>
              <a:rPr lang="en-GB" dirty="0">
                <a:latin typeface="+mn-lt"/>
              </a:rPr>
              <a:t>x </a:t>
            </a:r>
            <a:r>
              <a:rPr lang="ru-RU" dirty="0" err="1">
                <a:latin typeface="+mn-lt"/>
              </a:rPr>
              <a:t>дорівнює</a:t>
            </a:r>
            <a:r>
              <a:rPr lang="ru-RU" dirty="0">
                <a:latin typeface="+mn-lt"/>
              </a:rPr>
              <a:t> 1, а </a:t>
            </a:r>
            <a:r>
              <a:rPr lang="en-GB" dirty="0">
                <a:latin typeface="+mn-lt"/>
              </a:rPr>
              <a:t>y </a:t>
            </a:r>
            <a:r>
              <a:rPr lang="ru-RU" dirty="0" err="1">
                <a:latin typeface="+mn-lt"/>
              </a:rPr>
              <a:t>дорівнює</a:t>
            </a:r>
            <a:r>
              <a:rPr lang="ru-RU" dirty="0">
                <a:latin typeface="+mn-lt"/>
              </a:rPr>
              <a:t> 0))</a:t>
            </a:r>
          </a:p>
          <a:p>
            <a:pPr algn="l"/>
            <a:r>
              <a:rPr lang="en-GB" dirty="0">
                <a:latin typeface="+mn-lt"/>
              </a:rPr>
              <a:t>f00 = 7   (</a:t>
            </a:r>
            <a:r>
              <a:rPr lang="ru-RU" dirty="0" err="1">
                <a:latin typeface="+mn-lt"/>
              </a:rPr>
              <a:t>кількість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атрибутів</a:t>
            </a:r>
            <a:r>
              <a:rPr lang="ru-RU" dirty="0">
                <a:latin typeface="+mn-lt"/>
              </a:rPr>
              <a:t>, де </a:t>
            </a:r>
            <a:r>
              <a:rPr lang="en-GB" dirty="0">
                <a:latin typeface="+mn-lt"/>
              </a:rPr>
              <a:t>x </a:t>
            </a:r>
            <a:r>
              <a:rPr lang="ru-RU" dirty="0" err="1">
                <a:latin typeface="+mn-lt"/>
              </a:rPr>
              <a:t>дорівнює</a:t>
            </a:r>
            <a:r>
              <a:rPr lang="ru-RU" dirty="0">
                <a:latin typeface="+mn-lt"/>
              </a:rPr>
              <a:t> 0, а </a:t>
            </a:r>
            <a:r>
              <a:rPr lang="en-GB" dirty="0">
                <a:latin typeface="+mn-lt"/>
              </a:rPr>
              <a:t>y </a:t>
            </a:r>
            <a:r>
              <a:rPr lang="ru-RU" dirty="0" err="1">
                <a:latin typeface="+mn-lt"/>
              </a:rPr>
              <a:t>дорівнює</a:t>
            </a:r>
            <a:r>
              <a:rPr lang="ru-RU" dirty="0">
                <a:latin typeface="+mn-lt"/>
              </a:rPr>
              <a:t> 0)</a:t>
            </a:r>
          </a:p>
          <a:p>
            <a:pPr algn="l"/>
            <a:r>
              <a:rPr lang="en-GB" dirty="0">
                <a:latin typeface="+mn-lt"/>
              </a:rPr>
              <a:t>f11 = 0   (</a:t>
            </a:r>
            <a:r>
              <a:rPr lang="ru-RU" dirty="0" err="1">
                <a:latin typeface="+mn-lt"/>
              </a:rPr>
              <a:t>кількість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атрибутів</a:t>
            </a:r>
            <a:r>
              <a:rPr lang="ru-RU" dirty="0">
                <a:latin typeface="+mn-lt"/>
              </a:rPr>
              <a:t>, де </a:t>
            </a:r>
            <a:r>
              <a:rPr lang="en-GB" dirty="0">
                <a:latin typeface="+mn-lt"/>
              </a:rPr>
              <a:t>x </a:t>
            </a:r>
            <a:r>
              <a:rPr lang="ru-RU" dirty="0" err="1">
                <a:latin typeface="+mn-lt"/>
              </a:rPr>
              <a:t>дорівнює</a:t>
            </a:r>
            <a:r>
              <a:rPr lang="ru-RU" dirty="0">
                <a:latin typeface="+mn-lt"/>
              </a:rPr>
              <a:t> 1, а </a:t>
            </a:r>
            <a:r>
              <a:rPr lang="en-GB" dirty="0">
                <a:latin typeface="+mn-lt"/>
              </a:rPr>
              <a:t>y </a:t>
            </a:r>
            <a:r>
              <a:rPr lang="ru-RU" dirty="0" err="1">
                <a:latin typeface="+mn-lt"/>
              </a:rPr>
              <a:t>дорівнює</a:t>
            </a:r>
            <a:r>
              <a:rPr lang="ru-RU" dirty="0">
                <a:latin typeface="+mn-lt"/>
              </a:rPr>
              <a:t> 1)</a:t>
            </a:r>
          </a:p>
          <a:p>
            <a:pPr algn="l"/>
            <a:r>
              <a:rPr lang="ru-RU" dirty="0">
                <a:latin typeface="+mn-lt"/>
              </a:rPr>
              <a:t>	</a:t>
            </a:r>
          </a:p>
          <a:p>
            <a:pPr algn="l"/>
            <a:r>
              <a:rPr lang="en-GB" dirty="0">
                <a:latin typeface="+mn-lt"/>
              </a:rPr>
              <a:t>SMC 	= (f11 + f00) / (f01 + f10 + f11 + f00</a:t>
            </a:r>
            <a:r>
              <a:rPr lang="en-GB" dirty="0" smtClean="0">
                <a:latin typeface="+mn-lt"/>
              </a:rPr>
              <a:t>)</a:t>
            </a:r>
            <a:r>
              <a:rPr lang="uk-UA" dirty="0" smtClean="0">
                <a:latin typeface="+mn-lt"/>
              </a:rPr>
              <a:t> </a:t>
            </a:r>
            <a:r>
              <a:rPr lang="en-GB" dirty="0" smtClean="0">
                <a:latin typeface="+mn-lt"/>
              </a:rPr>
              <a:t>= </a:t>
            </a:r>
            <a:r>
              <a:rPr lang="en-GB" dirty="0">
                <a:latin typeface="+mn-lt"/>
              </a:rPr>
              <a:t>(0+7) / (2+1+0+7) = 0.7 </a:t>
            </a:r>
          </a:p>
          <a:p>
            <a:pPr algn="l"/>
            <a:endParaRPr lang="en-GB" dirty="0">
              <a:latin typeface="+mn-lt"/>
            </a:endParaRPr>
          </a:p>
          <a:p>
            <a:pPr algn="l"/>
            <a:r>
              <a:rPr lang="en-GB" dirty="0">
                <a:latin typeface="+mn-lt"/>
              </a:rPr>
              <a:t>J = (f11) / (f01 + f10 + f11) = 0 / (2 + 1 + 0) = 0 </a:t>
            </a:r>
          </a:p>
        </p:txBody>
      </p:sp>
    </p:spTree>
    <p:extLst>
      <p:ext uri="{BB962C8B-B14F-4D97-AF65-F5344CB8AC3E}">
        <p14:creationId xmlns:p14="http://schemas.microsoft.com/office/powerpoint/2010/main" val="2683315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11754" y="22270"/>
            <a:ext cx="55579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Порівняння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мір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близькості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57480" y="989122"/>
            <a:ext cx="888492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latin typeface="+mn-lt"/>
              </a:rPr>
              <a:t>Домен </a:t>
            </a:r>
            <a:r>
              <a:rPr lang="ru-RU" b="1" dirty="0" err="1">
                <a:latin typeface="+mn-lt"/>
              </a:rPr>
              <a:t>програми</a:t>
            </a:r>
            <a:endParaRPr lang="ru-RU" b="1" dirty="0">
              <a:latin typeface="+mn-lt"/>
            </a:endParaRPr>
          </a:p>
          <a:p>
            <a:pPr marL="698500" indent="-342900" algn="l">
              <a:buFont typeface="Wingdings" panose="05000000000000000000" pitchFamily="2" charset="2"/>
              <a:buChar char="q"/>
            </a:pPr>
            <a:r>
              <a:rPr lang="ru-RU" dirty="0" err="1" smtClean="0">
                <a:latin typeface="+mn-lt"/>
              </a:rPr>
              <a:t>Міри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подібності</a:t>
            </a:r>
            <a:r>
              <a:rPr lang="ru-RU" dirty="0">
                <a:latin typeface="+mn-lt"/>
              </a:rPr>
              <a:t>, як правило, </a:t>
            </a:r>
            <a:r>
              <a:rPr lang="ru-RU" dirty="0" err="1">
                <a:latin typeface="+mn-lt"/>
              </a:rPr>
              <a:t>специфічні</a:t>
            </a:r>
            <a:r>
              <a:rPr lang="ru-RU" dirty="0">
                <a:latin typeface="+mn-lt"/>
              </a:rPr>
              <a:t> для типу атрибута та </a:t>
            </a:r>
            <a:r>
              <a:rPr lang="ru-RU" dirty="0" err="1">
                <a:latin typeface="+mn-lt"/>
              </a:rPr>
              <a:t>даних</a:t>
            </a:r>
            <a:endParaRPr lang="ru-RU" dirty="0">
              <a:latin typeface="+mn-lt"/>
            </a:endParaRPr>
          </a:p>
          <a:p>
            <a:pPr marL="698500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Дані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записів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зображення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графіки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послідовності</a:t>
            </a:r>
            <a:r>
              <a:rPr lang="ru-RU" dirty="0">
                <a:latin typeface="+mn-lt"/>
              </a:rPr>
              <a:t>, 3</a:t>
            </a:r>
            <a:r>
              <a:rPr lang="en-US" dirty="0">
                <a:latin typeface="+mn-lt"/>
              </a:rPr>
              <a:t>D </a:t>
            </a:r>
            <a:r>
              <a:rPr lang="ru-RU" dirty="0" smtClean="0">
                <a:latin typeface="+mn-lt"/>
              </a:rPr>
              <a:t>структура </a:t>
            </a:r>
            <a:r>
              <a:rPr lang="ru-RU" dirty="0" err="1">
                <a:latin typeface="+mn-lt"/>
              </a:rPr>
              <a:t>білка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тощо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мають</a:t>
            </a:r>
            <a:r>
              <a:rPr lang="ru-RU" dirty="0">
                <a:latin typeface="+mn-lt"/>
              </a:rPr>
              <a:t>, як правило, </a:t>
            </a:r>
            <a:r>
              <a:rPr lang="ru-RU" dirty="0" err="1">
                <a:latin typeface="+mn-lt"/>
              </a:rPr>
              <a:t>різні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показники</a:t>
            </a:r>
            <a:endParaRPr lang="ru-RU" dirty="0">
              <a:latin typeface="+mn-lt"/>
            </a:endParaRPr>
          </a:p>
          <a:p>
            <a:pPr algn="l"/>
            <a:r>
              <a:rPr lang="ru-RU" b="1" dirty="0" err="1">
                <a:latin typeface="+mn-lt"/>
              </a:rPr>
              <a:t>Однак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можна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говорити</a:t>
            </a:r>
            <a:r>
              <a:rPr lang="ru-RU" b="1" dirty="0">
                <a:latin typeface="+mn-lt"/>
              </a:rPr>
              <a:t> про </a:t>
            </a:r>
            <a:r>
              <a:rPr lang="ru-RU" b="1" dirty="0" err="1">
                <a:latin typeface="+mn-lt"/>
              </a:rPr>
              <a:t>різні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властивості</a:t>
            </a:r>
            <a:r>
              <a:rPr lang="ru-RU" b="1" dirty="0">
                <a:latin typeface="+mn-lt"/>
              </a:rPr>
              <a:t>, </a:t>
            </a:r>
            <a:r>
              <a:rPr lang="ru-RU" b="1" dirty="0" err="1" smtClean="0">
                <a:latin typeface="+mn-lt"/>
              </a:rPr>
              <a:t>які</a:t>
            </a:r>
            <a:r>
              <a:rPr lang="ru-RU" b="1" dirty="0" smtClean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ви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хотіли</a:t>
            </a:r>
            <a:r>
              <a:rPr lang="ru-RU" b="1" dirty="0">
                <a:latin typeface="+mn-lt"/>
              </a:rPr>
              <a:t> б </a:t>
            </a:r>
            <a:r>
              <a:rPr lang="ru-RU" b="1" dirty="0" err="1">
                <a:latin typeface="+mn-lt"/>
              </a:rPr>
              <a:t>мати</a:t>
            </a:r>
            <a:r>
              <a:rPr lang="ru-RU" b="1" dirty="0">
                <a:latin typeface="+mn-lt"/>
              </a:rPr>
              <a:t> </a:t>
            </a:r>
            <a:r>
              <a:rPr lang="ru-RU" b="1" dirty="0" smtClean="0">
                <a:latin typeface="+mn-lt"/>
              </a:rPr>
              <a:t>для </a:t>
            </a:r>
            <a:r>
              <a:rPr lang="ru-RU" b="1" dirty="0" err="1" smtClean="0">
                <a:latin typeface="+mn-lt"/>
              </a:rPr>
              <a:t>міри</a:t>
            </a:r>
            <a:r>
              <a:rPr lang="ru-RU" b="1" dirty="0" smtClean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близькості</a:t>
            </a:r>
            <a:endParaRPr lang="ru-RU" b="1" dirty="0">
              <a:latin typeface="+mn-lt"/>
            </a:endParaRPr>
          </a:p>
          <a:p>
            <a:pPr marL="698500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Симетрія</a:t>
            </a:r>
            <a:r>
              <a:rPr lang="ru-RU" dirty="0">
                <a:latin typeface="+mn-lt"/>
              </a:rPr>
              <a:t> є </a:t>
            </a:r>
            <a:r>
              <a:rPr lang="ru-RU" dirty="0" err="1">
                <a:latin typeface="+mn-lt"/>
              </a:rPr>
              <a:t>загальноприйнятою</a:t>
            </a:r>
            <a:endParaRPr lang="ru-RU" dirty="0">
              <a:latin typeface="+mn-lt"/>
            </a:endParaRPr>
          </a:p>
          <a:p>
            <a:pPr marL="698500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Толерантність</a:t>
            </a:r>
            <a:r>
              <a:rPr lang="ru-RU" dirty="0">
                <a:latin typeface="+mn-lt"/>
              </a:rPr>
              <a:t> до шуму та </a:t>
            </a:r>
            <a:r>
              <a:rPr lang="ru-RU" dirty="0" err="1">
                <a:latin typeface="+mn-lt"/>
              </a:rPr>
              <a:t>викидів</a:t>
            </a:r>
            <a:r>
              <a:rPr lang="ru-RU" dirty="0">
                <a:latin typeface="+mn-lt"/>
              </a:rPr>
              <a:t> </a:t>
            </a:r>
            <a:endParaRPr lang="ru-RU" dirty="0" smtClean="0">
              <a:latin typeface="+mn-lt"/>
            </a:endParaRPr>
          </a:p>
          <a:p>
            <a:pPr marL="698500" indent="-342900" algn="l">
              <a:buFont typeface="Wingdings" panose="05000000000000000000" pitchFamily="2" charset="2"/>
              <a:buChar char="q"/>
            </a:pPr>
            <a:r>
              <a:rPr lang="ru-RU" dirty="0" err="1" smtClean="0">
                <a:latin typeface="+mn-lt"/>
              </a:rPr>
              <a:t>Можливість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знайти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більше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типів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шаблонів</a:t>
            </a:r>
            <a:endParaRPr lang="ru-RU" dirty="0">
              <a:latin typeface="+mn-lt"/>
            </a:endParaRPr>
          </a:p>
          <a:p>
            <a:pPr marL="698500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Багато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інших</a:t>
            </a:r>
            <a:r>
              <a:rPr lang="ru-RU" dirty="0">
                <a:latin typeface="+mn-lt"/>
              </a:rPr>
              <a:t> </a:t>
            </a:r>
          </a:p>
          <a:p>
            <a:pPr algn="l"/>
            <a:r>
              <a:rPr lang="ru-RU" b="1" dirty="0" err="1">
                <a:latin typeface="+mn-lt"/>
              </a:rPr>
              <a:t>Міра</a:t>
            </a:r>
            <a:r>
              <a:rPr lang="ru-RU" b="1" dirty="0">
                <a:latin typeface="+mn-lt"/>
              </a:rPr>
              <a:t> повинна </a:t>
            </a:r>
            <a:r>
              <a:rPr lang="ru-RU" b="1" dirty="0" err="1">
                <a:latin typeface="+mn-lt"/>
              </a:rPr>
              <a:t>застосовуватися</a:t>
            </a:r>
            <a:r>
              <a:rPr lang="ru-RU" b="1" dirty="0">
                <a:latin typeface="+mn-lt"/>
              </a:rPr>
              <a:t> до </a:t>
            </a:r>
            <a:r>
              <a:rPr lang="ru-RU" b="1" dirty="0" err="1">
                <a:latin typeface="+mn-lt"/>
              </a:rPr>
              <a:t>даних</a:t>
            </a:r>
            <a:r>
              <a:rPr lang="ru-RU" b="1" dirty="0">
                <a:latin typeface="+mn-lt"/>
              </a:rPr>
              <a:t> і </a:t>
            </a:r>
            <a:r>
              <a:rPr lang="ru-RU" b="1" dirty="0" err="1">
                <a:latin typeface="+mn-lt"/>
              </a:rPr>
              <a:t>давати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результати</a:t>
            </a:r>
            <a:r>
              <a:rPr lang="ru-RU" b="1" dirty="0">
                <a:latin typeface="+mn-lt"/>
              </a:rPr>
              <a:t>, </a:t>
            </a:r>
            <a:r>
              <a:rPr lang="ru-RU" b="1" dirty="0" err="1">
                <a:latin typeface="+mn-lt"/>
              </a:rPr>
              <a:t>які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узгоджуються</a:t>
            </a:r>
            <a:r>
              <a:rPr lang="ru-RU" b="1" dirty="0">
                <a:latin typeface="+mn-lt"/>
              </a:rPr>
              <a:t> </a:t>
            </a:r>
            <a:r>
              <a:rPr lang="ru-RU" b="1" dirty="0" err="1">
                <a:latin typeface="+mn-lt"/>
              </a:rPr>
              <a:t>із</a:t>
            </a:r>
            <a:r>
              <a:rPr lang="ru-RU" b="1" dirty="0">
                <a:latin typeface="+mn-lt"/>
              </a:rPr>
              <a:t> </a:t>
            </a:r>
            <a:r>
              <a:rPr lang="ru-RU" b="1" dirty="0" smtClean="0">
                <a:latin typeface="+mn-lt"/>
              </a:rPr>
              <a:t>предметною </a:t>
            </a:r>
            <a:r>
              <a:rPr lang="ru-RU" b="1" dirty="0" err="1" smtClean="0">
                <a:latin typeface="+mn-lt"/>
              </a:rPr>
              <a:t>областю</a:t>
            </a:r>
            <a:r>
              <a:rPr lang="ru-RU" b="1" dirty="0" smtClean="0">
                <a:latin typeface="+mn-lt"/>
              </a:rPr>
              <a:t>.</a:t>
            </a:r>
            <a:endParaRPr lang="en-US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837218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36306" y="930746"/>
            <a:ext cx="8620018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err="1" smtClean="0">
                <a:latin typeface="+mn-lt"/>
              </a:rPr>
              <a:t>Деякі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показники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подібності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базуються</a:t>
            </a:r>
            <a:r>
              <a:rPr lang="ru-RU" dirty="0">
                <a:latin typeface="+mn-lt"/>
              </a:rPr>
              <a:t> на </a:t>
            </a:r>
            <a:r>
              <a:rPr lang="ru-RU" dirty="0" err="1">
                <a:latin typeface="+mn-lt"/>
              </a:rPr>
              <a:t>теорії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інформації</a:t>
            </a:r>
            <a:endParaRPr lang="ru-RU" dirty="0">
              <a:latin typeface="+mn-lt"/>
            </a:endParaRPr>
          </a:p>
          <a:p>
            <a:pPr marL="703263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Взаємна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інформація</a:t>
            </a:r>
            <a:r>
              <a:rPr lang="ru-RU" dirty="0">
                <a:latin typeface="+mn-lt"/>
              </a:rPr>
              <a:t> в </a:t>
            </a:r>
            <a:r>
              <a:rPr lang="ru-RU" dirty="0" err="1">
                <a:latin typeface="+mn-lt"/>
              </a:rPr>
              <a:t>різних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версіях</a:t>
            </a:r>
            <a:endParaRPr lang="ru-RU" dirty="0">
              <a:latin typeface="+mn-lt"/>
            </a:endParaRPr>
          </a:p>
          <a:p>
            <a:pPr marL="703263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Максимальний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інформаційний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коефіцієнт</a:t>
            </a:r>
            <a:r>
              <a:rPr lang="ru-RU" dirty="0">
                <a:latin typeface="+mn-lt"/>
              </a:rPr>
              <a:t> (</a:t>
            </a:r>
            <a:r>
              <a:rPr lang="en-GB" dirty="0">
                <a:latin typeface="+mn-lt"/>
              </a:rPr>
              <a:t>MIC) </a:t>
            </a:r>
            <a:r>
              <a:rPr lang="ru-RU" dirty="0">
                <a:latin typeface="+mn-lt"/>
              </a:rPr>
              <a:t>та </a:t>
            </a:r>
            <a:r>
              <a:rPr lang="ru-RU" dirty="0" err="1">
                <a:latin typeface="+mn-lt"/>
              </a:rPr>
              <a:t>відповідні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міри</a:t>
            </a:r>
            <a:endParaRPr lang="ru-RU" dirty="0">
              <a:latin typeface="+mn-lt"/>
            </a:endParaRPr>
          </a:p>
          <a:p>
            <a:pPr marL="703263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Загальний</a:t>
            </a:r>
            <a:r>
              <a:rPr lang="ru-RU" dirty="0">
                <a:latin typeface="+mn-lt"/>
              </a:rPr>
              <a:t> і </a:t>
            </a:r>
            <a:r>
              <a:rPr lang="ru-RU" dirty="0" err="1">
                <a:latin typeface="+mn-lt"/>
              </a:rPr>
              <a:t>може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обробляти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нелінійні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відносини</a:t>
            </a:r>
            <a:endParaRPr lang="ru-RU" dirty="0">
              <a:latin typeface="+mn-lt"/>
            </a:endParaRPr>
          </a:p>
          <a:p>
            <a:pPr marL="703263" indent="-342900" algn="l"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Обчислення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може</a:t>
            </a:r>
            <a:r>
              <a:rPr lang="ru-RU" dirty="0">
                <a:latin typeface="+mn-lt"/>
              </a:rPr>
              <a:t> бути </a:t>
            </a:r>
            <a:r>
              <a:rPr lang="ru-RU" dirty="0" err="1">
                <a:latin typeface="+mn-lt"/>
              </a:rPr>
              <a:t>складним</a:t>
            </a:r>
            <a:r>
              <a:rPr lang="ru-RU" dirty="0">
                <a:latin typeface="+mn-lt"/>
              </a:rPr>
              <a:t> та </a:t>
            </a:r>
            <a:r>
              <a:rPr lang="ru-RU" dirty="0" err="1">
                <a:latin typeface="+mn-lt"/>
              </a:rPr>
              <a:t>трудомістким</a:t>
            </a:r>
            <a:endParaRPr lang="ru-RU" dirty="0"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194758" y="0"/>
            <a:ext cx="62744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Міри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засновані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на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інформації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516892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5314" y="848739"/>
            <a:ext cx="862001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 err="1" smtClean="0">
                <a:latin typeface="+mn-lt"/>
              </a:rPr>
              <a:t>Інформація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стосується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можливих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результатів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події</a:t>
            </a:r>
            <a:endParaRPr lang="ru-RU" dirty="0">
              <a:latin typeface="+mn-lt"/>
            </a:endParaRPr>
          </a:p>
          <a:p>
            <a:pPr marL="893763" indent="-26670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dirty="0" err="1" smtClean="0">
                <a:solidFill>
                  <a:srgbClr val="008000"/>
                </a:solidFill>
                <a:latin typeface="+mn-lt"/>
              </a:rPr>
              <a:t>Наприклад</a:t>
            </a:r>
            <a:r>
              <a:rPr lang="ru-RU" dirty="0" smtClean="0">
                <a:solidFill>
                  <a:srgbClr val="008000"/>
                </a:solidFill>
                <a:latin typeface="+mn-lt"/>
              </a:rPr>
              <a:t>, передача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повідомлення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перекидання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монети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або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вимірювання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фрагмента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даних</a:t>
            </a:r>
            <a:endParaRPr lang="ru-RU" dirty="0">
              <a:solidFill>
                <a:srgbClr val="008000"/>
              </a:solidFill>
              <a:latin typeface="+mn-lt"/>
            </a:endParaRPr>
          </a:p>
          <a:p>
            <a:pPr marL="342900" indent="-342900" algn="l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>
                <a:latin typeface="+mn-lt"/>
              </a:rPr>
              <a:t>Чим </a:t>
            </a:r>
            <a:r>
              <a:rPr lang="ru-RU" dirty="0" err="1">
                <a:latin typeface="+mn-lt"/>
              </a:rPr>
              <a:t>точніший</a:t>
            </a:r>
            <a:r>
              <a:rPr lang="ru-RU" dirty="0">
                <a:latin typeface="+mn-lt"/>
              </a:rPr>
              <a:t> результат, </a:t>
            </a:r>
            <a:r>
              <a:rPr lang="ru-RU" dirty="0" err="1">
                <a:latin typeface="+mn-lt"/>
              </a:rPr>
              <a:t>тим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менше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інформації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він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містить</a:t>
            </a:r>
            <a:r>
              <a:rPr lang="ru-RU" dirty="0">
                <a:latin typeface="+mn-lt"/>
              </a:rPr>
              <a:t> і </a:t>
            </a:r>
            <a:r>
              <a:rPr lang="ru-RU" dirty="0" err="1">
                <a:latin typeface="+mn-lt"/>
              </a:rPr>
              <a:t>навпаки</a:t>
            </a:r>
            <a:endParaRPr lang="ru-RU" dirty="0">
              <a:latin typeface="+mn-lt"/>
            </a:endParaRPr>
          </a:p>
          <a:p>
            <a:pPr marL="969963" indent="-34290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dirty="0" err="1">
                <a:solidFill>
                  <a:srgbClr val="008000"/>
                </a:solidFill>
                <a:latin typeface="+mn-lt"/>
              </a:rPr>
              <a:t>Наприклад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,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якщо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у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монети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smtClean="0">
                <a:solidFill>
                  <a:srgbClr val="008000"/>
                </a:solidFill>
                <a:latin typeface="+mn-lt"/>
              </a:rPr>
              <a:t>два орла, 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то результат </a:t>
            </a:r>
            <a:r>
              <a:rPr lang="ru-RU" dirty="0" smtClean="0">
                <a:solidFill>
                  <a:srgbClr val="008000"/>
                </a:solidFill>
                <a:latin typeface="+mn-lt"/>
              </a:rPr>
              <a:t>орла не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надає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інформації</a:t>
            </a:r>
            <a:endParaRPr lang="ru-RU" dirty="0">
              <a:solidFill>
                <a:srgbClr val="008000"/>
              </a:solidFill>
              <a:latin typeface="+mn-lt"/>
            </a:endParaRPr>
          </a:p>
          <a:p>
            <a:pPr marL="342900" indent="-342900" algn="l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 err="1">
                <a:latin typeface="+mn-lt"/>
              </a:rPr>
              <a:t>Більш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кількісно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інформація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пов’язана</a:t>
            </a:r>
            <a:r>
              <a:rPr lang="ru-RU" dirty="0">
                <a:latin typeface="+mn-lt"/>
              </a:rPr>
              <a:t> з </a:t>
            </a:r>
            <a:r>
              <a:rPr lang="ru-RU" dirty="0" err="1">
                <a:latin typeface="+mn-lt"/>
              </a:rPr>
              <a:t>ймовірністю</a:t>
            </a:r>
            <a:r>
              <a:rPr lang="ru-RU" dirty="0">
                <a:latin typeface="+mn-lt"/>
              </a:rPr>
              <a:t> результату</a:t>
            </a:r>
          </a:p>
          <a:p>
            <a:pPr marL="969963" indent="-34290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008000"/>
                </a:solidFill>
                <a:latin typeface="+mn-lt"/>
              </a:rPr>
              <a:t>Чим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менша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ймовірність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результату,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тим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більше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інформації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він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надає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 і </a:t>
            </a:r>
            <a:r>
              <a:rPr lang="ru-RU" dirty="0" err="1">
                <a:solidFill>
                  <a:srgbClr val="008000"/>
                </a:solidFill>
                <a:latin typeface="+mn-lt"/>
              </a:rPr>
              <a:t>навпаки</a:t>
            </a:r>
            <a:endParaRPr lang="ru-RU" dirty="0">
              <a:solidFill>
                <a:srgbClr val="008000"/>
              </a:solidFill>
              <a:latin typeface="+mn-lt"/>
            </a:endParaRPr>
          </a:p>
          <a:p>
            <a:pPr algn="l">
              <a:spcAft>
                <a:spcPts val="600"/>
              </a:spcAft>
            </a:pPr>
            <a:r>
              <a:rPr lang="ru-RU" b="1" dirty="0" err="1">
                <a:solidFill>
                  <a:srgbClr val="C00000"/>
                </a:solidFill>
                <a:latin typeface="+mn-lt"/>
              </a:rPr>
              <a:t>Ентропія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b="1" dirty="0" smtClean="0">
                <a:solidFill>
                  <a:srgbClr val="C00000"/>
                </a:solidFill>
                <a:latin typeface="+mn-lt"/>
              </a:rPr>
              <a:t>– </a:t>
            </a:r>
            <a:r>
              <a:rPr lang="ru-RU" b="1" dirty="0" err="1" smtClean="0">
                <a:solidFill>
                  <a:srgbClr val="C00000"/>
                </a:solidFill>
                <a:latin typeface="+mn-lt"/>
              </a:rPr>
              <a:t>загальновживана</a:t>
            </a:r>
            <a:r>
              <a:rPr lang="ru-RU" b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ru-RU" b="1" dirty="0" err="1" smtClean="0">
                <a:solidFill>
                  <a:srgbClr val="C00000"/>
                </a:solidFill>
                <a:latin typeface="+mn-lt"/>
              </a:rPr>
              <a:t>міра</a:t>
            </a:r>
            <a:endParaRPr lang="ru-RU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697142" y="0"/>
            <a:ext cx="55322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Інформація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та </a:t>
            </a:r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ймовірність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61724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289210" y="0"/>
            <a:ext cx="20313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Ентропія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</a:t>
            </a:r>
            <a:endParaRPr lang="ru-RU" sz="3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26033" y="866933"/>
            <a:ext cx="8462134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uk-UA" dirty="0" smtClean="0">
                <a:latin typeface="+mn-lt"/>
              </a:rPr>
              <a:t>Нехай відомо:</a:t>
            </a:r>
            <a:endParaRPr lang="ru-RU" dirty="0">
              <a:latin typeface="+mn-lt"/>
            </a:endParaRPr>
          </a:p>
          <a:p>
            <a:pPr algn="l"/>
            <a:r>
              <a:rPr lang="en-GB" dirty="0" smtClean="0">
                <a:latin typeface="+mn-lt"/>
              </a:rPr>
              <a:t>X</a:t>
            </a:r>
            <a:r>
              <a:rPr lang="uk-UA" dirty="0" smtClean="0">
                <a:latin typeface="+mn-lt"/>
              </a:rPr>
              <a:t> - </a:t>
            </a:r>
            <a:r>
              <a:rPr lang="ru-RU" dirty="0" err="1" smtClean="0">
                <a:latin typeface="+mn-lt"/>
              </a:rPr>
              <a:t>змінна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(</a:t>
            </a:r>
            <a:r>
              <a:rPr lang="ru-RU" dirty="0" err="1">
                <a:latin typeface="+mn-lt"/>
              </a:rPr>
              <a:t>подія</a:t>
            </a:r>
            <a:r>
              <a:rPr lang="ru-RU" dirty="0" smtClean="0">
                <a:latin typeface="+mn-lt"/>
              </a:rPr>
              <a:t>)</a:t>
            </a:r>
            <a:r>
              <a:rPr lang="en-GB" dirty="0" smtClean="0">
                <a:latin typeface="+mn-lt"/>
              </a:rPr>
              <a:t>,</a:t>
            </a:r>
            <a:endParaRPr lang="en-GB" dirty="0">
              <a:latin typeface="+mn-lt"/>
            </a:endParaRPr>
          </a:p>
          <a:p>
            <a:pPr algn="l"/>
            <a:r>
              <a:rPr lang="ru-RU" dirty="0" err="1" smtClean="0">
                <a:latin typeface="+mn-lt"/>
              </a:rPr>
              <a:t>має</a:t>
            </a:r>
            <a:r>
              <a:rPr lang="ru-RU" dirty="0" smtClean="0">
                <a:latin typeface="+mn-lt"/>
              </a:rPr>
              <a:t>  </a:t>
            </a:r>
            <a:r>
              <a:rPr lang="en-GB" dirty="0">
                <a:latin typeface="+mn-lt"/>
              </a:rPr>
              <a:t>n </a:t>
            </a:r>
            <a:r>
              <a:rPr lang="ru-RU" dirty="0" err="1" smtClean="0">
                <a:latin typeface="+mn-lt"/>
              </a:rPr>
              <a:t>можливих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значень</a:t>
            </a:r>
            <a:r>
              <a:rPr lang="ru-RU" dirty="0" smtClean="0">
                <a:latin typeface="+mn-lt"/>
              </a:rPr>
              <a:t> </a:t>
            </a:r>
            <a:r>
              <a:rPr lang="ru-RU" dirty="0">
                <a:latin typeface="+mn-lt"/>
              </a:rPr>
              <a:t>(</a:t>
            </a:r>
            <a:r>
              <a:rPr lang="ru-RU" dirty="0" err="1" smtClean="0">
                <a:latin typeface="+mn-lt"/>
              </a:rPr>
              <a:t>результатів</a:t>
            </a:r>
            <a:r>
              <a:rPr lang="ru-RU" dirty="0" smtClean="0">
                <a:latin typeface="+mn-lt"/>
              </a:rPr>
              <a:t>), </a:t>
            </a:r>
            <a:r>
              <a:rPr lang="en-GB" dirty="0">
                <a:latin typeface="+mn-lt"/>
              </a:rPr>
              <a:t>x1, x2…, </a:t>
            </a:r>
            <a:r>
              <a:rPr lang="en-GB" dirty="0" err="1" smtClean="0">
                <a:latin typeface="+mn-lt"/>
              </a:rPr>
              <a:t>xn</a:t>
            </a:r>
            <a:r>
              <a:rPr lang="uk-UA" dirty="0">
                <a:latin typeface="+mn-lt"/>
              </a:rPr>
              <a:t>,</a:t>
            </a:r>
            <a:endParaRPr lang="en-GB" dirty="0">
              <a:latin typeface="+mn-lt"/>
            </a:endParaRPr>
          </a:p>
          <a:p>
            <a:pPr algn="l"/>
            <a:r>
              <a:rPr lang="ru-RU" dirty="0" err="1">
                <a:latin typeface="+mn-lt"/>
              </a:rPr>
              <a:t>кожен</a:t>
            </a:r>
            <a:r>
              <a:rPr lang="ru-RU" dirty="0">
                <a:latin typeface="+mn-lt"/>
              </a:rPr>
              <a:t> результат </a:t>
            </a:r>
            <a:r>
              <a:rPr lang="ru-RU" dirty="0" err="1">
                <a:latin typeface="+mn-lt"/>
              </a:rPr>
              <a:t>має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ймовірність</a:t>
            </a:r>
            <a:r>
              <a:rPr lang="ru-RU" dirty="0">
                <a:latin typeface="+mn-lt"/>
              </a:rPr>
              <a:t>, </a:t>
            </a:r>
            <a:r>
              <a:rPr lang="en-GB" dirty="0">
                <a:latin typeface="+mn-lt"/>
              </a:rPr>
              <a:t>p1, p2…, </a:t>
            </a:r>
            <a:r>
              <a:rPr lang="en-GB" dirty="0" err="1" smtClean="0">
                <a:latin typeface="+mn-lt"/>
              </a:rPr>
              <a:t>pn</a:t>
            </a:r>
            <a:r>
              <a:rPr lang="uk-UA" dirty="0">
                <a:latin typeface="+mn-lt"/>
              </a:rPr>
              <a:t>.</a:t>
            </a:r>
            <a:endParaRPr lang="en-GB" dirty="0">
              <a:latin typeface="+mn-lt"/>
            </a:endParaRPr>
          </a:p>
          <a:p>
            <a:pPr algn="l"/>
            <a:r>
              <a:rPr lang="ru-RU" dirty="0" err="1" smtClean="0">
                <a:latin typeface="+mn-lt"/>
              </a:rPr>
              <a:t>Тоді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ентропія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задається</a:t>
            </a:r>
            <a:r>
              <a:rPr lang="ru-RU" dirty="0" smtClean="0">
                <a:latin typeface="+mn-lt"/>
              </a:rPr>
              <a:t> формулою:</a:t>
            </a:r>
            <a:endParaRPr lang="ru-RU" dirty="0"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26033" y="3372679"/>
            <a:ext cx="8825500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err="1">
                <a:latin typeface="+mn-lt"/>
              </a:rPr>
              <a:t>Ентропія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знаходиться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між</a:t>
            </a:r>
            <a:r>
              <a:rPr lang="ru-RU" dirty="0">
                <a:latin typeface="+mn-lt"/>
              </a:rPr>
              <a:t> 0 і </a:t>
            </a:r>
            <a:r>
              <a:rPr lang="en-GB" dirty="0">
                <a:latin typeface="+mn-lt"/>
              </a:rPr>
              <a:t>log</a:t>
            </a:r>
            <a:r>
              <a:rPr lang="en-GB" baseline="-25000" dirty="0">
                <a:latin typeface="+mn-lt"/>
              </a:rPr>
              <a:t>2</a:t>
            </a:r>
            <a:r>
              <a:rPr lang="en-GB" dirty="0">
                <a:latin typeface="+mn-lt"/>
              </a:rPr>
              <a:t>n </a:t>
            </a:r>
            <a:r>
              <a:rPr lang="ru-RU" dirty="0">
                <a:latin typeface="+mn-lt"/>
              </a:rPr>
              <a:t>і </a:t>
            </a:r>
            <a:r>
              <a:rPr lang="ru-RU" dirty="0" err="1">
                <a:latin typeface="+mn-lt"/>
              </a:rPr>
              <a:t>вимірюється</a:t>
            </a:r>
            <a:r>
              <a:rPr lang="ru-RU" dirty="0">
                <a:latin typeface="+mn-lt"/>
              </a:rPr>
              <a:t> в </a:t>
            </a:r>
            <a:r>
              <a:rPr lang="ru-RU" dirty="0" err="1" smtClean="0">
                <a:latin typeface="+mn-lt"/>
              </a:rPr>
              <a:t>бітах</a:t>
            </a:r>
            <a:endParaRPr lang="ru-RU" dirty="0">
              <a:latin typeface="+mn-lt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698" y="2429071"/>
            <a:ext cx="2247900" cy="771525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56970" y="3813516"/>
            <a:ext cx="740026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  <a:latin typeface="+mn-lt"/>
              </a:rPr>
              <a:t>Таким чином,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ентропія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 -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це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міра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 того,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скільки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бітів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потрібно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,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щоб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представити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спостереження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GB" b="1" dirty="0">
                <a:solidFill>
                  <a:srgbClr val="C00000"/>
                </a:solidFill>
                <a:latin typeface="+mn-lt"/>
              </a:rPr>
              <a:t>X 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в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середньому</a:t>
            </a:r>
            <a:endParaRPr lang="ru-RU" b="1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26418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409966" y="0"/>
            <a:ext cx="37898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Приклад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ентропії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endParaRPr lang="ru-RU" sz="3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72265" y="889680"/>
            <a:ext cx="8573784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>
                <a:latin typeface="+mn-lt"/>
              </a:rPr>
              <a:t>Для </a:t>
            </a:r>
            <a:r>
              <a:rPr lang="ru-RU" dirty="0" err="1">
                <a:latin typeface="+mn-lt"/>
              </a:rPr>
              <a:t>монети</a:t>
            </a:r>
            <a:r>
              <a:rPr lang="ru-RU" dirty="0">
                <a:latin typeface="+mn-lt"/>
              </a:rPr>
              <a:t> з </a:t>
            </a:r>
            <a:r>
              <a:rPr lang="ru-RU" dirty="0" err="1">
                <a:latin typeface="+mn-lt"/>
              </a:rPr>
              <a:t>ймовірністю</a:t>
            </a:r>
            <a:r>
              <a:rPr lang="ru-RU" dirty="0">
                <a:latin typeface="+mn-lt"/>
              </a:rPr>
              <a:t> </a:t>
            </a:r>
            <a:r>
              <a:rPr lang="en-GB" dirty="0" smtClean="0">
                <a:latin typeface="+mn-lt"/>
              </a:rPr>
              <a:t>p</a:t>
            </a:r>
            <a:r>
              <a:rPr lang="uk-UA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випадає</a:t>
            </a:r>
            <a:r>
              <a:rPr lang="ru-RU" dirty="0" smtClean="0">
                <a:latin typeface="+mn-lt"/>
              </a:rPr>
              <a:t> орел </a:t>
            </a:r>
            <a:r>
              <a:rPr lang="ru-RU" dirty="0">
                <a:latin typeface="+mn-lt"/>
              </a:rPr>
              <a:t>і </a:t>
            </a:r>
            <a:r>
              <a:rPr lang="ru-RU" dirty="0" smtClean="0">
                <a:latin typeface="+mn-lt"/>
              </a:rPr>
              <a:t>з </a:t>
            </a:r>
            <a:r>
              <a:rPr lang="ru-RU" dirty="0" err="1" smtClean="0">
                <a:latin typeface="+mn-lt"/>
              </a:rPr>
              <a:t>ймовірністю</a:t>
            </a:r>
            <a:r>
              <a:rPr lang="ru-RU" dirty="0" smtClean="0">
                <a:latin typeface="+mn-lt"/>
              </a:rPr>
              <a:t> </a:t>
            </a:r>
            <a:r>
              <a:rPr lang="en-GB" dirty="0">
                <a:latin typeface="+mn-lt"/>
              </a:rPr>
              <a:t>q = 1 - p </a:t>
            </a:r>
            <a:r>
              <a:rPr lang="uk-UA" dirty="0" smtClean="0">
                <a:latin typeface="+mn-lt"/>
              </a:rPr>
              <a:t>випадає решка</a:t>
            </a:r>
            <a:r>
              <a:rPr lang="ru-RU" dirty="0" smtClean="0">
                <a:latin typeface="+mn-lt"/>
              </a:rPr>
              <a:t>х</a:t>
            </a:r>
            <a:endParaRPr lang="ru-RU" dirty="0">
              <a:latin typeface="+mn-lt"/>
            </a:endParaRPr>
          </a:p>
          <a:p>
            <a:pPr algn="l"/>
            <a:endParaRPr lang="ru-RU" dirty="0">
              <a:latin typeface="+mn-lt"/>
            </a:endParaRPr>
          </a:p>
          <a:p>
            <a:pPr algn="l"/>
            <a:endParaRPr lang="en-GB" dirty="0">
              <a:latin typeface="+mn-lt"/>
            </a:endParaRPr>
          </a:p>
          <a:p>
            <a:pPr algn="l"/>
            <a:r>
              <a:rPr lang="ru-RU" dirty="0">
                <a:latin typeface="+mn-lt"/>
              </a:rPr>
              <a:t>Для </a:t>
            </a:r>
            <a:r>
              <a:rPr lang="en-GB" dirty="0">
                <a:latin typeface="+mn-lt"/>
              </a:rPr>
              <a:t>p = </a:t>
            </a:r>
            <a:r>
              <a:rPr lang="en-GB" dirty="0" smtClean="0">
                <a:latin typeface="+mn-lt"/>
              </a:rPr>
              <a:t>0</a:t>
            </a:r>
            <a:r>
              <a:rPr lang="uk-UA" dirty="0">
                <a:latin typeface="+mn-lt"/>
              </a:rPr>
              <a:t>.</a:t>
            </a:r>
            <a:r>
              <a:rPr lang="en-GB" dirty="0" smtClean="0">
                <a:latin typeface="+mn-lt"/>
              </a:rPr>
              <a:t>5</a:t>
            </a:r>
            <a:r>
              <a:rPr lang="en-GB" dirty="0">
                <a:latin typeface="+mn-lt"/>
              </a:rPr>
              <a:t>, q = </a:t>
            </a:r>
            <a:r>
              <a:rPr lang="en-GB" dirty="0" smtClean="0">
                <a:latin typeface="+mn-lt"/>
              </a:rPr>
              <a:t>0</a:t>
            </a:r>
            <a:r>
              <a:rPr lang="uk-UA" dirty="0" smtClean="0">
                <a:latin typeface="+mn-lt"/>
              </a:rPr>
              <a:t>.</a:t>
            </a:r>
            <a:r>
              <a:rPr lang="en-GB" dirty="0" smtClean="0">
                <a:latin typeface="+mn-lt"/>
              </a:rPr>
              <a:t>5 </a:t>
            </a:r>
            <a:r>
              <a:rPr lang="en-GB" dirty="0">
                <a:latin typeface="+mn-lt"/>
              </a:rPr>
              <a:t>(</a:t>
            </a:r>
            <a:r>
              <a:rPr lang="ru-RU" dirty="0">
                <a:latin typeface="+mn-lt"/>
              </a:rPr>
              <a:t>справедлива монета) </a:t>
            </a:r>
            <a:r>
              <a:rPr lang="en-GB" dirty="0">
                <a:latin typeface="+mn-lt"/>
              </a:rPr>
              <a:t>H = 1</a:t>
            </a:r>
          </a:p>
          <a:p>
            <a:pPr algn="l"/>
            <a:r>
              <a:rPr lang="ru-RU" dirty="0">
                <a:latin typeface="+mn-lt"/>
              </a:rPr>
              <a:t>Для </a:t>
            </a:r>
            <a:r>
              <a:rPr lang="en-GB" dirty="0">
                <a:latin typeface="+mn-lt"/>
              </a:rPr>
              <a:t>p = 1 </a:t>
            </a:r>
            <a:r>
              <a:rPr lang="ru-RU" dirty="0" err="1">
                <a:latin typeface="+mn-lt"/>
              </a:rPr>
              <a:t>або</a:t>
            </a:r>
            <a:r>
              <a:rPr lang="ru-RU" dirty="0">
                <a:latin typeface="+mn-lt"/>
              </a:rPr>
              <a:t> </a:t>
            </a:r>
            <a:r>
              <a:rPr lang="en-GB" dirty="0">
                <a:latin typeface="+mn-lt"/>
              </a:rPr>
              <a:t>q = 1, H = 0</a:t>
            </a:r>
          </a:p>
          <a:p>
            <a:pPr algn="l"/>
            <a:endParaRPr lang="en-GB" dirty="0">
              <a:latin typeface="+mn-lt"/>
            </a:endParaRPr>
          </a:p>
          <a:p>
            <a:pPr algn="l"/>
            <a:r>
              <a:rPr lang="ru-RU" b="1" dirty="0">
                <a:solidFill>
                  <a:srgbClr val="C00000"/>
                </a:solidFill>
                <a:latin typeface="+mn-lt"/>
              </a:rPr>
              <a:t>Яка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ентропія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справедливої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+mn-lt"/>
              </a:rPr>
              <a:t>чотиригранної</a:t>
            </a:r>
            <a:r>
              <a:rPr lang="ru-RU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b="1" dirty="0" smtClean="0">
                <a:solidFill>
                  <a:srgbClr val="C00000"/>
                </a:solidFill>
                <a:latin typeface="+mn-lt"/>
              </a:rPr>
              <a:t>кубика?</a:t>
            </a:r>
            <a:endParaRPr lang="ru-RU" b="1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925" y="1503184"/>
            <a:ext cx="2647950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844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14300"/>
            <a:ext cx="8280400" cy="4000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+mn-lt"/>
              </a:rPr>
              <a:t>Entropy for Sample Data: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57250"/>
            <a:ext cx="8318500" cy="3886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uk-UA" dirty="0" smtClean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US" dirty="0" smtClean="0"/>
              <a:t>Maximum </a:t>
            </a:r>
            <a:r>
              <a:rPr lang="en-US" dirty="0"/>
              <a:t>entropy is log</a:t>
            </a:r>
            <a:r>
              <a:rPr lang="en-US" baseline="-25000" dirty="0"/>
              <a:t>2</a:t>
            </a:r>
            <a:r>
              <a:rPr lang="en-US" dirty="0"/>
              <a:t>5 = 2.3219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847760"/>
              </p:ext>
            </p:extLst>
          </p:nvPr>
        </p:nvGraphicFramePr>
        <p:xfrm>
          <a:off x="1714498" y="971547"/>
          <a:ext cx="5117816" cy="24003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945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7945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7945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7945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98593">
                <a:tc>
                  <a:txBody>
                    <a:bodyPr/>
                    <a:lstStyle/>
                    <a:p>
                      <a:r>
                        <a:rPr lang="en-US" sz="1800" dirty="0"/>
                        <a:t>Hair Color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Count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latin typeface="Times New Roman" pitchFamily="18" charset="0"/>
                          <a:cs typeface="Times New Roman" pitchFamily="18" charset="0"/>
                        </a:rPr>
                        <a:t>-p</a:t>
                      </a:r>
                      <a:r>
                        <a:rPr lang="en-US" sz="1800" i="0" dirty="0">
                          <a:latin typeface="Times New Roman" pitchFamily="18" charset="0"/>
                          <a:cs typeface="Times New Roman" pitchFamily="18" charset="0"/>
                        </a:rPr>
                        <a:t>log</a:t>
                      </a:r>
                      <a:r>
                        <a:rPr lang="en-US" sz="1800" i="0" baseline="-25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1800" i="1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8593">
                <a:tc>
                  <a:txBody>
                    <a:bodyPr/>
                    <a:lstStyle/>
                    <a:p>
                      <a:r>
                        <a:rPr lang="en-US" sz="1800" dirty="0"/>
                        <a:t>Black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0.75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0.3113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8593">
                <a:tc>
                  <a:txBody>
                    <a:bodyPr/>
                    <a:lstStyle/>
                    <a:p>
                      <a:r>
                        <a:rPr lang="en-US" sz="1800" dirty="0"/>
                        <a:t>Brown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0.15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0.4105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8593">
                <a:tc>
                  <a:txBody>
                    <a:bodyPr/>
                    <a:lstStyle/>
                    <a:p>
                      <a:r>
                        <a:rPr lang="en-US" sz="1800" dirty="0"/>
                        <a:t>Blond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0.2161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8593">
                <a:tc>
                  <a:txBody>
                    <a:bodyPr/>
                    <a:lstStyle/>
                    <a:p>
                      <a:r>
                        <a:rPr lang="en-US" sz="1800" dirty="0"/>
                        <a:t>Red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8593">
                <a:tc>
                  <a:txBody>
                    <a:bodyPr/>
                    <a:lstStyle/>
                    <a:p>
                      <a:r>
                        <a:rPr lang="en-US" sz="1800" dirty="0"/>
                        <a:t>Other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0.2161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98593">
                <a:tc>
                  <a:txBody>
                    <a:bodyPr/>
                    <a:lstStyle/>
                    <a:p>
                      <a:r>
                        <a:rPr lang="en-US" sz="1800" dirty="0"/>
                        <a:t>Total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1.1540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8794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55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305489" y="67705"/>
            <a:ext cx="57727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+mn-lt"/>
              </a:rPr>
              <a:t>Ентропія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 для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вибірки</a:t>
            </a:r>
            <a:r>
              <a:rPr lang="ru-RU" sz="3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latin typeface="+mn-lt"/>
              </a:rPr>
              <a:t>даних</a:t>
            </a:r>
            <a:endParaRPr lang="ru-RU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69696" y="945066"/>
            <a:ext cx="8658547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err="1" smtClean="0">
                <a:latin typeface="+mn-lt"/>
              </a:rPr>
              <a:t>Припустимо</a:t>
            </a:r>
            <a:r>
              <a:rPr lang="ru-RU" dirty="0">
                <a:latin typeface="+mn-lt"/>
              </a:rPr>
              <a:t>, </a:t>
            </a:r>
            <a:r>
              <a:rPr lang="ru-RU" dirty="0" err="1" smtClean="0">
                <a:latin typeface="+mn-lt"/>
              </a:rPr>
              <a:t>маємо</a:t>
            </a:r>
            <a:r>
              <a:rPr lang="ru-RU" dirty="0" smtClean="0">
                <a:latin typeface="+mn-lt"/>
              </a:rPr>
              <a:t>  ряд </a:t>
            </a:r>
            <a:r>
              <a:rPr lang="ru-RU" dirty="0" err="1">
                <a:latin typeface="+mn-lt"/>
              </a:rPr>
              <a:t>спостережень</a:t>
            </a:r>
            <a:r>
              <a:rPr lang="ru-RU" dirty="0">
                <a:latin typeface="+mn-lt"/>
              </a:rPr>
              <a:t> (</a:t>
            </a:r>
            <a:r>
              <a:rPr lang="ru-RU" i="1" dirty="0">
                <a:solidFill>
                  <a:srgbClr val="0000CC"/>
                </a:solidFill>
                <a:latin typeface="+mn-lt"/>
              </a:rPr>
              <a:t>m</a:t>
            </a:r>
            <a:r>
              <a:rPr lang="ru-RU" dirty="0">
                <a:latin typeface="+mn-lt"/>
              </a:rPr>
              <a:t>) за </a:t>
            </a:r>
            <a:r>
              <a:rPr lang="ru-RU" dirty="0" err="1">
                <a:latin typeface="+mn-lt"/>
              </a:rPr>
              <a:t>деякими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ознаками</a:t>
            </a:r>
            <a:r>
              <a:rPr lang="ru-RU" dirty="0">
                <a:latin typeface="+mn-lt"/>
              </a:rPr>
              <a:t>, </a:t>
            </a:r>
            <a:r>
              <a:rPr lang="ru-RU" i="1" dirty="0">
                <a:solidFill>
                  <a:srgbClr val="0000CC"/>
                </a:solidFill>
                <a:latin typeface="+mn-lt"/>
              </a:rPr>
              <a:t>X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наприклад</a:t>
            </a:r>
            <a:r>
              <a:rPr lang="ru-RU" dirty="0">
                <a:latin typeface="+mn-lt"/>
              </a:rPr>
              <a:t>, </a:t>
            </a:r>
            <a:r>
              <a:rPr lang="ru-RU" dirty="0" err="1">
                <a:latin typeface="+mn-lt"/>
              </a:rPr>
              <a:t>кольором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волосся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учнів</a:t>
            </a:r>
            <a:r>
              <a:rPr lang="ru-RU" dirty="0">
                <a:latin typeface="+mn-lt"/>
              </a:rPr>
              <a:t> у </a:t>
            </a:r>
            <a:r>
              <a:rPr lang="ru-RU" dirty="0" err="1" smtClean="0">
                <a:latin typeface="+mn-lt"/>
              </a:rPr>
              <a:t>класі</a:t>
            </a:r>
            <a:r>
              <a:rPr lang="ru-RU" dirty="0" smtClean="0">
                <a:latin typeface="+mn-lt"/>
              </a:rPr>
              <a:t>, де </a:t>
            </a:r>
            <a:r>
              <a:rPr lang="ru-RU" dirty="0">
                <a:latin typeface="+mn-lt"/>
              </a:rPr>
              <a:t>є </a:t>
            </a:r>
            <a:r>
              <a:rPr lang="ru-RU" i="1" dirty="0">
                <a:solidFill>
                  <a:srgbClr val="0000CC"/>
                </a:solidFill>
                <a:latin typeface="+mn-lt"/>
              </a:rPr>
              <a:t>n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різних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можливих</a:t>
            </a:r>
            <a:r>
              <a:rPr lang="ru-RU" dirty="0">
                <a:latin typeface="+mn-lt"/>
              </a:rPr>
              <a:t> </a:t>
            </a:r>
            <a:r>
              <a:rPr lang="ru-RU" dirty="0" err="1">
                <a:latin typeface="+mn-lt"/>
              </a:rPr>
              <a:t>значень</a:t>
            </a:r>
            <a:endParaRPr lang="ru-RU" dirty="0">
              <a:latin typeface="+mn-lt"/>
            </a:endParaRPr>
          </a:p>
          <a:p>
            <a:pPr algn="l"/>
            <a:r>
              <a:rPr lang="ru-RU" dirty="0" err="1" smtClean="0">
                <a:latin typeface="+mn-lt"/>
              </a:rPr>
              <a:t>Кількість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>
                <a:latin typeface="+mn-lt"/>
              </a:rPr>
              <a:t>спостережень</a:t>
            </a:r>
            <a:r>
              <a:rPr lang="ru-RU" dirty="0">
                <a:latin typeface="+mn-lt"/>
              </a:rPr>
              <a:t> в </a:t>
            </a:r>
            <a:r>
              <a:rPr lang="ru-RU" i="1" dirty="0">
                <a:solidFill>
                  <a:srgbClr val="0000CC"/>
                </a:solidFill>
                <a:latin typeface="+mn-lt"/>
              </a:rPr>
              <a:t>i</a:t>
            </a:r>
            <a:r>
              <a:rPr lang="ru-RU" dirty="0">
                <a:latin typeface="+mn-lt"/>
              </a:rPr>
              <a:t>-й </a:t>
            </a:r>
            <a:r>
              <a:rPr lang="ru-RU" dirty="0" err="1">
                <a:latin typeface="+mn-lt"/>
              </a:rPr>
              <a:t>категорії</a:t>
            </a:r>
            <a:r>
              <a:rPr lang="ru-RU" dirty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позначено</a:t>
            </a:r>
            <a:r>
              <a:rPr lang="ru-RU" dirty="0" smtClean="0">
                <a:latin typeface="+mn-lt"/>
              </a:rPr>
              <a:t> </a:t>
            </a:r>
            <a:r>
              <a:rPr lang="en-US" i="1" dirty="0" smtClean="0">
                <a:solidFill>
                  <a:srgbClr val="0000CC"/>
                </a:solidFill>
                <a:latin typeface="+mn-lt"/>
              </a:rPr>
              <a:t>m</a:t>
            </a:r>
            <a:r>
              <a:rPr lang="en-US" i="1" baseline="-25000" dirty="0" smtClean="0">
                <a:solidFill>
                  <a:srgbClr val="0000CC"/>
                </a:solidFill>
                <a:latin typeface="+mn-lt"/>
              </a:rPr>
              <a:t>i</a:t>
            </a:r>
            <a:endParaRPr lang="ru-RU" i="1" baseline="-25000" dirty="0">
              <a:solidFill>
                <a:srgbClr val="0000CC"/>
              </a:solidFill>
              <a:latin typeface="+mn-lt"/>
            </a:endParaRPr>
          </a:p>
          <a:p>
            <a:pPr algn="l"/>
            <a:r>
              <a:rPr lang="uk-UA" dirty="0" smtClean="0">
                <a:latin typeface="+mn-lt"/>
              </a:rPr>
              <a:t>Тоді </a:t>
            </a:r>
            <a:r>
              <a:rPr lang="ru-RU" dirty="0" smtClean="0">
                <a:latin typeface="+mn-lt"/>
              </a:rPr>
              <a:t>для </a:t>
            </a:r>
            <a:r>
              <a:rPr lang="ru-RU" dirty="0" err="1" smtClean="0">
                <a:latin typeface="+mn-lt"/>
              </a:rPr>
              <a:t>цієї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вибірки</a:t>
            </a:r>
            <a:r>
              <a:rPr lang="ru-RU" dirty="0" smtClean="0">
                <a:latin typeface="+mn-lt"/>
              </a:rPr>
              <a:t> </a:t>
            </a:r>
            <a:r>
              <a:rPr lang="ru-RU" dirty="0" err="1" smtClean="0">
                <a:latin typeface="+mn-lt"/>
              </a:rPr>
              <a:t>ентропія</a:t>
            </a:r>
            <a:r>
              <a:rPr lang="ru-RU" dirty="0" smtClean="0">
                <a:latin typeface="+mn-lt"/>
              </a:rPr>
              <a:t>:</a:t>
            </a:r>
            <a:endParaRPr lang="ru-RU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812" y="2284052"/>
            <a:ext cx="269557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9695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56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7383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57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1861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58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/59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84480" y="963444"/>
            <a:ext cx="84226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000" dirty="0" smtClean="0"/>
              <a:t>Tan </a:t>
            </a:r>
            <a:r>
              <a:rPr lang="en-US" sz="2000" dirty="0"/>
              <a:t>P. N., Steinbach M &amp; Kumar V. “Introduction to Data Mining” Pearson Education, </a:t>
            </a:r>
            <a:r>
              <a:rPr lang="en-US" sz="2000" dirty="0" smtClean="0"/>
              <a:t>2016 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 err="1" smtClean="0">
                <a:latin typeface="+mn-lt"/>
              </a:rPr>
              <a:t>Чубукова</a:t>
            </a:r>
            <a:r>
              <a:rPr lang="ru-RU" sz="2000" dirty="0" smtClean="0">
                <a:latin typeface="+mn-lt"/>
              </a:rPr>
              <a:t> </a:t>
            </a:r>
            <a:r>
              <a:rPr lang="ru-RU" sz="2000" dirty="0" smtClean="0">
                <a:latin typeface="+mn-lt"/>
              </a:rPr>
              <a:t>И. А. </a:t>
            </a:r>
            <a:r>
              <a:rPr lang="en-GB" sz="2000" dirty="0">
                <a:latin typeface="+mn-lt"/>
              </a:rPr>
              <a:t>Data Mining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14448309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ctr" defTabSz="30956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9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ctr" defTabSz="30956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9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4554</TotalTime>
  <Words>3444</Words>
  <Application>Microsoft Office PowerPoint</Application>
  <PresentationFormat>Экран (16:9)</PresentationFormat>
  <Paragraphs>527</Paragraphs>
  <Slides>58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58</vt:i4>
      </vt:variant>
    </vt:vector>
  </HeadingPairs>
  <TitlesOfParts>
    <vt:vector size="69" baseType="lpstr">
      <vt:lpstr>Arial</vt:lpstr>
      <vt:lpstr>Calibri</vt:lpstr>
      <vt:lpstr>Calibri Light</vt:lpstr>
      <vt:lpstr>Helvetica Neue</vt:lpstr>
      <vt:lpstr>Symbol</vt:lpstr>
      <vt:lpstr>Times New Roman</vt:lpstr>
      <vt:lpstr>Wingdings</vt:lpstr>
      <vt:lpstr>1_Тема Office</vt:lpstr>
      <vt:lpstr>VISIO</vt:lpstr>
      <vt:lpstr>Worksheet</vt:lpstr>
      <vt:lpstr>Equation</vt:lpstr>
      <vt:lpstr>Презентация PowerPoint</vt:lpstr>
      <vt:lpstr>Презентация PowerPoint</vt:lpstr>
      <vt:lpstr>Презентация PowerPoint</vt:lpstr>
      <vt:lpstr>Структура курса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Приклад вимірювання довжини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Example of the Frequency Term-document Matrıx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Distance: Euclidean, Minkowski, Mahalanobis</vt:lpstr>
      <vt:lpstr>Презентация PowerPoint</vt:lpstr>
      <vt:lpstr>Презентация PowerPoint</vt:lpstr>
      <vt:lpstr>Is this a distance metric?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Entropy for Sample Data: Example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 1 Первичный анализ наборов данных</dc:title>
  <dc:creator>kmv</dc:creator>
  <cp:lastModifiedBy>Tetyana Kovalyuk</cp:lastModifiedBy>
  <cp:revision>77</cp:revision>
  <dcterms:modified xsi:type="dcterms:W3CDTF">2020-10-11T19:25:10Z</dcterms:modified>
</cp:coreProperties>
</file>