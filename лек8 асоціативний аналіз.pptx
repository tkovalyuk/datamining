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2" r:id="rId6"/>
    <p:sldId id="269" r:id="rId7"/>
    <p:sldId id="261" r:id="rId8"/>
    <p:sldId id="263" r:id="rId9"/>
    <p:sldId id="264" r:id="rId10"/>
    <p:sldId id="282" r:id="rId11"/>
    <p:sldId id="265" r:id="rId12"/>
    <p:sldId id="266" r:id="rId13"/>
    <p:sldId id="267" r:id="rId14"/>
    <p:sldId id="281" r:id="rId15"/>
    <p:sldId id="283" r:id="rId16"/>
    <p:sldId id="284" r:id="rId17"/>
    <p:sldId id="285" r:id="rId18"/>
    <p:sldId id="292" r:id="rId19"/>
    <p:sldId id="287" r:id="rId20"/>
    <p:sldId id="288" r:id="rId21"/>
    <p:sldId id="289" r:id="rId22"/>
    <p:sldId id="290" r:id="rId23"/>
    <p:sldId id="291" r:id="rId24"/>
    <p:sldId id="293" r:id="rId25"/>
    <p:sldId id="294" r:id="rId26"/>
    <p:sldId id="295" r:id="rId27"/>
    <p:sldId id="299" r:id="rId28"/>
    <p:sldId id="296" r:id="rId29"/>
    <p:sldId id="297" r:id="rId30"/>
    <p:sldId id="298" r:id="rId31"/>
    <p:sldId id="300" r:id="rId32"/>
    <p:sldId id="301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49" autoAdjust="0"/>
    <p:restoredTop sz="94660"/>
  </p:normalViewPr>
  <p:slideViewPr>
    <p:cSldViewPr snapToGrid="0">
      <p:cViewPr varScale="1">
        <p:scale>
          <a:sx n="82" d="100"/>
          <a:sy n="82" d="100"/>
        </p:scale>
        <p:origin x="3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06DC3-DE8C-4BFC-B145-39F351761957}" type="datetimeFigureOut">
              <a:rPr lang="ru-RU" smtClean="0"/>
              <a:t>24.11.2020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2ADFA-111F-4733-B045-98C39A0D9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1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2ADFA-111F-4733-B045-98C39A0D999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00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6967451" cy="501650"/>
          </a:xfrm>
        </p:spPr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295049" y="6424612"/>
            <a:ext cx="813262" cy="365125"/>
          </a:xfrm>
        </p:spPr>
        <p:txBody>
          <a:bodyPr/>
          <a:lstStyle>
            <a:lvl1pPr algn="l">
              <a:defRPr sz="1600"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030778"/>
            <a:ext cx="12192000" cy="53255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66255" y="6462520"/>
            <a:ext cx="6588651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uk-UA" sz="1600" dirty="0" err="1">
                <a:solidFill>
                  <a:prstClr val="white">
                    <a:lumMod val="95000"/>
                  </a:prstClr>
                </a:solidFill>
              </a:rPr>
              <a:t>Ковалюк</a:t>
            </a:r>
            <a:r>
              <a:rPr lang="uk-UA" sz="1600" dirty="0">
                <a:solidFill>
                  <a:prstClr val="white">
                    <a:lumMod val="95000"/>
                  </a:prstClr>
                </a:solidFill>
              </a:rPr>
              <a:t> Т.В. Програмні Технології </a:t>
            </a:r>
            <a:r>
              <a:rPr lang="en-US" sz="1600" dirty="0">
                <a:solidFill>
                  <a:prstClr val="white">
                    <a:lumMod val="95000"/>
                  </a:prstClr>
                </a:solidFill>
              </a:rPr>
              <a:t>Data Mining.</a:t>
            </a:r>
            <a:r>
              <a:rPr lang="uk-UA" sz="1600" dirty="0">
                <a:solidFill>
                  <a:prstClr val="white">
                    <a:lumMod val="95000"/>
                  </a:prstClr>
                </a:solidFill>
              </a:rPr>
              <a:t> КНУ ім. Т. Шевченка</a:t>
            </a:r>
            <a:endParaRPr lang="ru-RU" sz="1600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3691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369671" y="6345151"/>
            <a:ext cx="700314" cy="376324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698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36513"/>
            <a:ext cx="12192000" cy="68580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252200" y="6456362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80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10"/>
          <p:cNvSpPr>
            <a:spLocks noChangeArrowheads="1" noChangeShapeType="1" noTextEdit="1"/>
          </p:cNvSpPr>
          <p:nvPr/>
        </p:nvSpPr>
        <p:spPr bwMode="auto">
          <a:xfrm>
            <a:off x="1762298" y="1374256"/>
            <a:ext cx="9027622" cy="39592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Лекція </a:t>
            </a:r>
            <a:r>
              <a:rPr lang="en-US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8</a:t>
            </a:r>
            <a: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. </a:t>
            </a:r>
            <a:b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</a:br>
            <a: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Асоціативний </a:t>
            </a:r>
            <a:r>
              <a:rPr lang="uk-UA" sz="36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аналіз. </a:t>
            </a:r>
            <a:endParaRPr lang="uk-UA" sz="36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uk-UA" altLang="en-US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Базові концепції</a:t>
            </a:r>
            <a:endParaRPr lang="en-US" altLang="en-US" sz="3600" b="1" dirty="0">
              <a:solidFill>
                <a:prstClr val="white"/>
              </a:solidFill>
            </a:endParaRPr>
          </a:p>
          <a:p>
            <a:pPr algn="ctr"/>
            <a:endParaRPr lang="ru-RU" sz="36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38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5266" y="224444"/>
            <a:ext cx="11626734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Структура курса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79912" y="1086248"/>
            <a:ext cx="9404466" cy="302658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ru-RU" altLang="ru-RU" dirty="0" err="1" smtClean="0"/>
              <a:t>Лекц</a:t>
            </a:r>
            <a:r>
              <a:rPr lang="uk-UA" altLang="ru-RU" dirty="0" err="1" smtClean="0"/>
              <a:t>ії</a:t>
            </a:r>
            <a:r>
              <a:rPr lang="ru-RU" altLang="ru-RU" dirty="0" smtClean="0"/>
              <a:t> </a:t>
            </a:r>
            <a:r>
              <a:rPr lang="ru-RU" altLang="ru-RU" dirty="0"/>
              <a:t>– </a:t>
            </a:r>
            <a:r>
              <a:rPr lang="ru-RU" altLang="ru-RU" dirty="0" smtClean="0"/>
              <a:t>24 годин </a:t>
            </a:r>
            <a:endParaRPr lang="ru-RU" altLang="ru-RU" dirty="0"/>
          </a:p>
          <a:p>
            <a:r>
              <a:rPr lang="ru-RU" altLang="ru-RU" dirty="0" err="1" smtClean="0"/>
              <a:t>Лабораторні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заняття</a:t>
            </a:r>
            <a:r>
              <a:rPr lang="ru-RU" altLang="ru-RU" dirty="0" smtClean="0"/>
              <a:t> (</a:t>
            </a:r>
            <a:r>
              <a:rPr lang="ru-RU" altLang="ru-RU" dirty="0" err="1" smtClean="0"/>
              <a:t>проєктний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підхід</a:t>
            </a:r>
            <a:r>
              <a:rPr lang="ru-RU" altLang="ru-RU" dirty="0" smtClean="0"/>
              <a:t>) – 24 годин . </a:t>
            </a:r>
            <a:endParaRPr lang="ru-RU" altLang="ru-RU" dirty="0"/>
          </a:p>
          <a:p>
            <a:r>
              <a:rPr lang="ru-RU" altLang="ru-RU" dirty="0" err="1" smtClean="0"/>
              <a:t>Самостійна</a:t>
            </a:r>
            <a:r>
              <a:rPr lang="ru-RU" altLang="ru-RU" dirty="0" smtClean="0"/>
              <a:t> робота </a:t>
            </a:r>
            <a:r>
              <a:rPr lang="ru-RU" altLang="ru-RU" dirty="0"/>
              <a:t>– </a:t>
            </a:r>
            <a:r>
              <a:rPr lang="ru-RU" altLang="ru-RU" dirty="0" smtClean="0"/>
              <a:t>102 </a:t>
            </a:r>
            <a:r>
              <a:rPr lang="ru-RU" altLang="ru-RU" dirty="0" err="1" smtClean="0"/>
              <a:t>години</a:t>
            </a:r>
            <a:endParaRPr lang="ru-RU" altLang="ru-RU" dirty="0"/>
          </a:p>
          <a:p>
            <a:r>
              <a:rPr lang="ru-RU" altLang="ru-RU" dirty="0" err="1" smtClean="0"/>
              <a:t>Контрольні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роботи</a:t>
            </a:r>
            <a:r>
              <a:rPr lang="ru-RU" altLang="ru-RU" dirty="0" smtClean="0"/>
              <a:t> - 2</a:t>
            </a:r>
            <a:endParaRPr lang="ru-RU" altLang="ru-RU" dirty="0"/>
          </a:p>
          <a:p>
            <a:r>
              <a:rPr lang="ru-RU" altLang="ru-RU" dirty="0" err="1" smtClean="0"/>
              <a:t>Іспит</a:t>
            </a:r>
            <a:endParaRPr lang="ru-RU" altLang="ru-RU" dirty="0"/>
          </a:p>
          <a:p>
            <a:r>
              <a:rPr lang="ru-RU" altLang="ru-RU" dirty="0" smtClean="0"/>
              <a:t>Разом– 150 годин (5 </a:t>
            </a:r>
            <a:r>
              <a:rPr lang="ru-RU" altLang="ru-RU" dirty="0" err="1" smtClean="0"/>
              <a:t>кредитів</a:t>
            </a:r>
            <a:r>
              <a:rPr lang="ru-RU" altLang="ru-RU" dirty="0" smtClean="0"/>
              <a:t>).</a:t>
            </a:r>
            <a:endParaRPr lang="ru-RU" alt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4575767" y="4272904"/>
            <a:ext cx="3605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>
                <a:solidFill>
                  <a:prstClr val="black"/>
                </a:solidFill>
              </a:rPr>
              <a:t>Підвищення рейтингу</a:t>
            </a:r>
            <a:endParaRPr lang="ru-RU" sz="2800" b="1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4153" y="4908132"/>
            <a:ext cx="947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Сертифікат курсу на </a:t>
            </a:r>
            <a:r>
              <a:rPr lang="en-US" sz="2400" dirty="0" err="1">
                <a:solidFill>
                  <a:srgbClr val="C00000"/>
                </a:solidFill>
              </a:rPr>
              <a:t>Coursera</a:t>
            </a:r>
            <a:r>
              <a:rPr lang="uk-UA" sz="2400" dirty="0">
                <a:solidFill>
                  <a:srgbClr val="C00000"/>
                </a:solidFill>
              </a:rPr>
              <a:t> або </a:t>
            </a:r>
            <a:r>
              <a:rPr lang="en-US" sz="2400" dirty="0" err="1">
                <a:solidFill>
                  <a:srgbClr val="C00000"/>
                </a:solidFill>
              </a:rPr>
              <a:t>Prometeus</a:t>
            </a: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Індивідуальна творча робота з підготовкою </a:t>
            </a:r>
            <a:r>
              <a:rPr lang="uk-UA" sz="2400" dirty="0" err="1">
                <a:solidFill>
                  <a:srgbClr val="C00000"/>
                </a:solidFill>
              </a:rPr>
              <a:t>студ</a:t>
            </a:r>
            <a:r>
              <a:rPr lang="uk-UA" sz="2400" dirty="0">
                <a:solidFill>
                  <a:srgbClr val="C00000"/>
                </a:solidFill>
              </a:rPr>
              <a:t>. роботи на конкурс</a:t>
            </a:r>
          </a:p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Наукова робота з підготовкою наукової статті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58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49021"/>
            <a:ext cx="125400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Економічні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підстави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для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асоціативного</a:t>
            </a:r>
            <a:r>
              <a:rPr lang="ru-RU" sz="3500" b="1" u="none" strike="noStrike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dirty="0" err="1" smtClean="0">
                <a:solidFill>
                  <a:schemeClr val="bg1"/>
                </a:solidFill>
                <a:latin typeface="TimesNewRomanPS-BoldItalicMT"/>
              </a:rPr>
              <a:t>аналізу</a:t>
            </a:r>
            <a:r>
              <a:rPr lang="ru-RU" sz="3500" b="1" u="none" strike="noStrike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dirty="0" err="1" smtClean="0">
                <a:solidFill>
                  <a:schemeClr val="bg1"/>
                </a:solidFill>
                <a:latin typeface="TimesNewRomanPS-BoldItalicMT"/>
              </a:rPr>
              <a:t>даних</a:t>
            </a:r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052915"/>
            <a:ext cx="11758247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ru-RU" dirty="0" err="1" smtClean="0"/>
              <a:t>інформаційній</a:t>
            </a:r>
            <a:r>
              <a:rPr lang="ru-RU" dirty="0" smtClean="0"/>
              <a:t> </a:t>
            </a:r>
            <a:r>
              <a:rPr lang="ru-RU" dirty="0" err="1" smtClean="0"/>
              <a:t>системі</a:t>
            </a:r>
            <a:r>
              <a:rPr lang="ru-RU" dirty="0" smtClean="0"/>
              <a:t> </a:t>
            </a:r>
            <a:r>
              <a:rPr lang="ru-RU" dirty="0" err="1" smtClean="0"/>
              <a:t>працюючого</a:t>
            </a:r>
            <a:r>
              <a:rPr lang="ru-RU" dirty="0" smtClean="0"/>
              <a:t> </a:t>
            </a:r>
            <a:r>
              <a:rPr lang="ru-RU" dirty="0" err="1" smtClean="0"/>
              <a:t>підприємства</a:t>
            </a:r>
            <a:r>
              <a:rPr lang="ru-RU" dirty="0" smtClean="0"/>
              <a:t> </a:t>
            </a:r>
            <a:r>
              <a:rPr lang="ru-RU" dirty="0" err="1" smtClean="0"/>
              <a:t>нагромаджуються</a:t>
            </a:r>
            <a:r>
              <a:rPr lang="ru-RU" dirty="0" smtClean="0"/>
              <a:t> </a:t>
            </a:r>
            <a:r>
              <a:rPr lang="ru-RU" dirty="0" err="1" smtClean="0"/>
              <a:t>великі</a:t>
            </a:r>
            <a:r>
              <a:rPr lang="ru-RU" dirty="0" smtClean="0"/>
              <a:t> </a:t>
            </a:r>
            <a:r>
              <a:rPr lang="ru-RU" dirty="0" err="1" smtClean="0"/>
              <a:t>обсяги</a:t>
            </a:r>
            <a:r>
              <a:rPr lang="ru-RU" dirty="0" smtClean="0"/>
              <a:t> </a:t>
            </a:r>
            <a:r>
              <a:rPr lang="ru-RU" dirty="0" err="1" smtClean="0"/>
              <a:t>різноманітних</a:t>
            </a:r>
            <a:r>
              <a:rPr lang="ru-RU" dirty="0" smtClean="0"/>
              <a:t> </a:t>
            </a:r>
            <a:r>
              <a:rPr lang="ru-RU" dirty="0" err="1" smtClean="0"/>
              <a:t>відомостей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Користувачі</a:t>
            </a:r>
            <a:r>
              <a:rPr lang="ru-RU" dirty="0" smtClean="0"/>
              <a:t> </a:t>
            </a:r>
            <a:r>
              <a:rPr lang="ru-RU" dirty="0" err="1" smtClean="0"/>
              <a:t>можуть</a:t>
            </a:r>
            <a:r>
              <a:rPr lang="ru-RU" dirty="0" smtClean="0"/>
              <a:t> </a:t>
            </a:r>
            <a:r>
              <a:rPr lang="ru-RU" dirty="0" err="1" smtClean="0"/>
              <a:t>аналізувати</a:t>
            </a:r>
            <a:r>
              <a:rPr lang="ru-RU" dirty="0" smtClean="0"/>
              <a:t> </a:t>
            </a:r>
            <a:r>
              <a:rPr lang="ru-RU" dirty="0" err="1" smtClean="0"/>
              <a:t>ці</a:t>
            </a:r>
            <a:r>
              <a:rPr lang="ru-RU" dirty="0" smtClean="0"/>
              <a:t> </a:t>
            </a:r>
            <a:r>
              <a:rPr lang="ru-RU" dirty="0" err="1" smtClean="0"/>
              <a:t>відомості</a:t>
            </a:r>
            <a:r>
              <a:rPr lang="ru-RU" dirty="0" smtClean="0"/>
              <a:t> за </a:t>
            </a:r>
            <a:r>
              <a:rPr lang="ru-RU" dirty="0" err="1" smtClean="0"/>
              <a:t>допомогою</a:t>
            </a:r>
            <a:r>
              <a:rPr lang="ru-RU" dirty="0" smtClean="0"/>
              <a:t> </a:t>
            </a:r>
            <a:r>
              <a:rPr lang="ru-RU" dirty="0" err="1" smtClean="0"/>
              <a:t>класичних</a:t>
            </a:r>
            <a:r>
              <a:rPr lang="ru-RU" dirty="0" smtClean="0"/>
              <a:t> </a:t>
            </a:r>
            <a:r>
              <a:rPr lang="ru-RU" dirty="0" err="1" smtClean="0"/>
              <a:t>аналітичних</a:t>
            </a:r>
            <a:r>
              <a:rPr lang="ru-RU" dirty="0" smtClean="0"/>
              <a:t> </a:t>
            </a:r>
            <a:r>
              <a:rPr lang="ru-RU" dirty="0" err="1" smtClean="0"/>
              <a:t>інструментів</a:t>
            </a:r>
            <a:r>
              <a:rPr lang="ru-RU" dirty="0" smtClean="0"/>
              <a:t>, </a:t>
            </a:r>
            <a:r>
              <a:rPr lang="ru-RU" dirty="0" err="1" smtClean="0"/>
              <a:t>вбудованих</a:t>
            </a:r>
            <a:r>
              <a:rPr lang="ru-RU" dirty="0" smtClean="0"/>
              <a:t> в </a:t>
            </a:r>
            <a:r>
              <a:rPr lang="ru-RU" dirty="0" err="1" smtClean="0"/>
              <a:t>прикладні</a:t>
            </a:r>
            <a:r>
              <a:rPr lang="ru-RU" dirty="0" smtClean="0"/>
              <a:t> </a:t>
            </a:r>
            <a:r>
              <a:rPr lang="ru-RU" dirty="0" err="1" smtClean="0"/>
              <a:t>рішення</a:t>
            </a:r>
            <a:r>
              <a:rPr lang="ru-RU" dirty="0" smtClean="0"/>
              <a:t> — </a:t>
            </a:r>
            <a:r>
              <a:rPr lang="ru-RU" b="1" dirty="0" err="1" smtClean="0"/>
              <a:t>звітів</a:t>
            </a:r>
            <a:r>
              <a:rPr lang="ru-RU" b="1" dirty="0" smtClean="0"/>
              <a:t>, </a:t>
            </a:r>
            <a:r>
              <a:rPr lang="ru-RU" b="1" dirty="0" err="1" smtClean="0"/>
              <a:t>зведених</a:t>
            </a:r>
            <a:r>
              <a:rPr lang="ru-RU" b="1" dirty="0" smtClean="0"/>
              <a:t> </a:t>
            </a:r>
            <a:r>
              <a:rPr lang="ru-RU" b="1" dirty="0" err="1" smtClean="0"/>
              <a:t>таблиць</a:t>
            </a:r>
            <a:r>
              <a:rPr lang="ru-RU" b="1" dirty="0" smtClean="0"/>
              <a:t>, </a:t>
            </a:r>
            <a:r>
              <a:rPr lang="ru-RU" b="1" dirty="0" err="1" smtClean="0"/>
              <a:t>діаграм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Ці</a:t>
            </a:r>
            <a:r>
              <a:rPr lang="ru-RU" dirty="0" smtClean="0"/>
              <a:t> </a:t>
            </a:r>
            <a:r>
              <a:rPr lang="ru-RU" dirty="0" err="1" smtClean="0"/>
              <a:t>інструменти</a:t>
            </a:r>
            <a:r>
              <a:rPr lang="ru-RU" dirty="0" smtClean="0"/>
              <a:t> </a:t>
            </a:r>
            <a:r>
              <a:rPr lang="ru-RU" dirty="0" err="1" smtClean="0"/>
              <a:t>дозволяють</a:t>
            </a:r>
            <a:r>
              <a:rPr lang="ru-RU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представити</a:t>
            </a:r>
            <a:r>
              <a:rPr lang="ru-RU" dirty="0" smtClean="0"/>
              <a:t> картину </a:t>
            </a:r>
            <a:r>
              <a:rPr lang="ru-RU" dirty="0" err="1" smtClean="0"/>
              <a:t>господарської</a:t>
            </a:r>
            <a:r>
              <a:rPr lang="ru-RU" dirty="0" smtClean="0"/>
              <a:t> </a:t>
            </a:r>
            <a:r>
              <a:rPr lang="ru-RU" dirty="0" err="1" smtClean="0"/>
              <a:t>діяльності</a:t>
            </a:r>
            <a:r>
              <a:rPr lang="ru-RU" dirty="0" smtClean="0"/>
              <a:t> </a:t>
            </a:r>
            <a:r>
              <a:rPr lang="ru-RU" dirty="0" err="1" smtClean="0"/>
              <a:t>підприємства</a:t>
            </a:r>
            <a:r>
              <a:rPr lang="ru-RU" dirty="0" smtClean="0"/>
              <a:t> в </a:t>
            </a:r>
            <a:r>
              <a:rPr lang="ru-RU" dirty="0" err="1" smtClean="0"/>
              <a:t>зручному</a:t>
            </a:r>
            <a:r>
              <a:rPr lang="ru-RU" dirty="0" smtClean="0"/>
              <a:t> для</a:t>
            </a:r>
            <a:r>
              <a:rPr lang="en-US" dirty="0"/>
              <a:t> </a:t>
            </a:r>
            <a:r>
              <a:rPr lang="ru-RU" dirty="0" err="1" smtClean="0"/>
              <a:t>аналізу</a:t>
            </a:r>
            <a:r>
              <a:rPr lang="ru-RU" dirty="0" smtClean="0"/>
              <a:t> </a:t>
            </a:r>
            <a:r>
              <a:rPr lang="ru-RU" dirty="0" err="1" smtClean="0"/>
              <a:t>вигляді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визначити</a:t>
            </a:r>
            <a:r>
              <a:rPr lang="ru-RU" dirty="0" smtClean="0"/>
              <a:t> </a:t>
            </a:r>
            <a:r>
              <a:rPr lang="ru-RU" dirty="0" err="1" smtClean="0"/>
              <a:t>відхилення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плану,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підготувати</a:t>
            </a:r>
            <a:r>
              <a:rPr lang="ru-RU" dirty="0" smtClean="0"/>
              <a:t> </a:t>
            </a:r>
            <a:r>
              <a:rPr lang="ru-RU" dirty="0" err="1" smtClean="0"/>
              <a:t>ухвалення</a:t>
            </a:r>
            <a:r>
              <a:rPr lang="ru-RU" dirty="0" smtClean="0"/>
              <a:t> </a:t>
            </a:r>
            <a:r>
              <a:rPr lang="ru-RU" dirty="0" err="1" smtClean="0"/>
              <a:t>управлінських</a:t>
            </a:r>
            <a:r>
              <a:rPr lang="ru-RU" dirty="0" smtClean="0"/>
              <a:t> </a:t>
            </a:r>
            <a:r>
              <a:rPr lang="ru-RU" dirty="0" err="1" smtClean="0"/>
              <a:t>рішень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спланувати</a:t>
            </a:r>
            <a:r>
              <a:rPr lang="ru-RU" dirty="0" smtClean="0"/>
              <a:t> </a:t>
            </a:r>
            <a:r>
              <a:rPr lang="ru-RU" dirty="0" err="1" smtClean="0"/>
              <a:t>нові</a:t>
            </a:r>
            <a:r>
              <a:rPr lang="ru-RU" dirty="0" smtClean="0"/>
              <a:t> </a:t>
            </a:r>
            <a:r>
              <a:rPr lang="ru-RU" dirty="0" err="1" smtClean="0"/>
              <a:t>показники</a:t>
            </a:r>
            <a:r>
              <a:rPr lang="ru-RU" dirty="0" smtClean="0"/>
              <a:t> на </a:t>
            </a:r>
            <a:r>
              <a:rPr lang="ru-RU" dirty="0" err="1" smtClean="0"/>
              <a:t>основі</a:t>
            </a:r>
            <a:r>
              <a:rPr lang="ru-RU" dirty="0" smtClean="0"/>
              <a:t> </a:t>
            </a:r>
            <a:r>
              <a:rPr lang="ru-RU" dirty="0" err="1" smtClean="0"/>
              <a:t>тенденцій</a:t>
            </a:r>
            <a:r>
              <a:rPr lang="ru-RU" dirty="0" smtClean="0"/>
              <a:t> </a:t>
            </a:r>
            <a:r>
              <a:rPr lang="ru-RU" dirty="0" err="1" smtClean="0"/>
              <a:t>минулих</a:t>
            </a:r>
            <a:r>
              <a:rPr lang="ru-RU" dirty="0" smtClean="0"/>
              <a:t> </a:t>
            </a:r>
            <a:r>
              <a:rPr lang="ru-RU" dirty="0" err="1" smtClean="0"/>
              <a:t>періодів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Для </a:t>
            </a:r>
            <a:r>
              <a:rPr lang="ru-RU" dirty="0" err="1" smtClean="0"/>
              <a:t>успішного</a:t>
            </a:r>
            <a:r>
              <a:rPr lang="ru-RU" dirty="0" smtClean="0"/>
              <a:t> </a:t>
            </a:r>
            <a:r>
              <a:rPr lang="ru-RU" dirty="0" err="1" smtClean="0"/>
              <a:t>просування</a:t>
            </a:r>
            <a:r>
              <a:rPr lang="ru-RU" dirty="0" smtClean="0"/>
              <a:t> </a:t>
            </a:r>
            <a:r>
              <a:rPr lang="ru-RU" dirty="0" err="1" smtClean="0"/>
              <a:t>товарів</a:t>
            </a:r>
            <a:r>
              <a:rPr lang="ru-RU" dirty="0" smtClean="0"/>
              <a:t> </a:t>
            </a:r>
            <a:r>
              <a:rPr lang="ru-RU" dirty="0" err="1" smtClean="0"/>
              <a:t>завжди</a:t>
            </a:r>
            <a:r>
              <a:rPr lang="ru-RU" dirty="0" smtClean="0"/>
              <a:t> </a:t>
            </a:r>
            <a:r>
              <a:rPr lang="ru-RU" dirty="0" err="1" smtClean="0"/>
              <a:t>важливо</a:t>
            </a:r>
            <a:r>
              <a:rPr lang="ru-RU" dirty="0" smtClean="0"/>
              <a:t> знати, </a:t>
            </a:r>
            <a:r>
              <a:rPr lang="ru-RU" dirty="0" err="1" smtClean="0"/>
              <a:t>що</a:t>
            </a:r>
            <a:r>
              <a:rPr lang="ru-RU" dirty="0" smtClean="0"/>
              <a:t> і як </a:t>
            </a:r>
            <a:r>
              <a:rPr lang="ru-RU" dirty="0" err="1" smtClean="0"/>
              <a:t>продається</a:t>
            </a:r>
            <a:r>
              <a:rPr lang="ru-RU" dirty="0" smtClean="0"/>
              <a:t>, а </a:t>
            </a:r>
            <a:r>
              <a:rPr lang="ru-RU" dirty="0" err="1" smtClean="0"/>
              <a:t>також</a:t>
            </a:r>
            <a:r>
              <a:rPr lang="ru-RU" dirty="0" smtClean="0"/>
              <a:t>, </a:t>
            </a:r>
            <a:r>
              <a:rPr lang="ru-RU" dirty="0" err="1" smtClean="0"/>
              <a:t>хто</a:t>
            </a:r>
            <a:r>
              <a:rPr lang="ru-RU" dirty="0" smtClean="0"/>
              <a:t> є </a:t>
            </a:r>
            <a:r>
              <a:rPr lang="ru-RU" dirty="0" err="1" smtClean="0"/>
              <a:t>споживачем</a:t>
            </a:r>
            <a:r>
              <a:rPr lang="ru-RU" dirty="0" smtClean="0"/>
              <a:t>. Особливо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потрібно</a:t>
            </a:r>
            <a:r>
              <a:rPr lang="ru-RU" dirty="0" smtClean="0"/>
              <a:t> в </a:t>
            </a:r>
            <a:r>
              <a:rPr lang="ru-RU" dirty="0" err="1" smtClean="0"/>
              <a:t>умовах</a:t>
            </a:r>
            <a:r>
              <a:rPr lang="ru-RU" dirty="0" smtClean="0"/>
              <a:t> </a:t>
            </a:r>
            <a:r>
              <a:rPr lang="ru-RU" dirty="0" err="1" smtClean="0"/>
              <a:t>жорсткої</a:t>
            </a:r>
            <a:r>
              <a:rPr lang="ru-RU" dirty="0" smtClean="0"/>
              <a:t> </a:t>
            </a:r>
            <a:r>
              <a:rPr lang="ru-RU" dirty="0" err="1" smtClean="0"/>
              <a:t>конкуренції</a:t>
            </a:r>
            <a:r>
              <a:rPr lang="ru-RU" dirty="0" smtClean="0"/>
              <a:t> </a:t>
            </a:r>
            <a:r>
              <a:rPr lang="ru-RU" dirty="0" err="1" smtClean="0"/>
              <a:t>сьогодення</a:t>
            </a:r>
            <a:r>
              <a:rPr lang="ru-RU" dirty="0" smtClean="0"/>
              <a:t>. </a:t>
            </a:r>
            <a:r>
              <a:rPr lang="ru-RU" dirty="0" err="1" smtClean="0"/>
              <a:t>Вичерпну</a:t>
            </a:r>
            <a:r>
              <a:rPr lang="ru-RU" dirty="0" smtClean="0"/>
              <a:t> </a:t>
            </a:r>
            <a:r>
              <a:rPr lang="ru-RU" dirty="0" err="1" smtClean="0"/>
              <a:t>відповідь</a:t>
            </a:r>
            <a:r>
              <a:rPr lang="ru-RU" dirty="0" smtClean="0"/>
              <a:t> на перше </a:t>
            </a:r>
            <a:r>
              <a:rPr lang="ru-RU" dirty="0" err="1" smtClean="0"/>
              <a:t>питання</a:t>
            </a:r>
            <a:r>
              <a:rPr lang="ru-RU" dirty="0" smtClean="0"/>
              <a:t> </a:t>
            </a:r>
            <a:r>
              <a:rPr lang="ru-RU" dirty="0" err="1" smtClean="0"/>
              <a:t>дають</a:t>
            </a:r>
            <a:r>
              <a:rPr lang="ru-RU" dirty="0" smtClean="0"/>
              <a:t> </a:t>
            </a:r>
            <a:r>
              <a:rPr lang="ru-RU" dirty="0" err="1" smtClean="0"/>
              <a:t>такі</a:t>
            </a:r>
            <a:r>
              <a:rPr lang="ru-RU" dirty="0" smtClean="0"/>
              <a:t> </a:t>
            </a:r>
            <a:r>
              <a:rPr lang="ru-RU" dirty="0" err="1" smtClean="0"/>
              <a:t>засоби</a:t>
            </a:r>
            <a:r>
              <a:rPr lang="ru-RU" dirty="0" smtClean="0"/>
              <a:t> </a:t>
            </a:r>
            <a:r>
              <a:rPr lang="en-GB" dirty="0" smtClean="0"/>
              <a:t>Data Mining, </a:t>
            </a:r>
            <a:r>
              <a:rPr lang="ru-RU" dirty="0" smtClean="0"/>
              <a:t>як </a:t>
            </a:r>
            <a:r>
              <a:rPr lang="ru-RU" b="1" dirty="0" err="1" smtClean="0"/>
              <a:t>аналіз</a:t>
            </a:r>
            <a:r>
              <a:rPr lang="ru-RU" b="1" dirty="0" smtClean="0"/>
              <a:t> </a:t>
            </a:r>
            <a:r>
              <a:rPr lang="ru-RU" b="1" dirty="0" err="1" smtClean="0"/>
              <a:t>ринкових</a:t>
            </a:r>
            <a:r>
              <a:rPr lang="ru-RU" b="1" dirty="0" smtClean="0"/>
              <a:t> </a:t>
            </a:r>
            <a:r>
              <a:rPr lang="ru-RU" b="1" dirty="0" err="1" smtClean="0"/>
              <a:t>кошиків</a:t>
            </a:r>
            <a:r>
              <a:rPr lang="ru-RU" b="1" dirty="0" smtClean="0"/>
              <a:t> і </a:t>
            </a:r>
            <a:r>
              <a:rPr lang="ru-RU" b="1" dirty="0" err="1" smtClean="0"/>
              <a:t>сиквенціальний</a:t>
            </a:r>
            <a:r>
              <a:rPr lang="ru-RU" b="1" dirty="0" smtClean="0"/>
              <a:t> </a:t>
            </a:r>
            <a:r>
              <a:rPr lang="ru-RU" b="1" dirty="0" err="1" smtClean="0"/>
              <a:t>аналіз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Знаючи</a:t>
            </a:r>
            <a:r>
              <a:rPr lang="ru-RU" dirty="0" smtClean="0"/>
              <a:t> </a:t>
            </a:r>
            <a:r>
              <a:rPr lang="ru-RU" dirty="0" err="1" smtClean="0"/>
              <a:t>зв’язки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покупками і </a:t>
            </a:r>
            <a:r>
              <a:rPr lang="ru-RU" dirty="0" err="1" smtClean="0"/>
              <a:t>тимчасові</a:t>
            </a:r>
            <a:r>
              <a:rPr lang="ru-RU" dirty="0" smtClean="0"/>
              <a:t> </a:t>
            </a:r>
            <a:r>
              <a:rPr lang="ru-RU" dirty="0" err="1" smtClean="0"/>
              <a:t>закономірності</a:t>
            </a:r>
            <a:r>
              <a:rPr lang="ru-RU" dirty="0" smtClean="0"/>
              <a:t>,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оптимальним</a:t>
            </a:r>
            <a:r>
              <a:rPr lang="ru-RU" dirty="0" smtClean="0"/>
              <a:t> чином </a:t>
            </a:r>
            <a:r>
              <a:rPr lang="ru-RU" dirty="0" err="1" smtClean="0"/>
              <a:t>регулювати</a:t>
            </a:r>
            <a:r>
              <a:rPr lang="ru-RU" dirty="0" smtClean="0"/>
              <a:t> </a:t>
            </a:r>
            <a:r>
              <a:rPr lang="ru-RU" dirty="0" err="1" smtClean="0"/>
              <a:t>пропозицію</a:t>
            </a:r>
            <a:r>
              <a:rPr lang="ru-RU" dirty="0" smtClean="0"/>
              <a:t>. З </a:t>
            </a:r>
            <a:r>
              <a:rPr lang="ru-RU" dirty="0" err="1" smtClean="0"/>
              <a:t>іншого</a:t>
            </a:r>
            <a:r>
              <a:rPr lang="ru-RU" dirty="0" smtClean="0"/>
              <a:t> боку, маркетинг </a:t>
            </a:r>
            <a:r>
              <a:rPr lang="ru-RU" dirty="0" err="1" smtClean="0"/>
              <a:t>має</a:t>
            </a:r>
            <a:r>
              <a:rPr lang="ru-RU" dirty="0" smtClean="0"/>
              <a:t> </a:t>
            </a:r>
            <a:r>
              <a:rPr lang="ru-RU" dirty="0" err="1" smtClean="0"/>
              <a:t>можливість</a:t>
            </a:r>
            <a:r>
              <a:rPr lang="ru-RU" dirty="0" smtClean="0"/>
              <a:t> </a:t>
            </a:r>
            <a:r>
              <a:rPr lang="ru-RU" dirty="0" err="1" smtClean="0"/>
              <a:t>безпосередньо</a:t>
            </a:r>
            <a:r>
              <a:rPr lang="ru-RU" dirty="0" smtClean="0"/>
              <a:t> </a:t>
            </a:r>
            <a:r>
              <a:rPr lang="ru-RU" dirty="0" err="1" smtClean="0"/>
              <a:t>управляти</a:t>
            </a:r>
            <a:r>
              <a:rPr lang="ru-RU" dirty="0" smtClean="0"/>
              <a:t> попитом, але для </a:t>
            </a:r>
            <a:r>
              <a:rPr lang="ru-RU" dirty="0" err="1" smtClean="0"/>
              <a:t>цього</a:t>
            </a:r>
            <a:r>
              <a:rPr lang="ru-RU" dirty="0" smtClean="0"/>
              <a:t> </a:t>
            </a:r>
            <a:r>
              <a:rPr lang="ru-RU" dirty="0" err="1" smtClean="0"/>
              <a:t>необхідно</a:t>
            </a:r>
            <a:r>
              <a:rPr lang="ru-RU" dirty="0" smtClean="0"/>
              <a:t> знати </a:t>
            </a:r>
            <a:r>
              <a:rPr lang="ru-RU" dirty="0" err="1" smtClean="0"/>
              <a:t>якомога</a:t>
            </a:r>
            <a:r>
              <a:rPr lang="ru-RU" dirty="0" smtClean="0"/>
              <a:t> </a:t>
            </a:r>
            <a:r>
              <a:rPr lang="ru-RU" dirty="0" err="1" smtClean="0"/>
              <a:t>більше</a:t>
            </a:r>
            <a:r>
              <a:rPr lang="ru-RU" dirty="0" smtClean="0"/>
              <a:t> про </a:t>
            </a:r>
            <a:r>
              <a:rPr lang="ru-RU" dirty="0" err="1" smtClean="0"/>
              <a:t>поведінку</a:t>
            </a:r>
            <a:r>
              <a:rPr lang="ru-RU" dirty="0" smtClean="0"/>
              <a:t> </a:t>
            </a:r>
            <a:r>
              <a:rPr lang="ru-RU" dirty="0" err="1" smtClean="0"/>
              <a:t>споживачів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 smtClean="0"/>
              <a:t>Data Mining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вирішувати</a:t>
            </a:r>
            <a:r>
              <a:rPr lang="ru-RU" dirty="0" smtClean="0"/>
              <a:t> </a:t>
            </a:r>
            <a:r>
              <a:rPr lang="ru-RU" dirty="0" err="1" smtClean="0"/>
              <a:t>завдання</a:t>
            </a:r>
            <a:r>
              <a:rPr lang="ru-RU" dirty="0" smtClean="0"/>
              <a:t> </a:t>
            </a:r>
            <a:r>
              <a:rPr lang="ru-RU" dirty="0" err="1" smtClean="0"/>
              <a:t>виділення</a:t>
            </a:r>
            <a:r>
              <a:rPr lang="ru-RU" dirty="0" smtClean="0"/>
              <a:t> </a:t>
            </a:r>
            <a:r>
              <a:rPr lang="ru-RU" dirty="0" err="1" smtClean="0"/>
              <a:t>груп</a:t>
            </a:r>
            <a:r>
              <a:rPr lang="ru-RU" dirty="0" smtClean="0"/>
              <a:t> </a:t>
            </a:r>
            <a:r>
              <a:rPr lang="ru-RU" dirty="0" err="1" smtClean="0"/>
              <a:t>споживачів</a:t>
            </a:r>
            <a:r>
              <a:rPr lang="ru-RU" dirty="0" smtClean="0"/>
              <a:t> </a:t>
            </a:r>
            <a:r>
              <a:rPr lang="ru-RU" dirty="0" err="1" smtClean="0"/>
              <a:t>зі</a:t>
            </a:r>
            <a:r>
              <a:rPr lang="ru-RU" dirty="0" smtClean="0"/>
              <a:t> схожими стереотипами </a:t>
            </a:r>
            <a:r>
              <a:rPr lang="ru-RU" dirty="0" err="1" smtClean="0"/>
              <a:t>поведінки</a:t>
            </a:r>
            <a:r>
              <a:rPr lang="ru-RU" dirty="0" smtClean="0"/>
              <a:t>, </a:t>
            </a:r>
            <a:r>
              <a:rPr lang="ru-RU" dirty="0" err="1" smtClean="0"/>
              <a:t>тобто</a:t>
            </a:r>
            <a:r>
              <a:rPr lang="ru-RU" dirty="0" smtClean="0"/>
              <a:t> </a:t>
            </a:r>
            <a:r>
              <a:rPr lang="ru-RU" dirty="0" err="1" smtClean="0"/>
              <a:t>сегментувати</a:t>
            </a:r>
            <a:r>
              <a:rPr lang="ru-RU" dirty="0" smtClean="0"/>
              <a:t> </a:t>
            </a:r>
            <a:r>
              <a:rPr lang="ru-RU" dirty="0" err="1" smtClean="0"/>
              <a:t>ринок</a:t>
            </a:r>
            <a:r>
              <a:rPr lang="ru-RU" dirty="0" smtClean="0"/>
              <a:t>. Для </a:t>
            </a:r>
            <a:r>
              <a:rPr lang="ru-RU" dirty="0" err="1" smtClean="0"/>
              <a:t>цього</a:t>
            </a:r>
            <a:r>
              <a:rPr lang="ru-RU" dirty="0" smtClean="0"/>
              <a:t> </a:t>
            </a:r>
            <a:r>
              <a:rPr lang="ru-RU" dirty="0" err="1" smtClean="0"/>
              <a:t>використовують</a:t>
            </a:r>
            <a:r>
              <a:rPr lang="ru-RU" dirty="0" smtClean="0"/>
              <a:t> </a:t>
            </a:r>
            <a:r>
              <a:rPr lang="ru-RU" b="1" dirty="0" err="1" smtClean="0"/>
              <a:t>кластеризацію</a:t>
            </a:r>
            <a:r>
              <a:rPr lang="ru-RU" b="1" dirty="0" smtClean="0"/>
              <a:t> і </a:t>
            </a:r>
            <a:r>
              <a:rPr lang="ru-RU" b="1" dirty="0" err="1" smtClean="0"/>
              <a:t>класифікацію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/>
              <a:t>Сиквенціальний</a:t>
            </a:r>
            <a:r>
              <a:rPr lang="ru-RU" b="1" dirty="0" smtClean="0"/>
              <a:t> </a:t>
            </a:r>
            <a:r>
              <a:rPr lang="ru-RU" b="1" dirty="0" err="1" smtClean="0"/>
              <a:t>аналіз</a:t>
            </a:r>
            <a:r>
              <a:rPr lang="ru-RU" b="1" dirty="0" smtClean="0"/>
              <a:t> </a:t>
            </a:r>
            <a:r>
              <a:rPr lang="ru-RU" dirty="0" err="1" smtClean="0"/>
              <a:t>допомагає</a:t>
            </a:r>
            <a:r>
              <a:rPr lang="ru-RU" dirty="0" smtClean="0"/>
              <a:t> </a:t>
            </a:r>
            <a:r>
              <a:rPr lang="ru-RU" dirty="0" err="1" smtClean="0"/>
              <a:t>торговим</a:t>
            </a:r>
            <a:r>
              <a:rPr lang="ru-RU" dirty="0" smtClean="0"/>
              <a:t> </a:t>
            </a:r>
            <a:r>
              <a:rPr lang="ru-RU" dirty="0" err="1" smtClean="0"/>
              <a:t>підприємствам</a:t>
            </a:r>
            <a:r>
              <a:rPr lang="ru-RU" dirty="0" smtClean="0"/>
              <a:t> </a:t>
            </a:r>
            <a:r>
              <a:rPr lang="ru-RU" dirty="0" err="1" smtClean="0"/>
              <a:t>приймати</a:t>
            </a:r>
            <a:r>
              <a:rPr lang="ru-RU" dirty="0" smtClean="0"/>
              <a:t> </a:t>
            </a:r>
            <a:r>
              <a:rPr lang="ru-RU" dirty="0" err="1" smtClean="0"/>
              <a:t>вирішення</a:t>
            </a:r>
            <a:r>
              <a:rPr lang="ru-RU" dirty="0" smtClean="0"/>
              <a:t> про </a:t>
            </a:r>
            <a:r>
              <a:rPr lang="ru-RU" dirty="0" err="1" smtClean="0"/>
              <a:t>створення</a:t>
            </a:r>
            <a:r>
              <a:rPr lang="ru-RU" dirty="0" smtClean="0"/>
              <a:t> </a:t>
            </a:r>
            <a:r>
              <a:rPr lang="ru-RU" dirty="0" err="1" smtClean="0"/>
              <a:t>товарних</a:t>
            </a:r>
            <a:r>
              <a:rPr lang="ru-RU" dirty="0" smtClean="0"/>
              <a:t> </a:t>
            </a:r>
            <a:r>
              <a:rPr lang="ru-RU" dirty="0" err="1" smtClean="0"/>
              <a:t>запасів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/>
              <a:t>Асоціативні</a:t>
            </a:r>
            <a:r>
              <a:rPr lang="ru-RU" b="1" dirty="0" smtClean="0"/>
              <a:t> </a:t>
            </a:r>
            <a:r>
              <a:rPr lang="ru-RU" b="1" dirty="0" err="1" smtClean="0"/>
              <a:t>моделі</a:t>
            </a:r>
            <a:r>
              <a:rPr lang="ru-RU" b="1" dirty="0" smtClean="0"/>
              <a:t> </a:t>
            </a:r>
            <a:r>
              <a:rPr lang="ru-RU" dirty="0" err="1" smtClean="0"/>
              <a:t>використовується</a:t>
            </a:r>
            <a:r>
              <a:rPr lang="ru-RU" dirty="0" smtClean="0"/>
              <a:t> </a:t>
            </a:r>
            <a:r>
              <a:rPr lang="ru-RU" dirty="0" err="1" smtClean="0"/>
              <a:t>тоді</a:t>
            </a:r>
            <a:r>
              <a:rPr lang="ru-RU" dirty="0" smtClean="0"/>
              <a:t>, коли </a:t>
            </a:r>
            <a:r>
              <a:rPr lang="ru-RU" dirty="0" err="1" smtClean="0"/>
              <a:t>декілька</a:t>
            </a:r>
            <a:r>
              <a:rPr lang="ru-RU" dirty="0" smtClean="0"/>
              <a:t> </a:t>
            </a:r>
            <a:r>
              <a:rPr lang="ru-RU" dirty="0" err="1" smtClean="0"/>
              <a:t>подій</a:t>
            </a:r>
            <a:r>
              <a:rPr lang="ru-RU" dirty="0" smtClean="0"/>
              <a:t> </a:t>
            </a:r>
            <a:r>
              <a:rPr lang="ru-RU" dirty="0" err="1" smtClean="0"/>
              <a:t>пов’язані</a:t>
            </a:r>
            <a:r>
              <a:rPr lang="ru-RU" dirty="0" smtClean="0"/>
              <a:t> одна з одною. Вони </a:t>
            </a:r>
            <a:r>
              <a:rPr lang="ru-RU" dirty="0" err="1" smtClean="0"/>
              <a:t>характеризують</a:t>
            </a:r>
            <a:r>
              <a:rPr lang="ru-RU" dirty="0" smtClean="0"/>
              <a:t> </a:t>
            </a:r>
            <a:r>
              <a:rPr lang="ru-RU" dirty="0" err="1" smtClean="0"/>
              <a:t>близькість</a:t>
            </a:r>
            <a:r>
              <a:rPr lang="ru-RU" dirty="0" smtClean="0"/>
              <a:t> </a:t>
            </a:r>
            <a:r>
              <a:rPr lang="ru-RU" dirty="0" err="1" smtClean="0"/>
              <a:t>різних</a:t>
            </a:r>
            <a:r>
              <a:rPr lang="ru-RU" dirty="0" smtClean="0"/>
              <a:t> </a:t>
            </a:r>
            <a:r>
              <a:rPr lang="ru-RU" dirty="0" err="1" smtClean="0"/>
              <a:t>одночасно</a:t>
            </a:r>
            <a:r>
              <a:rPr lang="ru-RU" dirty="0" smtClean="0"/>
              <a:t> </a:t>
            </a:r>
            <a:r>
              <a:rPr lang="ru-RU" dirty="0" err="1" smtClean="0"/>
              <a:t>спостережуваних</a:t>
            </a:r>
            <a:r>
              <a:rPr lang="ru-RU" dirty="0" smtClean="0"/>
              <a:t> </a:t>
            </a:r>
            <a:r>
              <a:rPr lang="ru-RU" dirty="0" err="1" smtClean="0"/>
              <a:t>категоріальних</a:t>
            </a:r>
            <a:r>
              <a:rPr lang="ru-RU" dirty="0" smtClean="0"/>
              <a:t> характеристик і </a:t>
            </a:r>
            <a:r>
              <a:rPr lang="ru-RU" dirty="0" err="1" smtClean="0"/>
              <a:t>виражаються</a:t>
            </a:r>
            <a:r>
              <a:rPr lang="ru-RU" dirty="0" smtClean="0"/>
              <a:t> </a:t>
            </a:r>
            <a:r>
              <a:rPr lang="ru-RU" dirty="0" err="1" smtClean="0"/>
              <a:t>простими</a:t>
            </a:r>
            <a:r>
              <a:rPr lang="ru-RU" dirty="0" smtClean="0"/>
              <a:t> правилами. Такими характеристиками </a:t>
            </a:r>
            <a:r>
              <a:rPr lang="ru-RU" dirty="0" err="1" smtClean="0"/>
              <a:t>можуть</a:t>
            </a:r>
            <a:r>
              <a:rPr lang="ru-RU" dirty="0" smtClean="0"/>
              <a:t> бути </a:t>
            </a:r>
            <a:r>
              <a:rPr lang="ru-RU" dirty="0" err="1" smtClean="0"/>
              <a:t>товари</a:t>
            </a:r>
            <a:r>
              <a:rPr lang="ru-RU" dirty="0" smtClean="0"/>
              <a:t>, </a:t>
            </a:r>
            <a:r>
              <a:rPr lang="ru-RU" dirty="0" err="1" smtClean="0"/>
              <a:t>послуги</a:t>
            </a:r>
            <a:r>
              <a:rPr lang="ru-RU" dirty="0" smtClean="0"/>
              <a:t> та попит на них,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одночасно</a:t>
            </a:r>
            <a:r>
              <a:rPr lang="ru-RU" dirty="0" smtClean="0"/>
              <a:t> </a:t>
            </a:r>
            <a:r>
              <a:rPr lang="ru-RU" dirty="0" err="1" smtClean="0"/>
              <a:t>надаються</a:t>
            </a:r>
            <a:r>
              <a:rPr lang="ru-RU" dirty="0" smtClean="0"/>
              <a:t> </a:t>
            </a:r>
            <a:r>
              <a:rPr lang="ru-RU" dirty="0" err="1" smtClean="0"/>
              <a:t>споживачеві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3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2979" y="1166843"/>
            <a:ext cx="116706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У список </a:t>
            </a:r>
            <a:r>
              <a:rPr lang="ru-RU" dirty="0" err="1" smtClean="0"/>
              <a:t>основних</a:t>
            </a:r>
            <a:r>
              <a:rPr lang="ru-RU" dirty="0" smtClean="0"/>
              <a:t> , </a:t>
            </a:r>
            <a:r>
              <a:rPr lang="ru-RU" dirty="0" err="1" smtClean="0"/>
              <a:t>вирішуваних</a:t>
            </a:r>
            <a:r>
              <a:rPr lang="ru-RU" dirty="0" smtClean="0"/>
              <a:t> алгоритмами </a:t>
            </a:r>
            <a:r>
              <a:rPr lang="en-GB" dirty="0" smtClean="0"/>
              <a:t>DM, </a:t>
            </a:r>
            <a:r>
              <a:rPr lang="ru-RU" dirty="0" err="1" smtClean="0"/>
              <a:t>входять</a:t>
            </a:r>
            <a:r>
              <a:rPr lang="ru-RU" dirty="0" smtClean="0"/>
              <a:t>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rgbClr val="FF0000"/>
                </a:solidFill>
              </a:rPr>
              <a:t>пошук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асоціацій</a:t>
            </a:r>
            <a:r>
              <a:rPr lang="ru-RU" b="1" dirty="0" smtClean="0">
                <a:solidFill>
                  <a:srgbClr val="FF0000"/>
                </a:solidFill>
              </a:rPr>
              <a:t> (</a:t>
            </a:r>
            <a:r>
              <a:rPr lang="ru-RU" b="1" dirty="0" err="1" smtClean="0">
                <a:solidFill>
                  <a:srgbClr val="FF0000"/>
                </a:solidFill>
              </a:rPr>
              <a:t>зв’язків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між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різними</a:t>
            </a:r>
            <a:r>
              <a:rPr lang="ru-RU" b="1" dirty="0" smtClean="0">
                <a:solidFill>
                  <a:srgbClr val="FF0000"/>
                </a:solidFill>
              </a:rPr>
              <a:t> характеристиками</a:t>
            </a:r>
            <a:r>
              <a:rPr lang="ru-RU" dirty="0" smtClean="0"/>
              <a:t>),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кластеризація</a:t>
            </a:r>
            <a:r>
              <a:rPr lang="ru-RU" dirty="0" smtClean="0"/>
              <a:t> та </a:t>
            </a:r>
            <a:r>
              <a:rPr lang="ru-RU" dirty="0" err="1" smtClean="0"/>
              <a:t>сегментація</a:t>
            </a:r>
            <a:r>
              <a:rPr lang="ru-RU" dirty="0" smtClean="0"/>
              <a:t> (</a:t>
            </a:r>
            <a:r>
              <a:rPr lang="ru-RU" dirty="0" err="1" smtClean="0"/>
              <a:t>виявлення</a:t>
            </a:r>
            <a:r>
              <a:rPr lang="ru-RU" dirty="0" smtClean="0"/>
              <a:t> </a:t>
            </a:r>
            <a:r>
              <a:rPr lang="ru-RU" dirty="0" err="1" smtClean="0"/>
              <a:t>структури</a:t>
            </a:r>
            <a:r>
              <a:rPr lang="ru-RU" dirty="0" smtClean="0"/>
              <a:t>, </a:t>
            </a:r>
            <a:r>
              <a:rPr lang="ru-RU" dirty="0" err="1" smtClean="0"/>
              <a:t>груп</a:t>
            </a:r>
            <a:r>
              <a:rPr lang="ru-RU" dirty="0" smtClean="0"/>
              <a:t>, </a:t>
            </a:r>
            <a:r>
              <a:rPr lang="ru-RU" dirty="0" err="1" smtClean="0"/>
              <a:t>кластерів</a:t>
            </a:r>
            <a:r>
              <a:rPr lang="ru-RU" dirty="0" smtClean="0"/>
              <a:t>),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smtClean="0"/>
              <a:t>дерева </a:t>
            </a:r>
            <a:r>
              <a:rPr lang="ru-RU" dirty="0" err="1" smtClean="0"/>
              <a:t>рішень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аналіз</a:t>
            </a:r>
            <a:r>
              <a:rPr lang="ru-RU" dirty="0" smtClean="0"/>
              <a:t> з </a:t>
            </a:r>
            <a:r>
              <a:rPr lang="ru-RU" dirty="0" err="1" smtClean="0"/>
              <a:t>виборчою</a:t>
            </a:r>
            <a:r>
              <a:rPr lang="ru-RU" dirty="0" smtClean="0"/>
              <a:t> </a:t>
            </a:r>
            <a:r>
              <a:rPr lang="ru-RU" dirty="0" err="1" smtClean="0"/>
              <a:t>дією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мережі</a:t>
            </a:r>
            <a:r>
              <a:rPr lang="ru-RU" dirty="0" smtClean="0"/>
              <a:t> </a:t>
            </a:r>
            <a:r>
              <a:rPr lang="ru-RU" dirty="0" err="1" smtClean="0"/>
              <a:t>впевненості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smtClean="0"/>
              <a:t>метод </a:t>
            </a:r>
            <a:r>
              <a:rPr lang="ru-RU" dirty="0" err="1" smtClean="0"/>
              <a:t>найближчих</a:t>
            </a:r>
            <a:r>
              <a:rPr lang="ru-RU" dirty="0" smtClean="0"/>
              <a:t> </a:t>
            </a:r>
            <a:r>
              <a:rPr lang="ru-RU" dirty="0" err="1" smtClean="0"/>
              <a:t>сусідів</a:t>
            </a:r>
            <a:r>
              <a:rPr lang="ru-RU" dirty="0" smtClean="0"/>
              <a:t> (метод </a:t>
            </a:r>
            <a:r>
              <a:rPr lang="ru-RU" dirty="0" err="1" smtClean="0"/>
              <a:t>опорних</a:t>
            </a:r>
            <a:r>
              <a:rPr lang="ru-RU" dirty="0" smtClean="0"/>
              <a:t> </a:t>
            </a:r>
            <a:r>
              <a:rPr lang="ru-RU" dirty="0" err="1" smtClean="0"/>
              <a:t>векторів</a:t>
            </a:r>
            <a:r>
              <a:rPr lang="ru-RU" dirty="0" smtClean="0"/>
              <a:t>),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нейронні</a:t>
            </a:r>
            <a:r>
              <a:rPr lang="ru-RU" dirty="0" smtClean="0"/>
              <a:t> </a:t>
            </a:r>
            <a:r>
              <a:rPr lang="ru-RU" dirty="0" err="1" smtClean="0"/>
              <a:t>мережі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нечітка</a:t>
            </a:r>
            <a:r>
              <a:rPr lang="ru-RU" dirty="0" smtClean="0"/>
              <a:t> </a:t>
            </a:r>
            <a:r>
              <a:rPr lang="ru-RU" dirty="0" err="1" smtClean="0"/>
              <a:t>логіка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генетичні</a:t>
            </a:r>
            <a:r>
              <a:rPr lang="ru-RU" dirty="0" smtClean="0"/>
              <a:t> </a:t>
            </a:r>
            <a:r>
              <a:rPr lang="ru-RU" dirty="0" err="1" smtClean="0"/>
              <a:t>алгоритми</a:t>
            </a:r>
            <a:r>
              <a:rPr lang="ru-RU" dirty="0" smtClean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регресійні</a:t>
            </a:r>
            <a:r>
              <a:rPr lang="ru-RU" dirty="0" smtClean="0"/>
              <a:t> </a:t>
            </a:r>
            <a:r>
              <a:rPr lang="ru-RU" dirty="0" err="1" smtClean="0"/>
              <a:t>методи</a:t>
            </a:r>
            <a:r>
              <a:rPr lang="ru-RU" dirty="0" smtClean="0"/>
              <a:t>: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прогнозування</a:t>
            </a:r>
            <a:r>
              <a:rPr lang="ru-RU" dirty="0" smtClean="0"/>
              <a:t>,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класифікація</a:t>
            </a:r>
            <a:r>
              <a:rPr lang="ru-RU" dirty="0" smtClean="0"/>
              <a:t>,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відновлення</a:t>
            </a:r>
            <a:r>
              <a:rPr lang="ru-RU" dirty="0" smtClean="0"/>
              <a:t> </a:t>
            </a:r>
            <a:r>
              <a:rPr lang="ru-RU" dirty="0" err="1" smtClean="0"/>
              <a:t>функціональної</a:t>
            </a:r>
            <a:r>
              <a:rPr lang="ru-RU" dirty="0" smtClean="0"/>
              <a:t> </a:t>
            </a:r>
            <a:r>
              <a:rPr lang="ru-RU" dirty="0" err="1" smtClean="0"/>
              <a:t>залежності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характеристиками,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еволюційне</a:t>
            </a:r>
            <a:r>
              <a:rPr lang="ru-RU" dirty="0" smtClean="0"/>
              <a:t> </a:t>
            </a:r>
            <a:r>
              <a:rPr lang="ru-RU" dirty="0" err="1" smtClean="0"/>
              <a:t>програмування</a:t>
            </a:r>
            <a:r>
              <a:rPr lang="ru-RU" dirty="0" smtClean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uk-UA" dirty="0" err="1" smtClean="0"/>
              <a:t>в</a:t>
            </a:r>
            <a:r>
              <a:rPr lang="ru-RU" dirty="0" err="1" smtClean="0"/>
              <a:t>ізуалізація</a:t>
            </a:r>
            <a:r>
              <a:rPr lang="ru-RU" dirty="0" smtClean="0"/>
              <a:t> </a:t>
            </a:r>
            <a:r>
              <a:rPr lang="ru-RU" dirty="0" err="1" smtClean="0"/>
              <a:t>знайдених</a:t>
            </a:r>
            <a:r>
              <a:rPr lang="ru-RU" dirty="0" smtClean="0"/>
              <a:t> моделей та </a:t>
            </a:r>
            <a:r>
              <a:rPr lang="ru-RU" dirty="0" err="1" smtClean="0"/>
              <a:t>даних</a:t>
            </a:r>
            <a:r>
              <a:rPr lang="ru-RU" dirty="0" smtClean="0"/>
              <a:t>.</a:t>
            </a:r>
          </a:p>
          <a:p>
            <a:r>
              <a:rPr lang="ru-RU" dirty="0" smtClean="0">
                <a:solidFill>
                  <a:srgbClr val="0000CC"/>
                </a:solidFill>
              </a:rPr>
              <a:t>З метою </a:t>
            </a:r>
            <a:r>
              <a:rPr lang="ru-RU" dirty="0" err="1" smtClean="0">
                <a:solidFill>
                  <a:srgbClr val="0000CC"/>
                </a:solidFill>
              </a:rPr>
              <a:t>моделювання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попиту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використовуються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методи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асоціативних</a:t>
            </a:r>
            <a:r>
              <a:rPr lang="ru-RU" b="1" dirty="0" smtClean="0">
                <a:solidFill>
                  <a:srgbClr val="0000CC"/>
                </a:solidFill>
              </a:rPr>
              <a:t> правил </a:t>
            </a:r>
            <a:r>
              <a:rPr lang="ru-RU" dirty="0" smtClean="0">
                <a:solidFill>
                  <a:srgbClr val="0000CC"/>
                </a:solidFill>
              </a:rPr>
              <a:t>для </a:t>
            </a:r>
            <a:r>
              <a:rPr lang="ru-RU" dirty="0" err="1" smtClean="0">
                <a:solidFill>
                  <a:srgbClr val="0000CC"/>
                </a:solidFill>
              </a:rPr>
              <a:t>аналізу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взаємозв’язків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між</a:t>
            </a:r>
            <a:r>
              <a:rPr lang="ru-RU" dirty="0" smtClean="0">
                <a:solidFill>
                  <a:srgbClr val="0000CC"/>
                </a:solidFill>
              </a:rPr>
              <a:t> товарами та </a:t>
            </a:r>
            <a:r>
              <a:rPr lang="ru-RU" dirty="0" err="1" smtClean="0">
                <a:solidFill>
                  <a:srgbClr val="0000CC"/>
                </a:solidFill>
              </a:rPr>
              <a:t>товарними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групами</a:t>
            </a:r>
            <a:r>
              <a:rPr lang="ru-RU" dirty="0" smtClean="0">
                <a:solidFill>
                  <a:srgbClr val="0000CC"/>
                </a:solidFill>
              </a:rPr>
              <a:t>, </a:t>
            </a:r>
            <a:r>
              <a:rPr lang="ru-RU" dirty="0" err="1" smtClean="0">
                <a:solidFill>
                  <a:srgbClr val="0000CC"/>
                </a:solidFill>
              </a:rPr>
              <a:t>що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входять</a:t>
            </a:r>
            <a:r>
              <a:rPr lang="ru-RU" dirty="0" smtClean="0">
                <a:solidFill>
                  <a:srgbClr val="0000CC"/>
                </a:solidFill>
              </a:rPr>
              <a:t> в одну </a:t>
            </a:r>
            <a:r>
              <a:rPr lang="ru-RU" dirty="0" err="1" smtClean="0">
                <a:solidFill>
                  <a:srgbClr val="0000CC"/>
                </a:solidFill>
              </a:rPr>
              <a:t>трансакцію</a:t>
            </a:r>
            <a:r>
              <a:rPr lang="ru-RU" dirty="0" smtClean="0">
                <a:solidFill>
                  <a:srgbClr val="0000CC"/>
                </a:solidFill>
              </a:rPr>
              <a:t> на товарному ринку.</a:t>
            </a:r>
            <a:endParaRPr lang="ru-RU" dirty="0">
              <a:solidFill>
                <a:srgbClr val="0000CC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430273" y="199760"/>
            <a:ext cx="39269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</a:rPr>
              <a:t>Задачі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smtClean="0">
                <a:solidFill>
                  <a:schemeClr val="bg1"/>
                </a:solidFill>
              </a:rPr>
              <a:t>Data Mining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90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55600" y="1194138"/>
            <a:ext cx="11582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Асоціативні</a:t>
            </a:r>
            <a:r>
              <a:rPr lang="ru-RU" dirty="0" smtClean="0"/>
              <a:t> правила часто </a:t>
            </a:r>
            <a:r>
              <a:rPr lang="ru-RU" dirty="0" err="1" smtClean="0"/>
              <a:t>використовують</a:t>
            </a:r>
            <a:r>
              <a:rPr lang="ru-RU" dirty="0" smtClean="0"/>
              <a:t>, </a:t>
            </a:r>
            <a:r>
              <a:rPr lang="ru-RU" dirty="0" err="1" smtClean="0"/>
              <a:t>наприклад</a:t>
            </a:r>
            <a:r>
              <a:rPr lang="ru-RU" dirty="0" smtClean="0"/>
              <a:t>, у таких задачах: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виявлення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 </a:t>
            </a:r>
            <a:r>
              <a:rPr lang="ru-RU" dirty="0" err="1" smtClean="0"/>
              <a:t>товарів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часто (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ніколи</a:t>
            </a:r>
            <a:r>
              <a:rPr lang="ru-RU" dirty="0" smtClean="0"/>
              <a:t>) </a:t>
            </a:r>
            <a:r>
              <a:rPr lang="ru-RU" dirty="0" err="1" smtClean="0"/>
              <a:t>купуються</a:t>
            </a:r>
            <a:r>
              <a:rPr lang="ru-RU" dirty="0" smtClean="0"/>
              <a:t> разом;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визначення</a:t>
            </a:r>
            <a:r>
              <a:rPr lang="ru-RU" dirty="0" smtClean="0"/>
              <a:t> </a:t>
            </a:r>
            <a:r>
              <a:rPr lang="ru-RU" dirty="0" err="1" smtClean="0"/>
              <a:t>клієнтів</a:t>
            </a:r>
            <a:r>
              <a:rPr lang="ru-RU" dirty="0" smtClean="0"/>
              <a:t>, </a:t>
            </a:r>
            <a:r>
              <a:rPr lang="ru-RU" dirty="0" err="1" smtClean="0"/>
              <a:t>яким</a:t>
            </a:r>
            <a:r>
              <a:rPr lang="ru-RU" dirty="0" smtClean="0"/>
              <a:t> </a:t>
            </a:r>
            <a:r>
              <a:rPr lang="ru-RU" dirty="0" err="1" smtClean="0"/>
              <a:t>подобаються</a:t>
            </a:r>
            <a:r>
              <a:rPr lang="ru-RU" dirty="0" smtClean="0"/>
              <a:t> </a:t>
            </a:r>
            <a:r>
              <a:rPr lang="ru-RU" dirty="0" err="1" smtClean="0"/>
              <a:t>нововведення</a:t>
            </a:r>
            <a:r>
              <a:rPr lang="ru-RU" dirty="0" smtClean="0"/>
              <a:t> у </a:t>
            </a:r>
            <a:r>
              <a:rPr lang="ru-RU" dirty="0" err="1" smtClean="0"/>
              <a:t>їх</a:t>
            </a:r>
            <a:r>
              <a:rPr lang="ru-RU" dirty="0" smtClean="0"/>
              <a:t> </a:t>
            </a:r>
            <a:r>
              <a:rPr lang="ru-RU" dirty="0" err="1" smtClean="0"/>
              <a:t>обслуговування</a:t>
            </a:r>
            <a:r>
              <a:rPr lang="ru-RU" dirty="0" smtClean="0"/>
              <a:t>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визначення</a:t>
            </a:r>
            <a:r>
              <a:rPr lang="ru-RU" dirty="0" smtClean="0"/>
              <a:t> </a:t>
            </a:r>
            <a:r>
              <a:rPr lang="ru-RU" dirty="0" err="1" smtClean="0"/>
              <a:t>профілю</a:t>
            </a:r>
            <a:r>
              <a:rPr lang="ru-RU" dirty="0" smtClean="0"/>
              <a:t> </a:t>
            </a:r>
            <a:r>
              <a:rPr lang="ru-RU" dirty="0" err="1" smtClean="0"/>
              <a:t>відвідувача</a:t>
            </a:r>
            <a:r>
              <a:rPr lang="ru-RU" dirty="0" smtClean="0"/>
              <a:t> </a:t>
            </a:r>
            <a:r>
              <a:rPr lang="en-GB" dirty="0" smtClean="0"/>
              <a:t>web-</a:t>
            </a:r>
            <a:r>
              <a:rPr lang="ru-RU" dirty="0" smtClean="0"/>
              <a:t>ресурсу і т. </a:t>
            </a:r>
            <a:r>
              <a:rPr lang="ru-RU" dirty="0" err="1" smtClean="0"/>
              <a:t>ін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моделювання</a:t>
            </a:r>
            <a:r>
              <a:rPr lang="ru-RU" dirty="0" smtClean="0"/>
              <a:t> </a:t>
            </a:r>
            <a:r>
              <a:rPr lang="ru-RU" dirty="0" err="1"/>
              <a:t>попиту</a:t>
            </a:r>
            <a:r>
              <a:rPr lang="ru-RU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421323" y="0"/>
            <a:ext cx="6725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Поняття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асоціативного</a:t>
            </a:r>
            <a:r>
              <a:rPr lang="ru-RU" sz="3600" b="1" dirty="0" smtClean="0">
                <a:solidFill>
                  <a:schemeClr val="bg1"/>
                </a:solidFill>
              </a:rPr>
              <a:t> правила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41300" y="2857043"/>
            <a:ext cx="11696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Базовим</a:t>
            </a:r>
            <a:r>
              <a:rPr lang="ru-RU" dirty="0" smtClean="0"/>
              <a:t> </a:t>
            </a:r>
            <a:r>
              <a:rPr lang="ru-RU" dirty="0" err="1" smtClean="0"/>
              <a:t>поняттям</a:t>
            </a:r>
            <a:r>
              <a:rPr lang="ru-RU" dirty="0" smtClean="0"/>
              <a:t> </a:t>
            </a:r>
            <a:r>
              <a:rPr lang="ru-RU" dirty="0" err="1" smtClean="0"/>
              <a:t>теорії</a:t>
            </a:r>
            <a:r>
              <a:rPr lang="ru-RU" dirty="0" smtClean="0"/>
              <a:t> </a:t>
            </a:r>
            <a:r>
              <a:rPr lang="ru-RU" dirty="0" err="1" smtClean="0"/>
              <a:t>асоціативних</a:t>
            </a:r>
            <a:r>
              <a:rPr lang="ru-RU" dirty="0" smtClean="0"/>
              <a:t> правил є </a:t>
            </a:r>
            <a:r>
              <a:rPr lang="ru-RU" b="1" dirty="0" err="1" smtClean="0">
                <a:solidFill>
                  <a:srgbClr val="0000CC"/>
                </a:solidFill>
              </a:rPr>
              <a:t>транзакція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smtClean="0"/>
              <a:t>– </a:t>
            </a:r>
            <a:r>
              <a:rPr lang="ru-RU" b="1" dirty="0" err="1" smtClean="0">
                <a:solidFill>
                  <a:srgbClr val="0000CC"/>
                </a:solidFill>
              </a:rPr>
              <a:t>множина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подій</a:t>
            </a:r>
            <a:r>
              <a:rPr lang="ru-RU" b="1" dirty="0" smtClean="0">
                <a:solidFill>
                  <a:srgbClr val="0000CC"/>
                </a:solidFill>
              </a:rPr>
              <a:t>, </a:t>
            </a:r>
            <a:r>
              <a:rPr lang="ru-RU" b="1" dirty="0" err="1" smtClean="0">
                <a:solidFill>
                  <a:srgbClr val="0000CC"/>
                </a:solidFill>
              </a:rPr>
              <a:t>що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відбуваються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сумісно</a:t>
            </a:r>
            <a:r>
              <a:rPr lang="ru-RU" dirty="0" smtClean="0"/>
              <a:t>.  </a:t>
            </a:r>
          </a:p>
          <a:p>
            <a:r>
              <a:rPr lang="ru-RU" dirty="0" err="1" smtClean="0">
                <a:solidFill>
                  <a:srgbClr val="008000"/>
                </a:solidFill>
              </a:rPr>
              <a:t>Наприклад</a:t>
            </a:r>
            <a:r>
              <a:rPr lang="ru-RU" dirty="0" smtClean="0">
                <a:solidFill>
                  <a:srgbClr val="008000"/>
                </a:solidFill>
              </a:rPr>
              <a:t>, </a:t>
            </a:r>
            <a:r>
              <a:rPr lang="ru-RU" dirty="0" err="1" smtClean="0">
                <a:solidFill>
                  <a:srgbClr val="008000"/>
                </a:solidFill>
              </a:rPr>
              <a:t>купівельна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транзакція</a:t>
            </a:r>
            <a:r>
              <a:rPr lang="ru-RU" dirty="0" smtClean="0">
                <a:solidFill>
                  <a:srgbClr val="008000"/>
                </a:solidFill>
              </a:rPr>
              <a:t> є набором (</a:t>
            </a:r>
            <a:r>
              <a:rPr lang="en-GB" dirty="0" smtClean="0">
                <a:solidFill>
                  <a:srgbClr val="008000"/>
                </a:solidFill>
              </a:rPr>
              <a:t>items) </a:t>
            </a:r>
            <a:r>
              <a:rPr lang="ru-RU" dirty="0" err="1" smtClean="0">
                <a:solidFill>
                  <a:srgbClr val="008000"/>
                </a:solidFill>
              </a:rPr>
              <a:t>товарів</a:t>
            </a:r>
            <a:r>
              <a:rPr lang="ru-RU" dirty="0" smtClean="0">
                <a:solidFill>
                  <a:srgbClr val="008000"/>
                </a:solidFill>
              </a:rPr>
              <a:t>, </a:t>
            </a:r>
            <a:r>
              <a:rPr lang="ru-RU" dirty="0" err="1" smtClean="0">
                <a:solidFill>
                  <a:srgbClr val="008000"/>
                </a:solidFill>
              </a:rPr>
              <a:t>куплених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покупцем</a:t>
            </a:r>
            <a:r>
              <a:rPr lang="ru-RU" dirty="0" smtClean="0">
                <a:solidFill>
                  <a:srgbClr val="008000"/>
                </a:solidFill>
              </a:rPr>
              <a:t> за один </a:t>
            </a:r>
            <a:r>
              <a:rPr lang="ru-RU" dirty="0" err="1" smtClean="0">
                <a:solidFill>
                  <a:srgbClr val="008000"/>
                </a:solidFill>
              </a:rPr>
              <a:t>візит</a:t>
            </a:r>
            <a:r>
              <a:rPr lang="ru-RU" dirty="0" smtClean="0">
                <a:solidFill>
                  <a:srgbClr val="008000"/>
                </a:solidFill>
              </a:rPr>
              <a:t>. </a:t>
            </a:r>
            <a:r>
              <a:rPr lang="ru-RU" dirty="0" err="1" smtClean="0">
                <a:solidFill>
                  <a:srgbClr val="008000"/>
                </a:solidFill>
              </a:rPr>
              <a:t>Такі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транзакції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можуть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фіксуватись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касовими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апаратами</a:t>
            </a:r>
            <a:r>
              <a:rPr lang="ru-RU" dirty="0" smtClean="0">
                <a:solidFill>
                  <a:srgbClr val="008000"/>
                </a:solidFill>
              </a:rPr>
              <a:t> і </a:t>
            </a:r>
            <a:r>
              <a:rPr lang="ru-RU" dirty="0" err="1" smtClean="0">
                <a:solidFill>
                  <a:srgbClr val="008000"/>
                </a:solidFill>
              </a:rPr>
              <a:t>зберігатись</a:t>
            </a:r>
            <a:r>
              <a:rPr lang="ru-RU" dirty="0" smtClean="0">
                <a:solidFill>
                  <a:srgbClr val="008000"/>
                </a:solidFill>
              </a:rPr>
              <a:t> у </a:t>
            </a:r>
            <a:r>
              <a:rPr lang="ru-RU" dirty="0" err="1" smtClean="0">
                <a:solidFill>
                  <a:srgbClr val="008000"/>
                </a:solidFill>
              </a:rPr>
              <a:t>базі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даних</a:t>
            </a:r>
            <a:r>
              <a:rPr lang="ru-RU" dirty="0" smtClean="0">
                <a:solidFill>
                  <a:srgbClr val="008000"/>
                </a:solidFill>
              </a:rPr>
              <a:t>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5600" y="3965950"/>
            <a:ext cx="1140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Розглянемо</a:t>
            </a:r>
            <a:r>
              <a:rPr lang="ru-RU" b="1" dirty="0" smtClean="0"/>
              <a:t>  </a:t>
            </a:r>
            <a:r>
              <a:rPr lang="ru-RU" b="1" dirty="0" err="1" smtClean="0"/>
              <a:t>методи</a:t>
            </a:r>
            <a:r>
              <a:rPr lang="ru-RU" b="1" dirty="0" smtClean="0"/>
              <a:t> </a:t>
            </a:r>
            <a:r>
              <a:rPr lang="ru-RU" b="1" dirty="0" err="1" smtClean="0"/>
              <a:t>асоціативних</a:t>
            </a:r>
            <a:r>
              <a:rPr lang="ru-RU" b="1" dirty="0" smtClean="0"/>
              <a:t> правил для </a:t>
            </a:r>
            <a:r>
              <a:rPr lang="ru-RU" b="1" dirty="0" err="1" smtClean="0"/>
              <a:t>аналізу</a:t>
            </a:r>
            <a:r>
              <a:rPr lang="ru-RU" b="1" dirty="0" smtClean="0"/>
              <a:t> </a:t>
            </a:r>
            <a:r>
              <a:rPr lang="ru-RU" b="1" dirty="0" err="1" smtClean="0"/>
              <a:t>взаємозв’язків</a:t>
            </a:r>
            <a:r>
              <a:rPr lang="ru-RU" b="1" dirty="0" smtClean="0"/>
              <a:t> </a:t>
            </a:r>
            <a:r>
              <a:rPr lang="ru-RU" b="1" dirty="0" err="1" smtClean="0"/>
              <a:t>між</a:t>
            </a:r>
            <a:r>
              <a:rPr lang="ru-RU" b="1" dirty="0" smtClean="0"/>
              <a:t> товарами та </a:t>
            </a:r>
            <a:r>
              <a:rPr lang="ru-RU" b="1" dirty="0" err="1" smtClean="0"/>
              <a:t>товарними</a:t>
            </a:r>
            <a:r>
              <a:rPr lang="ru-RU" b="1" dirty="0" smtClean="0"/>
              <a:t> </a:t>
            </a:r>
            <a:r>
              <a:rPr lang="ru-RU" b="1" dirty="0" err="1" smtClean="0"/>
              <a:t>групами</a:t>
            </a:r>
            <a:r>
              <a:rPr lang="ru-RU" b="1" dirty="0" smtClean="0"/>
              <a:t>, </a:t>
            </a:r>
            <a:r>
              <a:rPr lang="ru-RU" b="1" dirty="0" err="1" smtClean="0"/>
              <a:t>що</a:t>
            </a:r>
            <a:r>
              <a:rPr lang="ru-RU" b="1" dirty="0" smtClean="0"/>
              <a:t> </a:t>
            </a:r>
            <a:r>
              <a:rPr lang="ru-RU" b="1" dirty="0" err="1" smtClean="0"/>
              <a:t>входять</a:t>
            </a:r>
            <a:r>
              <a:rPr lang="ru-RU" b="1" dirty="0" smtClean="0"/>
              <a:t> в одну </a:t>
            </a:r>
            <a:r>
              <a:rPr lang="ru-RU" b="1" dirty="0" err="1" smtClean="0"/>
              <a:t>транзакцію</a:t>
            </a:r>
            <a:r>
              <a:rPr lang="ru-RU" b="1" dirty="0" smtClean="0"/>
              <a:t> на товарному ринку</a:t>
            </a:r>
            <a:endParaRPr lang="ru-RU" b="1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4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82199" y="1364955"/>
            <a:ext cx="1152625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 err="1" smtClean="0"/>
              <a:t>Основними</a:t>
            </a:r>
            <a:r>
              <a:rPr lang="ru-RU" dirty="0" smtClean="0"/>
              <a:t> </a:t>
            </a:r>
            <a:r>
              <a:rPr lang="ru-RU" dirty="0" err="1" smtClean="0"/>
              <a:t>перевагами</a:t>
            </a:r>
            <a:r>
              <a:rPr lang="ru-RU" dirty="0" smtClean="0"/>
              <a:t> </a:t>
            </a:r>
            <a:r>
              <a:rPr lang="ru-RU" dirty="0" err="1" smtClean="0"/>
              <a:t>асоціативних</a:t>
            </a:r>
            <a:r>
              <a:rPr lang="ru-RU" dirty="0" smtClean="0"/>
              <a:t> правил є </a:t>
            </a:r>
            <a:r>
              <a:rPr lang="ru-RU" dirty="0" err="1" smtClean="0"/>
              <a:t>легке</a:t>
            </a:r>
            <a:r>
              <a:rPr lang="ru-RU" dirty="0" smtClean="0"/>
              <a:t> </a:t>
            </a:r>
            <a:r>
              <a:rPr lang="ru-RU" dirty="0" err="1" smtClean="0"/>
              <a:t>сприйняття</a:t>
            </a:r>
            <a:r>
              <a:rPr lang="ru-RU" dirty="0" smtClean="0"/>
              <a:t> </a:t>
            </a:r>
            <a:r>
              <a:rPr lang="ru-RU" dirty="0" err="1" smtClean="0"/>
              <a:t>людиною</a:t>
            </a:r>
            <a:r>
              <a:rPr lang="ru-RU" dirty="0" smtClean="0"/>
              <a:t>, а </a:t>
            </a:r>
            <a:r>
              <a:rPr lang="ru-RU" dirty="0" err="1" smtClean="0"/>
              <a:t>саме</a:t>
            </a:r>
            <a:r>
              <a:rPr lang="ru-RU" dirty="0" smtClean="0"/>
              <a:t>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корисні</a:t>
            </a:r>
            <a:r>
              <a:rPr lang="ru-RU" b="1" dirty="0" smtClean="0"/>
              <a:t> правила </a:t>
            </a:r>
            <a:r>
              <a:rPr lang="ru-RU" dirty="0" smtClean="0"/>
              <a:t>— </a:t>
            </a:r>
            <a:r>
              <a:rPr lang="ru-RU" dirty="0" err="1" smtClean="0"/>
              <a:t>складаються</a:t>
            </a:r>
            <a:r>
              <a:rPr lang="ru-RU" dirty="0" smtClean="0"/>
              <a:t> з </a:t>
            </a:r>
            <a:r>
              <a:rPr lang="ru-RU" dirty="0" err="1" smtClean="0"/>
              <a:t>дійсної</a:t>
            </a:r>
            <a:r>
              <a:rPr lang="ru-RU" dirty="0" smtClean="0"/>
              <a:t> </a:t>
            </a:r>
            <a:r>
              <a:rPr lang="ru-RU" dirty="0" err="1" smtClean="0"/>
              <a:t>інформації</a:t>
            </a:r>
            <a:r>
              <a:rPr lang="ru-RU" dirty="0" smtClean="0"/>
              <a:t>, яка </a:t>
            </a:r>
            <a:r>
              <a:rPr lang="ru-RU" dirty="0" err="1" smtClean="0"/>
              <a:t>раніше</a:t>
            </a:r>
            <a:r>
              <a:rPr lang="ru-RU" dirty="0" smtClean="0"/>
              <a:t> </a:t>
            </a:r>
            <a:r>
              <a:rPr lang="ru-RU" dirty="0" err="1" smtClean="0"/>
              <a:t>була</a:t>
            </a:r>
            <a:r>
              <a:rPr lang="ru-RU" dirty="0" smtClean="0"/>
              <a:t> не </a:t>
            </a:r>
            <a:r>
              <a:rPr lang="ru-RU" dirty="0" err="1" smtClean="0"/>
              <a:t>відомою</a:t>
            </a:r>
            <a:r>
              <a:rPr lang="ru-RU" dirty="0" smtClean="0"/>
              <a:t>, але </a:t>
            </a:r>
            <a:r>
              <a:rPr lang="ru-RU" dirty="0" err="1" smtClean="0"/>
              <a:t>має</a:t>
            </a:r>
            <a:r>
              <a:rPr lang="ru-RU" dirty="0" smtClean="0"/>
              <a:t> </a:t>
            </a:r>
            <a:r>
              <a:rPr lang="ru-RU" dirty="0" err="1" smtClean="0"/>
              <a:t>логічне</a:t>
            </a:r>
            <a:r>
              <a:rPr lang="ru-RU" dirty="0" smtClean="0"/>
              <a:t> </a:t>
            </a:r>
            <a:r>
              <a:rPr lang="ru-RU" dirty="0" err="1" smtClean="0"/>
              <a:t>пояснення</a:t>
            </a:r>
            <a:r>
              <a:rPr lang="ru-RU" dirty="0" smtClean="0"/>
              <a:t>. </a:t>
            </a:r>
            <a:r>
              <a:rPr lang="ru-RU" dirty="0" err="1" smtClean="0"/>
              <a:t>Такі</a:t>
            </a:r>
            <a:r>
              <a:rPr lang="ru-RU" dirty="0" smtClean="0"/>
              <a:t> правила </a:t>
            </a:r>
            <a:r>
              <a:rPr lang="ru-RU" dirty="0" err="1" smtClean="0"/>
              <a:t>можуть</a:t>
            </a:r>
            <a:r>
              <a:rPr lang="ru-RU" dirty="0" smtClean="0"/>
              <a:t> бути </a:t>
            </a:r>
            <a:r>
              <a:rPr lang="ru-RU" dirty="0" err="1" smtClean="0"/>
              <a:t>використані</a:t>
            </a:r>
            <a:r>
              <a:rPr lang="ru-RU" dirty="0" smtClean="0"/>
              <a:t> для </a:t>
            </a:r>
            <a:r>
              <a:rPr lang="ru-RU" dirty="0" err="1" smtClean="0"/>
              <a:t>прийняття</a:t>
            </a:r>
            <a:r>
              <a:rPr lang="ru-RU" dirty="0" smtClean="0"/>
              <a:t> </a:t>
            </a:r>
            <a:r>
              <a:rPr lang="ru-RU" dirty="0" err="1" smtClean="0"/>
              <a:t>рішень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приносять</a:t>
            </a:r>
            <a:r>
              <a:rPr lang="ru-RU" dirty="0" smtClean="0"/>
              <a:t> </a:t>
            </a:r>
            <a:r>
              <a:rPr lang="ru-RU" dirty="0" err="1" smtClean="0"/>
              <a:t>вигоду</a:t>
            </a:r>
            <a:r>
              <a:rPr lang="ru-RU" dirty="0" smtClean="0"/>
              <a:t>;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тривіальні</a:t>
            </a:r>
            <a:r>
              <a:rPr lang="ru-RU" b="1" dirty="0" smtClean="0"/>
              <a:t> правила </a:t>
            </a:r>
            <a:r>
              <a:rPr lang="ru-RU" dirty="0" smtClean="0"/>
              <a:t>— </a:t>
            </a:r>
            <a:r>
              <a:rPr lang="ru-RU" dirty="0" err="1" smtClean="0"/>
              <a:t>складаються</a:t>
            </a:r>
            <a:r>
              <a:rPr lang="ru-RU" dirty="0" smtClean="0"/>
              <a:t> з </a:t>
            </a:r>
            <a:r>
              <a:rPr lang="ru-RU" dirty="0" err="1" smtClean="0"/>
              <a:t>дійсної</a:t>
            </a:r>
            <a:r>
              <a:rPr lang="ru-RU" dirty="0" smtClean="0"/>
              <a:t> та легко </a:t>
            </a:r>
            <a:r>
              <a:rPr lang="ru-RU" dirty="0" err="1" smtClean="0"/>
              <a:t>пояснюваної</a:t>
            </a:r>
            <a:r>
              <a:rPr lang="ru-RU" dirty="0" smtClean="0"/>
              <a:t> </a:t>
            </a:r>
            <a:r>
              <a:rPr lang="ru-RU" dirty="0" err="1" smtClean="0"/>
              <a:t>інформації</a:t>
            </a:r>
            <a:r>
              <a:rPr lang="ru-RU" dirty="0" smtClean="0"/>
              <a:t> яка є </a:t>
            </a:r>
            <a:r>
              <a:rPr lang="ru-RU" dirty="0" err="1" smtClean="0"/>
              <a:t>відомою</a:t>
            </a:r>
            <a:r>
              <a:rPr lang="ru-RU" dirty="0" smtClean="0"/>
              <a:t>. </a:t>
            </a:r>
            <a:r>
              <a:rPr lang="ru-RU" dirty="0" err="1" smtClean="0"/>
              <a:t>Такі</a:t>
            </a:r>
            <a:r>
              <a:rPr lang="ru-RU" dirty="0" smtClean="0"/>
              <a:t> правила не </a:t>
            </a:r>
            <a:r>
              <a:rPr lang="ru-RU" dirty="0" err="1" smtClean="0"/>
              <a:t>приносять</a:t>
            </a:r>
            <a:r>
              <a:rPr lang="ru-RU" dirty="0" smtClean="0"/>
              <a:t> </a:t>
            </a:r>
            <a:r>
              <a:rPr lang="ru-RU" dirty="0" err="1" smtClean="0"/>
              <a:t>ніякої</a:t>
            </a:r>
            <a:r>
              <a:rPr lang="ru-RU" dirty="0" smtClean="0"/>
              <a:t> </a:t>
            </a:r>
            <a:r>
              <a:rPr lang="ru-RU" dirty="0" err="1" smtClean="0"/>
              <a:t>користі</a:t>
            </a:r>
            <a:r>
              <a:rPr lang="ru-RU" dirty="0" smtClean="0"/>
              <a:t>, </a:t>
            </a:r>
            <a:r>
              <a:rPr lang="ru-RU" dirty="0" err="1" smtClean="0"/>
              <a:t>оскільки</a:t>
            </a:r>
            <a:r>
              <a:rPr lang="ru-RU" dirty="0" smtClean="0"/>
              <a:t> </a:t>
            </a:r>
            <a:r>
              <a:rPr lang="ru-RU" dirty="0" err="1" smtClean="0"/>
              <a:t>відображають</a:t>
            </a:r>
            <a:r>
              <a:rPr lang="ru-RU" dirty="0" smtClean="0"/>
              <a:t> </a:t>
            </a:r>
            <a:r>
              <a:rPr lang="ru-RU" dirty="0" err="1" smtClean="0"/>
              <a:t>відомі</a:t>
            </a:r>
            <a:r>
              <a:rPr lang="ru-RU" dirty="0" smtClean="0"/>
              <a:t> </a:t>
            </a:r>
            <a:r>
              <a:rPr lang="ru-RU" dirty="0" err="1" smtClean="0"/>
              <a:t>закони</a:t>
            </a:r>
            <a:r>
              <a:rPr lang="ru-RU" dirty="0" smtClean="0"/>
              <a:t> в </a:t>
            </a:r>
            <a:r>
              <a:rPr lang="ru-RU" dirty="0" err="1" smtClean="0"/>
              <a:t>досліджуваній</a:t>
            </a:r>
            <a:r>
              <a:rPr lang="ru-RU" dirty="0" smtClean="0"/>
              <a:t> </a:t>
            </a:r>
            <a:r>
              <a:rPr lang="ru-RU" dirty="0" err="1" smtClean="0"/>
              <a:t>галузі</a:t>
            </a:r>
            <a:r>
              <a:rPr lang="ru-RU" dirty="0" smtClean="0"/>
              <a:t>,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результати</a:t>
            </a:r>
            <a:r>
              <a:rPr lang="ru-RU" dirty="0" smtClean="0"/>
              <a:t> </a:t>
            </a:r>
            <a:r>
              <a:rPr lang="ru-RU" dirty="0" err="1" smtClean="0"/>
              <a:t>минулої</a:t>
            </a:r>
            <a:r>
              <a:rPr lang="ru-RU" dirty="0" smtClean="0"/>
              <a:t> </a:t>
            </a:r>
            <a:r>
              <a:rPr lang="ru-RU" dirty="0" err="1" smtClean="0"/>
              <a:t>діяльності</a:t>
            </a:r>
            <a:r>
              <a:rPr lang="ru-RU" dirty="0" smtClean="0"/>
              <a:t>. </a:t>
            </a:r>
            <a:r>
              <a:rPr lang="ru-RU" dirty="0" err="1" smtClean="0"/>
              <a:t>Іноді</a:t>
            </a:r>
            <a:r>
              <a:rPr lang="ru-RU" dirty="0" smtClean="0"/>
              <a:t> </a:t>
            </a:r>
            <a:r>
              <a:rPr lang="ru-RU" dirty="0" err="1" smtClean="0"/>
              <a:t>такі</a:t>
            </a:r>
            <a:r>
              <a:rPr lang="ru-RU" dirty="0" smtClean="0"/>
              <a:t> правила </a:t>
            </a:r>
            <a:r>
              <a:rPr lang="ru-RU" dirty="0" err="1" smtClean="0"/>
              <a:t>можуть</a:t>
            </a:r>
            <a:r>
              <a:rPr lang="ru-RU" dirty="0" smtClean="0"/>
              <a:t> </a:t>
            </a:r>
            <a:r>
              <a:rPr lang="ru-RU" dirty="0" err="1" smtClean="0"/>
              <a:t>використовуватись</a:t>
            </a:r>
            <a:r>
              <a:rPr lang="ru-RU" dirty="0" smtClean="0"/>
              <a:t> для </a:t>
            </a:r>
            <a:r>
              <a:rPr lang="ru-RU" dirty="0" err="1" smtClean="0"/>
              <a:t>перевірки</a:t>
            </a:r>
            <a:r>
              <a:rPr lang="ru-RU" dirty="0" smtClean="0"/>
              <a:t> </a:t>
            </a:r>
            <a:r>
              <a:rPr lang="ru-RU" dirty="0" err="1" smtClean="0"/>
              <a:t>виконання</a:t>
            </a:r>
            <a:r>
              <a:rPr lang="ru-RU" dirty="0" smtClean="0"/>
              <a:t> </a:t>
            </a:r>
            <a:r>
              <a:rPr lang="ru-RU" dirty="0" err="1" smtClean="0"/>
              <a:t>рішень</a:t>
            </a:r>
            <a:r>
              <a:rPr lang="ru-RU" dirty="0" smtClean="0"/>
              <a:t>, </a:t>
            </a:r>
            <a:r>
              <a:rPr lang="ru-RU" dirty="0" err="1" smtClean="0"/>
              <a:t>прийнятих</a:t>
            </a:r>
            <a:r>
              <a:rPr lang="ru-RU" dirty="0" smtClean="0"/>
              <a:t> на </a:t>
            </a:r>
            <a:r>
              <a:rPr lang="ru-RU" dirty="0" err="1" smtClean="0"/>
              <a:t>основі</a:t>
            </a:r>
            <a:r>
              <a:rPr lang="ru-RU" dirty="0" smtClean="0"/>
              <a:t> </a:t>
            </a:r>
            <a:r>
              <a:rPr lang="ru-RU" dirty="0" err="1" smtClean="0"/>
              <a:t>попереднього</a:t>
            </a:r>
            <a:r>
              <a:rPr lang="ru-RU" dirty="0" smtClean="0"/>
              <a:t> </a:t>
            </a:r>
            <a:r>
              <a:rPr lang="ru-RU" dirty="0" err="1" smtClean="0"/>
              <a:t>аналізу</a:t>
            </a:r>
            <a:r>
              <a:rPr lang="ru-RU" dirty="0" smtClean="0"/>
              <a:t>;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незрозумілі</a:t>
            </a:r>
            <a:r>
              <a:rPr lang="ru-RU" b="1" dirty="0" smtClean="0"/>
              <a:t> правила </a:t>
            </a:r>
            <a:r>
              <a:rPr lang="ru-RU" dirty="0" smtClean="0"/>
              <a:t>— </a:t>
            </a:r>
            <a:r>
              <a:rPr lang="ru-RU" dirty="0" err="1" smtClean="0"/>
              <a:t>складаються</a:t>
            </a:r>
            <a:r>
              <a:rPr lang="ru-RU" dirty="0" smtClean="0"/>
              <a:t> з </a:t>
            </a:r>
            <a:r>
              <a:rPr lang="ru-RU" dirty="0" err="1" smtClean="0"/>
              <a:t>інформації</a:t>
            </a:r>
            <a:r>
              <a:rPr lang="ru-RU" dirty="0" smtClean="0"/>
              <a:t>, яка не </a:t>
            </a:r>
            <a:r>
              <a:rPr lang="ru-RU" dirty="0" err="1" smtClean="0"/>
              <a:t>може</a:t>
            </a:r>
            <a:r>
              <a:rPr lang="ru-RU" dirty="0" smtClean="0"/>
              <a:t> бути </a:t>
            </a:r>
            <a:r>
              <a:rPr lang="ru-RU" dirty="0" err="1" smtClean="0"/>
              <a:t>поясненою</a:t>
            </a:r>
            <a:r>
              <a:rPr lang="ru-RU" dirty="0" smtClean="0"/>
              <a:t>. </a:t>
            </a:r>
            <a:r>
              <a:rPr lang="ru-RU" dirty="0" err="1" smtClean="0"/>
              <a:t>Такі</a:t>
            </a:r>
            <a:r>
              <a:rPr lang="ru-RU" dirty="0" smtClean="0"/>
              <a:t> правила </a:t>
            </a:r>
            <a:r>
              <a:rPr lang="ru-RU" dirty="0" err="1" smtClean="0"/>
              <a:t>можуть</a:t>
            </a:r>
            <a:r>
              <a:rPr lang="ru-RU" dirty="0" smtClean="0"/>
              <a:t> бути </a:t>
            </a:r>
            <a:r>
              <a:rPr lang="ru-RU" dirty="0" err="1" smtClean="0"/>
              <a:t>отримані</a:t>
            </a:r>
            <a:r>
              <a:rPr lang="ru-RU" dirty="0" smtClean="0"/>
              <a:t> на </a:t>
            </a:r>
            <a:r>
              <a:rPr lang="ru-RU" dirty="0" err="1" smtClean="0"/>
              <a:t>основі</a:t>
            </a:r>
            <a:r>
              <a:rPr lang="ru-RU" dirty="0" smtClean="0"/>
              <a:t> </a:t>
            </a:r>
            <a:r>
              <a:rPr lang="ru-RU" dirty="0" err="1" smtClean="0"/>
              <a:t>аномальних</a:t>
            </a:r>
            <a:r>
              <a:rPr lang="ru-RU" dirty="0" smtClean="0"/>
              <a:t> </a:t>
            </a:r>
            <a:r>
              <a:rPr lang="ru-RU" dirty="0" err="1" smtClean="0"/>
              <a:t>значень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таємних</a:t>
            </a:r>
            <a:r>
              <a:rPr lang="ru-RU" dirty="0" smtClean="0"/>
              <a:t> </a:t>
            </a:r>
            <a:r>
              <a:rPr lang="ru-RU" dirty="0" err="1" smtClean="0"/>
              <a:t>знань</a:t>
            </a:r>
            <a:r>
              <a:rPr lang="ru-RU" dirty="0" smtClean="0"/>
              <a:t>. </a:t>
            </a:r>
            <a:r>
              <a:rPr lang="ru-RU" dirty="0" err="1" smtClean="0"/>
              <a:t>Напряму</a:t>
            </a:r>
            <a:r>
              <a:rPr lang="ru-RU" dirty="0" smtClean="0"/>
              <a:t> </a:t>
            </a:r>
            <a:r>
              <a:rPr lang="ru-RU" dirty="0" err="1" smtClean="0"/>
              <a:t>такі</a:t>
            </a:r>
            <a:r>
              <a:rPr lang="ru-RU" dirty="0" smtClean="0"/>
              <a:t> правила не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використовувати</a:t>
            </a:r>
            <a:r>
              <a:rPr lang="ru-RU" dirty="0" smtClean="0"/>
              <a:t> для </a:t>
            </a:r>
            <a:r>
              <a:rPr lang="ru-RU" dirty="0" err="1" smtClean="0"/>
              <a:t>прийняття</a:t>
            </a:r>
            <a:r>
              <a:rPr lang="ru-RU" dirty="0" smtClean="0"/>
              <a:t> </a:t>
            </a:r>
            <a:r>
              <a:rPr lang="ru-RU" dirty="0" err="1" smtClean="0"/>
              <a:t>рішень</a:t>
            </a:r>
            <a:r>
              <a:rPr lang="ru-RU" dirty="0" smtClean="0"/>
              <a:t>. Для </a:t>
            </a:r>
            <a:r>
              <a:rPr lang="ru-RU" dirty="0" err="1" smtClean="0"/>
              <a:t>кращого</a:t>
            </a:r>
            <a:r>
              <a:rPr lang="ru-RU" dirty="0" smtClean="0"/>
              <a:t> </a:t>
            </a:r>
            <a:r>
              <a:rPr lang="ru-RU" dirty="0" err="1" smtClean="0"/>
              <a:t>розуміння</a:t>
            </a:r>
            <a:r>
              <a:rPr lang="ru-RU" dirty="0" smtClean="0"/>
              <a:t> </a:t>
            </a: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 smtClean="0"/>
              <a:t>проводити</a:t>
            </a:r>
            <a:r>
              <a:rPr lang="ru-RU" dirty="0" smtClean="0"/>
              <a:t> </a:t>
            </a:r>
            <a:r>
              <a:rPr lang="ru-RU" dirty="0" err="1" smtClean="0"/>
              <a:t>додатковий</a:t>
            </a:r>
            <a:r>
              <a:rPr lang="ru-RU" dirty="0" smtClean="0"/>
              <a:t> </a:t>
            </a:r>
            <a:r>
              <a:rPr lang="ru-RU" dirty="0" err="1" smtClean="0"/>
              <a:t>аналіз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875840" y="140186"/>
            <a:ext cx="65389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</a:rPr>
              <a:t>Переваги</a:t>
            </a:r>
            <a:r>
              <a:rPr lang="ru-RU" sz="3600" b="1" dirty="0" smtClean="0">
                <a:solidFill>
                  <a:schemeClr val="bg1"/>
                </a:solidFill>
              </a:rPr>
              <a:t>  </a:t>
            </a:r>
            <a:r>
              <a:rPr lang="ru-RU" sz="3600" b="1" dirty="0" err="1" smtClean="0">
                <a:solidFill>
                  <a:schemeClr val="bg1"/>
                </a:solidFill>
              </a:rPr>
              <a:t>асоціативних</a:t>
            </a:r>
            <a:r>
              <a:rPr lang="ru-RU" sz="3600" b="1" dirty="0" smtClean="0">
                <a:solidFill>
                  <a:schemeClr val="bg1"/>
                </a:solidFill>
              </a:rPr>
              <a:t> правил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25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054964"/>
            <a:ext cx="120044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Товари</a:t>
            </a:r>
            <a:r>
              <a:rPr lang="ru-RU" sz="2000" dirty="0" smtClean="0"/>
              <a:t> та </a:t>
            </a:r>
            <a:r>
              <a:rPr lang="ru-RU" sz="2000" dirty="0" err="1" smtClean="0"/>
              <a:t>набори</a:t>
            </a:r>
            <a:r>
              <a:rPr lang="ru-RU" sz="2000" dirty="0" smtClean="0"/>
              <a:t> </a:t>
            </a:r>
            <a:r>
              <a:rPr lang="ru-RU" sz="2000" dirty="0" err="1" smtClean="0"/>
              <a:t>об’єктів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часто </a:t>
            </a:r>
            <a:r>
              <a:rPr lang="ru-RU" sz="2000" dirty="0" err="1" smtClean="0"/>
              <a:t>представлені</a:t>
            </a:r>
            <a:r>
              <a:rPr lang="ru-RU" sz="2000" dirty="0" smtClean="0"/>
              <a:t> в </a:t>
            </a:r>
            <a:r>
              <a:rPr lang="ru-RU" sz="2000" dirty="0" err="1" smtClean="0"/>
              <a:t>групах</a:t>
            </a:r>
            <a:r>
              <a:rPr lang="ru-RU" sz="2000" dirty="0" smtClean="0"/>
              <a:t> і </a:t>
            </a:r>
            <a:r>
              <a:rPr lang="ru-RU" sz="2000" dirty="0" err="1" smtClean="0"/>
              <a:t>становлять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досліджувані</a:t>
            </a:r>
            <a:r>
              <a:rPr lang="ru-RU" sz="2000" dirty="0" smtClean="0"/>
              <a:t> </a:t>
            </a:r>
            <a:r>
              <a:rPr lang="ru-RU" sz="2000" dirty="0" err="1" smtClean="0"/>
              <a:t>набори</a:t>
            </a:r>
            <a:r>
              <a:rPr lang="ru-RU" sz="2000" dirty="0" smtClean="0"/>
              <a:t>, </a:t>
            </a:r>
            <a:r>
              <a:rPr lang="ru-RU" sz="2000" dirty="0" err="1" smtClean="0"/>
              <a:t>які</a:t>
            </a:r>
            <a:r>
              <a:rPr lang="ru-RU" sz="2000" dirty="0" smtClean="0"/>
              <a:t> </a:t>
            </a:r>
            <a:r>
              <a:rPr lang="ru-RU" sz="2000" dirty="0" err="1" smtClean="0"/>
              <a:t>позначимо</a:t>
            </a:r>
            <a:r>
              <a:rPr lang="ru-RU" sz="2000" dirty="0" smtClean="0"/>
              <a:t> </a:t>
            </a:r>
            <a:r>
              <a:rPr lang="ru-RU" sz="2000" dirty="0" err="1" smtClean="0"/>
              <a:t>множиною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96154" y="31265"/>
            <a:ext cx="113082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Математична</a:t>
            </a:r>
            <a:r>
              <a:rPr lang="ru-RU" sz="3600" b="1" dirty="0" smtClean="0">
                <a:solidFill>
                  <a:schemeClr val="bg1"/>
                </a:solidFill>
              </a:rPr>
              <a:t> постановка </a:t>
            </a:r>
            <a:r>
              <a:rPr lang="ru-RU" sz="3600" b="1" dirty="0" err="1" smtClean="0">
                <a:solidFill>
                  <a:schemeClr val="bg1"/>
                </a:solidFill>
              </a:rPr>
              <a:t>задачі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асоціативного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аналізу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000" y="1405297"/>
            <a:ext cx="2436480" cy="6996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97150" y="2123896"/>
            <a:ext cx="11607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де: </a:t>
            </a:r>
            <a:r>
              <a:rPr lang="ru-RU" sz="2000" b="1" dirty="0" smtClean="0">
                <a:solidFill>
                  <a:srgbClr val="0000CC"/>
                </a:solidFill>
              </a:rPr>
              <a:t>i</a:t>
            </a:r>
            <a:r>
              <a:rPr lang="ru-RU" sz="2000" dirty="0" smtClean="0"/>
              <a:t> – </a:t>
            </a:r>
            <a:r>
              <a:rPr lang="ru-RU" sz="2000" dirty="0" err="1" smtClean="0"/>
              <a:t>об’єкти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входять</a:t>
            </a:r>
            <a:r>
              <a:rPr lang="ru-RU" sz="2000" dirty="0" smtClean="0"/>
              <a:t> в </a:t>
            </a:r>
            <a:r>
              <a:rPr lang="ru-RU" sz="2000" dirty="0" err="1" smtClean="0"/>
              <a:t>аналізовані</a:t>
            </a:r>
            <a:r>
              <a:rPr lang="ru-RU" sz="2000" dirty="0" smtClean="0"/>
              <a:t> </a:t>
            </a:r>
            <a:r>
              <a:rPr lang="ru-RU" sz="2000" dirty="0" err="1" smtClean="0"/>
              <a:t>набори</a:t>
            </a:r>
            <a:r>
              <a:rPr lang="ru-RU" sz="2000" dirty="0" smtClean="0"/>
              <a:t>;    </a:t>
            </a:r>
            <a:r>
              <a:rPr lang="en-GB" sz="2000" b="1" i="1" dirty="0" smtClean="0">
                <a:solidFill>
                  <a:srgbClr val="0000CC"/>
                </a:solidFill>
              </a:rPr>
              <a:t>n</a:t>
            </a:r>
            <a:r>
              <a:rPr lang="en-GB" sz="2000" i="1" dirty="0" smtClean="0"/>
              <a:t> </a:t>
            </a:r>
            <a:r>
              <a:rPr lang="en-GB" sz="2000" dirty="0"/>
              <a:t>– </a:t>
            </a:r>
            <a:r>
              <a:rPr lang="ru-RU" sz="2000" dirty="0" err="1"/>
              <a:t>загальна</a:t>
            </a:r>
            <a:r>
              <a:rPr lang="ru-RU" sz="2000" dirty="0"/>
              <a:t> </a:t>
            </a:r>
            <a:r>
              <a:rPr lang="ru-RU" sz="2000" dirty="0" err="1"/>
              <a:t>кількість</a:t>
            </a:r>
            <a:r>
              <a:rPr lang="ru-RU" sz="2000" dirty="0"/>
              <a:t> </a:t>
            </a:r>
            <a:r>
              <a:rPr lang="ru-RU" sz="2000" dirty="0" err="1"/>
              <a:t>об’єктів</a:t>
            </a:r>
            <a:r>
              <a:rPr lang="ru-RU" sz="2000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54" y="2650055"/>
            <a:ext cx="9238322" cy="48336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77799" y="3212891"/>
            <a:ext cx="118266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Набори</a:t>
            </a:r>
            <a:r>
              <a:rPr lang="ru-RU" sz="2000" dirty="0" smtClean="0"/>
              <a:t> </a:t>
            </a:r>
            <a:r>
              <a:rPr lang="ru-RU" sz="2000" dirty="0" err="1" smtClean="0"/>
              <a:t>об’єктів</a:t>
            </a:r>
            <a:r>
              <a:rPr lang="ru-RU" sz="2000" dirty="0" smtClean="0"/>
              <a:t> з </a:t>
            </a:r>
            <a:r>
              <a:rPr lang="ru-RU" sz="2000" dirty="0" err="1" smtClean="0"/>
              <a:t>множини</a:t>
            </a:r>
            <a:r>
              <a:rPr lang="ru-RU" sz="2000" dirty="0" smtClean="0"/>
              <a:t> </a:t>
            </a:r>
            <a:r>
              <a:rPr lang="en-GB" sz="2000" b="1" dirty="0" smtClean="0">
                <a:solidFill>
                  <a:srgbClr val="0000CC"/>
                </a:solidFill>
              </a:rPr>
              <a:t>I</a:t>
            </a:r>
            <a:r>
              <a:rPr lang="en-GB" sz="2000" dirty="0" smtClean="0"/>
              <a:t> </a:t>
            </a:r>
            <a:r>
              <a:rPr lang="ru-RU" sz="2000" dirty="0" smtClean="0"/>
              <a:t>є </a:t>
            </a:r>
            <a:r>
              <a:rPr lang="ru-RU" sz="2000" dirty="0" err="1" smtClean="0"/>
              <a:t>транзакціями</a:t>
            </a:r>
            <a:r>
              <a:rPr lang="ru-RU" sz="2000" dirty="0" smtClean="0"/>
              <a:t> Т, </a:t>
            </a:r>
            <a:r>
              <a:rPr lang="ru-RU" sz="2000" dirty="0" err="1" smtClean="0"/>
              <a:t>знаходяться</a:t>
            </a:r>
            <a:r>
              <a:rPr lang="ru-RU" sz="2000" dirty="0" smtClean="0"/>
              <a:t> у </a:t>
            </a:r>
            <a:r>
              <a:rPr lang="ru-RU" sz="2000" dirty="0" err="1" smtClean="0"/>
              <a:t>експериментальній</a:t>
            </a:r>
            <a:r>
              <a:rPr lang="ru-RU" sz="2000" dirty="0" smtClean="0"/>
              <a:t> БД та </a:t>
            </a:r>
            <a:r>
              <a:rPr lang="ru-RU" sz="2000" dirty="0" err="1" smtClean="0"/>
              <a:t>піддаються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аналізу</a:t>
            </a:r>
            <a:r>
              <a:rPr lang="ru-RU" sz="2000" dirty="0" smtClean="0"/>
              <a:t> є </a:t>
            </a:r>
            <a:r>
              <a:rPr lang="ru-RU" sz="2000" dirty="0" err="1" smtClean="0"/>
              <a:t>підмножиною</a:t>
            </a:r>
            <a:r>
              <a:rPr lang="ru-RU" sz="2000" dirty="0" smtClean="0"/>
              <a:t> </a:t>
            </a:r>
            <a:r>
              <a:rPr lang="ru-RU" sz="2000" dirty="0" err="1" smtClean="0"/>
              <a:t>множини</a:t>
            </a:r>
            <a:r>
              <a:rPr lang="ru-RU" sz="2000" dirty="0" smtClean="0"/>
              <a:t> </a:t>
            </a:r>
            <a:r>
              <a:rPr lang="en-GB" sz="2000" b="1" dirty="0" smtClean="0">
                <a:solidFill>
                  <a:srgbClr val="0000CC"/>
                </a:solidFill>
              </a:rPr>
              <a:t>I</a:t>
            </a:r>
            <a:r>
              <a:rPr lang="en-GB" sz="2000" dirty="0" smtClean="0"/>
              <a:t> :</a:t>
            </a:r>
            <a:endParaRPr lang="ru-RU" sz="20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280" y="3723401"/>
            <a:ext cx="2131920" cy="4452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77799" y="4262824"/>
            <a:ext cx="12014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Такі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транзакції</a:t>
            </a:r>
            <a:r>
              <a:rPr lang="ru-RU" sz="2000" dirty="0" smtClean="0"/>
              <a:t> на ринку </a:t>
            </a:r>
            <a:r>
              <a:rPr lang="ru-RU" sz="2000" dirty="0" err="1" smtClean="0"/>
              <a:t>товарів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відповідають</a:t>
            </a:r>
            <a:r>
              <a:rPr lang="ru-RU" sz="2000" dirty="0" smtClean="0"/>
              <a:t> наборам,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купуються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споживачем</a:t>
            </a:r>
            <a:r>
              <a:rPr lang="ru-RU" sz="2000" dirty="0" smtClean="0"/>
              <a:t> і </a:t>
            </a:r>
            <a:r>
              <a:rPr lang="ru-RU" sz="2000" dirty="0" err="1" smtClean="0"/>
              <a:t>зберігаються</a:t>
            </a:r>
            <a:r>
              <a:rPr lang="ru-RU" sz="2000" dirty="0" smtClean="0"/>
              <a:t> в БД у </a:t>
            </a:r>
            <a:r>
              <a:rPr lang="ru-RU" sz="2000" dirty="0" err="1" smtClean="0"/>
              <a:t>вигляді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транзакції</a:t>
            </a:r>
            <a:r>
              <a:rPr lang="ru-RU" sz="2000" dirty="0" smtClean="0"/>
              <a:t> </a:t>
            </a:r>
            <a:r>
              <a:rPr lang="ru-RU" sz="2000" b="1" dirty="0" smtClean="0">
                <a:solidFill>
                  <a:srgbClr val="0000CC"/>
                </a:solidFill>
              </a:rPr>
              <a:t>- товарного чека </a:t>
            </a:r>
            <a:r>
              <a:rPr lang="ru-RU" sz="2000" b="1" dirty="0" err="1" smtClean="0">
                <a:solidFill>
                  <a:srgbClr val="0000CC"/>
                </a:solidFill>
              </a:rPr>
              <a:t>або</a:t>
            </a:r>
            <a:r>
              <a:rPr lang="ru-RU" sz="2000" b="1" dirty="0" smtClean="0">
                <a:solidFill>
                  <a:srgbClr val="0000CC"/>
                </a:solidFill>
              </a:rPr>
              <a:t> </a:t>
            </a:r>
            <a:r>
              <a:rPr lang="ru-RU" sz="2000" b="1" dirty="0" err="1" smtClean="0">
                <a:solidFill>
                  <a:srgbClr val="0000CC"/>
                </a:solidFill>
              </a:rPr>
              <a:t>накладної</a:t>
            </a:r>
            <a:r>
              <a:rPr lang="ru-RU" sz="2000" dirty="0" smtClean="0"/>
              <a:t>. В них </a:t>
            </a:r>
            <a:r>
              <a:rPr lang="ru-RU" sz="2000" dirty="0" err="1" smtClean="0"/>
              <a:t>перераховуються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товари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придбані</a:t>
            </a:r>
            <a:r>
              <a:rPr lang="ru-RU" sz="2000" dirty="0" smtClean="0"/>
              <a:t> </a:t>
            </a:r>
            <a:r>
              <a:rPr lang="ru-RU" sz="2000" dirty="0" err="1" smtClean="0"/>
              <a:t>покупцем</a:t>
            </a:r>
            <a:r>
              <a:rPr lang="ru-RU" sz="2000" dirty="0" smtClean="0"/>
              <a:t>, </a:t>
            </a:r>
            <a:r>
              <a:rPr lang="ru-RU" sz="2000" dirty="0" err="1" smtClean="0"/>
              <a:t>їх</a:t>
            </a:r>
            <a:r>
              <a:rPr lang="ru-RU" sz="2000" dirty="0" smtClean="0"/>
              <a:t> </a:t>
            </a:r>
            <a:r>
              <a:rPr lang="ru-RU" sz="2000" dirty="0" err="1" smtClean="0"/>
              <a:t>ціна</a:t>
            </a:r>
            <a:r>
              <a:rPr lang="ru-RU" sz="2000" dirty="0" smtClean="0"/>
              <a:t>, </a:t>
            </a:r>
            <a:r>
              <a:rPr lang="ru-RU" sz="2000" dirty="0" err="1" smtClean="0"/>
              <a:t>кількість</a:t>
            </a:r>
            <a:r>
              <a:rPr lang="ru-RU" sz="2000" dirty="0" smtClean="0"/>
              <a:t> та </a:t>
            </a:r>
            <a:r>
              <a:rPr lang="ru-RU" sz="2000" dirty="0" err="1" smtClean="0"/>
              <a:t>ін</a:t>
            </a:r>
            <a:r>
              <a:rPr lang="ru-RU" sz="2000" dirty="0" smtClean="0"/>
              <a:t>. </a:t>
            </a:r>
          </a:p>
          <a:p>
            <a:r>
              <a:rPr lang="ru-RU" sz="2000" dirty="0" err="1" smtClean="0"/>
              <a:t>Набір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, </a:t>
            </a:r>
            <a:r>
              <a:rPr lang="ru-RU" sz="2000" dirty="0" err="1" smtClean="0"/>
              <a:t>інформація</a:t>
            </a:r>
            <a:r>
              <a:rPr lang="ru-RU" sz="2000" dirty="0" smtClean="0"/>
              <a:t> про </a:t>
            </a:r>
            <a:r>
              <a:rPr lang="ru-RU" sz="2000" dirty="0" err="1" smtClean="0"/>
              <a:t>яких</a:t>
            </a:r>
            <a:r>
              <a:rPr lang="ru-RU" sz="2000" dirty="0" smtClean="0"/>
              <a:t> доступна для </a:t>
            </a:r>
            <a:r>
              <a:rPr lang="ru-RU" sz="2000" dirty="0" err="1" smtClean="0"/>
              <a:t>аналізу</a:t>
            </a:r>
            <a:r>
              <a:rPr lang="ru-RU" sz="2000" dirty="0" smtClean="0"/>
              <a:t>, </a:t>
            </a:r>
            <a:r>
              <a:rPr lang="ru-RU" sz="2000" dirty="0" err="1" smtClean="0"/>
              <a:t>визначається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множиною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560" y="5462219"/>
            <a:ext cx="2791801" cy="44520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285679" y="5947438"/>
            <a:ext cx="52254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0" u="none" strike="noStrike" baseline="0" dirty="0" smtClean="0"/>
              <a:t>де: </a:t>
            </a:r>
            <a:r>
              <a:rPr lang="ru-RU" sz="2000" b="0" i="1" u="none" strike="noStrike" baseline="0" dirty="0" smtClean="0"/>
              <a:t>m </a:t>
            </a:r>
            <a:r>
              <a:rPr lang="ru-RU" b="0" i="0" u="none" strike="noStrike" baseline="0" dirty="0" smtClean="0"/>
              <a:t>– </a:t>
            </a:r>
            <a:r>
              <a:rPr lang="ru-RU" b="0" i="0" u="none" strike="noStrike" baseline="0" dirty="0" err="1" smtClean="0"/>
              <a:t>кількість</a:t>
            </a:r>
            <a:r>
              <a:rPr lang="ru-RU" b="0" i="0" u="none" strike="noStrike" baseline="0" dirty="0" smtClean="0"/>
              <a:t> </a:t>
            </a:r>
            <a:r>
              <a:rPr lang="ru-RU" b="0" i="0" u="none" strike="noStrike" baseline="0" dirty="0" err="1" smtClean="0"/>
              <a:t>доступних</a:t>
            </a:r>
            <a:r>
              <a:rPr lang="ru-RU" b="0" i="0" u="none" strike="noStrike" baseline="0" dirty="0" smtClean="0"/>
              <a:t> для </a:t>
            </a:r>
            <a:r>
              <a:rPr lang="ru-RU" b="0" i="0" u="none" strike="noStrike" baseline="0" dirty="0" err="1" smtClean="0"/>
              <a:t>аналізу</a:t>
            </a:r>
            <a:r>
              <a:rPr lang="ru-RU" b="0" i="0" u="none" strike="noStrike" baseline="0" dirty="0" smtClean="0"/>
              <a:t> </a:t>
            </a:r>
            <a:r>
              <a:rPr lang="ru-RU" b="0" i="0" u="none" strike="noStrike" baseline="0" dirty="0" err="1" smtClean="0"/>
              <a:t>транзакцій</a:t>
            </a:r>
            <a:r>
              <a:rPr lang="ru-RU" b="0" i="0" u="none" strike="noStrike" baseline="0" dirty="0" smtClean="0"/>
              <a:t>.</a:t>
            </a:r>
            <a:endParaRPr lang="ru-RU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39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048" y="0"/>
            <a:ext cx="113209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Математична</a:t>
            </a:r>
            <a:r>
              <a:rPr lang="ru-RU" sz="3600" b="1" dirty="0" smtClean="0">
                <a:solidFill>
                  <a:schemeClr val="bg1"/>
                </a:solidFill>
              </a:rPr>
              <a:t> постановка </a:t>
            </a:r>
            <a:r>
              <a:rPr lang="ru-RU" sz="3600" b="1" dirty="0" err="1" smtClean="0">
                <a:solidFill>
                  <a:schemeClr val="bg1"/>
                </a:solidFill>
              </a:rPr>
              <a:t>задачі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асоціативного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аналізу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8048" y="1164872"/>
            <a:ext cx="3912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/>
              <a:t>Множину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 </a:t>
            </a:r>
            <a:r>
              <a:rPr lang="ru-RU" sz="2000" dirty="0" err="1" smtClean="0"/>
              <a:t>позначаємо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919" y="1205453"/>
            <a:ext cx="4365361" cy="4070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78048" y="1866605"/>
            <a:ext cx="89213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Довільний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набір</a:t>
            </a:r>
            <a:r>
              <a:rPr lang="ru-RU" sz="2000" dirty="0" smtClean="0"/>
              <a:t> </a:t>
            </a:r>
            <a:r>
              <a:rPr lang="ru-RU" sz="2000" dirty="0" err="1" smtClean="0"/>
              <a:t>об’єктів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визначає</a:t>
            </a:r>
            <a:r>
              <a:rPr lang="ru-RU" sz="2000" dirty="0" smtClean="0"/>
              <a:t> попит на ринку </a:t>
            </a:r>
            <a:r>
              <a:rPr lang="ru-RU" sz="2000" dirty="0" err="1" smtClean="0"/>
              <a:t>позначимо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090" y="1882243"/>
            <a:ext cx="2842561" cy="45792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78048" y="2585201"/>
            <a:ext cx="62020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/>
              <a:t>Множина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, в </a:t>
            </a:r>
            <a:r>
              <a:rPr lang="ru-RU" sz="2000" dirty="0" err="1" smtClean="0"/>
              <a:t>які</a:t>
            </a:r>
            <a:r>
              <a:rPr lang="ru-RU" sz="2000" dirty="0" smtClean="0"/>
              <a:t> входить </a:t>
            </a:r>
            <a:r>
              <a:rPr lang="ru-RU" sz="2000" dirty="0" err="1" smtClean="0"/>
              <a:t>набір</a:t>
            </a:r>
            <a:r>
              <a:rPr lang="ru-RU" sz="2000" dirty="0" smtClean="0"/>
              <a:t> </a:t>
            </a:r>
            <a:r>
              <a:rPr lang="ru-RU" sz="2000" b="1" dirty="0" smtClean="0">
                <a:solidFill>
                  <a:srgbClr val="0000CC"/>
                </a:solidFill>
              </a:rPr>
              <a:t>F</a:t>
            </a:r>
            <a:r>
              <a:rPr lang="ru-RU" sz="2000" dirty="0" smtClean="0"/>
              <a:t>, </a:t>
            </a:r>
            <a:r>
              <a:rPr lang="ru-RU" sz="2000" dirty="0" err="1" smtClean="0"/>
              <a:t>позначимо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998" y="2696230"/>
            <a:ext cx="3553201" cy="35616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31088" y="3303797"/>
            <a:ext cx="11022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Кожна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транзакція</a:t>
            </a:r>
            <a:r>
              <a:rPr lang="ru-RU" sz="2000" dirty="0" smtClean="0"/>
              <a:t> </a:t>
            </a:r>
            <a:r>
              <a:rPr lang="ru-RU" sz="2000" dirty="0" err="1" smtClean="0"/>
              <a:t>подається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бінарним</a:t>
            </a:r>
            <a:r>
              <a:rPr lang="ru-RU" sz="2000" dirty="0" smtClean="0"/>
              <a:t> вектором, де </a:t>
            </a:r>
            <a:r>
              <a:rPr lang="en-GB" sz="2000" dirty="0" smtClean="0"/>
              <a:t>t[k]=1,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елемент</a:t>
            </a:r>
            <a:r>
              <a:rPr lang="ru-RU" sz="2000" dirty="0" smtClean="0"/>
              <a:t> </a:t>
            </a:r>
            <a:r>
              <a:rPr lang="en-GB" sz="2000" dirty="0" err="1" smtClean="0"/>
              <a:t>i</a:t>
            </a:r>
            <a:r>
              <a:rPr lang="en-GB" sz="2000" baseline="-25000" dirty="0" err="1" smtClean="0"/>
              <a:t>k</a:t>
            </a:r>
            <a:r>
              <a:rPr lang="en-GB" sz="2000" dirty="0" smtClean="0"/>
              <a:t> </a:t>
            </a:r>
            <a:r>
              <a:rPr lang="ru-RU" sz="2000" dirty="0" err="1" smtClean="0"/>
              <a:t>присутній</a:t>
            </a:r>
            <a:r>
              <a:rPr lang="ru-RU" sz="2000" dirty="0" smtClean="0"/>
              <a:t> в </a:t>
            </a:r>
            <a:r>
              <a:rPr lang="ru-RU" sz="2000" dirty="0" err="1" smtClean="0"/>
              <a:t>транзакції</a:t>
            </a:r>
            <a:r>
              <a:rPr lang="ru-RU" sz="2000" dirty="0" smtClean="0"/>
              <a:t> , </a:t>
            </a:r>
            <a:r>
              <a:rPr lang="ru-RU" sz="2000" dirty="0" err="1" smtClean="0"/>
              <a:t>інакше</a:t>
            </a:r>
            <a:r>
              <a:rPr lang="ru-RU" sz="2000" dirty="0" smtClean="0"/>
              <a:t> </a:t>
            </a:r>
            <a:r>
              <a:rPr lang="en-GB" sz="2000" dirty="0" smtClean="0"/>
              <a:t>t[k]=0. </a:t>
            </a:r>
            <a:endParaRPr lang="ru-RU" sz="20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31088" y="4263090"/>
            <a:ext cx="114926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Асоціативним</a:t>
            </a:r>
            <a:r>
              <a:rPr lang="ru-RU" sz="2000" dirty="0" smtClean="0"/>
              <a:t> правилом </a:t>
            </a:r>
            <a:r>
              <a:rPr lang="ru-RU" sz="2000" dirty="0" err="1" smtClean="0"/>
              <a:t>називається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імплікація</a:t>
            </a:r>
            <a:r>
              <a:rPr lang="ru-RU" sz="2000" dirty="0" smtClean="0"/>
              <a:t> </a:t>
            </a:r>
            <a:r>
              <a:rPr lang="en-GB" sz="2000" dirty="0" smtClean="0"/>
              <a:t>X</a:t>
            </a:r>
            <a:r>
              <a:rPr lang="uk-UA" altLang="ru-RU" sz="2000" dirty="0" smtClean="0">
                <a:sym typeface="Symbol" panose="05050102010706020507" pitchFamily="18" charset="2"/>
              </a:rPr>
              <a:t>  </a:t>
            </a:r>
            <a:r>
              <a:rPr lang="en-GB" sz="2000" dirty="0" smtClean="0"/>
              <a:t>Y, </a:t>
            </a:r>
            <a:r>
              <a:rPr lang="ru-RU" sz="2000" dirty="0" smtClean="0"/>
              <a:t>де </a:t>
            </a:r>
            <a:r>
              <a:rPr lang="en-GB" sz="2000" dirty="0" smtClean="0"/>
              <a:t>X</a:t>
            </a:r>
            <a:r>
              <a:rPr lang="uk-UA" altLang="ru-RU" sz="2000" dirty="0" smtClean="0">
                <a:sym typeface="Symbol" panose="05050102010706020507" pitchFamily="18" charset="2"/>
              </a:rPr>
              <a:t>  </a:t>
            </a:r>
            <a:r>
              <a:rPr lang="en-GB" sz="2000" dirty="0" smtClean="0"/>
              <a:t>I, Y</a:t>
            </a:r>
            <a:r>
              <a:rPr lang="uk-UA" altLang="ru-RU" sz="2000" dirty="0" smtClean="0">
                <a:sym typeface="Symbol" panose="05050102010706020507" pitchFamily="18" charset="2"/>
              </a:rPr>
              <a:t>  </a:t>
            </a:r>
            <a:r>
              <a:rPr lang="en-GB" sz="2000" dirty="0" smtClean="0"/>
              <a:t>I, X</a:t>
            </a:r>
            <a:r>
              <a:rPr lang="uk-UA" altLang="ru-RU" sz="2000" dirty="0" smtClean="0">
                <a:sym typeface="Symbol" panose="05050102010706020507" pitchFamily="18" charset="2"/>
              </a:rPr>
              <a:t>  </a:t>
            </a:r>
            <a:r>
              <a:rPr lang="en-GB" sz="2000" dirty="0" smtClean="0"/>
              <a:t>Y = Ø,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читається</a:t>
            </a:r>
            <a:r>
              <a:rPr lang="ru-RU" sz="2000" dirty="0" smtClean="0"/>
              <a:t> як: </a:t>
            </a:r>
          </a:p>
          <a:p>
            <a:r>
              <a:rPr lang="ru-RU" sz="2000" b="1" dirty="0" smtClean="0">
                <a:solidFill>
                  <a:srgbClr val="FF0000"/>
                </a:solidFill>
              </a:rPr>
              <a:t>«З Х </a:t>
            </a:r>
            <a:r>
              <a:rPr lang="ru-RU" sz="2000" b="1" dirty="0" err="1" smtClean="0">
                <a:solidFill>
                  <a:srgbClr val="FF0000"/>
                </a:solidFill>
              </a:rPr>
              <a:t>випливає</a:t>
            </a:r>
            <a:r>
              <a:rPr lang="ru-RU" sz="2000" b="1" dirty="0" smtClean="0">
                <a:solidFill>
                  <a:srgbClr val="FF0000"/>
                </a:solidFill>
              </a:rPr>
              <a:t> </a:t>
            </a:r>
            <a:r>
              <a:rPr lang="en-GB" sz="2000" b="1" dirty="0" smtClean="0">
                <a:solidFill>
                  <a:srgbClr val="FF0000"/>
                </a:solidFill>
              </a:rPr>
              <a:t>Y». </a:t>
            </a:r>
            <a:r>
              <a:rPr lang="ru-RU" sz="2000" dirty="0" err="1" smtClean="0"/>
              <a:t>Тобто</a:t>
            </a:r>
            <a:r>
              <a:rPr lang="ru-RU" sz="2000" dirty="0" smtClean="0"/>
              <a:t> </a:t>
            </a:r>
            <a:r>
              <a:rPr lang="ru-RU" sz="2000" dirty="0" err="1" smtClean="0"/>
              <a:t>асоціативне</a:t>
            </a:r>
            <a:r>
              <a:rPr lang="ru-RU" sz="2000" dirty="0" smtClean="0"/>
              <a:t> правило </a:t>
            </a:r>
            <a:r>
              <a:rPr lang="ru-RU" sz="2000" dirty="0" err="1" smtClean="0"/>
              <a:t>формулюється</a:t>
            </a:r>
            <a:r>
              <a:rPr lang="ru-RU" sz="2000" dirty="0" smtClean="0"/>
              <a:t> у </a:t>
            </a:r>
            <a:r>
              <a:rPr lang="ru-RU" sz="2000" dirty="0" err="1" smtClean="0"/>
              <a:t>вигляді</a:t>
            </a:r>
            <a:r>
              <a:rPr lang="ru-RU" sz="2000" dirty="0" smtClean="0"/>
              <a:t>: </a:t>
            </a:r>
            <a:r>
              <a:rPr lang="ru-RU" sz="2000" b="1" dirty="0" smtClean="0">
                <a:solidFill>
                  <a:srgbClr val="FF0000"/>
                </a:solidFill>
              </a:rPr>
              <a:t>«</a:t>
            </a:r>
            <a:r>
              <a:rPr lang="ru-RU" sz="2000" b="1" dirty="0" err="1" smtClean="0">
                <a:solidFill>
                  <a:srgbClr val="FF0000"/>
                </a:solidFill>
              </a:rPr>
              <a:t>Якщо</a:t>
            </a:r>
            <a:r>
              <a:rPr lang="ru-RU" sz="2000" b="1" dirty="0" smtClean="0">
                <a:solidFill>
                  <a:srgbClr val="FF0000"/>
                </a:solidFill>
              </a:rPr>
              <a:t> </a:t>
            </a:r>
            <a:r>
              <a:rPr lang="ru-RU" sz="2000" b="1" dirty="0" err="1" smtClean="0">
                <a:solidFill>
                  <a:srgbClr val="FF0000"/>
                </a:solidFill>
              </a:rPr>
              <a:t>умова</a:t>
            </a:r>
            <a:r>
              <a:rPr lang="ru-RU" sz="2000" b="1" dirty="0" smtClean="0">
                <a:solidFill>
                  <a:srgbClr val="FF0000"/>
                </a:solidFill>
              </a:rPr>
              <a:t>, то </a:t>
            </a:r>
            <a:r>
              <a:rPr lang="ru-RU" sz="2000" b="1" dirty="0" err="1" smtClean="0">
                <a:solidFill>
                  <a:srgbClr val="FF0000"/>
                </a:solidFill>
              </a:rPr>
              <a:t>наслідок</a:t>
            </a:r>
            <a:r>
              <a:rPr lang="ru-RU" sz="2000" b="1" dirty="0" smtClean="0">
                <a:solidFill>
                  <a:srgbClr val="FF0000"/>
                </a:solidFill>
              </a:rPr>
              <a:t>»</a:t>
            </a:r>
            <a:endParaRPr lang="ru-RU" sz="2000" b="1" dirty="0">
              <a:solidFill>
                <a:srgbClr val="FF000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31088" y="5048765"/>
            <a:ext cx="114926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00CC"/>
                </a:solidFill>
              </a:rPr>
              <a:t>Постановка </a:t>
            </a:r>
            <a:r>
              <a:rPr lang="ru-RU" sz="2000" b="1" dirty="0" err="1" smtClean="0">
                <a:solidFill>
                  <a:srgbClr val="0000CC"/>
                </a:solidFill>
              </a:rPr>
              <a:t>задачі</a:t>
            </a:r>
            <a:endParaRPr lang="ru-RU" sz="2000" b="1" dirty="0" smtClean="0">
              <a:solidFill>
                <a:srgbClr val="0000CC"/>
              </a:solidFill>
            </a:endParaRPr>
          </a:p>
          <a:p>
            <a:r>
              <a:rPr lang="ru-RU" sz="2000" dirty="0" err="1" smtClean="0">
                <a:solidFill>
                  <a:srgbClr val="0000CC"/>
                </a:solidFill>
              </a:rPr>
              <a:t>Враховуючи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набір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транзакцій</a:t>
            </a:r>
            <a:r>
              <a:rPr lang="ru-RU" sz="2000" dirty="0" smtClean="0">
                <a:solidFill>
                  <a:srgbClr val="0000CC"/>
                </a:solidFill>
              </a:rPr>
              <a:t>, </a:t>
            </a:r>
            <a:r>
              <a:rPr lang="ru-RU" sz="2000" dirty="0" err="1" smtClean="0">
                <a:solidFill>
                  <a:srgbClr val="0000CC"/>
                </a:solidFill>
              </a:rPr>
              <a:t>знайти</a:t>
            </a:r>
            <a:r>
              <a:rPr lang="ru-RU" sz="2000" dirty="0" smtClean="0">
                <a:solidFill>
                  <a:srgbClr val="0000CC"/>
                </a:solidFill>
              </a:rPr>
              <a:t> правила, </a:t>
            </a:r>
            <a:r>
              <a:rPr lang="ru-RU" sz="2000" dirty="0" err="1" smtClean="0">
                <a:solidFill>
                  <a:srgbClr val="0000CC"/>
                </a:solidFill>
              </a:rPr>
              <a:t>які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передбачатимуть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появу</a:t>
            </a:r>
            <a:r>
              <a:rPr lang="ru-RU" sz="2000" dirty="0" smtClean="0">
                <a:solidFill>
                  <a:srgbClr val="0000CC"/>
                </a:solidFill>
              </a:rPr>
              <a:t> предмета на </a:t>
            </a:r>
            <a:r>
              <a:rPr lang="ru-RU" sz="2000" dirty="0" err="1" smtClean="0">
                <a:solidFill>
                  <a:srgbClr val="0000CC"/>
                </a:solidFill>
              </a:rPr>
              <a:t>основі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випадків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інших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елементів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транзакції</a:t>
            </a:r>
            <a:endParaRPr lang="ru-RU" sz="2000" dirty="0">
              <a:solidFill>
                <a:srgbClr val="0000CC"/>
              </a:solidFill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42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12192000" cy="836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      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Основн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і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характеристики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асоціативних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правил (АП)           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45165" y="1165039"/>
            <a:ext cx="117016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Для </a:t>
            </a:r>
            <a:r>
              <a:rPr lang="ru-RU" sz="2000" dirty="0" err="1" smtClean="0"/>
              <a:t>визначення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підтримки</a:t>
            </a:r>
            <a:r>
              <a:rPr lang="ru-RU" sz="2000" dirty="0" smtClean="0"/>
              <a:t> набору </a:t>
            </a:r>
            <a:r>
              <a:rPr lang="en-GB" sz="2000" dirty="0" smtClean="0"/>
              <a:t>F </a:t>
            </a:r>
            <a:r>
              <a:rPr lang="ru-RU" sz="2000" dirty="0" smtClean="0"/>
              <a:t>до </a:t>
            </a:r>
            <a:r>
              <a:rPr lang="ru-RU" sz="2000" dirty="0" err="1" smtClean="0"/>
              <a:t>загальної</a:t>
            </a:r>
            <a:r>
              <a:rPr lang="ru-RU" sz="2000" dirty="0" smtClean="0"/>
              <a:t> </a:t>
            </a:r>
            <a:r>
              <a:rPr lang="ru-RU" sz="2000" dirty="0" err="1" smtClean="0"/>
              <a:t>кількості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трансакцій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використаємо</a:t>
            </a:r>
            <a:r>
              <a:rPr lang="ru-RU" sz="2000" dirty="0" smtClean="0"/>
              <a:t> </a:t>
            </a:r>
            <a:r>
              <a:rPr lang="ru-RU" sz="2000" dirty="0" err="1" smtClean="0"/>
              <a:t>функцію</a:t>
            </a:r>
            <a:r>
              <a:rPr lang="ru-RU" sz="2000" dirty="0" smtClean="0"/>
              <a:t> </a:t>
            </a:r>
            <a:r>
              <a:rPr lang="en-GB" sz="2000" b="1" dirty="0" err="1" smtClean="0">
                <a:solidFill>
                  <a:srgbClr val="0000CC"/>
                </a:solidFill>
              </a:rPr>
              <a:t>Supp</a:t>
            </a:r>
            <a:r>
              <a:rPr lang="en-GB" sz="2000" b="1" dirty="0" smtClean="0">
                <a:solidFill>
                  <a:srgbClr val="0000CC"/>
                </a:solidFill>
              </a:rPr>
              <a:t>(F</a:t>
            </a:r>
            <a:r>
              <a:rPr lang="en-GB" sz="2000" dirty="0" smtClean="0"/>
              <a:t>)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24" y="1565149"/>
            <a:ext cx="2081160" cy="8268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45164" y="2624075"/>
            <a:ext cx="118540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При </a:t>
            </a:r>
            <a:r>
              <a:rPr lang="ru-RU" sz="2000" dirty="0" err="1" smtClean="0"/>
              <a:t>пошуку</a:t>
            </a:r>
            <a:r>
              <a:rPr lang="ru-RU" sz="2000" dirty="0" smtClean="0"/>
              <a:t> </a:t>
            </a:r>
            <a:r>
              <a:rPr lang="ru-RU" sz="2000" dirty="0" err="1" smtClean="0"/>
              <a:t>аналітик</a:t>
            </a:r>
            <a:r>
              <a:rPr lang="ru-RU" sz="2000" dirty="0" smtClean="0"/>
              <a:t> </a:t>
            </a:r>
            <a:r>
              <a:rPr lang="ru-RU" sz="2000" dirty="0" err="1" smtClean="0"/>
              <a:t>може</a:t>
            </a:r>
            <a:r>
              <a:rPr lang="ru-RU" sz="2000" dirty="0" smtClean="0"/>
              <a:t> </a:t>
            </a:r>
            <a:r>
              <a:rPr lang="ru-RU" sz="2000" dirty="0" err="1" smtClean="0"/>
              <a:t>вказати</a:t>
            </a:r>
            <a:r>
              <a:rPr lang="ru-RU" sz="2000" dirty="0" smtClean="0"/>
              <a:t> </a:t>
            </a:r>
            <a:r>
              <a:rPr lang="ru-RU" sz="2000" dirty="0" err="1" smtClean="0"/>
              <a:t>мінімальне</a:t>
            </a:r>
            <a:r>
              <a:rPr lang="ru-RU" sz="2000" dirty="0" smtClean="0"/>
              <a:t> </a:t>
            </a:r>
            <a:r>
              <a:rPr lang="ru-RU" sz="2000" dirty="0" err="1" smtClean="0"/>
              <a:t>значення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підтримки</a:t>
            </a:r>
            <a:r>
              <a:rPr lang="ru-RU" sz="2000" dirty="0" smtClean="0"/>
              <a:t> </a:t>
            </a:r>
            <a:r>
              <a:rPr lang="ru-RU" sz="2000" dirty="0" err="1" smtClean="0"/>
              <a:t>його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наборів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задовольняє</a:t>
            </a:r>
            <a:r>
              <a:rPr lang="ru-RU" sz="2000" dirty="0" smtClean="0"/>
              <a:t> попит </a:t>
            </a:r>
            <a:r>
              <a:rPr lang="en-GB" sz="2000" b="1" dirty="0" err="1" smtClean="0">
                <a:solidFill>
                  <a:srgbClr val="0000CC"/>
                </a:solidFill>
              </a:rPr>
              <a:t>Supp</a:t>
            </a:r>
            <a:r>
              <a:rPr lang="en-GB" sz="2000" b="1" dirty="0" smtClean="0">
                <a:solidFill>
                  <a:srgbClr val="0000CC"/>
                </a:solidFill>
              </a:rPr>
              <a:t> </a:t>
            </a:r>
            <a:r>
              <a:rPr lang="en-GB" sz="2000" b="1" baseline="-25000" dirty="0" smtClean="0">
                <a:solidFill>
                  <a:srgbClr val="0000CC"/>
                </a:solidFill>
              </a:rPr>
              <a:t>min </a:t>
            </a:r>
            <a:r>
              <a:rPr lang="en-GB" sz="2000" dirty="0" smtClean="0"/>
              <a:t>. </a:t>
            </a:r>
            <a:r>
              <a:rPr lang="ru-RU" sz="2000" dirty="0" err="1" smtClean="0"/>
              <a:t>Набір</a:t>
            </a:r>
            <a:r>
              <a:rPr lang="ru-RU" sz="2000" dirty="0" smtClean="0"/>
              <a:t> </a:t>
            </a:r>
            <a:r>
              <a:rPr lang="ru-RU" sz="2000" dirty="0" err="1" smtClean="0"/>
              <a:t>товарів</a:t>
            </a:r>
            <a:r>
              <a:rPr lang="ru-RU" sz="2000" dirty="0" smtClean="0"/>
              <a:t> </a:t>
            </a:r>
            <a:r>
              <a:rPr lang="ru-RU" sz="2000" dirty="0" err="1" smtClean="0"/>
              <a:t>може</a:t>
            </a:r>
            <a:r>
              <a:rPr lang="ru-RU" sz="2000" dirty="0" smtClean="0"/>
              <a:t> бути </a:t>
            </a:r>
            <a:r>
              <a:rPr lang="ru-RU" sz="2000" dirty="0" err="1" smtClean="0"/>
              <a:t>багаторазовим</a:t>
            </a:r>
            <a:r>
              <a:rPr lang="ru-RU" sz="2000" dirty="0" smtClean="0"/>
              <a:t>,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значення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його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підтримки</a:t>
            </a:r>
            <a:r>
              <a:rPr lang="ru-RU" sz="2000" dirty="0" smtClean="0"/>
              <a:t> </a:t>
            </a:r>
            <a:r>
              <a:rPr lang="ru-RU" sz="2000" dirty="0" err="1" smtClean="0"/>
              <a:t>більше</a:t>
            </a:r>
            <a:r>
              <a:rPr lang="ru-RU" sz="2000" dirty="0" smtClean="0"/>
              <a:t> </a:t>
            </a:r>
            <a:r>
              <a:rPr lang="ru-RU" sz="2000" dirty="0" err="1" smtClean="0"/>
              <a:t>мінімального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значення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підтримки</a:t>
            </a:r>
            <a:r>
              <a:rPr lang="ru-RU" sz="2000" dirty="0" smtClean="0"/>
              <a:t>, </a:t>
            </a:r>
            <a:r>
              <a:rPr lang="ru-RU" sz="2000" dirty="0" err="1" smtClean="0"/>
              <a:t>заданого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користувачем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124" y="3794266"/>
            <a:ext cx="2081160" cy="40704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5164" y="4570510"/>
            <a:ext cx="117016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Таким чином, при </a:t>
            </a:r>
            <a:r>
              <a:rPr lang="ru-RU" sz="2000" dirty="0" err="1" smtClean="0"/>
              <a:t>пошуку</a:t>
            </a:r>
            <a:r>
              <a:rPr lang="ru-RU" sz="2000" dirty="0" smtClean="0"/>
              <a:t> </a:t>
            </a:r>
            <a:r>
              <a:rPr lang="ru-RU" sz="2000" dirty="0" err="1" smtClean="0"/>
              <a:t>асоціативних</a:t>
            </a:r>
            <a:r>
              <a:rPr lang="ru-RU" sz="2000" dirty="0" smtClean="0"/>
              <a:t> правил </a:t>
            </a:r>
            <a:r>
              <a:rPr lang="ru-RU" sz="2000" dirty="0" err="1" smtClean="0"/>
              <a:t>попиту</a:t>
            </a:r>
            <a:r>
              <a:rPr lang="ru-RU" sz="2000" dirty="0" smtClean="0"/>
              <a:t> </a:t>
            </a:r>
            <a:r>
              <a:rPr lang="ru-RU" sz="2000" dirty="0" err="1" smtClean="0"/>
              <a:t>товарів</a:t>
            </a:r>
            <a:r>
              <a:rPr lang="ru-RU" sz="2000" dirty="0" smtClean="0"/>
              <a:t> на ринку треба </a:t>
            </a:r>
            <a:r>
              <a:rPr lang="ru-RU" sz="2000" dirty="0" err="1" smtClean="0"/>
              <a:t>знайти</a:t>
            </a:r>
            <a:r>
              <a:rPr lang="ru-RU" sz="2000" dirty="0" smtClean="0"/>
              <a:t> </a:t>
            </a:r>
            <a:r>
              <a:rPr lang="ru-RU" sz="2000" dirty="0" err="1" smtClean="0"/>
              <a:t>множину</a:t>
            </a:r>
            <a:r>
              <a:rPr lang="ru-RU" sz="2000" dirty="0" smtClean="0"/>
              <a:t> </a:t>
            </a:r>
            <a:r>
              <a:rPr lang="ru-RU" sz="2000" dirty="0" err="1" smtClean="0"/>
              <a:t>всіх</a:t>
            </a:r>
            <a:r>
              <a:rPr lang="ru-RU" sz="2000" dirty="0" smtClean="0"/>
              <a:t> </a:t>
            </a:r>
            <a:r>
              <a:rPr lang="ru-RU" sz="2000" dirty="0" err="1" smtClean="0"/>
              <a:t>частих</a:t>
            </a:r>
            <a:r>
              <a:rPr lang="ru-RU" sz="2000" dirty="0" smtClean="0"/>
              <a:t> </a:t>
            </a:r>
            <a:r>
              <a:rPr lang="ru-RU" sz="2000" dirty="0" err="1" smtClean="0"/>
              <a:t>наборів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918" y="5278396"/>
            <a:ext cx="3350161" cy="432480"/>
          </a:xfrm>
          <a:prstGeom prst="rect">
            <a:avLst/>
          </a:prstGeom>
        </p:spPr>
      </p:pic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016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12192000" cy="836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      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Основн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і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характеристики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асоціативних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правил (АП)           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2278" y="1138536"/>
            <a:ext cx="119004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Оскільки</a:t>
            </a:r>
            <a:r>
              <a:rPr lang="ru-RU" sz="2000" dirty="0" smtClean="0"/>
              <a:t> правило </a:t>
            </a:r>
            <a:r>
              <a:rPr lang="ru-RU" sz="2000" dirty="0" err="1" smtClean="0"/>
              <a:t>будується</a:t>
            </a:r>
            <a:r>
              <a:rPr lang="ru-RU" sz="2000" dirty="0" smtClean="0"/>
              <a:t> на </a:t>
            </a:r>
            <a:r>
              <a:rPr lang="ru-RU" sz="2000" dirty="0" err="1" smtClean="0"/>
              <a:t>підставі</a:t>
            </a:r>
            <a:r>
              <a:rPr lang="ru-RU" sz="2000" dirty="0" smtClean="0"/>
              <a:t> набору, то, значить, правило X </a:t>
            </a:r>
            <a:r>
              <a:rPr lang="en-US" sz="2000" dirty="0" smtClean="0"/>
              <a:t>&gt;=</a:t>
            </a:r>
            <a:r>
              <a:rPr lang="ru-RU" sz="2000" dirty="0" smtClean="0"/>
              <a:t> Y </a:t>
            </a:r>
            <a:r>
              <a:rPr lang="ru-RU" sz="2000" dirty="0" err="1" smtClean="0"/>
              <a:t>має</a:t>
            </a:r>
            <a:r>
              <a:rPr lang="ru-RU" sz="2000" dirty="0" smtClean="0"/>
              <a:t> </a:t>
            </a:r>
            <a:r>
              <a:rPr lang="ru-RU" sz="2000" dirty="0" err="1" smtClean="0"/>
              <a:t>підтримку</a:t>
            </a:r>
            <a:r>
              <a:rPr lang="ru-RU" sz="2000" dirty="0" smtClean="0"/>
              <a:t>, </a:t>
            </a:r>
            <a:r>
              <a:rPr lang="ru-RU" sz="2000" dirty="0" err="1" smtClean="0"/>
              <a:t>рівну</a:t>
            </a:r>
            <a:endParaRPr lang="ru-RU" sz="2000" dirty="0" smtClean="0"/>
          </a:p>
          <a:p>
            <a:r>
              <a:rPr lang="ru-RU" sz="2000" dirty="0" err="1" smtClean="0"/>
              <a:t>підтримці</a:t>
            </a:r>
            <a:r>
              <a:rPr lang="ru-RU" sz="2000" dirty="0" smtClean="0"/>
              <a:t> набору F, </a:t>
            </a:r>
            <a:r>
              <a:rPr lang="ru-RU" sz="2000" dirty="0" err="1" smtClean="0"/>
              <a:t>який</a:t>
            </a:r>
            <a:r>
              <a:rPr lang="ru-RU" sz="2000" dirty="0" smtClean="0"/>
              <a:t> </a:t>
            </a:r>
            <a:r>
              <a:rPr lang="ru-RU" sz="2000" dirty="0" err="1" smtClean="0"/>
              <a:t>складають</a:t>
            </a:r>
            <a:r>
              <a:rPr lang="ru-RU" sz="2000" dirty="0" smtClean="0"/>
              <a:t> X і Y:</a:t>
            </a:r>
            <a:endParaRPr lang="ru-RU" sz="20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60" y="1846422"/>
            <a:ext cx="3299401" cy="87768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344556" y="2724102"/>
            <a:ext cx="117281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Очевидно, </a:t>
            </a:r>
            <a:r>
              <a:rPr lang="ru-RU" sz="2000" dirty="0" err="1" smtClean="0"/>
              <a:t>що</a:t>
            </a:r>
            <a:r>
              <a:rPr lang="ru-RU" sz="2000" dirty="0" smtClean="0"/>
              <a:t> правила, </a:t>
            </a:r>
            <a:r>
              <a:rPr lang="ru-RU" sz="2000" dirty="0" err="1" smtClean="0"/>
              <a:t>побудовані</a:t>
            </a:r>
            <a:r>
              <a:rPr lang="ru-RU" sz="2000" dirty="0" smtClean="0"/>
              <a:t> на </a:t>
            </a:r>
            <a:r>
              <a:rPr lang="ru-RU" sz="2000" dirty="0" err="1" smtClean="0"/>
              <a:t>підставі</a:t>
            </a:r>
            <a:r>
              <a:rPr lang="ru-RU" sz="2000" dirty="0" smtClean="0"/>
              <a:t> одного і того </a:t>
            </a:r>
            <a:r>
              <a:rPr lang="uk-UA" sz="2000" dirty="0" smtClean="0"/>
              <a:t>самого </a:t>
            </a:r>
            <a:r>
              <a:rPr lang="ru-RU" sz="2000" dirty="0" smtClean="0"/>
              <a:t>набору, </a:t>
            </a:r>
            <a:r>
              <a:rPr lang="ru-RU" sz="2000" dirty="0" err="1" smtClean="0"/>
              <a:t>мають</a:t>
            </a:r>
            <a:r>
              <a:rPr lang="ru-RU" sz="2000" dirty="0" smtClean="0"/>
              <a:t> </a:t>
            </a:r>
            <a:r>
              <a:rPr lang="ru-RU" sz="2000" dirty="0" err="1" smtClean="0"/>
              <a:t>однакову</a:t>
            </a:r>
            <a:r>
              <a:rPr lang="ru-RU" sz="2000" dirty="0" smtClean="0"/>
              <a:t> </a:t>
            </a:r>
            <a:r>
              <a:rPr lang="ru-RU" sz="2000" dirty="0" err="1" smtClean="0"/>
              <a:t>підтримку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Для </a:t>
            </a:r>
            <a:r>
              <a:rPr lang="ru-RU" sz="2000" dirty="0" err="1" smtClean="0"/>
              <a:t>визначення</a:t>
            </a:r>
            <a:r>
              <a:rPr lang="ru-RU" sz="2000" dirty="0" smtClean="0"/>
              <a:t> </a:t>
            </a:r>
            <a:r>
              <a:rPr lang="ru-RU" sz="2000" b="1" dirty="0" err="1" smtClean="0">
                <a:solidFill>
                  <a:srgbClr val="0000CC"/>
                </a:solidFill>
              </a:rPr>
              <a:t>достовірності</a:t>
            </a:r>
            <a:r>
              <a:rPr lang="ru-RU" sz="2000" b="1" dirty="0" smtClean="0">
                <a:solidFill>
                  <a:srgbClr val="0000CC"/>
                </a:solidFill>
              </a:rPr>
              <a:t> правила </a:t>
            </a:r>
            <a:r>
              <a:rPr lang="en-GB" sz="2000" dirty="0" smtClean="0"/>
              <a:t>X </a:t>
            </a:r>
            <a:r>
              <a:rPr lang="en-US" sz="2000" dirty="0" smtClean="0"/>
              <a:t>&gt;=</a:t>
            </a:r>
            <a:r>
              <a:rPr lang="en-GB" sz="2000" dirty="0" smtClean="0"/>
              <a:t> Y </a:t>
            </a:r>
            <a:r>
              <a:rPr lang="ru-RU" sz="2000" dirty="0" smtClean="0"/>
              <a:t>є </a:t>
            </a:r>
            <a:r>
              <a:rPr lang="ru-RU" sz="2000" dirty="0" err="1" smtClean="0"/>
              <a:t>відношення</a:t>
            </a:r>
            <a:r>
              <a:rPr lang="ru-RU" sz="2000" dirty="0" smtClean="0"/>
              <a:t> числа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містять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набори</a:t>
            </a:r>
            <a:r>
              <a:rPr lang="ru-RU" sz="2000" dirty="0" smtClean="0"/>
              <a:t> </a:t>
            </a:r>
            <a:r>
              <a:rPr lang="en-GB" sz="2000" dirty="0" smtClean="0"/>
              <a:t>X</a:t>
            </a:r>
            <a:r>
              <a:rPr lang="uk-UA" sz="2000" dirty="0" smtClean="0"/>
              <a:t> </a:t>
            </a:r>
            <a:r>
              <a:rPr lang="ru-RU" sz="2000" dirty="0" smtClean="0"/>
              <a:t>і У, до числа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містять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набір</a:t>
            </a:r>
            <a:r>
              <a:rPr lang="ru-RU" sz="2000" dirty="0" smtClean="0"/>
              <a:t> </a:t>
            </a:r>
            <a:r>
              <a:rPr lang="en-GB" sz="2000" dirty="0" smtClean="0"/>
              <a:t>X. </a:t>
            </a:r>
            <a:endParaRPr lang="uk-UA" sz="2000" dirty="0" smtClean="0"/>
          </a:p>
          <a:p>
            <a:r>
              <a:rPr lang="ru-RU" sz="2000" dirty="0" err="1" smtClean="0"/>
              <a:t>Це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відношення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показує</a:t>
            </a:r>
            <a:r>
              <a:rPr lang="ru-RU" sz="2000" dirty="0" smtClean="0"/>
              <a:t> </a:t>
            </a:r>
            <a:r>
              <a:rPr lang="ru-RU" sz="2000" dirty="0" err="1" smtClean="0"/>
              <a:t>вірогідність</a:t>
            </a:r>
            <a:r>
              <a:rPr lang="ru-RU" sz="2000" dirty="0" smtClean="0"/>
              <a:t> того, </a:t>
            </a:r>
            <a:r>
              <a:rPr lang="ru-RU" sz="2000" dirty="0" err="1" smtClean="0"/>
              <a:t>що</a:t>
            </a:r>
            <a:r>
              <a:rPr lang="ru-RU" sz="2000" dirty="0" smtClean="0"/>
              <a:t> з </a:t>
            </a:r>
            <a:r>
              <a:rPr lang="ru-RU" sz="2000" dirty="0" err="1" smtClean="0"/>
              <a:t>наявності</a:t>
            </a:r>
            <a:r>
              <a:rPr lang="ru-RU" sz="2000" dirty="0" smtClean="0"/>
              <a:t> в </a:t>
            </a:r>
            <a:r>
              <a:rPr lang="ru-RU" sz="2000" dirty="0" err="1" smtClean="0"/>
              <a:t>транзакції</a:t>
            </a:r>
            <a:r>
              <a:rPr lang="ru-RU" sz="2000" dirty="0" smtClean="0"/>
              <a:t> набору </a:t>
            </a:r>
            <a:r>
              <a:rPr lang="en-GB" sz="2000" dirty="0" smtClean="0"/>
              <a:t>X </a:t>
            </a:r>
            <a:r>
              <a:rPr lang="ru-RU" sz="2000" dirty="0" err="1" smtClean="0"/>
              <a:t>слідує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наявність</a:t>
            </a:r>
            <a:r>
              <a:rPr lang="ru-RU" sz="2000" dirty="0" smtClean="0"/>
              <a:t> в </a:t>
            </a:r>
            <a:r>
              <a:rPr lang="ru-RU" sz="2000" dirty="0" err="1" smtClean="0"/>
              <a:t>ній</a:t>
            </a:r>
            <a:r>
              <a:rPr lang="ru-RU" sz="2000" dirty="0" smtClean="0"/>
              <a:t> набору У</a:t>
            </a:r>
            <a:endParaRPr lang="ru-RU" sz="20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019" y="4355318"/>
            <a:ext cx="3603961" cy="75048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344556" y="5232998"/>
            <a:ext cx="116354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Звідси</a:t>
            </a:r>
            <a:r>
              <a:rPr lang="ru-RU" sz="2000" dirty="0" smtClean="0"/>
              <a:t> видно,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чим</a:t>
            </a:r>
            <a:r>
              <a:rPr lang="ru-RU" sz="2000" dirty="0" smtClean="0"/>
              <a:t> </a:t>
            </a:r>
            <a:r>
              <a:rPr lang="ru-RU" sz="2000" dirty="0" err="1" smtClean="0"/>
              <a:t>більше</a:t>
            </a:r>
            <a:r>
              <a:rPr lang="ru-RU" sz="2000" dirty="0" smtClean="0"/>
              <a:t> </a:t>
            </a:r>
            <a:r>
              <a:rPr lang="ru-RU" sz="2000" dirty="0" err="1" smtClean="0"/>
              <a:t>достовірність</a:t>
            </a:r>
            <a:r>
              <a:rPr lang="ru-RU" sz="2000" dirty="0" smtClean="0"/>
              <a:t>, </a:t>
            </a:r>
            <a:r>
              <a:rPr lang="ru-RU" sz="2000" dirty="0" err="1" smtClean="0"/>
              <a:t>тим</a:t>
            </a:r>
            <a:r>
              <a:rPr lang="ru-RU" sz="2000" dirty="0" smtClean="0"/>
              <a:t> правило </a:t>
            </a:r>
            <a:r>
              <a:rPr lang="ru-RU" sz="2000" dirty="0" err="1" smtClean="0"/>
              <a:t>краще</a:t>
            </a:r>
            <a:r>
              <a:rPr lang="ru-RU" sz="2000" dirty="0" smtClean="0"/>
              <a:t>, </a:t>
            </a:r>
            <a:r>
              <a:rPr lang="ru-RU" sz="2000" dirty="0" err="1" smtClean="0"/>
              <a:t>причому</a:t>
            </a:r>
            <a:r>
              <a:rPr lang="ru-RU" sz="2000" dirty="0" smtClean="0"/>
              <a:t> у правил, </a:t>
            </a:r>
            <a:r>
              <a:rPr lang="ru-RU" sz="2000" dirty="0" err="1" smtClean="0"/>
              <a:t>побудованих</a:t>
            </a:r>
            <a:r>
              <a:rPr lang="ru-RU" sz="2000" dirty="0" smtClean="0"/>
              <a:t> на </a:t>
            </a:r>
            <a:r>
              <a:rPr lang="ru-RU" sz="2000" dirty="0" err="1" smtClean="0"/>
              <a:t>підставі</a:t>
            </a:r>
            <a:r>
              <a:rPr lang="ru-RU" sz="2000" dirty="0" smtClean="0"/>
              <a:t> одного і того самого набору, </a:t>
            </a:r>
            <a:r>
              <a:rPr lang="ru-RU" sz="2000" dirty="0" err="1" smtClean="0"/>
              <a:t>достовірність</a:t>
            </a:r>
            <a:r>
              <a:rPr lang="ru-RU" sz="2000" dirty="0" smtClean="0"/>
              <a:t> буде </a:t>
            </a:r>
            <a:r>
              <a:rPr lang="ru-RU" sz="2000" dirty="0" err="1" smtClean="0"/>
              <a:t>різна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2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0"/>
            <a:ext cx="12192000" cy="836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      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Основн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і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характеристики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асоціативних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правил (АП)           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51792" y="1108647"/>
            <a:ext cx="1182093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Але </a:t>
            </a:r>
            <a:r>
              <a:rPr lang="ru-RU" sz="2000" dirty="0" err="1" smtClean="0"/>
              <a:t>достовірність</a:t>
            </a:r>
            <a:r>
              <a:rPr lang="ru-RU" sz="2000" dirty="0" smtClean="0"/>
              <a:t> не </a:t>
            </a:r>
            <a:r>
              <a:rPr lang="ru-RU" sz="2000" dirty="0" err="1" smtClean="0"/>
              <a:t>дозволяє</a:t>
            </a:r>
            <a:r>
              <a:rPr lang="ru-RU" sz="2000" dirty="0" smtClean="0"/>
              <a:t> </a:t>
            </a:r>
            <a:r>
              <a:rPr lang="ru-RU" sz="2000" dirty="0" err="1" smtClean="0"/>
              <a:t>оцінити</a:t>
            </a:r>
            <a:r>
              <a:rPr lang="ru-RU" sz="2000" dirty="0" smtClean="0"/>
              <a:t> </a:t>
            </a:r>
            <a:r>
              <a:rPr lang="ru-RU" sz="2000" dirty="0" err="1" smtClean="0"/>
              <a:t>корисність</a:t>
            </a:r>
            <a:r>
              <a:rPr lang="ru-RU" sz="2000" dirty="0" smtClean="0"/>
              <a:t> правила.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відсоток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наявності</a:t>
            </a:r>
            <a:r>
              <a:rPr lang="ru-RU" sz="2000" dirty="0" smtClean="0"/>
              <a:t> в </a:t>
            </a:r>
            <a:r>
              <a:rPr lang="ru-RU" sz="2000" dirty="0" err="1" smtClean="0"/>
              <a:t>транзакціях</a:t>
            </a:r>
            <a:endParaRPr lang="ru-RU" sz="2000" dirty="0" smtClean="0"/>
          </a:p>
          <a:p>
            <a:r>
              <a:rPr lang="ru-RU" sz="2000" dirty="0" smtClean="0"/>
              <a:t>набору У за </a:t>
            </a:r>
            <a:r>
              <a:rPr lang="ru-RU" sz="2000" dirty="0" err="1" smtClean="0"/>
              <a:t>умови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наявності</a:t>
            </a:r>
            <a:r>
              <a:rPr lang="ru-RU" sz="2000" dirty="0" smtClean="0"/>
              <a:t> в них набору </a:t>
            </a:r>
            <a:r>
              <a:rPr lang="en-GB" sz="2000" dirty="0" smtClean="0"/>
              <a:t>X </a:t>
            </a:r>
            <a:r>
              <a:rPr lang="ru-RU" sz="2000" dirty="0" err="1" smtClean="0"/>
              <a:t>менше</a:t>
            </a:r>
            <a:r>
              <a:rPr lang="ru-RU" sz="2000" dirty="0" smtClean="0"/>
              <a:t>, </a:t>
            </a:r>
            <a:r>
              <a:rPr lang="ru-RU" sz="2000" dirty="0" err="1" smtClean="0"/>
              <a:t>ніж</a:t>
            </a:r>
            <a:r>
              <a:rPr lang="ru-RU" sz="2000" dirty="0" smtClean="0"/>
              <a:t> </a:t>
            </a:r>
            <a:r>
              <a:rPr lang="ru-RU" sz="2000" dirty="0" err="1" smtClean="0"/>
              <a:t>відсоток</a:t>
            </a:r>
            <a:r>
              <a:rPr lang="ru-RU" sz="2000" dirty="0" smtClean="0"/>
              <a:t> </a:t>
            </a:r>
            <a:r>
              <a:rPr lang="ru-RU" sz="2000" dirty="0" err="1" smtClean="0"/>
              <a:t>безумовної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наявності</a:t>
            </a:r>
            <a:r>
              <a:rPr lang="ru-RU" sz="2000" dirty="0" smtClean="0"/>
              <a:t> набору У, т. е.</a:t>
            </a:r>
          </a:p>
          <a:p>
            <a:r>
              <a:rPr lang="ru-RU" sz="2000" dirty="0" err="1" smtClean="0"/>
              <a:t>це</a:t>
            </a:r>
            <a:r>
              <a:rPr lang="ru-RU" sz="2000" dirty="0" smtClean="0"/>
              <a:t> значить,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вірогідність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випадково</a:t>
            </a:r>
            <a:r>
              <a:rPr lang="ru-RU" sz="2000" dirty="0" smtClean="0"/>
              <a:t> </a:t>
            </a:r>
            <a:r>
              <a:rPr lang="ru-RU" sz="2000" dirty="0" err="1" smtClean="0"/>
              <a:t>вгадати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наявність</a:t>
            </a:r>
            <a:r>
              <a:rPr lang="ru-RU" sz="2000" dirty="0" smtClean="0"/>
              <a:t> в </a:t>
            </a:r>
            <a:r>
              <a:rPr lang="ru-RU" sz="2000" dirty="0" err="1" smtClean="0"/>
              <a:t>трансакції</a:t>
            </a:r>
            <a:r>
              <a:rPr lang="ru-RU" sz="2000" dirty="0" smtClean="0"/>
              <a:t> набору У </a:t>
            </a:r>
            <a:r>
              <a:rPr lang="ru-RU" sz="2000" dirty="0" err="1" smtClean="0"/>
              <a:t>більше</a:t>
            </a:r>
            <a:r>
              <a:rPr lang="ru-RU" sz="2000" dirty="0" smtClean="0"/>
              <a:t>, </a:t>
            </a:r>
            <a:r>
              <a:rPr lang="ru-RU" sz="2000" dirty="0" err="1" smtClean="0"/>
              <a:t>ніж</a:t>
            </a:r>
            <a:r>
              <a:rPr lang="ru-RU" sz="2000" dirty="0" smtClean="0"/>
              <a:t> </a:t>
            </a:r>
            <a:r>
              <a:rPr lang="ru-RU" sz="2000" dirty="0" err="1" smtClean="0"/>
              <a:t>передба</a:t>
            </a:r>
            <a:r>
              <a:rPr lang="ru-RU" sz="2000" dirty="0" smtClean="0"/>
              <a:t>-</a:t>
            </a:r>
          </a:p>
          <a:p>
            <a:r>
              <a:rPr lang="ru-RU" sz="2000" dirty="0" err="1" smtClean="0"/>
              <a:t>чено</a:t>
            </a:r>
            <a:r>
              <a:rPr lang="ru-RU" sz="2000" dirty="0" smtClean="0"/>
              <a:t> за </a:t>
            </a:r>
            <a:r>
              <a:rPr lang="ru-RU" sz="2000" dirty="0" err="1" smtClean="0"/>
              <a:t>допомогою</a:t>
            </a:r>
            <a:r>
              <a:rPr lang="ru-RU" sz="2000" dirty="0" smtClean="0"/>
              <a:t> правила </a:t>
            </a:r>
            <a:r>
              <a:rPr lang="en-GB" sz="2000" dirty="0" smtClean="0"/>
              <a:t>X &gt;= Y . </a:t>
            </a:r>
          </a:p>
          <a:p>
            <a:r>
              <a:rPr lang="ru-RU" sz="2000" dirty="0" smtClean="0"/>
              <a:t>Для </a:t>
            </a:r>
            <a:r>
              <a:rPr lang="ru-RU" sz="2000" dirty="0" err="1" smtClean="0"/>
              <a:t>виправлення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такої</a:t>
            </a:r>
            <a:r>
              <a:rPr lang="ru-RU" sz="2000" dirty="0" smtClean="0"/>
              <a:t> </a:t>
            </a:r>
            <a:r>
              <a:rPr lang="ru-RU" sz="2000" dirty="0" err="1" smtClean="0"/>
              <a:t>ситуації</a:t>
            </a:r>
            <a:r>
              <a:rPr lang="ru-RU" sz="2000" dirty="0" smtClean="0"/>
              <a:t> вводимо </a:t>
            </a:r>
            <a:r>
              <a:rPr lang="ru-RU" sz="2000" dirty="0" err="1" smtClean="0">
                <a:solidFill>
                  <a:srgbClr val="0000CC"/>
                </a:solidFill>
              </a:rPr>
              <a:t>міру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покращення</a:t>
            </a:r>
            <a:endParaRPr lang="ru-RU" sz="2000" dirty="0">
              <a:solidFill>
                <a:srgbClr val="0000CC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656" y="2909051"/>
            <a:ext cx="3147121" cy="80136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85531" y="3710411"/>
            <a:ext cx="118209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Покращення</a:t>
            </a:r>
            <a:r>
              <a:rPr lang="ru-RU" sz="2000" dirty="0" smtClean="0"/>
              <a:t> правила </a:t>
            </a:r>
            <a:r>
              <a:rPr lang="ru-RU" sz="2000" dirty="0" err="1" smtClean="0"/>
              <a:t>показує</a:t>
            </a:r>
            <a:r>
              <a:rPr lang="ru-RU" sz="2000" dirty="0" smtClean="0"/>
              <a:t>, </a:t>
            </a:r>
            <a:r>
              <a:rPr lang="ru-RU" sz="2000" dirty="0" err="1" smtClean="0"/>
              <a:t>чи</a:t>
            </a:r>
            <a:r>
              <a:rPr lang="ru-RU" sz="2000" dirty="0" smtClean="0"/>
              <a:t> </a:t>
            </a:r>
            <a:r>
              <a:rPr lang="ru-RU" sz="2000" dirty="0" err="1" smtClean="0"/>
              <a:t>корисним</a:t>
            </a:r>
            <a:r>
              <a:rPr lang="ru-RU" sz="2000" dirty="0" smtClean="0"/>
              <a:t> є правило </a:t>
            </a:r>
            <a:r>
              <a:rPr lang="ru-RU" sz="2000" dirty="0" err="1" smtClean="0"/>
              <a:t>випадкового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вгадування</a:t>
            </a:r>
            <a:r>
              <a:rPr lang="ru-RU" sz="2000" dirty="0" smtClean="0"/>
              <a:t> та </a:t>
            </a:r>
            <a:r>
              <a:rPr lang="ru-RU" sz="2000" dirty="0" err="1" smtClean="0"/>
              <a:t>відповідає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відношенню</a:t>
            </a:r>
            <a:r>
              <a:rPr lang="ru-RU" sz="2000" dirty="0" smtClean="0"/>
              <a:t> числа </a:t>
            </a:r>
            <a:r>
              <a:rPr lang="ru-RU" sz="2000" dirty="0" err="1" smtClean="0"/>
              <a:t>тран</a:t>
            </a:r>
            <a:r>
              <a:rPr lang="uk-UA" sz="2000" dirty="0"/>
              <a:t>з</a:t>
            </a:r>
            <a:r>
              <a:rPr lang="ru-RU" sz="2000" dirty="0" err="1" smtClean="0"/>
              <a:t>акцій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містять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набори</a:t>
            </a:r>
            <a:r>
              <a:rPr lang="ru-RU" sz="2000" dirty="0" smtClean="0"/>
              <a:t> </a:t>
            </a:r>
            <a:r>
              <a:rPr lang="en-GB" sz="2000" dirty="0" smtClean="0"/>
              <a:t>X </a:t>
            </a:r>
            <a:r>
              <a:rPr lang="ru-RU" sz="2000" dirty="0" smtClean="0"/>
              <a:t>і У, до </a:t>
            </a:r>
            <a:r>
              <a:rPr lang="ru-RU" sz="2000" dirty="0" err="1" smtClean="0"/>
              <a:t>кількості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містять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набір</a:t>
            </a:r>
            <a:r>
              <a:rPr lang="ru-RU" sz="2000" dirty="0" smtClean="0"/>
              <a:t> </a:t>
            </a:r>
            <a:r>
              <a:rPr lang="en-GB" sz="2000" dirty="0" smtClean="0"/>
              <a:t>X, </a:t>
            </a:r>
            <a:r>
              <a:rPr lang="ru-RU" sz="2000" dirty="0" smtClean="0"/>
              <a:t>і </a:t>
            </a:r>
            <a:r>
              <a:rPr lang="ru-RU" sz="2000" dirty="0" err="1" smtClean="0"/>
              <a:t>кількості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транзакцій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містять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набір</a:t>
            </a:r>
            <a:r>
              <a:rPr lang="ru-RU" sz="2000" dirty="0" smtClean="0"/>
              <a:t> У:</a:t>
            </a:r>
            <a:endParaRPr lang="ru-RU" sz="20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815" y="4724369"/>
            <a:ext cx="4060801" cy="82680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251792" y="5527434"/>
            <a:ext cx="118209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покращення</a:t>
            </a:r>
            <a:r>
              <a:rPr lang="ru-RU" sz="2000" dirty="0" smtClean="0"/>
              <a:t> </a:t>
            </a:r>
            <a:r>
              <a:rPr lang="ru-RU" sz="2000" b="1" dirty="0" err="1" smtClean="0"/>
              <a:t>більше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одиниці</a:t>
            </a:r>
            <a:r>
              <a:rPr lang="ru-RU" sz="2000" dirty="0" smtClean="0"/>
              <a:t>, то </a:t>
            </a:r>
            <a:r>
              <a:rPr lang="ru-RU" sz="2000" dirty="0" err="1" smtClean="0"/>
              <a:t>це</a:t>
            </a:r>
            <a:r>
              <a:rPr lang="ru-RU" sz="2000" dirty="0" smtClean="0"/>
              <a:t> значить, </a:t>
            </a:r>
            <a:r>
              <a:rPr lang="ru-RU" sz="2000" dirty="0" err="1" smtClean="0"/>
              <a:t>що</a:t>
            </a:r>
            <a:r>
              <a:rPr lang="ru-RU" sz="2000" dirty="0" smtClean="0"/>
              <a:t> за </a:t>
            </a:r>
            <a:r>
              <a:rPr lang="ru-RU" sz="2000" dirty="0" err="1" smtClean="0"/>
              <a:t>допомогою</a:t>
            </a:r>
            <a:r>
              <a:rPr lang="ru-RU" sz="2000" dirty="0" smtClean="0"/>
              <a:t> правила </a:t>
            </a:r>
            <a:r>
              <a:rPr lang="ru-RU" sz="2000" dirty="0" err="1" smtClean="0"/>
              <a:t>передбачити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наявність</a:t>
            </a:r>
            <a:r>
              <a:rPr lang="ru-RU" sz="2000" dirty="0" smtClean="0"/>
              <a:t> набору У </a:t>
            </a:r>
            <a:r>
              <a:rPr lang="ru-RU" sz="2000" dirty="0" err="1" smtClean="0"/>
              <a:t>вірогідніше</a:t>
            </a:r>
            <a:r>
              <a:rPr lang="ru-RU" sz="2000" dirty="0" smtClean="0"/>
              <a:t>, </a:t>
            </a:r>
            <a:r>
              <a:rPr lang="ru-RU" sz="2000" dirty="0" err="1" smtClean="0"/>
              <a:t>ніж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випадкове</a:t>
            </a:r>
            <a:r>
              <a:rPr lang="ru-RU" sz="2000" dirty="0" smtClean="0"/>
              <a:t> </a:t>
            </a:r>
            <a:r>
              <a:rPr lang="ru-RU" sz="2000" dirty="0" err="1" smtClean="0"/>
              <a:t>вгадування</a:t>
            </a:r>
            <a:r>
              <a:rPr lang="ru-RU" sz="2000" dirty="0" smtClean="0"/>
              <a:t>,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b="1" dirty="0" err="1" smtClean="0"/>
              <a:t>менше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одиниці</a:t>
            </a:r>
            <a:r>
              <a:rPr lang="ru-RU" sz="2000" dirty="0" smtClean="0"/>
              <a:t>, то </a:t>
            </a:r>
            <a:r>
              <a:rPr lang="ru-RU" sz="2000" dirty="0" err="1" smtClean="0"/>
              <a:t>навпаки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8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12192000" cy="836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      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Основн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і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характеристики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асоціативних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правил (АП)           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2764" y="1028821"/>
            <a:ext cx="119799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У </a:t>
            </a:r>
            <a:r>
              <a:rPr lang="ru-RU" sz="2000" dirty="0" err="1" smtClean="0"/>
              <a:t>останньому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випадку</a:t>
            </a:r>
            <a:r>
              <a:rPr lang="ru-RU" sz="2000" dirty="0" smtClean="0"/>
              <a:t> </a:t>
            </a:r>
            <a:r>
              <a:rPr lang="ru-RU" sz="2000" dirty="0" err="1" smtClean="0"/>
              <a:t>можна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використовувати</a:t>
            </a:r>
            <a:r>
              <a:rPr lang="ru-RU" sz="2000" dirty="0" smtClean="0"/>
              <a:t> </a:t>
            </a:r>
            <a:r>
              <a:rPr lang="ru-RU" sz="2000" dirty="0" err="1" smtClean="0"/>
              <a:t>заперечливе</a:t>
            </a:r>
            <a:r>
              <a:rPr lang="ru-RU" sz="2000" dirty="0" smtClean="0"/>
              <a:t> правило, </a:t>
            </a:r>
            <a:r>
              <a:rPr lang="ru-RU" sz="2000" dirty="0" err="1" smtClean="0"/>
              <a:t>тобто</a:t>
            </a:r>
            <a:r>
              <a:rPr lang="ru-RU" sz="2000" dirty="0" smtClean="0"/>
              <a:t> правило, яке </a:t>
            </a:r>
            <a:r>
              <a:rPr lang="ru-RU" sz="2000" dirty="0" err="1" smtClean="0"/>
              <a:t>передбачає</a:t>
            </a:r>
            <a:r>
              <a:rPr lang="ru-RU" sz="2000" dirty="0" smtClean="0"/>
              <a:t> </a:t>
            </a:r>
            <a:r>
              <a:rPr lang="ru-RU" sz="2000" dirty="0" err="1" smtClean="0"/>
              <a:t>відсутність</a:t>
            </a:r>
            <a:r>
              <a:rPr lang="ru-RU" sz="2000" dirty="0" smtClean="0"/>
              <a:t> набору У: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407" y="1525370"/>
            <a:ext cx="1269000" cy="30528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2764" y="1927089"/>
            <a:ext cx="11529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У такого правила </a:t>
            </a:r>
            <a:r>
              <a:rPr lang="ru-RU" sz="2000" dirty="0" err="1" smtClean="0"/>
              <a:t>покращення</a:t>
            </a:r>
            <a:r>
              <a:rPr lang="ru-RU" sz="2000" dirty="0" smtClean="0"/>
              <a:t> буде </a:t>
            </a:r>
            <a:r>
              <a:rPr lang="ru-RU" sz="2000" dirty="0" err="1" smtClean="0"/>
              <a:t>більше</a:t>
            </a:r>
            <a:r>
              <a:rPr lang="ru-RU" sz="2000" dirty="0" smtClean="0"/>
              <a:t> </a:t>
            </a:r>
            <a:r>
              <a:rPr lang="ru-RU" sz="2000" dirty="0" err="1" smtClean="0"/>
              <a:t>одиниці</a:t>
            </a:r>
            <a:r>
              <a:rPr lang="ru-RU" sz="2000" dirty="0" smtClean="0"/>
              <a:t>, </a:t>
            </a:r>
            <a:r>
              <a:rPr lang="ru-RU" sz="2000" dirty="0" err="1" smtClean="0"/>
              <a:t>оскільки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033" y="2000076"/>
            <a:ext cx="2182680" cy="3180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6017" y="2517581"/>
            <a:ext cx="119799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Таким чином, </a:t>
            </a:r>
            <a:r>
              <a:rPr lang="ru-RU" sz="2000" dirty="0" err="1" smtClean="0"/>
              <a:t>можна</a:t>
            </a:r>
            <a:r>
              <a:rPr lang="ru-RU" sz="2000" dirty="0" smtClean="0"/>
              <a:t> </a:t>
            </a:r>
            <a:r>
              <a:rPr lang="ru-RU" sz="2000" dirty="0" err="1" smtClean="0"/>
              <a:t>одержати</a:t>
            </a:r>
            <a:r>
              <a:rPr lang="ru-RU" sz="2000" dirty="0" smtClean="0"/>
              <a:t> правило, яке </a:t>
            </a:r>
            <a:r>
              <a:rPr lang="ru-RU" sz="2000" dirty="0" err="1" smtClean="0"/>
              <a:t>передбачає</a:t>
            </a:r>
            <a:r>
              <a:rPr lang="ru-RU" sz="2000" dirty="0" smtClean="0"/>
              <a:t> результат </a:t>
            </a:r>
            <a:r>
              <a:rPr lang="ru-RU" sz="2000" dirty="0" err="1" smtClean="0"/>
              <a:t>краще</a:t>
            </a:r>
            <a:r>
              <a:rPr lang="ru-RU" sz="2000" dirty="0" smtClean="0"/>
              <a:t>, </a:t>
            </a:r>
            <a:r>
              <a:rPr lang="ru-RU" sz="2000" dirty="0" err="1" smtClean="0"/>
              <a:t>ніж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випадковим</a:t>
            </a:r>
            <a:r>
              <a:rPr lang="ru-RU" sz="2000" dirty="0" smtClean="0"/>
              <a:t> чином.</a:t>
            </a:r>
          </a:p>
          <a:p>
            <a:r>
              <a:rPr lang="ru-RU" sz="2000" dirty="0" err="1" smtClean="0"/>
              <a:t>Дані</a:t>
            </a:r>
            <a:r>
              <a:rPr lang="ru-RU" sz="2000" dirty="0" smtClean="0"/>
              <a:t> </a:t>
            </a:r>
            <a:r>
              <a:rPr lang="ru-RU" sz="2000" dirty="0" err="1" smtClean="0"/>
              <a:t>оцінки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використовується</a:t>
            </a:r>
            <a:r>
              <a:rPr lang="ru-RU" sz="2000" dirty="0" smtClean="0"/>
              <a:t> </a:t>
            </a:r>
            <a:r>
              <a:rPr lang="ru-RU" sz="2000" b="1" dirty="0" smtClean="0"/>
              <a:t>при </a:t>
            </a:r>
            <a:r>
              <a:rPr lang="ru-RU" sz="2000" b="1" dirty="0" err="1" smtClean="0"/>
              <a:t>генерації</a:t>
            </a:r>
            <a:r>
              <a:rPr lang="ru-RU" sz="2000" b="1" dirty="0" smtClean="0"/>
              <a:t> правил </a:t>
            </a:r>
            <a:r>
              <a:rPr lang="ru-RU" sz="2000" b="1" dirty="0" err="1" smtClean="0"/>
              <a:t>оцінювання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попиту</a:t>
            </a:r>
            <a:r>
              <a:rPr lang="ru-RU" sz="2000" b="1" dirty="0" smtClean="0"/>
              <a:t> на ринку </a:t>
            </a:r>
            <a:r>
              <a:rPr lang="ru-RU" sz="2000" b="1" dirty="0" err="1" smtClean="0"/>
              <a:t>товарів</a:t>
            </a:r>
            <a:r>
              <a:rPr lang="ru-RU" sz="2000" dirty="0" smtClean="0"/>
              <a:t>. </a:t>
            </a:r>
          </a:p>
          <a:p>
            <a:r>
              <a:rPr lang="ru-RU" sz="2000" dirty="0" smtClean="0"/>
              <a:t>При </a:t>
            </a:r>
            <a:r>
              <a:rPr lang="ru-RU" sz="2000" dirty="0" err="1" smtClean="0"/>
              <a:t>пошуку</a:t>
            </a:r>
            <a:r>
              <a:rPr lang="ru-RU" sz="2000" dirty="0" smtClean="0"/>
              <a:t> </a:t>
            </a:r>
            <a:r>
              <a:rPr lang="ru-RU" sz="2000" dirty="0" err="1" smtClean="0"/>
              <a:t>асоціативних</a:t>
            </a:r>
            <a:r>
              <a:rPr lang="ru-RU" sz="2000" dirty="0" smtClean="0"/>
              <a:t> правил </a:t>
            </a:r>
            <a:r>
              <a:rPr lang="ru-RU" sz="2000" b="1" dirty="0" err="1" smtClean="0"/>
              <a:t>задаємо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мінімальні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значення</a:t>
            </a:r>
            <a:r>
              <a:rPr lang="ru-RU" sz="2000" b="1" dirty="0" smtClean="0"/>
              <a:t> </a:t>
            </a:r>
            <a:r>
              <a:rPr lang="ru-RU" sz="2000" dirty="0" err="1" smtClean="0"/>
              <a:t>перерахованих</a:t>
            </a:r>
            <a:r>
              <a:rPr lang="ru-RU" sz="2000" dirty="0" smtClean="0"/>
              <a:t> </a:t>
            </a:r>
            <a:r>
              <a:rPr lang="ru-RU" sz="2000" dirty="0" err="1" smtClean="0"/>
              <a:t>змінних</a:t>
            </a:r>
            <a:r>
              <a:rPr lang="ru-RU" sz="2000" dirty="0" smtClean="0"/>
              <a:t>.  В </a:t>
            </a:r>
            <a:r>
              <a:rPr lang="ru-RU" sz="2000" dirty="0" err="1" smtClean="0"/>
              <a:t>результаті</a:t>
            </a:r>
            <a:r>
              <a:rPr lang="ru-RU" sz="2000" dirty="0" smtClean="0"/>
              <a:t> </a:t>
            </a:r>
            <a:r>
              <a:rPr lang="ru-RU" sz="2000" dirty="0" err="1" smtClean="0"/>
              <a:t>ті</a:t>
            </a:r>
            <a:r>
              <a:rPr lang="ru-RU" sz="2000" dirty="0" smtClean="0"/>
              <a:t> правила, </a:t>
            </a:r>
            <a:r>
              <a:rPr lang="ru-RU" sz="2000" dirty="0" err="1" smtClean="0"/>
              <a:t>які</a:t>
            </a:r>
            <a:r>
              <a:rPr lang="ru-RU" sz="2000" dirty="0" smtClean="0"/>
              <a:t> не </a:t>
            </a:r>
            <a:r>
              <a:rPr lang="ru-RU" sz="2000" dirty="0" err="1" smtClean="0"/>
              <a:t>задовольняють</a:t>
            </a:r>
            <a:r>
              <a:rPr lang="ru-RU" sz="2000" dirty="0" smtClean="0"/>
              <a:t> </a:t>
            </a:r>
            <a:r>
              <a:rPr lang="ru-RU" sz="2000" dirty="0" err="1" smtClean="0"/>
              <a:t>цим</a:t>
            </a:r>
            <a:r>
              <a:rPr lang="ru-RU" sz="2000" dirty="0" smtClean="0"/>
              <a:t> </a:t>
            </a:r>
            <a:r>
              <a:rPr lang="ru-RU" sz="2000" dirty="0" err="1" smtClean="0"/>
              <a:t>умовам</a:t>
            </a:r>
            <a:r>
              <a:rPr lang="ru-RU" sz="2000" dirty="0" smtClean="0"/>
              <a:t>, </a:t>
            </a:r>
            <a:r>
              <a:rPr lang="ru-RU" sz="2000" dirty="0" err="1" smtClean="0"/>
              <a:t>відкидаються</a:t>
            </a:r>
            <a:r>
              <a:rPr lang="ru-RU" sz="2000" dirty="0" smtClean="0"/>
              <a:t> і не </a:t>
            </a:r>
            <a:r>
              <a:rPr lang="ru-RU" sz="2000" dirty="0" err="1" smtClean="0"/>
              <a:t>включаються</a:t>
            </a:r>
            <a:r>
              <a:rPr lang="ru-RU" sz="2000" dirty="0" smtClean="0"/>
              <a:t> до </a:t>
            </a:r>
            <a:r>
              <a:rPr lang="ru-RU" sz="2000" dirty="0" err="1" smtClean="0"/>
              <a:t>рішення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задачі</a:t>
            </a:r>
            <a:r>
              <a:rPr lang="ru-RU" sz="2000" dirty="0" smtClean="0"/>
              <a:t>. </a:t>
            </a:r>
          </a:p>
          <a:p>
            <a:r>
              <a:rPr lang="ru-RU" sz="2000" dirty="0" smtClean="0"/>
              <a:t>З </a:t>
            </a:r>
            <a:r>
              <a:rPr lang="ru-RU" sz="2000" dirty="0" err="1" smtClean="0"/>
              <a:t>цієї</a:t>
            </a:r>
            <a:r>
              <a:rPr lang="ru-RU" sz="2000" dirty="0" smtClean="0"/>
              <a:t> точки </a:t>
            </a:r>
            <a:r>
              <a:rPr lang="ru-RU" sz="2000" dirty="0" err="1" smtClean="0"/>
              <a:t>зору</a:t>
            </a:r>
            <a:r>
              <a:rPr lang="ru-RU" sz="2000" dirty="0" smtClean="0"/>
              <a:t> </a:t>
            </a:r>
            <a:r>
              <a:rPr lang="ru-RU" sz="2000" b="1" dirty="0" smtClean="0"/>
              <a:t>не </a:t>
            </a:r>
            <a:r>
              <a:rPr lang="ru-RU" sz="2000" b="1" dirty="0" err="1" smtClean="0"/>
              <a:t>можна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об’єднувати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різні</a:t>
            </a:r>
            <a:r>
              <a:rPr lang="ru-RU" sz="2000" b="1" dirty="0" smtClean="0"/>
              <a:t> правила</a:t>
            </a:r>
            <a:r>
              <a:rPr lang="ru-RU" sz="2000" dirty="0" smtClean="0"/>
              <a:t>, </a:t>
            </a:r>
            <a:r>
              <a:rPr lang="ru-RU" sz="2000" dirty="0" err="1" smtClean="0"/>
              <a:t>навіть</a:t>
            </a:r>
            <a:r>
              <a:rPr lang="ru-RU" sz="2000" dirty="0" smtClean="0"/>
              <a:t> </a:t>
            </a:r>
            <a:r>
              <a:rPr lang="ru-RU" sz="2000" dirty="0" err="1" smtClean="0"/>
              <a:t>ті</a:t>
            </a:r>
            <a:r>
              <a:rPr lang="ru-RU" sz="2000" dirty="0"/>
              <a:t>,</a:t>
            </a:r>
            <a:r>
              <a:rPr lang="ru-RU" sz="2000" dirty="0" smtClean="0"/>
              <a:t>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мають</a:t>
            </a:r>
            <a:r>
              <a:rPr lang="ru-RU" sz="2000" dirty="0" smtClean="0"/>
              <a:t> </a:t>
            </a:r>
            <a:r>
              <a:rPr lang="ru-RU" sz="2000" dirty="0" err="1" smtClean="0"/>
              <a:t>загальне</a:t>
            </a:r>
            <a:r>
              <a:rPr lang="ru-RU" sz="2000" dirty="0" smtClean="0"/>
              <a:t> </a:t>
            </a:r>
            <a:r>
              <a:rPr lang="ru-RU" sz="2000" dirty="0" err="1" smtClean="0"/>
              <a:t>смислове</a:t>
            </a:r>
            <a:r>
              <a:rPr lang="ru-RU" sz="2000" dirty="0" smtClean="0"/>
              <a:t> </a:t>
            </a:r>
            <a:r>
              <a:rPr lang="ru-RU" sz="2000" dirty="0" err="1" smtClean="0"/>
              <a:t>навантаження</a:t>
            </a:r>
            <a:r>
              <a:rPr lang="ru-RU" sz="2000" dirty="0" smtClean="0"/>
              <a:t>.</a:t>
            </a:r>
          </a:p>
          <a:p>
            <a:r>
              <a:rPr lang="ru-RU" sz="2000" dirty="0" err="1" smtClean="0"/>
              <a:t>Наприклад</a:t>
            </a:r>
            <a:r>
              <a:rPr lang="ru-RU" sz="2000" dirty="0" smtClean="0"/>
              <a:t>, </a:t>
            </a:r>
            <a:r>
              <a:rPr lang="ru-RU" sz="2000" dirty="0" err="1" smtClean="0"/>
              <a:t>наступні</a:t>
            </a:r>
            <a:r>
              <a:rPr lang="ru-RU" sz="2000" dirty="0" smtClean="0"/>
              <a:t> правила:</a:t>
            </a:r>
            <a:endParaRPr lang="ru-RU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42" y="4954732"/>
            <a:ext cx="2588760" cy="85224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2950902" y="5011520"/>
            <a:ext cx="3242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/>
              <a:t>не </a:t>
            </a:r>
            <a:r>
              <a:rPr lang="ru-RU" sz="2000" dirty="0" err="1" smtClean="0"/>
              <a:t>можна</a:t>
            </a:r>
            <a:r>
              <a:rPr lang="ru-RU" sz="2000" dirty="0" smtClean="0"/>
              <a:t> </a:t>
            </a:r>
            <a:r>
              <a:rPr lang="ru-RU" sz="2000" dirty="0" err="1" smtClean="0"/>
              <a:t>об’єднати</a:t>
            </a:r>
            <a:r>
              <a:rPr lang="ru-RU" sz="2000" dirty="0" smtClean="0"/>
              <a:t> в </a:t>
            </a:r>
            <a:r>
              <a:rPr lang="ru-RU" sz="2000" dirty="0" err="1" smtClean="0"/>
              <a:t>одне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269" y="5041539"/>
            <a:ext cx="2893321" cy="41976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2950902" y="5538271"/>
            <a:ext cx="90465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оскільки</a:t>
            </a:r>
            <a:r>
              <a:rPr lang="ru-RU" sz="2000" dirty="0" smtClean="0"/>
              <a:t> </a:t>
            </a:r>
            <a:r>
              <a:rPr lang="ru-RU" sz="2000" dirty="0" err="1" smtClean="0"/>
              <a:t>достовірності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їх</a:t>
            </a:r>
            <a:r>
              <a:rPr lang="ru-RU" sz="2000" dirty="0" smtClean="0"/>
              <a:t> </a:t>
            </a:r>
            <a:r>
              <a:rPr lang="ru-RU" sz="2000" dirty="0" err="1" smtClean="0"/>
              <a:t>будуть</a:t>
            </a:r>
            <a:r>
              <a:rPr lang="ru-RU" sz="2000" dirty="0" smtClean="0"/>
              <a:t> </a:t>
            </a:r>
            <a:r>
              <a:rPr lang="ru-RU" sz="2000" dirty="0" err="1" smtClean="0"/>
              <a:t>різні</a:t>
            </a:r>
            <a:r>
              <a:rPr lang="ru-RU" sz="2000" dirty="0" smtClean="0"/>
              <a:t>, </a:t>
            </a:r>
            <a:r>
              <a:rPr lang="ru-RU" sz="2000" dirty="0" err="1" smtClean="0"/>
              <a:t>отже</a:t>
            </a:r>
            <a:r>
              <a:rPr lang="ru-RU" sz="2000" dirty="0" smtClean="0"/>
              <a:t>, </a:t>
            </a:r>
            <a:r>
              <a:rPr lang="ru-RU" sz="2000" dirty="0" err="1" smtClean="0"/>
              <a:t>деякі</a:t>
            </a:r>
            <a:r>
              <a:rPr lang="ru-RU" sz="2000" dirty="0" smtClean="0"/>
              <a:t> з них </a:t>
            </a:r>
            <a:r>
              <a:rPr lang="ru-RU" sz="2000" dirty="0" err="1" smtClean="0"/>
              <a:t>можуть</a:t>
            </a:r>
            <a:r>
              <a:rPr lang="ru-RU" sz="2000" dirty="0" smtClean="0"/>
              <a:t> бути </a:t>
            </a:r>
            <a:r>
              <a:rPr lang="ru-RU" sz="2000" dirty="0" err="1" smtClean="0"/>
              <a:t>виключені</a:t>
            </a:r>
            <a:r>
              <a:rPr lang="ru-RU" sz="2000" dirty="0" smtClean="0"/>
              <a:t>, а </a:t>
            </a:r>
            <a:r>
              <a:rPr lang="ru-RU" sz="2000" dirty="0" err="1" smtClean="0"/>
              <a:t>деякі</a:t>
            </a:r>
            <a:r>
              <a:rPr lang="ru-RU" sz="2000" dirty="0" smtClean="0"/>
              <a:t> – </a:t>
            </a:r>
            <a:r>
              <a:rPr lang="ru-RU" sz="2000" dirty="0" err="1" smtClean="0"/>
              <a:t>ні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27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18050" y="1010115"/>
            <a:ext cx="1182094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об’єкти</a:t>
            </a:r>
            <a:r>
              <a:rPr lang="ru-RU" sz="2000" dirty="0" smtClean="0"/>
              <a:t> </a:t>
            </a:r>
            <a:r>
              <a:rPr lang="ru-RU" sz="2000" dirty="0" err="1" smtClean="0"/>
              <a:t>мають</a:t>
            </a:r>
            <a:r>
              <a:rPr lang="ru-RU" sz="2000" dirty="0" smtClean="0"/>
              <a:t> </a:t>
            </a:r>
            <a:r>
              <a:rPr lang="ru-RU" sz="2000" dirty="0" err="1" smtClean="0"/>
              <a:t>додаткові</a:t>
            </a:r>
            <a:r>
              <a:rPr lang="ru-RU" sz="2000" dirty="0" smtClean="0"/>
              <a:t> </a:t>
            </a:r>
            <a:r>
              <a:rPr lang="ru-RU" sz="2000" dirty="0" err="1" smtClean="0"/>
              <a:t>атрибути</a:t>
            </a:r>
            <a:r>
              <a:rPr lang="ru-RU" sz="2000" dirty="0" smtClean="0"/>
              <a:t>, </a:t>
            </a:r>
            <a:r>
              <a:rPr lang="ru-RU" sz="2000" dirty="0" err="1" smtClean="0"/>
              <a:t>які</a:t>
            </a:r>
            <a:r>
              <a:rPr lang="ru-RU" sz="2000" dirty="0" smtClean="0"/>
              <a:t> </a:t>
            </a:r>
            <a:r>
              <a:rPr lang="ru-RU" sz="2000" dirty="0" err="1" smtClean="0"/>
              <a:t>впливають</a:t>
            </a:r>
            <a:r>
              <a:rPr lang="ru-RU" sz="2000" dirty="0" smtClean="0"/>
              <a:t> на склад </a:t>
            </a:r>
            <a:r>
              <a:rPr lang="ru-RU" sz="2000" dirty="0" err="1" smtClean="0"/>
              <a:t>об’єктів</a:t>
            </a:r>
            <a:r>
              <a:rPr lang="ru-RU" sz="2000" dirty="0" smtClean="0"/>
              <a:t> в </a:t>
            </a:r>
            <a:r>
              <a:rPr lang="ru-RU" sz="2000" dirty="0" err="1" smtClean="0"/>
              <a:t>транзакціях</a:t>
            </a:r>
            <a:r>
              <a:rPr lang="ru-RU" sz="2000" dirty="0" smtClean="0"/>
              <a:t>, а </a:t>
            </a:r>
            <a:r>
              <a:rPr lang="ru-RU" sz="2000" dirty="0" err="1" smtClean="0"/>
              <a:t>отже</a:t>
            </a:r>
            <a:r>
              <a:rPr lang="ru-RU" sz="2000" dirty="0" smtClean="0"/>
              <a:t>, і в наборах, то вони </a:t>
            </a:r>
            <a:r>
              <a:rPr lang="ru-RU" sz="2000" dirty="0" err="1" smtClean="0"/>
              <a:t>повинні</a:t>
            </a:r>
            <a:r>
              <a:rPr lang="ru-RU" sz="2000" dirty="0" smtClean="0"/>
              <a:t> </a:t>
            </a:r>
            <a:r>
              <a:rPr lang="ru-RU" sz="2000" dirty="0" err="1" smtClean="0"/>
              <a:t>враховуватися</a:t>
            </a:r>
            <a:r>
              <a:rPr lang="ru-RU" sz="2000" dirty="0" smtClean="0"/>
              <a:t> в правилах,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генеруються</a:t>
            </a:r>
            <a:r>
              <a:rPr lang="ru-RU" sz="2000" dirty="0" smtClean="0"/>
              <a:t>. В </a:t>
            </a:r>
            <a:r>
              <a:rPr lang="ru-RU" sz="2000" dirty="0" err="1" smtClean="0"/>
              <a:t>цьому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випадку</a:t>
            </a:r>
            <a:r>
              <a:rPr lang="ru-RU" sz="2000" dirty="0" smtClean="0"/>
              <a:t> </a:t>
            </a:r>
            <a:r>
              <a:rPr lang="ru-RU" sz="2000" dirty="0" err="1" smtClean="0"/>
              <a:t>умовна</a:t>
            </a:r>
            <a:r>
              <a:rPr lang="ru-RU" sz="2000" dirty="0" smtClean="0"/>
              <a:t> </a:t>
            </a:r>
            <a:r>
              <a:rPr lang="ru-RU" sz="2000" dirty="0" err="1" smtClean="0"/>
              <a:t>частина</a:t>
            </a:r>
            <a:r>
              <a:rPr lang="ru-RU" sz="2000" dirty="0" smtClean="0"/>
              <a:t> правил </a:t>
            </a:r>
            <a:r>
              <a:rPr lang="ru-RU" sz="2000" dirty="0" err="1" smtClean="0"/>
              <a:t>міститиме</a:t>
            </a:r>
            <a:r>
              <a:rPr lang="ru-RU" sz="2000" dirty="0" smtClean="0"/>
              <a:t> не </a:t>
            </a:r>
            <a:r>
              <a:rPr lang="ru-RU" sz="2000" dirty="0" err="1" smtClean="0"/>
              <a:t>тільки</a:t>
            </a:r>
            <a:r>
              <a:rPr lang="ru-RU" sz="2000" dirty="0" smtClean="0"/>
              <a:t> </a:t>
            </a:r>
            <a:r>
              <a:rPr lang="ru-RU" sz="2000" dirty="0" err="1" smtClean="0"/>
              <a:t>перевірку</a:t>
            </a:r>
            <a:r>
              <a:rPr lang="ru-RU" sz="2000" dirty="0" smtClean="0"/>
              <a:t> </a:t>
            </a:r>
            <a:r>
              <a:rPr lang="ru-RU" sz="2000" dirty="0" err="1" smtClean="0"/>
              <a:t>наявності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об’єкту</a:t>
            </a:r>
            <a:r>
              <a:rPr lang="ru-RU" sz="2000" dirty="0" smtClean="0"/>
              <a:t> в </a:t>
            </a:r>
            <a:r>
              <a:rPr lang="ru-RU" sz="2000" dirty="0" err="1" smtClean="0"/>
              <a:t>транзакції</a:t>
            </a:r>
            <a:r>
              <a:rPr lang="ru-RU" sz="2000" dirty="0" smtClean="0"/>
              <a:t>, але і </a:t>
            </a:r>
            <a:r>
              <a:rPr lang="ru-RU" sz="2000" dirty="0" err="1" smtClean="0"/>
              <a:t>складніші</a:t>
            </a:r>
            <a:r>
              <a:rPr lang="ru-RU" sz="2000" dirty="0" smtClean="0"/>
              <a:t> </a:t>
            </a:r>
            <a:r>
              <a:rPr lang="ru-RU" sz="2000" dirty="0" err="1" smtClean="0"/>
              <a:t>операції</a:t>
            </a:r>
            <a:r>
              <a:rPr lang="ru-RU" sz="2000" dirty="0" smtClean="0"/>
              <a:t> </a:t>
            </a:r>
            <a:r>
              <a:rPr lang="ru-RU" sz="2000" dirty="0" err="1" smtClean="0"/>
              <a:t>порівняння</a:t>
            </a:r>
            <a:r>
              <a:rPr lang="ru-RU" sz="2000" dirty="0" smtClean="0"/>
              <a:t>: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ru-RU" sz="2000" dirty="0" err="1" smtClean="0"/>
              <a:t>більше</a:t>
            </a:r>
            <a:r>
              <a:rPr lang="ru-RU" sz="2000" dirty="0" smtClean="0"/>
              <a:t>, </a:t>
            </a:r>
            <a:r>
              <a:rPr lang="ru-RU" sz="2000" dirty="0" err="1" smtClean="0"/>
              <a:t>менше</a:t>
            </a:r>
            <a:r>
              <a:rPr lang="ru-RU" sz="2000" dirty="0" smtClean="0"/>
              <a:t>, </a:t>
            </a:r>
            <a:r>
              <a:rPr lang="ru-RU" sz="2000" dirty="0" err="1" smtClean="0"/>
              <a:t>включення</a:t>
            </a:r>
            <a:r>
              <a:rPr lang="ru-RU" sz="2000" dirty="0" smtClean="0"/>
              <a:t>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000" dirty="0" err="1" smtClean="0"/>
              <a:t>Результуюча</a:t>
            </a:r>
            <a:r>
              <a:rPr lang="ru-RU" sz="2000" dirty="0" smtClean="0"/>
              <a:t> </a:t>
            </a:r>
            <a:r>
              <a:rPr lang="ru-RU" sz="2000" dirty="0" err="1" smtClean="0"/>
              <a:t>частина</a:t>
            </a:r>
            <a:r>
              <a:rPr lang="ru-RU" sz="2000" dirty="0" smtClean="0"/>
              <a:t> правил </a:t>
            </a:r>
            <a:r>
              <a:rPr lang="ru-RU" sz="2000" dirty="0" err="1" smtClean="0"/>
              <a:t>також</a:t>
            </a:r>
            <a:r>
              <a:rPr lang="ru-RU" sz="2000" dirty="0" smtClean="0"/>
              <a:t> </a:t>
            </a:r>
            <a:r>
              <a:rPr lang="ru-RU" sz="2000" dirty="0" err="1" smtClean="0"/>
              <a:t>може</a:t>
            </a:r>
            <a:r>
              <a:rPr lang="ru-RU" sz="2000" dirty="0" smtClean="0"/>
              <a:t> </a:t>
            </a:r>
            <a:r>
              <a:rPr lang="ru-RU" sz="2000" dirty="0" err="1" smtClean="0"/>
              <a:t>містити</a:t>
            </a:r>
            <a:r>
              <a:rPr lang="ru-RU" sz="2000" dirty="0" smtClean="0"/>
              <a:t> </a:t>
            </a:r>
            <a:r>
              <a:rPr lang="ru-RU" sz="2000" dirty="0" err="1" smtClean="0"/>
              <a:t>твердження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щодо</a:t>
            </a:r>
            <a:r>
              <a:rPr lang="ru-RU" sz="2000" dirty="0" smtClean="0"/>
              <a:t> </a:t>
            </a:r>
            <a:r>
              <a:rPr lang="ru-RU" sz="2000" dirty="0" err="1" smtClean="0"/>
              <a:t>значень</a:t>
            </a:r>
            <a:r>
              <a:rPr lang="ru-RU" sz="2000" dirty="0" smtClean="0"/>
              <a:t> </a:t>
            </a:r>
            <a:r>
              <a:rPr lang="ru-RU" sz="2000" dirty="0" err="1" smtClean="0"/>
              <a:t>атрибутів</a:t>
            </a:r>
            <a:r>
              <a:rPr lang="ru-RU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000" dirty="0" smtClean="0"/>
              <a:t> </a:t>
            </a:r>
            <a:r>
              <a:rPr lang="ru-RU" sz="2000" dirty="0" err="1" smtClean="0"/>
              <a:t>Наприклад</a:t>
            </a:r>
            <a:r>
              <a:rPr lang="ru-RU" sz="2000" dirty="0" smtClean="0"/>
              <a:t>,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у </a:t>
            </a:r>
            <a:r>
              <a:rPr lang="ru-RU" sz="2000" dirty="0" err="1" smtClean="0"/>
              <a:t>товарів</a:t>
            </a:r>
            <a:r>
              <a:rPr lang="ru-RU" sz="2000" dirty="0" smtClean="0"/>
              <a:t> </a:t>
            </a:r>
            <a:r>
              <a:rPr lang="ru-RU" sz="2000" dirty="0" err="1" smtClean="0"/>
              <a:t>розглядається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ціна</a:t>
            </a:r>
            <a:r>
              <a:rPr lang="ru-RU" sz="2000" dirty="0" smtClean="0"/>
              <a:t>, то правила </a:t>
            </a:r>
            <a:r>
              <a:rPr lang="ru-RU" sz="2000" dirty="0" err="1" smtClean="0"/>
              <a:t>можуть</a:t>
            </a:r>
            <a:r>
              <a:rPr lang="ru-RU" sz="2000" dirty="0" smtClean="0"/>
              <a:t> </a:t>
            </a:r>
            <a:r>
              <a:rPr lang="ru-RU" sz="2000" dirty="0" err="1" smtClean="0"/>
              <a:t>мати</a:t>
            </a:r>
            <a:r>
              <a:rPr lang="ru-RU" sz="2000" dirty="0" smtClean="0"/>
              <a:t> </a:t>
            </a:r>
            <a:r>
              <a:rPr lang="ru-RU" sz="2000" dirty="0" err="1" smtClean="0"/>
              <a:t>наступний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вигляд</a:t>
            </a:r>
            <a:r>
              <a:rPr lang="ru-RU" sz="2000" dirty="0" smtClean="0"/>
              <a:t>: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18" y="3430386"/>
            <a:ext cx="5431321" cy="29256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9272" y="3854800"/>
            <a:ext cx="11794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Дане правило говорить про те,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попит є на товар_1 за </a:t>
            </a:r>
            <a:r>
              <a:rPr lang="ru-RU" sz="2000" dirty="0" err="1" smtClean="0"/>
              <a:t>ціною</a:t>
            </a:r>
            <a:r>
              <a:rPr lang="ru-RU" sz="2000" dirty="0" smtClean="0"/>
              <a:t> </a:t>
            </a:r>
            <a:r>
              <a:rPr lang="ru-RU" sz="2000" dirty="0" err="1" smtClean="0"/>
              <a:t>менше</a:t>
            </a:r>
            <a:r>
              <a:rPr lang="ru-RU" sz="2000" dirty="0" smtClean="0"/>
              <a:t> 3, то, </a:t>
            </a:r>
            <a:r>
              <a:rPr lang="ru-RU" sz="2000" dirty="0" err="1" smtClean="0"/>
              <a:t>ймовірно</a:t>
            </a:r>
            <a:r>
              <a:rPr lang="ru-RU" sz="2000" dirty="0" smtClean="0"/>
              <a:t>, буде</a:t>
            </a:r>
          </a:p>
          <a:p>
            <a:r>
              <a:rPr lang="ru-RU" sz="2000" dirty="0" smtClean="0"/>
              <a:t>попит на товар_2 за </a:t>
            </a:r>
            <a:r>
              <a:rPr lang="ru-RU" sz="2000" dirty="0" err="1" smtClean="0"/>
              <a:t>ціною</a:t>
            </a:r>
            <a:r>
              <a:rPr lang="ru-RU" sz="2000" dirty="0" smtClean="0"/>
              <a:t> </a:t>
            </a:r>
            <a:r>
              <a:rPr lang="ru-RU" sz="2000" dirty="0" err="1" smtClean="0"/>
              <a:t>менше</a:t>
            </a:r>
            <a:r>
              <a:rPr lang="ru-RU" sz="2000" dirty="0" smtClean="0"/>
              <a:t> 6.</a:t>
            </a:r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9271" y="4700370"/>
            <a:ext cx="119667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008000"/>
                </a:solidFill>
              </a:rPr>
              <a:t>Приклад</a:t>
            </a:r>
            <a:r>
              <a:rPr lang="ru-RU" sz="2000" dirty="0" smtClean="0">
                <a:solidFill>
                  <a:srgbClr val="008000"/>
                </a:solidFill>
              </a:rPr>
              <a:t>: нехай 75% </a:t>
            </a:r>
            <a:r>
              <a:rPr lang="ru-RU" sz="2000" dirty="0" err="1" smtClean="0">
                <a:solidFill>
                  <a:srgbClr val="008000"/>
                </a:solidFill>
              </a:rPr>
              <a:t>транзакцій</a:t>
            </a:r>
            <a:r>
              <a:rPr lang="ru-RU" sz="2000" dirty="0" smtClean="0">
                <a:solidFill>
                  <a:srgbClr val="008000"/>
                </a:solidFill>
              </a:rPr>
              <a:t>, </a:t>
            </a:r>
            <a:r>
              <a:rPr lang="ru-RU" sz="2000" dirty="0" err="1" smtClean="0">
                <a:solidFill>
                  <a:srgbClr val="008000"/>
                </a:solidFill>
              </a:rPr>
              <a:t>що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містять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хліб</a:t>
            </a:r>
            <a:r>
              <a:rPr lang="ru-RU" sz="2000" dirty="0" smtClean="0">
                <a:solidFill>
                  <a:srgbClr val="008000"/>
                </a:solidFill>
              </a:rPr>
              <a:t>, </a:t>
            </a:r>
            <a:r>
              <a:rPr lang="ru-RU" sz="2000" dirty="0" err="1" smtClean="0">
                <a:solidFill>
                  <a:srgbClr val="008000"/>
                </a:solidFill>
              </a:rPr>
              <a:t>також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містять</a:t>
            </a:r>
            <a:r>
              <a:rPr lang="ru-RU" sz="2000" dirty="0" smtClean="0">
                <a:solidFill>
                  <a:srgbClr val="008000"/>
                </a:solidFill>
              </a:rPr>
              <a:t> молоко. 3% </a:t>
            </a:r>
            <a:r>
              <a:rPr lang="ru-RU" sz="2000" dirty="0" err="1" smtClean="0">
                <a:solidFill>
                  <a:srgbClr val="008000"/>
                </a:solidFill>
              </a:rPr>
              <a:t>від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загальної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кількості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всіх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транзакцій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містять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обидва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товари</a:t>
            </a:r>
            <a:r>
              <a:rPr lang="ru-RU" sz="2000" dirty="0" smtClean="0">
                <a:solidFill>
                  <a:srgbClr val="008000"/>
                </a:solidFill>
              </a:rPr>
              <a:t>. </a:t>
            </a:r>
            <a:r>
              <a:rPr lang="ru-RU" sz="2000" dirty="0" err="1" smtClean="0">
                <a:solidFill>
                  <a:srgbClr val="008000"/>
                </a:solidFill>
              </a:rPr>
              <a:t>Тоді</a:t>
            </a:r>
            <a:r>
              <a:rPr lang="ru-RU" sz="2000" dirty="0" smtClean="0">
                <a:solidFill>
                  <a:srgbClr val="008000"/>
                </a:solidFill>
              </a:rPr>
              <a:t>  </a:t>
            </a:r>
            <a:r>
              <a:rPr lang="ru-RU" sz="2000" dirty="0" err="1" smtClean="0">
                <a:solidFill>
                  <a:srgbClr val="008000"/>
                </a:solidFill>
              </a:rPr>
              <a:t>достовірність</a:t>
            </a:r>
            <a:r>
              <a:rPr lang="ru-RU" sz="2000" dirty="0" smtClean="0">
                <a:solidFill>
                  <a:srgbClr val="008000"/>
                </a:solidFill>
              </a:rPr>
              <a:t> правила складе </a:t>
            </a:r>
            <a:r>
              <a:rPr lang="en-GB" sz="2000" dirty="0" err="1" smtClean="0">
                <a:solidFill>
                  <a:srgbClr val="008000"/>
                </a:solidFill>
              </a:rPr>
              <a:t>Conf</a:t>
            </a:r>
            <a:r>
              <a:rPr lang="en-GB" sz="2000" dirty="0" smtClean="0">
                <a:solidFill>
                  <a:srgbClr val="008000"/>
                </a:solidFill>
              </a:rPr>
              <a:t>=0,75, </a:t>
            </a:r>
            <a:r>
              <a:rPr lang="ru-RU" sz="2000" dirty="0" smtClean="0">
                <a:solidFill>
                  <a:srgbClr val="008000"/>
                </a:solidFill>
              </a:rPr>
              <a:t>а </a:t>
            </a:r>
            <a:r>
              <a:rPr lang="ru-RU" sz="2000" dirty="0" err="1" smtClean="0">
                <a:solidFill>
                  <a:srgbClr val="008000"/>
                </a:solidFill>
              </a:rPr>
              <a:t>його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підтримка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en-GB" sz="2000" dirty="0" smtClean="0">
                <a:solidFill>
                  <a:srgbClr val="008000"/>
                </a:solidFill>
              </a:rPr>
              <a:t>S</a:t>
            </a:r>
            <a:r>
              <a:rPr lang="en-US" sz="2000" dirty="0" smtClean="0">
                <a:solidFill>
                  <a:srgbClr val="008000"/>
                </a:solidFill>
              </a:rPr>
              <a:t>up</a:t>
            </a:r>
            <a:r>
              <a:rPr lang="uk-UA" sz="2000" dirty="0" smtClean="0">
                <a:solidFill>
                  <a:srgbClr val="008000"/>
                </a:solidFill>
              </a:rPr>
              <a:t> </a:t>
            </a:r>
            <a:r>
              <a:rPr lang="en-GB" sz="2000" dirty="0" smtClean="0">
                <a:solidFill>
                  <a:srgbClr val="008000"/>
                </a:solidFill>
              </a:rPr>
              <a:t>=</a:t>
            </a:r>
            <a:r>
              <a:rPr lang="uk-UA" sz="2000" dirty="0" smtClean="0">
                <a:solidFill>
                  <a:srgbClr val="008000"/>
                </a:solidFill>
              </a:rPr>
              <a:t> </a:t>
            </a:r>
            <a:r>
              <a:rPr lang="en-GB" sz="2000" dirty="0" smtClean="0">
                <a:solidFill>
                  <a:srgbClr val="008000"/>
                </a:solidFill>
              </a:rPr>
              <a:t>0,03. </a:t>
            </a:r>
            <a:r>
              <a:rPr lang="ru-RU" sz="2000" dirty="0" err="1" smtClean="0">
                <a:solidFill>
                  <a:srgbClr val="008000"/>
                </a:solidFill>
              </a:rPr>
              <a:t>Тобто</a:t>
            </a:r>
            <a:r>
              <a:rPr lang="ru-RU" sz="2000" dirty="0" smtClean="0">
                <a:solidFill>
                  <a:srgbClr val="008000"/>
                </a:solidFill>
              </a:rPr>
              <a:t>, 3%  </a:t>
            </a:r>
            <a:r>
              <a:rPr lang="ru-RU" sz="2000" dirty="0" err="1" smtClean="0">
                <a:solidFill>
                  <a:srgbClr val="008000"/>
                </a:solidFill>
              </a:rPr>
              <a:t>покупців</a:t>
            </a:r>
            <a:r>
              <a:rPr lang="ru-RU" sz="2000" dirty="0" smtClean="0">
                <a:solidFill>
                  <a:srgbClr val="008000"/>
                </a:solidFill>
              </a:rPr>
              <a:t> купили </a:t>
            </a:r>
            <a:r>
              <a:rPr lang="ru-RU" sz="2000" dirty="0" err="1" smtClean="0">
                <a:solidFill>
                  <a:srgbClr val="008000"/>
                </a:solidFill>
              </a:rPr>
              <a:t>хліб</a:t>
            </a:r>
            <a:r>
              <a:rPr lang="ru-RU" sz="2000" dirty="0" smtClean="0">
                <a:solidFill>
                  <a:srgbClr val="008000"/>
                </a:solidFill>
              </a:rPr>
              <a:t> і молоко, а 75% з тих</a:t>
            </a:r>
            <a:r>
              <a:rPr lang="en-US" sz="2000" dirty="0">
                <a:solidFill>
                  <a:srgbClr val="008000"/>
                </a:solidFill>
              </a:rPr>
              <a:t>,</a:t>
            </a:r>
            <a:r>
              <a:rPr lang="ru-RU" sz="2000" dirty="0" smtClean="0">
                <a:solidFill>
                  <a:srgbClr val="008000"/>
                </a:solidFill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</a:rPr>
              <a:t>хто</a:t>
            </a:r>
            <a:r>
              <a:rPr lang="ru-RU" sz="2000" dirty="0" smtClean="0">
                <a:solidFill>
                  <a:srgbClr val="008000"/>
                </a:solidFill>
              </a:rPr>
              <a:t> купив </a:t>
            </a:r>
            <a:r>
              <a:rPr lang="ru-RU" sz="2000" dirty="0" err="1" smtClean="0">
                <a:solidFill>
                  <a:srgbClr val="008000"/>
                </a:solidFill>
              </a:rPr>
              <a:t>хліб</a:t>
            </a:r>
            <a:r>
              <a:rPr lang="ru-RU" sz="2000" dirty="0" smtClean="0">
                <a:solidFill>
                  <a:srgbClr val="008000"/>
                </a:solidFill>
              </a:rPr>
              <a:t>, купив і молоко</a:t>
            </a:r>
            <a:endParaRPr lang="ru-RU" sz="2000" dirty="0">
              <a:solidFill>
                <a:srgbClr val="00800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12192000" cy="836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       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Приклад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асоціативних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правил (АП)           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25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836613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Задача виявлення 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АП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          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5774" y="1234178"/>
            <a:ext cx="11900452" cy="376189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2000" b="1" dirty="0" smtClean="0"/>
              <a:t>Задача </a:t>
            </a:r>
            <a:r>
              <a:rPr lang="uk-UA" altLang="ru-RU" sz="2000" b="1" dirty="0"/>
              <a:t>виявлення АП розбивається на дві </a:t>
            </a:r>
            <a:r>
              <a:rPr lang="uk-UA" altLang="ru-RU" sz="2000" b="1" dirty="0" err="1"/>
              <a:t>підзадачі</a:t>
            </a:r>
            <a:r>
              <a:rPr lang="uk-UA" altLang="ru-RU" sz="2000" b="1" dirty="0" smtClean="0"/>
              <a:t>:</a:t>
            </a:r>
            <a:endParaRPr lang="en-US" altLang="ru-RU" sz="2000" b="1" dirty="0" smtClean="0"/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uk-UA" altLang="ru-RU" sz="2000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2000" dirty="0">
                <a:solidFill>
                  <a:srgbClr val="0000CC"/>
                </a:solidFill>
              </a:rPr>
              <a:t>1. Виявлення всіх наборів елементів, які задовольняють порогу </a:t>
            </a:r>
            <a:r>
              <a:rPr lang="uk-UA" altLang="ru-RU" sz="2000" dirty="0" err="1">
                <a:solidFill>
                  <a:srgbClr val="0000CC"/>
                </a:solidFill>
              </a:rPr>
              <a:t>minsupport</a:t>
            </a:r>
            <a:r>
              <a:rPr lang="uk-UA" altLang="ru-RU" sz="2000" dirty="0">
                <a:solidFill>
                  <a:srgbClr val="0000CC"/>
                </a:solidFill>
              </a:rPr>
              <a:t> </a:t>
            </a:r>
            <a:r>
              <a:rPr lang="en-US" altLang="ru-RU" sz="2000" dirty="0" smtClean="0">
                <a:solidFill>
                  <a:srgbClr val="0000CC"/>
                </a:solidFill>
              </a:rPr>
              <a:t> (</a:t>
            </a:r>
            <a:r>
              <a:rPr lang="en-US" altLang="ru-RU" sz="2000" dirty="0">
                <a:solidFill>
                  <a:srgbClr val="0000CC"/>
                </a:solidFill>
              </a:rPr>
              <a:t>MS)</a:t>
            </a:r>
            <a:r>
              <a:rPr lang="uk-UA" altLang="ru-RU" sz="2000" dirty="0">
                <a:solidFill>
                  <a:srgbClr val="0000CC"/>
                </a:solidFill>
              </a:rPr>
              <a:t>,</a:t>
            </a:r>
            <a:r>
              <a:rPr lang="en-US" altLang="ru-RU" sz="2000" dirty="0">
                <a:solidFill>
                  <a:srgbClr val="0000CC"/>
                </a:solidFill>
              </a:rPr>
              <a:t> </a:t>
            </a:r>
            <a:r>
              <a:rPr lang="uk-UA" altLang="ru-RU" sz="2000" dirty="0">
                <a:solidFill>
                  <a:srgbClr val="0000CC"/>
                </a:solidFill>
              </a:rPr>
              <a:t>і називаються такими, що часто зустрічаються (</a:t>
            </a:r>
            <a:r>
              <a:rPr lang="en-US" altLang="ru-RU" sz="2000" dirty="0">
                <a:solidFill>
                  <a:srgbClr val="0000CC"/>
                </a:solidFill>
              </a:rPr>
              <a:t>large </a:t>
            </a:r>
            <a:r>
              <a:rPr lang="en-US" altLang="ru-RU" sz="2000" dirty="0" err="1">
                <a:solidFill>
                  <a:srgbClr val="0000CC"/>
                </a:solidFill>
              </a:rPr>
              <a:t>itemset</a:t>
            </a:r>
            <a:r>
              <a:rPr lang="uk-UA" altLang="ru-RU" sz="2000" dirty="0">
                <a:solidFill>
                  <a:srgbClr val="0000CC"/>
                </a:solidFill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2000" dirty="0">
                <a:solidFill>
                  <a:srgbClr val="0000CC"/>
                </a:solidFill>
              </a:rPr>
              <a:t>2 . Генерація правил з наборів елементів, знайдених згідно п.1. </a:t>
            </a:r>
            <a:r>
              <a:rPr lang="uk-UA" altLang="ru-RU" sz="2000" dirty="0" smtClean="0">
                <a:solidFill>
                  <a:srgbClr val="0000CC"/>
                </a:solidFill>
              </a:rPr>
              <a:t>з</a:t>
            </a:r>
            <a:r>
              <a:rPr lang="en-US" altLang="ru-RU" sz="2000" dirty="0" smtClean="0">
                <a:solidFill>
                  <a:srgbClr val="0000CC"/>
                </a:solidFill>
              </a:rPr>
              <a:t> </a:t>
            </a:r>
            <a:r>
              <a:rPr lang="uk-UA" altLang="ru-RU" sz="2000" dirty="0" smtClean="0">
                <a:solidFill>
                  <a:srgbClr val="0000CC"/>
                </a:solidFill>
              </a:rPr>
              <a:t>достовірністю</a:t>
            </a:r>
            <a:r>
              <a:rPr lang="uk-UA" altLang="ru-RU" sz="2000" dirty="0">
                <a:solidFill>
                  <a:srgbClr val="0000CC"/>
                </a:solidFill>
              </a:rPr>
              <a:t>, що задовольняє порогу </a:t>
            </a:r>
            <a:r>
              <a:rPr lang="uk-UA" altLang="ru-RU" sz="2000" dirty="0" err="1">
                <a:solidFill>
                  <a:srgbClr val="0000CC"/>
                </a:solidFill>
              </a:rPr>
              <a:t>minconfidence</a:t>
            </a:r>
            <a:r>
              <a:rPr lang="uk-UA" altLang="ru-RU" sz="2000" dirty="0">
                <a:solidFill>
                  <a:srgbClr val="0000CC"/>
                </a:solidFill>
              </a:rPr>
              <a:t> </a:t>
            </a:r>
            <a:r>
              <a:rPr lang="en-US" altLang="ru-RU" sz="2000" dirty="0">
                <a:solidFill>
                  <a:srgbClr val="0000CC"/>
                </a:solidFill>
              </a:rPr>
              <a:t>(</a:t>
            </a:r>
            <a:r>
              <a:rPr lang="uk-UA" altLang="ru-RU" sz="2000" dirty="0">
                <a:solidFill>
                  <a:srgbClr val="0000CC"/>
                </a:solidFill>
              </a:rPr>
              <a:t>М</a:t>
            </a:r>
            <a:r>
              <a:rPr lang="en-US" altLang="ru-RU" sz="2000" dirty="0">
                <a:solidFill>
                  <a:srgbClr val="0000CC"/>
                </a:solidFill>
              </a:rPr>
              <a:t>C)</a:t>
            </a:r>
            <a:r>
              <a:rPr lang="uk-UA" altLang="ru-RU" sz="2000" dirty="0">
                <a:solidFill>
                  <a:srgbClr val="0000CC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uk-UA" altLang="ru-RU" sz="20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2000" dirty="0"/>
              <a:t>Порогові значення мають обмежити кількість знайдених правил. За </a:t>
            </a:r>
            <a:r>
              <a:rPr lang="uk-UA" altLang="ru-RU" sz="2000" dirty="0" smtClean="0"/>
              <a:t>великої</a:t>
            </a:r>
            <a:r>
              <a:rPr lang="en-US" altLang="ru-RU" sz="2000" dirty="0" smtClean="0"/>
              <a:t> </a:t>
            </a:r>
            <a:r>
              <a:rPr lang="uk-UA" altLang="ru-RU" sz="2000" dirty="0" smtClean="0"/>
              <a:t>підтримки </a:t>
            </a:r>
            <a:r>
              <a:rPr lang="uk-UA" altLang="ru-RU" sz="2000" dirty="0"/>
              <a:t>алгоритми знаходять очевидні правила. За низької – генерують </a:t>
            </a:r>
            <a:r>
              <a:rPr lang="uk-UA" altLang="ru-RU" sz="2000" dirty="0" smtClean="0"/>
              <a:t>надто </a:t>
            </a:r>
            <a:r>
              <a:rPr lang="uk-UA" altLang="ru-RU" sz="2000" dirty="0"/>
              <a:t>багато правил. Але більшість цікавих правил знаходиться саме при </a:t>
            </a:r>
            <a:r>
              <a:rPr lang="uk-UA" altLang="ru-RU" sz="2000" dirty="0" smtClean="0"/>
              <a:t>низькому </a:t>
            </a:r>
            <a:r>
              <a:rPr lang="uk-UA" altLang="ru-RU" sz="2000" dirty="0"/>
              <a:t>значенні порогу підтримки. Хоча надто низьке значення підтримки </a:t>
            </a:r>
            <a:r>
              <a:rPr lang="uk-UA" altLang="ru-RU" sz="2000" dirty="0" smtClean="0"/>
              <a:t>веде </a:t>
            </a:r>
            <a:r>
              <a:rPr lang="uk-UA" altLang="ru-RU" sz="2000" dirty="0"/>
              <a:t>до генерації статистично </a:t>
            </a:r>
            <a:r>
              <a:rPr lang="uk-UA" altLang="ru-RU" sz="2000" dirty="0" err="1"/>
              <a:t>необгрунтованих</a:t>
            </a:r>
            <a:r>
              <a:rPr lang="uk-UA" altLang="ru-RU" sz="2000" dirty="0"/>
              <a:t> правил.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2000" dirty="0"/>
              <a:t>Пошук АП є не тривіальною задачею, оскільки зі зростанням </a:t>
            </a:r>
            <a:r>
              <a:rPr lang="uk-UA" altLang="ru-RU" sz="2000" dirty="0" smtClean="0"/>
              <a:t>потужності</a:t>
            </a:r>
            <a:r>
              <a:rPr lang="en-US" altLang="ru-RU" sz="2000" dirty="0" smtClean="0"/>
              <a:t> </a:t>
            </a:r>
            <a:r>
              <a:rPr lang="uk-UA" altLang="ru-RU" sz="2000" dirty="0" smtClean="0"/>
              <a:t>множини </a:t>
            </a:r>
            <a:r>
              <a:rPr lang="uk-UA" altLang="ru-RU" sz="2000" b="1" dirty="0">
                <a:solidFill>
                  <a:srgbClr val="0000CC"/>
                </a:solidFill>
              </a:rPr>
              <a:t>I </a:t>
            </a:r>
            <a:r>
              <a:rPr lang="uk-UA" altLang="ru-RU" sz="2000" dirty="0" err="1"/>
              <a:t>експоненціально</a:t>
            </a:r>
            <a:r>
              <a:rPr lang="uk-UA" altLang="ru-RU" sz="2000" dirty="0"/>
              <a:t> зростає кількість потенційних наборів елементів 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53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"/>
            <a:ext cx="12192000" cy="620712"/>
          </a:xfrm>
          <a:prstGeom prst="rect">
            <a:avLst/>
          </a:prstGeom>
        </p:spPr>
        <p:txBody>
          <a:bodyPr/>
          <a:lstStyle/>
          <a:p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                   Значущість асоціативних 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правил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2758" y="1181171"/>
            <a:ext cx="11846477" cy="29005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uk-UA" altLang="ru-RU" sz="2000" b="1" i="1" dirty="0" err="1">
                <a:solidFill>
                  <a:srgbClr val="FF0000"/>
                </a:solidFill>
              </a:rPr>
              <a:t>Левередж</a:t>
            </a:r>
            <a:r>
              <a:rPr lang="uk-UA" altLang="ru-RU" sz="2000" b="1" i="1" dirty="0">
                <a:solidFill>
                  <a:srgbClr val="FF0000"/>
                </a:solidFill>
              </a:rPr>
              <a:t> </a:t>
            </a:r>
            <a:r>
              <a:rPr lang="uk-UA" altLang="ru-RU" sz="2000" dirty="0">
                <a:solidFill>
                  <a:srgbClr val="FF0000"/>
                </a:solidFill>
              </a:rPr>
              <a:t>(значущість) </a:t>
            </a:r>
            <a:r>
              <a:rPr lang="uk-UA" altLang="ru-RU" sz="2000" dirty="0"/>
              <a:t>– різниця між підтримкою правила в цілому і добутком </a:t>
            </a:r>
            <a:r>
              <a:rPr lang="uk-UA" altLang="ru-RU" sz="2000" dirty="0" smtClean="0"/>
              <a:t>підтримки </a:t>
            </a:r>
            <a:r>
              <a:rPr lang="uk-UA" altLang="ru-RU" sz="2000" dirty="0"/>
              <a:t>окремо умови і наслідку: </a:t>
            </a:r>
            <a:r>
              <a:rPr lang="uk-UA" altLang="ru-RU" sz="2000" dirty="0" smtClean="0"/>
              <a:t>   </a:t>
            </a:r>
            <a:r>
              <a:rPr lang="uk-UA" altLang="ru-RU" sz="2000" b="1" dirty="0" smtClean="0">
                <a:solidFill>
                  <a:srgbClr val="0000CC"/>
                </a:solidFill>
              </a:rPr>
              <a:t>Т</a:t>
            </a:r>
            <a:r>
              <a:rPr lang="en-US" altLang="ru-RU" sz="2000" b="1" dirty="0">
                <a:solidFill>
                  <a:srgbClr val="0000CC"/>
                </a:solidFill>
              </a:rPr>
              <a:t>(</a:t>
            </a:r>
            <a:r>
              <a:rPr lang="uk-UA" altLang="ru-RU" sz="2000" b="1" dirty="0">
                <a:solidFill>
                  <a:srgbClr val="0000CC"/>
                </a:solidFill>
              </a:rPr>
              <a:t>X </a:t>
            </a:r>
            <a:r>
              <a:rPr lang="uk-UA" altLang="ru-RU" sz="2000" b="1" dirty="0">
                <a:solidFill>
                  <a:srgbClr val="0000CC"/>
                </a:solidFill>
                <a:sym typeface="Symbol" panose="05050102010706020507" pitchFamily="18" charset="2"/>
              </a:rPr>
              <a:t></a:t>
            </a:r>
            <a:r>
              <a:rPr lang="uk-UA" altLang="ru-RU" sz="2000" b="1" dirty="0">
                <a:solidFill>
                  <a:srgbClr val="0000CC"/>
                </a:solidFill>
              </a:rPr>
              <a:t>Y</a:t>
            </a:r>
            <a:r>
              <a:rPr lang="en-US" altLang="ru-RU" sz="2000" b="1" dirty="0">
                <a:solidFill>
                  <a:srgbClr val="0000CC"/>
                </a:solidFill>
              </a:rPr>
              <a:t>)=S(</a:t>
            </a:r>
            <a:r>
              <a:rPr lang="uk-UA" altLang="ru-RU" sz="2000" b="1" dirty="0">
                <a:solidFill>
                  <a:srgbClr val="0000CC"/>
                </a:solidFill>
              </a:rPr>
              <a:t>X</a:t>
            </a:r>
            <a:r>
              <a:rPr lang="uk-UA" altLang="ru-RU" sz="2000" b="1" dirty="0">
                <a:solidFill>
                  <a:srgbClr val="0000CC"/>
                </a:solidFill>
                <a:sym typeface="Symbol" panose="05050102010706020507" pitchFamily="18" charset="2"/>
              </a:rPr>
              <a:t></a:t>
            </a:r>
            <a:r>
              <a:rPr lang="uk-UA" altLang="ru-RU" sz="2000" b="1" dirty="0">
                <a:solidFill>
                  <a:srgbClr val="0000CC"/>
                </a:solidFill>
              </a:rPr>
              <a:t>Y</a:t>
            </a:r>
            <a:r>
              <a:rPr lang="en-US" altLang="ru-RU" sz="2000" b="1" dirty="0">
                <a:solidFill>
                  <a:srgbClr val="0000CC"/>
                </a:solidFill>
              </a:rPr>
              <a:t>)</a:t>
            </a:r>
            <a:r>
              <a:rPr lang="uk-UA" altLang="ru-RU" sz="2000" b="1" dirty="0">
                <a:solidFill>
                  <a:srgbClr val="0000CC"/>
                </a:solidFill>
              </a:rPr>
              <a:t>- </a:t>
            </a:r>
            <a:r>
              <a:rPr lang="en-US" altLang="ru-RU" sz="2000" b="1" dirty="0">
                <a:solidFill>
                  <a:srgbClr val="0000CC"/>
                </a:solidFill>
              </a:rPr>
              <a:t>S(</a:t>
            </a:r>
            <a:r>
              <a:rPr lang="uk-UA" altLang="ru-RU" sz="2000" b="1" dirty="0">
                <a:solidFill>
                  <a:srgbClr val="0000CC"/>
                </a:solidFill>
              </a:rPr>
              <a:t>X</a:t>
            </a:r>
            <a:r>
              <a:rPr lang="en-US" altLang="ru-RU" sz="2000" b="1" dirty="0">
                <a:solidFill>
                  <a:srgbClr val="0000CC"/>
                </a:solidFill>
              </a:rPr>
              <a:t>)S(</a:t>
            </a:r>
            <a:r>
              <a:rPr lang="uk-UA" altLang="ru-RU" sz="2000" b="1" dirty="0">
                <a:solidFill>
                  <a:srgbClr val="0000CC"/>
                </a:solidFill>
              </a:rPr>
              <a:t>Y</a:t>
            </a:r>
            <a:r>
              <a:rPr lang="en-US" altLang="ru-RU" sz="2000" b="1" dirty="0">
                <a:solidFill>
                  <a:srgbClr val="0000CC"/>
                </a:solidFill>
              </a:rPr>
              <a:t>).</a:t>
            </a:r>
            <a:r>
              <a:rPr lang="ru-RU" altLang="ru-RU" sz="2000" b="1" dirty="0">
                <a:solidFill>
                  <a:srgbClr val="0000CC"/>
                </a:solidFill>
              </a:rPr>
              <a:t> </a:t>
            </a:r>
            <a:endParaRPr lang="ru-RU" altLang="ru-RU" sz="2000" b="1" dirty="0" smtClean="0">
              <a:solidFill>
                <a:srgbClr val="0000CC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uk-UA" altLang="ru-RU" sz="2000" dirty="0" smtClean="0"/>
              <a:t>У </a:t>
            </a:r>
            <a:r>
              <a:rPr lang="uk-UA" altLang="ru-RU" sz="2000" dirty="0"/>
              <a:t>загальному </a:t>
            </a:r>
            <a:r>
              <a:rPr lang="uk-UA" altLang="ru-RU" sz="2000" dirty="0" smtClean="0"/>
              <a:t>випадку</a:t>
            </a:r>
            <a:r>
              <a:rPr lang="uk-UA" altLang="ru-RU" sz="2000" dirty="0"/>
              <a:t>, </a:t>
            </a:r>
            <a:r>
              <a:rPr lang="uk-UA" altLang="ru-RU" sz="2000" b="1" dirty="0">
                <a:solidFill>
                  <a:srgbClr val="FF0000"/>
                </a:solidFill>
              </a:rPr>
              <a:t>чим більшим є значення левериджу, тим більш значущим є правило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uk-UA" altLang="ru-RU" sz="2000" b="1" dirty="0" smtClean="0">
                <a:solidFill>
                  <a:srgbClr val="008000"/>
                </a:solidFill>
              </a:rPr>
              <a:t>Приклад1</a:t>
            </a:r>
            <a:r>
              <a:rPr lang="uk-UA" altLang="ru-RU" sz="2000" b="1" i="1" dirty="0" smtClean="0">
                <a:solidFill>
                  <a:srgbClr val="008000"/>
                </a:solidFill>
              </a:rPr>
              <a:t>:</a:t>
            </a:r>
            <a:r>
              <a:rPr lang="uk-UA" altLang="ru-RU" sz="2000" dirty="0" smtClean="0">
                <a:solidFill>
                  <a:srgbClr val="008000"/>
                </a:solidFill>
              </a:rPr>
              <a:t> </a:t>
            </a:r>
            <a:r>
              <a:rPr lang="uk-UA" altLang="ru-RU" sz="2000" dirty="0">
                <a:solidFill>
                  <a:srgbClr val="008000"/>
                </a:solidFill>
              </a:rPr>
              <a:t>нехай Х є у 70 транзакціях зі 100, а Y– у 80, і у 50 транзакціях зі 100 </a:t>
            </a:r>
            <a:r>
              <a:rPr lang="uk-UA" altLang="ru-RU" sz="2000" dirty="0" smtClean="0">
                <a:solidFill>
                  <a:srgbClr val="008000"/>
                </a:solidFill>
              </a:rPr>
              <a:t>вони </a:t>
            </a:r>
            <a:r>
              <a:rPr lang="uk-UA" altLang="ru-RU" sz="2000" dirty="0">
                <a:solidFill>
                  <a:srgbClr val="008000"/>
                </a:solidFill>
              </a:rPr>
              <a:t>є разом. </a:t>
            </a:r>
            <a:r>
              <a:rPr lang="uk-UA" altLang="ru-RU" sz="2000" dirty="0" smtClean="0">
                <a:solidFill>
                  <a:srgbClr val="008000"/>
                </a:solidFill>
              </a:rPr>
              <a:t>Маємо:</a:t>
            </a:r>
            <a:br>
              <a:rPr lang="uk-UA" altLang="ru-RU" sz="2000" dirty="0" smtClean="0">
                <a:solidFill>
                  <a:srgbClr val="008000"/>
                </a:solidFill>
              </a:rPr>
            </a:br>
            <a:r>
              <a:rPr lang="uk-UA" altLang="ru-RU" sz="2000" dirty="0" smtClean="0">
                <a:solidFill>
                  <a:srgbClr val="008000"/>
                </a:solidFill>
              </a:rPr>
              <a:t> S</a:t>
            </a:r>
            <a:r>
              <a:rPr lang="uk-UA" altLang="ru-RU" sz="2000" baseline="-25000" dirty="0" smtClean="0">
                <a:solidFill>
                  <a:srgbClr val="008000"/>
                </a:solidFill>
              </a:rPr>
              <a:t>X</a:t>
            </a:r>
            <a:r>
              <a:rPr lang="uk-UA" altLang="ru-RU" sz="2000" dirty="0" smtClean="0">
                <a:solidFill>
                  <a:srgbClr val="008000"/>
                </a:solidFill>
              </a:rPr>
              <a:t>S</a:t>
            </a:r>
            <a:r>
              <a:rPr lang="uk-UA" altLang="ru-RU" sz="2000" baseline="-25000" dirty="0" smtClean="0">
                <a:solidFill>
                  <a:srgbClr val="008000"/>
                </a:solidFill>
              </a:rPr>
              <a:t>Y </a:t>
            </a:r>
            <a:r>
              <a:rPr lang="uk-UA" altLang="ru-RU" sz="2000" dirty="0" smtClean="0">
                <a:solidFill>
                  <a:srgbClr val="008000"/>
                </a:solidFill>
              </a:rPr>
              <a:t>- S</a:t>
            </a:r>
            <a:r>
              <a:rPr lang="uk-UA" altLang="ru-RU" sz="2000" baseline="-25000" dirty="0" smtClean="0">
                <a:solidFill>
                  <a:srgbClr val="008000"/>
                </a:solidFill>
              </a:rPr>
              <a:t>XY</a:t>
            </a:r>
            <a:r>
              <a:rPr lang="uk-UA" altLang="ru-RU" sz="2000" dirty="0" smtClean="0">
                <a:solidFill>
                  <a:srgbClr val="008000"/>
                </a:solidFill>
              </a:rPr>
              <a:t>=0,56 - 0,5 = 0,06</a:t>
            </a:r>
            <a:r>
              <a:rPr lang="uk-UA" altLang="ru-RU" sz="2000" dirty="0">
                <a:solidFill>
                  <a:srgbClr val="008000"/>
                </a:solidFill>
              </a:rPr>
              <a:t>. Отже, АП не є цікавим, товари </a:t>
            </a:r>
            <a:r>
              <a:rPr lang="uk-UA" altLang="ru-RU" sz="2000" b="1" dirty="0" smtClean="0">
                <a:solidFill>
                  <a:srgbClr val="008000"/>
                </a:solidFill>
              </a:rPr>
              <a:t>випадково</a:t>
            </a:r>
            <a:r>
              <a:rPr lang="uk-UA" altLang="ru-RU" sz="2000" dirty="0" smtClean="0">
                <a:solidFill>
                  <a:srgbClr val="008000"/>
                </a:solidFill>
              </a:rPr>
              <a:t> </a:t>
            </a:r>
            <a:r>
              <a:rPr lang="uk-UA" altLang="ru-RU" sz="2000" dirty="0">
                <a:solidFill>
                  <a:srgbClr val="008000"/>
                </a:solidFill>
              </a:rPr>
              <a:t>зустрічаються в одній транзакції внаслідок своєї популярності</a:t>
            </a:r>
            <a:r>
              <a:rPr lang="uk-UA" altLang="ru-RU" sz="2000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uk-UA" altLang="ru-RU" sz="2000" b="1" dirty="0" smtClean="0">
                <a:solidFill>
                  <a:srgbClr val="008000"/>
                </a:solidFill>
              </a:rPr>
              <a:t>Приклад2</a:t>
            </a:r>
            <a:r>
              <a:rPr lang="uk-UA" altLang="ru-RU" sz="2000" b="1" i="1" u="sng" dirty="0" smtClean="0">
                <a:solidFill>
                  <a:srgbClr val="008000"/>
                </a:solidFill>
              </a:rPr>
              <a:t> :</a:t>
            </a:r>
            <a:r>
              <a:rPr lang="uk-UA" altLang="ru-RU" sz="2000" dirty="0" smtClean="0">
                <a:solidFill>
                  <a:srgbClr val="008000"/>
                </a:solidFill>
              </a:rPr>
              <a:t> </a:t>
            </a:r>
            <a:r>
              <a:rPr lang="uk-UA" altLang="ru-RU" sz="2000" dirty="0">
                <a:solidFill>
                  <a:srgbClr val="008000"/>
                </a:solidFill>
              </a:rPr>
              <a:t>якщо у 100 ДТП взяли участь 70 автомобілів ВАЗ, це не означає </a:t>
            </a:r>
            <a:r>
              <a:rPr lang="uk-UA" altLang="ru-RU" sz="2000" dirty="0" smtClean="0">
                <a:solidFill>
                  <a:srgbClr val="008000"/>
                </a:solidFill>
              </a:rPr>
              <a:t>закономірності </a:t>
            </a:r>
            <a:r>
              <a:rPr lang="uk-UA" altLang="ru-RU" sz="2000" dirty="0">
                <a:solidFill>
                  <a:srgbClr val="008000"/>
                </a:solidFill>
              </a:rPr>
              <a:t>«Якщо аварія, то ВАЗ», якщо ВАЗ складає 80% усіх авто. </a:t>
            </a:r>
            <a:endParaRPr lang="uk-UA" altLang="ru-RU" sz="2000" dirty="0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524001" y="1"/>
          <a:ext cx="1238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Формула" r:id="rId3" imgW="127055" imgH="127055" progId="Equation.3">
                  <p:embed/>
                </p:oleObj>
              </mc:Choice>
              <mc:Fallback>
                <p:oleObj name="Формула" r:id="rId3" imgW="127055" imgH="1270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"/>
                        <a:ext cx="123825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1524001" y="1"/>
          <a:ext cx="1238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Формула" r:id="rId5" imgW="127055" imgH="127055" progId="Equation.3">
                  <p:embed/>
                </p:oleObj>
              </mc:Choice>
              <mc:Fallback>
                <p:oleObj name="Формула" r:id="rId5" imgW="127055" imgH="1270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"/>
                        <a:ext cx="123825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6" y="2781300"/>
            <a:ext cx="200025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10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"/>
            <a:ext cx="12192000" cy="620712"/>
          </a:xfrm>
          <a:prstGeom prst="rect">
            <a:avLst/>
          </a:prstGeom>
        </p:spPr>
        <p:txBody>
          <a:bodyPr/>
          <a:lstStyle/>
          <a:p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                   Значущість асоціативних 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правил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2758" y="1181171"/>
            <a:ext cx="11846477" cy="449076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b="1" dirty="0" smtClean="0">
                <a:solidFill>
                  <a:srgbClr val="FF0000"/>
                </a:solidFill>
              </a:rPr>
              <a:t>Ліфт </a:t>
            </a:r>
            <a:r>
              <a:rPr lang="uk-UA" altLang="ru-RU" sz="2000" b="1" dirty="0">
                <a:solidFill>
                  <a:srgbClr val="FF0000"/>
                </a:solidFill>
              </a:rPr>
              <a:t>(цікавість) </a:t>
            </a:r>
            <a:r>
              <a:rPr lang="uk-UA" altLang="ru-RU" sz="2000" dirty="0"/>
              <a:t>- відношення частоти появи умови в транзакціях, які містять </a:t>
            </a:r>
            <a:r>
              <a:rPr lang="uk-UA" altLang="ru-RU" sz="2000" dirty="0" smtClean="0"/>
              <a:t>також </a:t>
            </a:r>
            <a:r>
              <a:rPr lang="uk-UA" altLang="ru-RU" sz="2000" dirty="0"/>
              <a:t>і наслідок, до частоти появи наслідку в цілому</a:t>
            </a:r>
            <a:r>
              <a:rPr lang="uk-UA" altLang="ru-RU" sz="2000" b="1" dirty="0">
                <a:solidFill>
                  <a:srgbClr val="0000CC"/>
                </a:solidFill>
              </a:rPr>
              <a:t>:   </a:t>
            </a:r>
            <a:r>
              <a:rPr lang="en-US" altLang="ru-RU" sz="2000" b="1" dirty="0">
                <a:solidFill>
                  <a:srgbClr val="0000CC"/>
                </a:solidFill>
              </a:rPr>
              <a:t>L(</a:t>
            </a:r>
            <a:r>
              <a:rPr lang="uk-UA" altLang="ru-RU" sz="2000" b="1" dirty="0">
                <a:solidFill>
                  <a:srgbClr val="0000CC"/>
                </a:solidFill>
              </a:rPr>
              <a:t>X</a:t>
            </a:r>
            <a:r>
              <a:rPr lang="uk-UA" altLang="ru-RU" sz="2000" b="1" dirty="0">
                <a:solidFill>
                  <a:srgbClr val="0000CC"/>
                </a:solidFill>
                <a:sym typeface="Symbol" panose="05050102010706020507" pitchFamily="18" charset="2"/>
              </a:rPr>
              <a:t></a:t>
            </a:r>
            <a:r>
              <a:rPr lang="uk-UA" altLang="ru-RU" sz="2000" b="1" dirty="0">
                <a:solidFill>
                  <a:srgbClr val="0000CC"/>
                </a:solidFill>
              </a:rPr>
              <a:t>Y</a:t>
            </a:r>
            <a:r>
              <a:rPr lang="en-US" altLang="ru-RU" sz="2000" b="1" dirty="0">
                <a:solidFill>
                  <a:srgbClr val="0000CC"/>
                </a:solidFill>
              </a:rPr>
              <a:t>)=C(</a:t>
            </a:r>
            <a:r>
              <a:rPr lang="uk-UA" altLang="ru-RU" sz="2000" b="1" dirty="0">
                <a:solidFill>
                  <a:srgbClr val="0000CC"/>
                </a:solidFill>
              </a:rPr>
              <a:t>X</a:t>
            </a:r>
            <a:r>
              <a:rPr lang="uk-UA" altLang="ru-RU" sz="2000" b="1" dirty="0">
                <a:solidFill>
                  <a:srgbClr val="0000CC"/>
                </a:solidFill>
                <a:sym typeface="Symbol" panose="05050102010706020507" pitchFamily="18" charset="2"/>
              </a:rPr>
              <a:t></a:t>
            </a:r>
            <a:r>
              <a:rPr lang="uk-UA" altLang="ru-RU" sz="2000" b="1" dirty="0">
                <a:solidFill>
                  <a:srgbClr val="0000CC"/>
                </a:solidFill>
              </a:rPr>
              <a:t>Y</a:t>
            </a:r>
            <a:r>
              <a:rPr lang="en-US" altLang="ru-RU" sz="2000" b="1" dirty="0">
                <a:solidFill>
                  <a:srgbClr val="0000CC"/>
                </a:solidFill>
              </a:rPr>
              <a:t>)/S(</a:t>
            </a:r>
            <a:r>
              <a:rPr lang="uk-UA" altLang="ru-RU" sz="2000" b="1" dirty="0">
                <a:solidFill>
                  <a:srgbClr val="0000CC"/>
                </a:solidFill>
              </a:rPr>
              <a:t>Y</a:t>
            </a:r>
            <a:r>
              <a:rPr lang="en-US" altLang="ru-RU" sz="2000" b="1" dirty="0">
                <a:solidFill>
                  <a:srgbClr val="0000CC"/>
                </a:solidFill>
              </a:rPr>
              <a:t>)</a:t>
            </a:r>
            <a:r>
              <a:rPr lang="ru-RU" altLang="ru-RU" sz="2000" b="1" dirty="0">
                <a:solidFill>
                  <a:srgbClr val="0000CC"/>
                </a:solidFill>
              </a:rPr>
              <a:t>.</a:t>
            </a:r>
            <a:r>
              <a:rPr lang="uk-UA" altLang="ru-RU" sz="2000" b="1" dirty="0">
                <a:solidFill>
                  <a:srgbClr val="0000CC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/>
              <a:t>При </a:t>
            </a:r>
            <a:r>
              <a:rPr lang="en-US" altLang="ru-RU" sz="2000" dirty="0"/>
              <a:t>L&gt;</a:t>
            </a:r>
            <a:r>
              <a:rPr lang="uk-UA" altLang="ru-RU" sz="2000" dirty="0"/>
              <a:t>1 умова частіше є у транзакціях, що містять наслідок, ніж у </a:t>
            </a:r>
            <a:r>
              <a:rPr lang="uk-UA" altLang="ru-RU" sz="2000" dirty="0" smtClean="0"/>
              <a:t>інших: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 smtClean="0"/>
              <a:t>при </a:t>
            </a:r>
            <a:r>
              <a:rPr lang="en-US" altLang="ru-RU" sz="2000" dirty="0" smtClean="0"/>
              <a:t>L</a:t>
            </a:r>
            <a:r>
              <a:rPr lang="uk-UA" altLang="ru-RU" sz="2000" dirty="0"/>
              <a:t>=1 - зв’язок Х і </a:t>
            </a:r>
            <a:r>
              <a:rPr lang="en-US" altLang="ru-RU" sz="2000" dirty="0"/>
              <a:t>Y </a:t>
            </a:r>
            <a:r>
              <a:rPr lang="uk-UA" altLang="ru-RU" sz="2000" dirty="0"/>
              <a:t>відсутній, </a:t>
            </a:r>
            <a:endParaRPr lang="uk-UA" altLang="ru-RU" sz="20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 smtClean="0"/>
              <a:t>при </a:t>
            </a:r>
            <a:r>
              <a:rPr lang="en-US" altLang="ru-RU" sz="2000" dirty="0"/>
              <a:t>L&lt;</a:t>
            </a:r>
            <a:r>
              <a:rPr lang="uk-UA" altLang="ru-RU" sz="2000" dirty="0"/>
              <a:t>1 - він від’ємний.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/>
              <a:t>Ліфт не завжди є вдалою мірою значущості правила, оскільки збільшення </a:t>
            </a:r>
            <a:r>
              <a:rPr lang="uk-UA" altLang="ru-RU" sz="2000" dirty="0" smtClean="0"/>
              <a:t>кількості </a:t>
            </a:r>
            <a:r>
              <a:rPr lang="uk-UA" altLang="ru-RU" sz="2000" dirty="0"/>
              <a:t>покупців призводить до зростання зв’язку між умовою і наслідком.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/>
              <a:t>Іноді ліфт, що подає міру корисності АП називають </a:t>
            </a:r>
            <a:r>
              <a:rPr lang="uk-UA" altLang="ru-RU" sz="2000" b="1" dirty="0">
                <a:solidFill>
                  <a:srgbClr val="FF0000"/>
                </a:solidFill>
              </a:rPr>
              <a:t>покращенням (</a:t>
            </a:r>
            <a:r>
              <a:rPr lang="uk-UA" altLang="ru-RU" sz="2000" b="1" dirty="0" err="1">
                <a:solidFill>
                  <a:srgbClr val="FF0000"/>
                </a:solidFill>
              </a:rPr>
              <a:t>improvement</a:t>
            </a:r>
            <a:r>
              <a:rPr lang="uk-UA" altLang="ru-RU" sz="2000" b="1" dirty="0">
                <a:solidFill>
                  <a:srgbClr val="FF0000"/>
                </a:solidFill>
              </a:rPr>
              <a:t>), </a:t>
            </a:r>
            <a:r>
              <a:rPr lang="uk-UA" altLang="ru-RU" sz="2000" dirty="0" smtClean="0"/>
              <a:t>і </a:t>
            </a:r>
            <a:r>
              <a:rPr lang="uk-UA" altLang="ru-RU" sz="2000" dirty="0"/>
              <a:t>обчислюють як відношення спостережуваної частоти до відокремлених частот </a:t>
            </a:r>
            <a:r>
              <a:rPr lang="uk-UA" altLang="ru-RU" sz="2000" dirty="0" smtClean="0"/>
              <a:t>умови </a:t>
            </a:r>
            <a:r>
              <a:rPr lang="uk-UA" altLang="ru-RU" sz="2000" dirty="0"/>
              <a:t>і наслідку: </a:t>
            </a:r>
            <a:endParaRPr lang="uk-UA" altLang="ru-RU" sz="2000" dirty="0" smtClean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400" b="1" dirty="0" smtClean="0">
                <a:solidFill>
                  <a:srgbClr val="0000CC"/>
                </a:solidFill>
              </a:rPr>
              <a:t>І</a:t>
            </a:r>
            <a:r>
              <a:rPr lang="en-US" altLang="ru-RU" sz="2400" b="1" dirty="0">
                <a:solidFill>
                  <a:srgbClr val="0000CC"/>
                </a:solidFill>
              </a:rPr>
              <a:t>(</a:t>
            </a:r>
            <a:r>
              <a:rPr lang="uk-UA" altLang="ru-RU" sz="2400" b="1" dirty="0">
                <a:solidFill>
                  <a:srgbClr val="0000CC"/>
                </a:solidFill>
              </a:rPr>
              <a:t>X </a:t>
            </a:r>
            <a:r>
              <a:rPr lang="uk-UA" altLang="ru-RU" sz="2400" b="1" dirty="0">
                <a:solidFill>
                  <a:srgbClr val="0000CC"/>
                </a:solidFill>
                <a:sym typeface="Symbol" panose="05050102010706020507" pitchFamily="18" charset="2"/>
              </a:rPr>
              <a:t></a:t>
            </a:r>
            <a:r>
              <a:rPr lang="uk-UA" altLang="ru-RU" sz="2400" b="1" dirty="0">
                <a:solidFill>
                  <a:srgbClr val="0000CC"/>
                </a:solidFill>
              </a:rPr>
              <a:t>Y</a:t>
            </a:r>
            <a:r>
              <a:rPr lang="en-US" altLang="ru-RU" sz="2400" b="1" dirty="0">
                <a:solidFill>
                  <a:srgbClr val="0000CC"/>
                </a:solidFill>
              </a:rPr>
              <a:t>)=S(</a:t>
            </a:r>
            <a:r>
              <a:rPr lang="uk-UA" altLang="ru-RU" sz="2400" b="1" dirty="0">
                <a:solidFill>
                  <a:srgbClr val="0000CC"/>
                </a:solidFill>
              </a:rPr>
              <a:t>X</a:t>
            </a:r>
            <a:r>
              <a:rPr lang="uk-UA" altLang="ru-RU" sz="2400" b="1" dirty="0">
                <a:solidFill>
                  <a:srgbClr val="0000CC"/>
                </a:solidFill>
                <a:sym typeface="Symbol" panose="05050102010706020507" pitchFamily="18" charset="2"/>
              </a:rPr>
              <a:t></a:t>
            </a:r>
            <a:r>
              <a:rPr lang="uk-UA" altLang="ru-RU" sz="2400" b="1" dirty="0">
                <a:solidFill>
                  <a:srgbClr val="0000CC"/>
                </a:solidFill>
              </a:rPr>
              <a:t>Y</a:t>
            </a:r>
            <a:r>
              <a:rPr lang="en-US" altLang="ru-RU" sz="2400" b="1" dirty="0">
                <a:solidFill>
                  <a:srgbClr val="0000CC"/>
                </a:solidFill>
              </a:rPr>
              <a:t>)/S(</a:t>
            </a:r>
            <a:r>
              <a:rPr lang="uk-UA" altLang="ru-RU" sz="2400" b="1" dirty="0">
                <a:solidFill>
                  <a:srgbClr val="0000CC"/>
                </a:solidFill>
              </a:rPr>
              <a:t>X</a:t>
            </a:r>
            <a:r>
              <a:rPr lang="en-US" altLang="ru-RU" sz="2400" b="1" dirty="0">
                <a:solidFill>
                  <a:srgbClr val="0000CC"/>
                </a:solidFill>
              </a:rPr>
              <a:t>)S(</a:t>
            </a:r>
            <a:r>
              <a:rPr lang="uk-UA" altLang="ru-RU" sz="2400" b="1" dirty="0">
                <a:solidFill>
                  <a:srgbClr val="0000CC"/>
                </a:solidFill>
              </a:rPr>
              <a:t>Y</a:t>
            </a:r>
            <a:r>
              <a:rPr lang="en-US" altLang="ru-RU" sz="2400" b="1" dirty="0">
                <a:solidFill>
                  <a:srgbClr val="0000CC"/>
                </a:solidFill>
              </a:rPr>
              <a:t>).</a:t>
            </a:r>
            <a:r>
              <a:rPr lang="ru-RU" altLang="ru-RU" sz="2400" b="1" dirty="0">
                <a:solidFill>
                  <a:srgbClr val="0000CC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/>
              <a:t>Покращення (ліфт) показує чи є правило кориснішим за випадкове угадування.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/>
              <a:t>Значення І(XY)&gt;1 свідчить, що краще скористатись правилом, ніж здійснювати </a:t>
            </a:r>
            <a:r>
              <a:rPr lang="uk-UA" altLang="ru-RU" sz="2000" dirty="0" smtClean="0"/>
              <a:t>випадковий </a:t>
            </a:r>
            <a:r>
              <a:rPr lang="uk-UA" altLang="ru-RU" sz="2000" dirty="0"/>
              <a:t>вибір.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uk-UA" altLang="ru-RU" sz="2000" dirty="0"/>
              <a:t>Такі міри, як ліфт і леверидж, використовують для подальшого обмеження </a:t>
            </a:r>
            <a:r>
              <a:rPr lang="uk-UA" altLang="ru-RU" sz="2000" dirty="0" smtClean="0"/>
              <a:t>набору </a:t>
            </a:r>
            <a:r>
              <a:rPr lang="uk-UA" altLang="ru-RU" sz="2000" dirty="0"/>
              <a:t>АП встановленням порогу значущості нижче за який АП відкидаються</a:t>
            </a:r>
            <a:r>
              <a:rPr lang="uk-UA" altLang="ru-RU" sz="2000" dirty="0" smtClean="0"/>
              <a:t>.</a:t>
            </a:r>
            <a:endParaRPr lang="uk-UA" altLang="ru-RU" sz="2000" dirty="0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524001" y="1"/>
          <a:ext cx="1238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Формула" r:id="rId3" imgW="127055" imgH="127055" progId="Equation.3">
                  <p:embed/>
                </p:oleObj>
              </mc:Choice>
              <mc:Fallback>
                <p:oleObj name="Формула" r:id="rId3" imgW="127055" imgH="1270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"/>
                        <a:ext cx="123825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1524001" y="1"/>
          <a:ext cx="1238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Формула" r:id="rId5" imgW="127055" imgH="127055" progId="Equation.3">
                  <p:embed/>
                </p:oleObj>
              </mc:Choice>
              <mc:Fallback>
                <p:oleObj name="Формула" r:id="rId5" imgW="127055" imgH="1270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"/>
                        <a:ext cx="123825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689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11041063" cy="533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altLang="en-US" b="1" dirty="0" err="1">
                <a:solidFill>
                  <a:schemeClr val="bg1"/>
                </a:solidFill>
                <a:latin typeface="+mn-lt"/>
              </a:rPr>
              <a:t>Обчислювальна</a:t>
            </a:r>
            <a:r>
              <a:rPr lang="ru-RU" altLang="en-US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altLang="en-US" b="1" dirty="0" err="1">
                <a:solidFill>
                  <a:schemeClr val="bg1"/>
                </a:solidFill>
                <a:latin typeface="+mn-lt"/>
              </a:rPr>
              <a:t>складність</a:t>
            </a:r>
            <a:endParaRPr lang="en-US" altLang="en-US" b="1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8318500" cy="1371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uk-UA" altLang="en-US" dirty="0" smtClean="0"/>
              <a:t>Задано </a:t>
            </a:r>
            <a:r>
              <a:rPr lang="en-US" altLang="en-US" dirty="0" smtClean="0"/>
              <a:t>d </a:t>
            </a:r>
            <a:r>
              <a:rPr lang="uk-UA" altLang="en-US" dirty="0" smtClean="0"/>
              <a:t>унікальних елементів</a:t>
            </a:r>
            <a:r>
              <a:rPr lang="en-US" altLang="en-US" dirty="0" smtClean="0"/>
              <a:t>:</a:t>
            </a:r>
            <a:endParaRPr lang="en-US" altLang="en-US" dirty="0" smtClean="0"/>
          </a:p>
          <a:p>
            <a:pPr lvl="1"/>
            <a:r>
              <a:rPr lang="ru-RU" altLang="en-US" dirty="0" err="1"/>
              <a:t>Загальна</a:t>
            </a:r>
            <a:r>
              <a:rPr lang="ru-RU" altLang="en-US" dirty="0"/>
              <a:t> </a:t>
            </a:r>
            <a:r>
              <a:rPr lang="ru-RU" altLang="en-US" dirty="0" err="1"/>
              <a:t>кількість</a:t>
            </a:r>
            <a:r>
              <a:rPr lang="ru-RU" altLang="en-US" dirty="0"/>
              <a:t> </a:t>
            </a:r>
            <a:r>
              <a:rPr lang="ru-RU" altLang="en-US" dirty="0" err="1"/>
              <a:t>наборів</a:t>
            </a:r>
            <a:r>
              <a:rPr lang="ru-RU" altLang="en-US" dirty="0"/>
              <a:t> </a:t>
            </a:r>
            <a:r>
              <a:rPr lang="ru-RU" altLang="en-US" dirty="0" err="1"/>
              <a:t>предметів</a:t>
            </a:r>
            <a:r>
              <a:rPr lang="ru-RU" altLang="en-US" dirty="0"/>
              <a:t> = 2</a:t>
            </a:r>
            <a:r>
              <a:rPr lang="ru-RU" altLang="en-US" baseline="30000" dirty="0"/>
              <a:t>d</a:t>
            </a:r>
          </a:p>
          <a:p>
            <a:pPr lvl="1"/>
            <a:r>
              <a:rPr lang="ru-RU" altLang="en-US" dirty="0" err="1"/>
              <a:t>Загальна</a:t>
            </a:r>
            <a:r>
              <a:rPr lang="ru-RU" altLang="en-US" dirty="0"/>
              <a:t> </a:t>
            </a:r>
            <a:r>
              <a:rPr lang="ru-RU" altLang="en-US" dirty="0" err="1"/>
              <a:t>кількість</a:t>
            </a:r>
            <a:r>
              <a:rPr lang="ru-RU" altLang="en-US" dirty="0"/>
              <a:t> </a:t>
            </a:r>
            <a:r>
              <a:rPr lang="ru-RU" altLang="en-US" dirty="0" err="1"/>
              <a:t>можливих</a:t>
            </a:r>
            <a:r>
              <a:rPr lang="ru-RU" altLang="en-US" dirty="0"/>
              <a:t> правил </a:t>
            </a:r>
            <a:r>
              <a:rPr lang="ru-RU" altLang="en-US" dirty="0" err="1"/>
              <a:t>асоціації</a:t>
            </a:r>
            <a:r>
              <a:rPr lang="ru-RU" altLang="en-US" dirty="0" smtClean="0"/>
              <a:t>:</a:t>
            </a:r>
          </a:p>
        </p:txBody>
      </p:sp>
      <p:graphicFrame>
        <p:nvGraphicFramePr>
          <p:cNvPr id="92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343648"/>
              </p:ext>
            </p:extLst>
          </p:nvPr>
        </p:nvGraphicFramePr>
        <p:xfrm>
          <a:off x="6158950" y="2514601"/>
          <a:ext cx="4721086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950" y="2514601"/>
                        <a:ext cx="4721086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934200" y="4648201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If d=</a:t>
            </a:r>
            <a:r>
              <a:rPr lang="en-US" altLang="en-US" sz="2000" b="1">
                <a:solidFill>
                  <a:srgbClr val="000000"/>
                </a:solidFill>
                <a:sym typeface="Symbol" pitchFamily="18" charset="2"/>
              </a:rPr>
              <a:t>6,  R = 602 rules</a:t>
            </a: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1046922" y="2375289"/>
            <a:ext cx="4260574" cy="3561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4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4312" y="234882"/>
            <a:ext cx="11807687" cy="54699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                                        Алгоритм </a:t>
            </a:r>
            <a:r>
              <a:rPr lang="uk-UA" altLang="ru-RU" sz="3600" b="1" dirty="0" err="1" smtClean="0">
                <a:solidFill>
                  <a:schemeClr val="bg1"/>
                </a:solidFill>
                <a:latin typeface="+mn-lt"/>
              </a:rPr>
              <a:t>Apriori</a:t>
            </a:r>
            <a:endParaRPr lang="uk-UA" alt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1027830"/>
            <a:ext cx="12191999" cy="5830169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2000" dirty="0"/>
              <a:t>При пошуку АП треба розглянути усі можливі комбінації умов і наслідків, а </a:t>
            </a:r>
            <a:r>
              <a:rPr lang="uk-UA" altLang="ru-RU" sz="2000" dirty="0" smtClean="0"/>
              <a:t>потім </a:t>
            </a:r>
            <a:r>
              <a:rPr lang="uk-UA" altLang="ru-RU" sz="2000" dirty="0"/>
              <a:t>відкинути асоціації, які не задовольняють заданим обмеженням. Але </a:t>
            </a:r>
            <a:r>
              <a:rPr lang="uk-UA" altLang="ru-RU" sz="2000" dirty="0" smtClean="0"/>
              <a:t>кількість </a:t>
            </a:r>
            <a:r>
              <a:rPr lang="uk-UA" altLang="ru-RU" sz="2000" dirty="0"/>
              <a:t>АП зі зростанням кількості елементів зростає </a:t>
            </a:r>
            <a:r>
              <a:rPr lang="uk-UA" altLang="ru-RU" sz="2000" dirty="0" err="1"/>
              <a:t>експоненційно</a:t>
            </a:r>
            <a:r>
              <a:rPr lang="uk-UA" altLang="ru-RU" sz="2000" dirty="0"/>
              <a:t>. При </a:t>
            </a:r>
            <a:r>
              <a:rPr lang="en-US" altLang="ru-RU" sz="2000" dirty="0">
                <a:solidFill>
                  <a:srgbClr val="0000CC"/>
                </a:solidFill>
              </a:rPr>
              <a:t>k</a:t>
            </a:r>
            <a:r>
              <a:rPr lang="en-US" altLang="ru-RU" sz="2000" dirty="0"/>
              <a:t> </a:t>
            </a:r>
            <a:r>
              <a:rPr lang="ru-RU" altLang="ru-RU" sz="2000" dirty="0" err="1" smtClean="0"/>
              <a:t>транзакц</a:t>
            </a:r>
            <a:r>
              <a:rPr lang="uk-UA" altLang="ru-RU" sz="2000" dirty="0" err="1"/>
              <a:t>іях</a:t>
            </a:r>
            <a:r>
              <a:rPr lang="ru-RU" altLang="ru-RU" sz="2000" dirty="0"/>
              <a:t> </a:t>
            </a:r>
            <a:r>
              <a:rPr lang="uk-UA" altLang="ru-RU" sz="2000" dirty="0"/>
              <a:t>і бінарних АП (</a:t>
            </a:r>
            <a:r>
              <a:rPr lang="uk-UA" altLang="ru-RU" sz="2000" dirty="0" err="1"/>
              <a:t>одноелементні</a:t>
            </a:r>
            <a:r>
              <a:rPr lang="uk-UA" altLang="ru-RU" sz="2000" dirty="0"/>
              <a:t> умова і наслідок</a:t>
            </a:r>
            <a:r>
              <a:rPr lang="uk-UA" altLang="ru-RU" sz="2000" dirty="0" smtClean="0"/>
              <a:t>) </a:t>
            </a:r>
            <a:r>
              <a:rPr lang="uk-UA" altLang="ru-RU" sz="2000" dirty="0"/>
              <a:t>треба здійснити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2000" dirty="0"/>
              <a:t>аналіз </a:t>
            </a:r>
            <a:r>
              <a:rPr lang="en-US" altLang="ru-RU" sz="2000" dirty="0">
                <a:solidFill>
                  <a:srgbClr val="0000CC"/>
                </a:solidFill>
              </a:rPr>
              <a:t>k</a:t>
            </a:r>
            <a:r>
              <a:rPr lang="en-US" altLang="ru-RU" sz="2000" baseline="30000" dirty="0">
                <a:solidFill>
                  <a:srgbClr val="0000CC"/>
                </a:solidFill>
              </a:rPr>
              <a:t>2k-1</a:t>
            </a:r>
            <a:r>
              <a:rPr lang="en-US" altLang="ru-RU" sz="2000" dirty="0"/>
              <a:t> </a:t>
            </a:r>
            <a:r>
              <a:rPr lang="uk-UA" altLang="ru-RU" sz="2000" dirty="0"/>
              <a:t>асоціацій. </a:t>
            </a:r>
            <a:r>
              <a:rPr lang="uk-UA" altLang="ru-RU" sz="2000" dirty="0"/>
              <a:t>Тобто, для вибірки зі </a:t>
            </a:r>
            <a:r>
              <a:rPr lang="uk-UA" altLang="ru-RU" sz="2000" b="1" dirty="0">
                <a:solidFill>
                  <a:srgbClr val="0000CC"/>
                </a:solidFill>
              </a:rPr>
              <a:t>100</a:t>
            </a:r>
            <a:r>
              <a:rPr lang="uk-UA" altLang="ru-RU" sz="2000" dirty="0"/>
              <a:t> </a:t>
            </a:r>
            <a:r>
              <a:rPr lang="uk-UA" altLang="ru-RU" sz="2000" dirty="0" smtClean="0"/>
              <a:t>продуктів </a:t>
            </a:r>
            <a:r>
              <a:rPr lang="uk-UA" altLang="ru-RU" sz="2000" dirty="0"/>
              <a:t>кількість утворюваних </a:t>
            </a:r>
            <a:r>
              <a:rPr lang="uk-UA" altLang="ru-RU" sz="2000" dirty="0" smtClean="0"/>
              <a:t>ними </a:t>
            </a:r>
            <a:r>
              <a:rPr lang="uk-UA" altLang="ru-RU" sz="2000" dirty="0"/>
              <a:t>асоціацій  складе </a:t>
            </a:r>
            <a:r>
              <a:rPr lang="uk-UA" altLang="ru-RU" sz="2000" b="1" dirty="0">
                <a:solidFill>
                  <a:srgbClr val="0000CC"/>
                </a:solidFill>
              </a:rPr>
              <a:t>100х2</a:t>
            </a:r>
            <a:r>
              <a:rPr lang="uk-UA" altLang="ru-RU" sz="2000" b="1" baseline="30000" dirty="0">
                <a:solidFill>
                  <a:srgbClr val="0000CC"/>
                </a:solidFill>
              </a:rPr>
              <a:t>99</a:t>
            </a:r>
            <a:r>
              <a:rPr lang="en-US" altLang="ru-RU" sz="2000" b="1" dirty="0">
                <a:solidFill>
                  <a:srgbClr val="0000CC"/>
                </a:solidFill>
              </a:rPr>
              <a:t>&gt;</a:t>
            </a:r>
            <a:r>
              <a:rPr lang="uk-UA" altLang="ru-RU" sz="2000" b="1" dirty="0">
                <a:solidFill>
                  <a:srgbClr val="0000CC"/>
                </a:solidFill>
              </a:rPr>
              <a:t>6,4х10</a:t>
            </a:r>
            <a:r>
              <a:rPr lang="uk-UA" altLang="ru-RU" sz="2000" b="1" baseline="30000" dirty="0">
                <a:solidFill>
                  <a:srgbClr val="0000CC"/>
                </a:solidFill>
              </a:rPr>
              <a:t>31</a:t>
            </a:r>
            <a:r>
              <a:rPr lang="uk-UA" altLang="ru-RU" sz="2000" dirty="0"/>
              <a:t>.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20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2000" dirty="0">
                <a:solidFill>
                  <a:srgbClr val="FF0000"/>
                </a:solidFill>
              </a:rPr>
              <a:t>Алгоритм </a:t>
            </a:r>
            <a:r>
              <a:rPr lang="en-US" altLang="ru-RU" sz="2000" dirty="0" err="1">
                <a:solidFill>
                  <a:srgbClr val="FF0000"/>
                </a:solidFill>
              </a:rPr>
              <a:t>Apriori</a:t>
            </a:r>
            <a:r>
              <a:rPr lang="en-US" altLang="ru-RU" sz="2000" dirty="0">
                <a:solidFill>
                  <a:srgbClr val="FF0000"/>
                </a:solidFill>
              </a:rPr>
              <a:t> </a:t>
            </a:r>
            <a:r>
              <a:rPr lang="uk-UA" altLang="ru-RU" sz="2000" dirty="0">
                <a:solidFill>
                  <a:srgbClr val="FF0000"/>
                </a:solidFill>
              </a:rPr>
              <a:t>зменшує кількість генерованих АП за рахунок аналізу лише </a:t>
            </a:r>
            <a:r>
              <a:rPr lang="uk-UA" altLang="ru-RU" sz="2000" dirty="0" smtClean="0">
                <a:solidFill>
                  <a:srgbClr val="FF0000"/>
                </a:solidFill>
              </a:rPr>
              <a:t>тих </a:t>
            </a:r>
            <a:r>
              <a:rPr lang="uk-UA" altLang="ru-RU" sz="2000" dirty="0">
                <a:solidFill>
                  <a:srgbClr val="FF0000"/>
                </a:solidFill>
              </a:rPr>
              <a:t>асоціацій, які зустрічаються найбільш часто</a:t>
            </a:r>
            <a:r>
              <a:rPr lang="uk-UA" altLang="ru-RU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20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2000" i="1" u="sng" dirty="0" err="1"/>
              <a:t>Части</a:t>
            </a:r>
            <a:r>
              <a:rPr lang="ru-RU" altLang="ru-RU" sz="2000" i="1" u="sng" dirty="0"/>
              <a:t>м </a:t>
            </a:r>
            <a:r>
              <a:rPr lang="uk-UA" altLang="ru-RU" sz="2000" i="1" u="sng" dirty="0"/>
              <a:t>набором</a:t>
            </a:r>
            <a:r>
              <a:rPr lang="uk-UA" altLang="ru-RU" sz="2000" dirty="0"/>
              <a:t> (</a:t>
            </a:r>
            <a:r>
              <a:rPr lang="uk-UA" altLang="ru-RU" sz="2000" dirty="0" err="1"/>
              <a:t>frequent</a:t>
            </a:r>
            <a:r>
              <a:rPr lang="uk-UA" altLang="ru-RU" sz="2000" dirty="0"/>
              <a:t> </a:t>
            </a:r>
            <a:r>
              <a:rPr lang="uk-UA" altLang="ru-RU" sz="2000" dirty="0" err="1"/>
              <a:t>itemset</a:t>
            </a:r>
            <a:r>
              <a:rPr lang="uk-UA" altLang="ru-RU" sz="2000" dirty="0"/>
              <a:t>) </a:t>
            </a:r>
            <a:r>
              <a:rPr lang="uk-UA" altLang="ru-RU" sz="2000" dirty="0" smtClean="0"/>
              <a:t>називається </a:t>
            </a:r>
            <a:r>
              <a:rPr lang="uk-UA" altLang="ru-RU" sz="2000" dirty="0"/>
              <a:t>предметний набір з </a:t>
            </a:r>
            <a:r>
              <a:rPr lang="uk-UA" altLang="ru-RU" sz="2000" dirty="0" smtClean="0"/>
              <a:t>підтримкою, більшою </a:t>
            </a:r>
            <a:r>
              <a:rPr lang="uk-UA" altLang="ru-RU" sz="2000" dirty="0"/>
              <a:t>за заданий </a:t>
            </a:r>
            <a:r>
              <a:rPr lang="uk-UA" altLang="ru-RU" sz="2000" dirty="0" smtClean="0"/>
              <a:t>поріг </a:t>
            </a:r>
            <a:r>
              <a:rPr lang="uk-UA" altLang="ru-RU" sz="2000" dirty="0"/>
              <a:t>або рівною йому. Цей поріг називається </a:t>
            </a:r>
            <a:r>
              <a:rPr lang="uk-UA" altLang="ru-RU" sz="2000" b="1" dirty="0">
                <a:solidFill>
                  <a:srgbClr val="0000CC"/>
                </a:solidFill>
              </a:rPr>
              <a:t>мінімальною </a:t>
            </a:r>
            <a:r>
              <a:rPr lang="uk-UA" altLang="ru-RU" sz="2000" b="1" dirty="0" smtClean="0">
                <a:solidFill>
                  <a:srgbClr val="0000CC"/>
                </a:solidFill>
              </a:rPr>
              <a:t>підтримкою</a:t>
            </a:r>
            <a:r>
              <a:rPr lang="uk-UA" altLang="ru-RU" sz="2000" dirty="0"/>
              <a:t>. </a:t>
            </a:r>
            <a:endParaRPr lang="uk-UA" altLang="ru-RU" sz="2000" dirty="0" smtClean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2000" dirty="0" smtClean="0"/>
              <a:t>Методика </a:t>
            </a:r>
            <a:r>
              <a:rPr lang="uk-UA" altLang="ru-RU" sz="2000" dirty="0"/>
              <a:t>пошуку асоціативних правил з використанням частих </a:t>
            </a:r>
            <a:r>
              <a:rPr lang="uk-UA" altLang="ru-RU" sz="2000" dirty="0" smtClean="0"/>
              <a:t>наборів </a:t>
            </a:r>
            <a:r>
              <a:rPr lang="uk-UA" altLang="ru-RU" sz="2000" dirty="0"/>
              <a:t>складається з двох кроків: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/>
              <a:t>- пошук частих наборів;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-"/>
            </a:pPr>
            <a:r>
              <a:rPr lang="uk-UA" altLang="ru-RU" sz="1800" dirty="0" smtClean="0"/>
              <a:t>генерація </a:t>
            </a:r>
            <a:r>
              <a:rPr lang="uk-UA" altLang="ru-RU" sz="1800" dirty="0"/>
              <a:t>на основі знайдених частих наборів АП, що задовольняють умовам </a:t>
            </a:r>
            <a:r>
              <a:rPr lang="uk-UA" altLang="ru-RU" sz="1800" dirty="0" smtClean="0"/>
              <a:t>мінімальної </a:t>
            </a:r>
            <a:r>
              <a:rPr lang="uk-UA" altLang="ru-RU" sz="1800" dirty="0"/>
              <a:t>підтримки і достовірності</a:t>
            </a:r>
            <a:r>
              <a:rPr lang="uk-UA" altLang="ru-RU" sz="1800" dirty="0" smtClean="0"/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2000" dirty="0" smtClean="0"/>
              <a:t>Для </a:t>
            </a:r>
            <a:r>
              <a:rPr lang="uk-UA" altLang="ru-RU" sz="2000" dirty="0"/>
              <a:t>зменшення розмірності простору пошуку АП алгоритм </a:t>
            </a:r>
            <a:r>
              <a:rPr lang="uk-UA" altLang="ru-RU" sz="2000" dirty="0" err="1"/>
              <a:t>Apriori</a:t>
            </a:r>
            <a:r>
              <a:rPr lang="uk-UA" altLang="ru-RU" sz="2000" dirty="0"/>
              <a:t> </a:t>
            </a:r>
            <a:r>
              <a:rPr lang="uk-UA" altLang="ru-RU" sz="2000" dirty="0" smtClean="0"/>
              <a:t>використовує властивість </a:t>
            </a:r>
            <a:r>
              <a:rPr lang="uk-UA" altLang="ru-RU" sz="2000" dirty="0" err="1" smtClean="0"/>
              <a:t>антимонотонності</a:t>
            </a:r>
            <a:r>
              <a:rPr lang="uk-UA" altLang="ru-RU" sz="2000" dirty="0"/>
              <a:t>, яка полягає у тому, що якщо предметний набір Z </a:t>
            </a:r>
            <a:r>
              <a:rPr lang="uk-UA" altLang="ru-RU" sz="2000" dirty="0" smtClean="0"/>
              <a:t>не </a:t>
            </a:r>
            <a:r>
              <a:rPr lang="uk-UA" altLang="ru-RU" sz="2000" dirty="0"/>
              <a:t>є частим, то додавання деякого нового предмету А до набору Z не зробить </a:t>
            </a:r>
            <a:r>
              <a:rPr lang="uk-UA" altLang="ru-RU" sz="2000" dirty="0" smtClean="0"/>
              <a:t>його </a:t>
            </a:r>
            <a:r>
              <a:rPr lang="uk-UA" altLang="ru-RU" sz="2000" dirty="0"/>
              <a:t>більш частішим. Тобто, </a:t>
            </a:r>
            <a:r>
              <a:rPr lang="uk-UA" altLang="ru-RU" sz="2000" dirty="0">
                <a:solidFill>
                  <a:srgbClr val="FF0000"/>
                </a:solidFill>
              </a:rPr>
              <a:t>якщо Z не є частим набором, то й набір Z</a:t>
            </a:r>
            <a:r>
              <a:rPr lang="uk-UA" altLang="ru-RU" sz="2000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uk-UA" altLang="ru-RU" sz="2000" dirty="0">
                <a:solidFill>
                  <a:srgbClr val="FF0000"/>
                </a:solidFill>
              </a:rPr>
              <a:t>А також </a:t>
            </a:r>
            <a:r>
              <a:rPr lang="uk-UA" altLang="ru-RU" sz="2000" dirty="0" smtClean="0">
                <a:solidFill>
                  <a:srgbClr val="FF0000"/>
                </a:solidFill>
              </a:rPr>
              <a:t>не </a:t>
            </a:r>
            <a:r>
              <a:rPr lang="uk-UA" altLang="ru-RU" sz="2000" dirty="0">
                <a:solidFill>
                  <a:srgbClr val="FF0000"/>
                </a:solidFill>
              </a:rPr>
              <a:t>буде </a:t>
            </a:r>
            <a:r>
              <a:rPr lang="uk-UA" altLang="ru-RU" sz="2000" dirty="0" smtClean="0">
                <a:solidFill>
                  <a:srgbClr val="FF0000"/>
                </a:solidFill>
              </a:rPr>
              <a:t>частим.</a:t>
            </a:r>
            <a:endParaRPr lang="uk-UA" altLang="ru-RU" sz="2000" dirty="0">
              <a:solidFill>
                <a:srgbClr val="FF0000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600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4463" y="44084"/>
            <a:ext cx="12192000" cy="721824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Приклад </a:t>
            </a:r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роботи алгоритму </a:t>
            </a:r>
            <a:r>
              <a:rPr lang="en-US" altLang="ru-RU" sz="3600" b="1" dirty="0" err="1" smtClean="0">
                <a:solidFill>
                  <a:schemeClr val="bg1"/>
                </a:solidFill>
                <a:latin typeface="+mn-lt"/>
              </a:rPr>
              <a:t>Apriori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96963"/>
            <a:ext cx="6166338" cy="502248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/>
              <a:t>Розглянемо множину з 14 транзакцій, що містять елементи з </a:t>
            </a:r>
            <a:r>
              <a:rPr lang="uk-UA" altLang="ru-RU" sz="1800" dirty="0" smtClean="0"/>
              <a:t>предметного набору </a:t>
            </a:r>
            <a:r>
              <a:rPr lang="uk-UA" altLang="ru-RU" sz="1800" dirty="0"/>
              <a:t>потужністю 7. </a:t>
            </a:r>
            <a:endParaRPr lang="uk-UA" altLang="ru-RU" sz="1800" dirty="0" smtClean="0"/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 err="1" smtClean="0"/>
              <a:t>Подамо</a:t>
            </a:r>
            <a:r>
              <a:rPr lang="uk-UA" altLang="ru-RU" sz="1800" dirty="0" smtClean="0"/>
              <a:t> </a:t>
            </a:r>
            <a:r>
              <a:rPr lang="uk-UA" altLang="ru-RU" sz="1800" dirty="0"/>
              <a:t>базу даних транзакцій у нормалізованому </a:t>
            </a:r>
            <a:endParaRPr lang="en-US" altLang="ru-RU" sz="1800" dirty="0"/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/>
              <a:t>вигляді, де на перетину рядку транзакції і стовпця предмету ставиться 1, </a:t>
            </a:r>
            <a:r>
              <a:rPr lang="uk-UA" altLang="ru-RU" sz="1800" dirty="0" smtClean="0"/>
              <a:t>якщо </a:t>
            </a:r>
            <a:r>
              <a:rPr lang="uk-UA" altLang="ru-RU" sz="1800" dirty="0"/>
              <a:t>предмет присутній у транзакції, і 0 – в іншому випадку</a:t>
            </a:r>
            <a:r>
              <a:rPr lang="uk-UA" altLang="ru-RU" sz="1800" dirty="0" smtClean="0"/>
              <a:t>:</a:t>
            </a:r>
            <a:endParaRPr lang="uk-UA" altLang="ru-RU" sz="1800" dirty="0"/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/>
              <a:t>Частота появи кожного предмету визначається сумою одиничок у стовпці.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/>
              <a:t>Набори, які зустрічаються у D більше ніж f=4 рази вважатимемо частими.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/>
              <a:t>Знайдемо спочатку </a:t>
            </a:r>
            <a:r>
              <a:rPr lang="uk-UA" altLang="ru-RU" sz="1800" dirty="0" err="1"/>
              <a:t>однопредметні</a:t>
            </a:r>
            <a:r>
              <a:rPr lang="uk-UA" altLang="ru-RU" sz="1800" dirty="0"/>
              <a:t> набори. Оскільки всі суми у стовпцях </a:t>
            </a:r>
            <a:r>
              <a:rPr lang="uk-UA" altLang="ru-RU" sz="1800" dirty="0" smtClean="0"/>
              <a:t>є не </a:t>
            </a:r>
            <a:r>
              <a:rPr lang="uk-UA" altLang="ru-RU" sz="1800" dirty="0"/>
              <a:t>меншими за 4,  усі предмети є частими </a:t>
            </a:r>
            <a:r>
              <a:rPr lang="uk-UA" altLang="ru-RU" sz="1800" dirty="0" err="1"/>
              <a:t>однопредметними</a:t>
            </a:r>
            <a:r>
              <a:rPr lang="uk-UA" altLang="ru-RU" sz="1800" dirty="0"/>
              <a:t> наборами.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/>
              <a:t>Далі визначимо множину 2-х предметних наборів, після чого скоротимо </a:t>
            </a:r>
            <a:r>
              <a:rPr lang="uk-UA" altLang="ru-RU" sz="1800" dirty="0" smtClean="0"/>
              <a:t>отриману </a:t>
            </a:r>
            <a:r>
              <a:rPr lang="uk-UA" altLang="ru-RU" sz="1800" dirty="0"/>
              <a:t>множину з урахуванням властивості </a:t>
            </a:r>
            <a:r>
              <a:rPr lang="uk-UA" altLang="ru-RU" sz="1800" dirty="0" err="1"/>
              <a:t>антімонотонності</a:t>
            </a:r>
            <a:r>
              <a:rPr lang="uk-UA" altLang="ru-RU" sz="1800" dirty="0"/>
              <a:t>. </a:t>
            </a:r>
            <a:endParaRPr lang="uk-UA" altLang="ru-RU" sz="1800" dirty="0" smtClean="0"/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uk-UA" altLang="ru-RU" sz="1800" dirty="0" smtClean="0"/>
              <a:t>Предметні набори</a:t>
            </a:r>
            <a:r>
              <a:rPr lang="uk-UA" altLang="ru-RU" sz="1800" dirty="0"/>
              <a:t>, що залишаться, формують множину </a:t>
            </a:r>
            <a:r>
              <a:rPr lang="uk-UA" altLang="ru-RU" sz="1800" dirty="0" smtClean="0"/>
              <a:t/>
            </a:r>
            <a:br>
              <a:rPr lang="uk-UA" altLang="ru-RU" sz="1800" dirty="0" smtClean="0"/>
            </a:br>
            <a:r>
              <a:rPr lang="uk-UA" altLang="ru-RU" sz="1800" dirty="0" smtClean="0"/>
              <a:t>3-х </a:t>
            </a:r>
            <a:r>
              <a:rPr lang="uk-UA" altLang="ru-RU" sz="1800" dirty="0"/>
              <a:t>предметних наборів F2 і </a:t>
            </a:r>
            <a:r>
              <a:rPr lang="uk-UA" altLang="ru-RU" sz="1800" dirty="0" err="1"/>
              <a:t>т.д</a:t>
            </a:r>
            <a:r>
              <a:rPr lang="uk-UA" altLang="ru-RU" sz="1800" dirty="0"/>
              <a:t>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554" y="1981200"/>
            <a:ext cx="6263909" cy="363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13039"/>
            <a:ext cx="12192000" cy="303332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uk-UA" altLang="ru-RU" sz="1600" dirty="0"/>
              <a:t>Оскільки </a:t>
            </a:r>
            <a:r>
              <a:rPr lang="uk-UA" altLang="ru-RU" sz="1600" dirty="0">
                <a:solidFill>
                  <a:srgbClr val="0000CC"/>
                </a:solidFill>
              </a:rPr>
              <a:t>f=4</a:t>
            </a:r>
            <a:r>
              <a:rPr lang="uk-UA" altLang="ru-RU" sz="1600" dirty="0"/>
              <a:t>, до множини </a:t>
            </a:r>
            <a:r>
              <a:rPr lang="uk-UA" altLang="ru-RU" sz="1600" dirty="0">
                <a:solidFill>
                  <a:srgbClr val="0000CC"/>
                </a:solidFill>
              </a:rPr>
              <a:t>F2</a:t>
            </a:r>
            <a:r>
              <a:rPr lang="uk-UA" altLang="ru-RU" sz="1600" dirty="0"/>
              <a:t> увійдуть лише</a:t>
            </a:r>
            <a:r>
              <a:rPr lang="uk-UA" altLang="ru-RU" sz="1600" dirty="0">
                <a:solidFill>
                  <a:srgbClr val="0000CC"/>
                </a:solidFill>
              </a:rPr>
              <a:t> 7 </a:t>
            </a:r>
            <a:r>
              <a:rPr lang="uk-UA" altLang="ru-RU" sz="1600" dirty="0" smtClean="0"/>
              <a:t>наборів. Згенеруємо </a:t>
            </a:r>
            <a:r>
              <a:rPr lang="uk-UA" altLang="ru-RU" sz="1600" dirty="0"/>
              <a:t>множину 3-х предметних наборів зв’язуванням </a:t>
            </a:r>
            <a:r>
              <a:rPr lang="uk-UA" altLang="ru-RU" sz="1600" dirty="0">
                <a:solidFill>
                  <a:srgbClr val="0000CC"/>
                </a:solidFill>
              </a:rPr>
              <a:t>F2</a:t>
            </a:r>
            <a:r>
              <a:rPr lang="uk-UA" altLang="ru-RU" sz="1600" dirty="0"/>
              <a:t> самої з собою. </a:t>
            </a:r>
            <a:r>
              <a:rPr lang="uk-UA" altLang="ru-RU" sz="1600" dirty="0" smtClean="0"/>
              <a:t>Набори </a:t>
            </a:r>
            <a:r>
              <a:rPr lang="uk-UA" altLang="ru-RU" sz="1600" dirty="0"/>
              <a:t>є </a:t>
            </a:r>
            <a:r>
              <a:rPr lang="uk-UA" altLang="ru-RU" sz="1600" dirty="0" err="1"/>
              <a:t>зв’язуваними</a:t>
            </a:r>
            <a:r>
              <a:rPr lang="uk-UA" altLang="ru-RU" sz="1600" dirty="0"/>
              <a:t>, якщо їх перші </a:t>
            </a:r>
            <a:r>
              <a:rPr lang="uk-UA" altLang="ru-RU" sz="1600" dirty="0">
                <a:solidFill>
                  <a:srgbClr val="0000CC"/>
                </a:solidFill>
              </a:rPr>
              <a:t>k-1</a:t>
            </a:r>
            <a:r>
              <a:rPr lang="uk-UA" altLang="ru-RU" sz="1600" dirty="0"/>
              <a:t> предметів однакові (предмети мають </a:t>
            </a:r>
            <a:r>
              <a:rPr lang="uk-UA" altLang="ru-RU" sz="1600" dirty="0" smtClean="0"/>
              <a:t>розташовуватися </a:t>
            </a:r>
            <a:r>
              <a:rPr lang="uk-UA" altLang="ru-RU" sz="1600" dirty="0"/>
              <a:t>в алфавітному порядку!). Наприклад, набори </a:t>
            </a:r>
            <a:endParaRPr lang="uk-UA" altLang="ru-RU" sz="1600" dirty="0" smtClean="0"/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b="1" dirty="0" smtClean="0">
                <a:solidFill>
                  <a:srgbClr val="0000CC"/>
                </a:solidFill>
              </a:rPr>
              <a:t>{</a:t>
            </a:r>
            <a:r>
              <a:rPr lang="uk-UA" altLang="ru-RU" sz="1600" b="1" dirty="0">
                <a:solidFill>
                  <a:srgbClr val="0000CC"/>
                </a:solidFill>
              </a:rPr>
              <a:t>спаржа, </a:t>
            </a:r>
            <a:r>
              <a:rPr lang="uk-UA" altLang="ru-RU" sz="1600" b="1" dirty="0" smtClean="0">
                <a:solidFill>
                  <a:srgbClr val="0000CC"/>
                </a:solidFill>
              </a:rPr>
              <a:t>квасоля</a:t>
            </a:r>
            <a:r>
              <a:rPr lang="uk-UA" altLang="ru-RU" sz="1600" b="1" dirty="0">
                <a:solidFill>
                  <a:srgbClr val="0000CC"/>
                </a:solidFill>
              </a:rPr>
              <a:t>} </a:t>
            </a:r>
            <a:endParaRPr lang="uk-UA" altLang="ru-RU" sz="1600" b="1" dirty="0" smtClean="0">
              <a:solidFill>
                <a:srgbClr val="0000CC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b="1" dirty="0" smtClean="0">
                <a:solidFill>
                  <a:srgbClr val="0000CC"/>
                </a:solidFill>
              </a:rPr>
              <a:t>{</a:t>
            </a:r>
            <a:r>
              <a:rPr lang="uk-UA" altLang="ru-RU" sz="1600" b="1" dirty="0">
                <a:solidFill>
                  <a:srgbClr val="0000CC"/>
                </a:solidFill>
              </a:rPr>
              <a:t>спаржа, кабачки}, </a:t>
            </a:r>
            <a:endParaRPr lang="uk-UA" altLang="ru-RU" sz="1600" b="1" dirty="0" smtClean="0">
              <a:solidFill>
                <a:srgbClr val="0000CC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dirty="0" smtClean="0"/>
              <a:t>для </a:t>
            </a:r>
            <a:r>
              <a:rPr lang="uk-UA" altLang="ru-RU" sz="1600" dirty="0"/>
              <a:t>яких </a:t>
            </a:r>
            <a:r>
              <a:rPr lang="uk-UA" altLang="ru-RU" sz="1600" dirty="0">
                <a:solidFill>
                  <a:srgbClr val="0000CC"/>
                </a:solidFill>
              </a:rPr>
              <a:t>k=2</a:t>
            </a:r>
            <a:r>
              <a:rPr lang="uk-UA" altLang="ru-RU" sz="1600" dirty="0"/>
              <a:t>, повинні мати для зв’язування </a:t>
            </a:r>
            <a:r>
              <a:rPr lang="uk-UA" altLang="ru-RU" sz="1600" dirty="0">
                <a:solidFill>
                  <a:srgbClr val="0000CC"/>
                </a:solidFill>
              </a:rPr>
              <a:t>(k-1)-</a:t>
            </a:r>
            <a:r>
              <a:rPr lang="uk-UA" altLang="ru-RU" sz="1600" dirty="0"/>
              <a:t>й </a:t>
            </a:r>
            <a:r>
              <a:rPr lang="uk-UA" altLang="ru-RU" sz="1600" dirty="0" smtClean="0"/>
              <a:t>спільний </a:t>
            </a:r>
            <a:r>
              <a:rPr lang="uk-UA" altLang="ru-RU" sz="1600" dirty="0"/>
              <a:t>перший елемент </a:t>
            </a:r>
            <a:r>
              <a:rPr lang="uk-UA" altLang="ru-RU" sz="1600" dirty="0">
                <a:solidFill>
                  <a:srgbClr val="0000CC"/>
                </a:solidFill>
              </a:rPr>
              <a:t>(k-1=1), </a:t>
            </a:r>
            <a:r>
              <a:rPr lang="uk-UA" altLang="ru-RU" sz="1600" dirty="0"/>
              <a:t>яким і є спаржа. Результатом зв’язування є:   </a:t>
            </a: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b="1" dirty="0">
                <a:solidFill>
                  <a:srgbClr val="0000CC"/>
                </a:solidFill>
              </a:rPr>
              <a:t>{спаржа, квасоля}+{спаржа, кабачки} = {спаржа, квасоля, кабачки}.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dirty="0"/>
              <a:t>Аналогічно отримуємо інші 3-х предметні набори: </a:t>
            </a: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b="1" dirty="0">
                <a:solidFill>
                  <a:srgbClr val="0000CC"/>
                </a:solidFill>
              </a:rPr>
              <a:t>{спаржа, квасоля, кабачки};{квасоля, </a:t>
            </a:r>
            <a:r>
              <a:rPr lang="uk-UA" altLang="ru-RU" sz="1600" b="1" dirty="0" err="1">
                <a:solidFill>
                  <a:srgbClr val="0000CC"/>
                </a:solidFill>
              </a:rPr>
              <a:t>кукурудза,кабачки</a:t>
            </a:r>
            <a:r>
              <a:rPr lang="uk-UA" altLang="ru-RU" sz="1600" b="1" dirty="0">
                <a:solidFill>
                  <a:srgbClr val="0000CC"/>
                </a:solidFill>
              </a:rPr>
              <a:t>};</a:t>
            </a: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b="1" dirty="0" smtClean="0">
                <a:solidFill>
                  <a:srgbClr val="0000CC"/>
                </a:solidFill>
              </a:rPr>
              <a:t>{</a:t>
            </a:r>
            <a:r>
              <a:rPr lang="uk-UA" altLang="ru-RU" sz="1600" b="1" dirty="0" err="1">
                <a:solidFill>
                  <a:srgbClr val="0000CC"/>
                </a:solidFill>
              </a:rPr>
              <a:t>квасоля,кабачки,помідори</a:t>
            </a:r>
            <a:r>
              <a:rPr lang="uk-UA" altLang="ru-RU" sz="1600" b="1" dirty="0">
                <a:solidFill>
                  <a:srgbClr val="0000CC"/>
                </a:solidFill>
              </a:rPr>
              <a:t>};{</a:t>
            </a:r>
            <a:r>
              <a:rPr lang="uk-UA" altLang="ru-RU" sz="1600" b="1" dirty="0" err="1">
                <a:solidFill>
                  <a:srgbClr val="0000CC"/>
                </a:solidFill>
              </a:rPr>
              <a:t>квасоля,кукурудза,помідори</a:t>
            </a:r>
            <a:r>
              <a:rPr lang="uk-UA" altLang="ru-RU" sz="1600" b="1" dirty="0" smtClean="0">
                <a:solidFill>
                  <a:srgbClr val="0000CC"/>
                </a:solidFill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600" dirty="0" smtClean="0"/>
              <a:t>Для перевірки </a:t>
            </a:r>
            <a:r>
              <a:rPr lang="uk-UA" altLang="ru-RU" sz="1600" dirty="0" err="1" smtClean="0"/>
              <a:t>антимонотонності</a:t>
            </a:r>
            <a:r>
              <a:rPr lang="uk-UA" altLang="ru-RU" sz="1600" dirty="0" smtClean="0"/>
              <a:t> кожного з отриманих наборів утворимо і перевіримо </a:t>
            </a:r>
            <a:r>
              <a:rPr lang="uk-UA" altLang="ru-RU" sz="1600" dirty="0" err="1" smtClean="0"/>
              <a:t>піднабори</a:t>
            </a:r>
            <a:r>
              <a:rPr lang="uk-UA" altLang="ru-RU" sz="1600" dirty="0" smtClean="0"/>
              <a:t> розмірністю</a:t>
            </a:r>
            <a:r>
              <a:rPr lang="uk-UA" altLang="ru-RU" sz="1600" dirty="0" smtClean="0">
                <a:solidFill>
                  <a:srgbClr val="0000CC"/>
                </a:solidFill>
              </a:rPr>
              <a:t> k-1 </a:t>
            </a:r>
            <a:r>
              <a:rPr lang="uk-UA" altLang="ru-RU" sz="1600" dirty="0" smtClean="0"/>
              <a:t>(</a:t>
            </a:r>
            <a:r>
              <a:rPr lang="uk-UA" altLang="ru-RU" sz="1600" dirty="0" err="1" smtClean="0"/>
              <a:t>двохпредметні</a:t>
            </a:r>
            <a:r>
              <a:rPr lang="uk-UA" altLang="ru-RU" sz="1600" dirty="0" smtClean="0"/>
              <a:t>). Якщо будь-який з цих </a:t>
            </a:r>
            <a:r>
              <a:rPr lang="uk-UA" altLang="ru-RU" sz="1600" dirty="0" err="1" smtClean="0"/>
              <a:t>піднаборів</a:t>
            </a:r>
            <a:r>
              <a:rPr lang="uk-UA" altLang="ru-RU" sz="1600" dirty="0" smtClean="0"/>
              <a:t> не є частим, то і набор не може бути частим і він вилучається з подальшого розгляду. </a:t>
            </a:r>
            <a:endParaRPr lang="uk-UA" altLang="ru-RU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463" y="44084"/>
            <a:ext cx="12192000" cy="7218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Приклад роботи алгоритму </a:t>
            </a:r>
            <a:r>
              <a:rPr lang="en-US" altLang="ru-RU" sz="3600" b="1" dirty="0" err="1" smtClean="0">
                <a:solidFill>
                  <a:schemeClr val="bg1"/>
                </a:solidFill>
                <a:latin typeface="+mn-lt"/>
              </a:rPr>
              <a:t>Apriori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4" y="4093490"/>
            <a:ext cx="5835232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uk-UA" altLang="ru-RU" sz="1600" dirty="0" smtClean="0"/>
              <a:t>Наприклад, для набору </a:t>
            </a:r>
            <a:r>
              <a:rPr lang="uk-UA" altLang="ru-RU" sz="1600" dirty="0" smtClean="0">
                <a:solidFill>
                  <a:srgbClr val="0000CC"/>
                </a:solidFill>
              </a:rPr>
              <a:t>{спаржа, </a:t>
            </a:r>
            <a:r>
              <a:rPr lang="uk-UA" altLang="ru-RU" sz="1600" dirty="0" err="1" smtClean="0">
                <a:solidFill>
                  <a:srgbClr val="0000CC"/>
                </a:solidFill>
              </a:rPr>
              <a:t>квасоля,кабачки</a:t>
            </a:r>
            <a:r>
              <a:rPr lang="uk-UA" altLang="ru-RU" sz="1600" dirty="0" smtClean="0">
                <a:solidFill>
                  <a:srgbClr val="0000CC"/>
                </a:solidFill>
              </a:rPr>
              <a:t>} </a:t>
            </a:r>
            <a:r>
              <a:rPr lang="uk-UA" altLang="ru-RU" sz="1600" dirty="0" smtClean="0"/>
              <a:t>треба розглянути </a:t>
            </a:r>
            <a:r>
              <a:rPr lang="uk-UA" altLang="ru-RU" sz="1600" dirty="0" err="1" smtClean="0"/>
              <a:t>піднабори</a:t>
            </a:r>
            <a:r>
              <a:rPr lang="uk-UA" altLang="ru-RU" sz="1600" dirty="0" smtClean="0"/>
              <a:t>: </a:t>
            </a:r>
          </a:p>
          <a:p>
            <a:pPr algn="ctr">
              <a:spcBef>
                <a:spcPct val="0"/>
              </a:spcBef>
            </a:pPr>
            <a:r>
              <a:rPr lang="uk-UA" altLang="ru-RU" sz="1600" dirty="0" smtClean="0">
                <a:solidFill>
                  <a:srgbClr val="0000CC"/>
                </a:solidFill>
              </a:rPr>
              <a:t>{спаржа, квасоля }, (</a:t>
            </a:r>
            <a:r>
              <a:rPr lang="en-US" altLang="ru-RU" sz="1600" dirty="0" smtClean="0">
                <a:solidFill>
                  <a:srgbClr val="0000CC"/>
                </a:solidFill>
              </a:rPr>
              <a:t>f=</a:t>
            </a:r>
            <a:r>
              <a:rPr lang="uk-UA" altLang="ru-RU" sz="1600" dirty="0" smtClean="0">
                <a:solidFill>
                  <a:srgbClr val="0000CC"/>
                </a:solidFill>
              </a:rPr>
              <a:t>5), </a:t>
            </a:r>
          </a:p>
          <a:p>
            <a:pPr algn="ctr">
              <a:spcBef>
                <a:spcPct val="0"/>
              </a:spcBef>
            </a:pPr>
            <a:r>
              <a:rPr lang="uk-UA" altLang="ru-RU" sz="1600" dirty="0" smtClean="0">
                <a:solidFill>
                  <a:srgbClr val="0000CC"/>
                </a:solidFill>
              </a:rPr>
              <a:t>{спаржа, кабачки}, (</a:t>
            </a:r>
            <a:r>
              <a:rPr lang="en-US" altLang="ru-RU" sz="1600" dirty="0" smtClean="0">
                <a:solidFill>
                  <a:srgbClr val="0000CC"/>
                </a:solidFill>
              </a:rPr>
              <a:t>f=</a:t>
            </a:r>
            <a:r>
              <a:rPr lang="uk-UA" altLang="ru-RU" sz="1600" dirty="0" smtClean="0">
                <a:solidFill>
                  <a:srgbClr val="0000CC"/>
                </a:solidFill>
              </a:rPr>
              <a:t>5), </a:t>
            </a:r>
          </a:p>
          <a:p>
            <a:pPr algn="ctr">
              <a:spcBef>
                <a:spcPct val="0"/>
              </a:spcBef>
            </a:pPr>
            <a:r>
              <a:rPr lang="uk-UA" altLang="ru-RU" sz="1600" dirty="0" smtClean="0">
                <a:solidFill>
                  <a:srgbClr val="0000CC"/>
                </a:solidFill>
              </a:rPr>
              <a:t>{</a:t>
            </a:r>
            <a:r>
              <a:rPr lang="uk-UA" altLang="ru-RU" sz="1600" dirty="0" err="1" smtClean="0">
                <a:solidFill>
                  <a:srgbClr val="0000CC"/>
                </a:solidFill>
              </a:rPr>
              <a:t>квасоля,кабачки</a:t>
            </a:r>
            <a:r>
              <a:rPr lang="uk-UA" altLang="ru-RU" sz="1600" dirty="0" smtClean="0">
                <a:solidFill>
                  <a:srgbClr val="0000CC"/>
                </a:solidFill>
              </a:rPr>
              <a:t>}, (</a:t>
            </a:r>
            <a:r>
              <a:rPr lang="en-US" altLang="ru-RU" sz="1600" dirty="0" smtClean="0">
                <a:solidFill>
                  <a:srgbClr val="0000CC"/>
                </a:solidFill>
              </a:rPr>
              <a:t>f=</a:t>
            </a:r>
            <a:r>
              <a:rPr lang="uk-UA" altLang="ru-RU" sz="1600" dirty="0" smtClean="0">
                <a:solidFill>
                  <a:srgbClr val="0000CC"/>
                </a:solidFill>
              </a:rPr>
              <a:t>6). </a:t>
            </a:r>
          </a:p>
          <a:p>
            <a:pPr>
              <a:spcBef>
                <a:spcPct val="0"/>
              </a:spcBef>
            </a:pPr>
            <a:r>
              <a:rPr lang="uk-UA" altLang="ru-RU" sz="1600" dirty="0" smtClean="0"/>
              <a:t>Усі ці 2-набори є частими, отож частим є і 3-набір {спаржа, квасоля, кабачки}. Аналогічно можна впевнитись, що й набір </a:t>
            </a:r>
            <a:r>
              <a:rPr lang="uk-UA" altLang="ru-RU" sz="1600" dirty="0" smtClean="0">
                <a:solidFill>
                  <a:srgbClr val="0000CC"/>
                </a:solidFill>
              </a:rPr>
              <a:t>{квасоля, кукурудза, помідори}</a:t>
            </a:r>
            <a:r>
              <a:rPr lang="uk-UA" altLang="ru-RU" sz="1600" dirty="0" smtClean="0"/>
              <a:t> також є частим, а набори </a:t>
            </a:r>
            <a:r>
              <a:rPr lang="uk-UA" altLang="ru-RU" sz="1600" dirty="0" smtClean="0">
                <a:solidFill>
                  <a:srgbClr val="0000CC"/>
                </a:solidFill>
              </a:rPr>
              <a:t>{квасоля, кукурудза, кабачки} </a:t>
            </a:r>
            <a:r>
              <a:rPr lang="uk-UA" altLang="ru-RU" sz="1600" dirty="0" smtClean="0"/>
              <a:t>і </a:t>
            </a:r>
            <a:r>
              <a:rPr lang="uk-UA" altLang="ru-RU" sz="1600" dirty="0" smtClean="0">
                <a:solidFill>
                  <a:srgbClr val="0000CC"/>
                </a:solidFill>
              </a:rPr>
              <a:t>{квасоля, кабачки, помідори} </a:t>
            </a:r>
            <a:r>
              <a:rPr lang="uk-UA" altLang="ru-RU" sz="1600" dirty="0" smtClean="0"/>
              <a:t>не є частими. </a:t>
            </a:r>
            <a:endParaRPr lang="ru-RU" sz="16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344" y="4278249"/>
            <a:ext cx="6257656" cy="193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094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574758"/>
            <a:ext cx="12192000" cy="575945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/>
              <a:t>Отож, множина </a:t>
            </a:r>
            <a:r>
              <a:rPr lang="uk-UA" altLang="ru-RU" sz="1800" b="1" dirty="0"/>
              <a:t>F3</a:t>
            </a:r>
            <a:r>
              <a:rPr lang="uk-UA" altLang="ru-RU" sz="1800" dirty="0"/>
              <a:t> утворюється з двох наборів, які вже не можна зв’язати між </a:t>
            </a:r>
            <a:r>
              <a:rPr lang="uk-UA" altLang="ru-RU" sz="1800" dirty="0" smtClean="0"/>
              <a:t>собою</a:t>
            </a:r>
            <a:r>
              <a:rPr lang="uk-UA" altLang="ru-RU" sz="1800" dirty="0"/>
              <a:t>. Тому задача пошуку частих предметних наборів на заданій множині </a:t>
            </a:r>
            <a:r>
              <a:rPr lang="uk-UA" altLang="ru-RU" sz="1800" dirty="0" smtClean="0"/>
              <a:t>транзакцій є вирішеною </a:t>
            </a:r>
            <a:r>
              <a:rPr lang="uk-UA" altLang="ru-RU" sz="1800" dirty="0"/>
              <a:t>і можна переходити до генерації АП. Для цього, до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/>
              <a:t>кожного частого набору s треба застосувати </a:t>
            </a:r>
            <a:r>
              <a:rPr lang="uk-UA" altLang="ru-RU" sz="1800" dirty="0" err="1" smtClean="0"/>
              <a:t>двохкрокову</a:t>
            </a:r>
            <a:r>
              <a:rPr lang="uk-UA" altLang="ru-RU" sz="1800" dirty="0" smtClean="0"/>
              <a:t> </a:t>
            </a:r>
            <a:r>
              <a:rPr lang="uk-UA" altLang="ru-RU" sz="1800" dirty="0"/>
              <a:t>процедуру: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b="1" dirty="0">
                <a:solidFill>
                  <a:srgbClr val="0000CC"/>
                </a:solidFill>
              </a:rPr>
              <a:t>1. Генерування усіх можливих </a:t>
            </a:r>
            <a:r>
              <a:rPr lang="uk-UA" altLang="ru-RU" sz="1800" b="1" dirty="0" err="1">
                <a:solidFill>
                  <a:srgbClr val="0000CC"/>
                </a:solidFill>
              </a:rPr>
              <a:t>піднаборів</a:t>
            </a:r>
            <a:r>
              <a:rPr lang="uk-UA" altLang="ru-RU" sz="1800" b="1" dirty="0">
                <a:solidFill>
                  <a:srgbClr val="0000CC"/>
                </a:solidFill>
              </a:rPr>
              <a:t> s;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>
                <a:solidFill>
                  <a:srgbClr val="0000CC"/>
                </a:solidFill>
              </a:rPr>
              <a:t>2. </a:t>
            </a:r>
            <a:r>
              <a:rPr lang="uk-UA" altLang="ru-RU" sz="1800" b="1" dirty="0">
                <a:solidFill>
                  <a:srgbClr val="0000CC"/>
                </a:solidFill>
              </a:rPr>
              <a:t>Якщо </a:t>
            </a:r>
            <a:r>
              <a:rPr lang="uk-UA" altLang="ru-RU" sz="1800" b="1" dirty="0" err="1">
                <a:solidFill>
                  <a:srgbClr val="0000CC"/>
                </a:solidFill>
              </a:rPr>
              <a:t>піднабір</a:t>
            </a:r>
            <a:r>
              <a:rPr lang="uk-UA" altLang="ru-RU" sz="1800" b="1" dirty="0">
                <a:solidFill>
                  <a:srgbClr val="0000CC"/>
                </a:solidFill>
              </a:rPr>
              <a:t> </a:t>
            </a:r>
            <a:r>
              <a:rPr lang="uk-UA" altLang="ru-RU" sz="1800" b="1" dirty="0" err="1">
                <a:solidFill>
                  <a:srgbClr val="0000CC"/>
                </a:solidFill>
              </a:rPr>
              <a:t>ss</a:t>
            </a:r>
            <a:r>
              <a:rPr lang="uk-UA" altLang="ru-RU" sz="1800" b="1" dirty="0">
                <a:solidFill>
                  <a:srgbClr val="0000CC"/>
                </a:solidFill>
              </a:rPr>
              <a:t> є непустим </a:t>
            </a:r>
            <a:r>
              <a:rPr lang="uk-UA" altLang="ru-RU" sz="1800" b="1" dirty="0" err="1">
                <a:solidFill>
                  <a:srgbClr val="0000CC"/>
                </a:solidFill>
              </a:rPr>
              <a:t>піднабором</a:t>
            </a:r>
            <a:r>
              <a:rPr lang="uk-UA" altLang="ru-RU" sz="1800" b="1" dirty="0">
                <a:solidFill>
                  <a:srgbClr val="0000CC"/>
                </a:solidFill>
              </a:rPr>
              <a:t> s, то розглядається асоціація R: </a:t>
            </a:r>
            <a:r>
              <a:rPr lang="uk-UA" altLang="ru-RU" sz="1800" dirty="0" err="1">
                <a:solidFill>
                  <a:srgbClr val="0000CC"/>
                </a:solidFill>
              </a:rPr>
              <a:t>ss</a:t>
            </a:r>
            <a:r>
              <a:rPr lang="en-US" altLang="ru-RU" sz="1800" dirty="0">
                <a:solidFill>
                  <a:srgbClr val="0000CC"/>
                </a:solidFill>
              </a:rPr>
              <a:t>s </a:t>
            </a:r>
            <a:r>
              <a:rPr lang="uk-UA" altLang="ru-RU" sz="1800" dirty="0" smtClean="0">
                <a:solidFill>
                  <a:srgbClr val="0000CC"/>
                </a:solidFill>
              </a:rPr>
              <a:t>, </a:t>
            </a:r>
            <a:r>
              <a:rPr lang="en-US" altLang="ru-RU" sz="1800" dirty="0" err="1" smtClean="0">
                <a:solidFill>
                  <a:srgbClr val="0000CC"/>
                </a:solidFill>
              </a:rPr>
              <a:t>де</a:t>
            </a:r>
            <a:r>
              <a:rPr lang="en-US" altLang="ru-RU" sz="1800" dirty="0" smtClean="0">
                <a:solidFill>
                  <a:srgbClr val="0000CC"/>
                </a:solidFill>
              </a:rPr>
              <a:t> </a:t>
            </a:r>
            <a:r>
              <a:rPr lang="uk-UA" altLang="ru-RU" sz="1800" dirty="0" smtClean="0">
                <a:solidFill>
                  <a:srgbClr val="0000CC"/>
                </a:solidFill>
              </a:rPr>
              <a:t> </a:t>
            </a:r>
            <a:r>
              <a:rPr lang="uk-UA" altLang="ru-RU" sz="1800" dirty="0">
                <a:solidFill>
                  <a:srgbClr val="0000CC"/>
                </a:solidFill>
              </a:rPr>
              <a:t>s – </a:t>
            </a:r>
            <a:r>
              <a:rPr lang="uk-UA" altLang="ru-RU" sz="1800" dirty="0" err="1">
                <a:solidFill>
                  <a:srgbClr val="0000CC"/>
                </a:solidFill>
              </a:rPr>
              <a:t>ss</a:t>
            </a:r>
            <a:r>
              <a:rPr lang="uk-UA" altLang="ru-RU" sz="1800" dirty="0">
                <a:solidFill>
                  <a:srgbClr val="0000CC"/>
                </a:solidFill>
              </a:rPr>
              <a:t> є набором s без під набору </a:t>
            </a:r>
            <a:r>
              <a:rPr lang="uk-UA" altLang="ru-RU" sz="1800" dirty="0" err="1">
                <a:solidFill>
                  <a:srgbClr val="0000CC"/>
                </a:solidFill>
              </a:rPr>
              <a:t>ss</a:t>
            </a:r>
            <a:r>
              <a:rPr lang="uk-UA" altLang="ru-RU" sz="1800" dirty="0">
                <a:solidFill>
                  <a:srgbClr val="0000CC"/>
                </a:solidFill>
              </a:rPr>
              <a:t>. R є АП, якщо вона задовольняє </a:t>
            </a:r>
            <a:r>
              <a:rPr lang="uk-UA" altLang="ru-RU" sz="1800" dirty="0" smtClean="0">
                <a:solidFill>
                  <a:srgbClr val="0000CC"/>
                </a:solidFill>
              </a:rPr>
              <a:t>обмеженням </a:t>
            </a:r>
            <a:r>
              <a:rPr lang="uk-UA" altLang="ru-RU" sz="1800" dirty="0">
                <a:solidFill>
                  <a:srgbClr val="0000CC"/>
                </a:solidFill>
              </a:rPr>
              <a:t>мінімуму підтримки і достовірності</a:t>
            </a:r>
            <a:r>
              <a:rPr lang="uk-UA" altLang="ru-RU" sz="1800" dirty="0"/>
              <a:t>. </a:t>
            </a:r>
            <a:endParaRPr lang="uk-UA" altLang="ru-RU" sz="1800" dirty="0" smtClean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 smtClean="0"/>
              <a:t>Процедура </a:t>
            </a:r>
            <a:r>
              <a:rPr lang="uk-UA" altLang="ru-RU" sz="1800" dirty="0"/>
              <a:t>повторюється для </a:t>
            </a:r>
            <a:r>
              <a:rPr lang="uk-UA" altLang="ru-RU" sz="1800" dirty="0" smtClean="0"/>
              <a:t>кожної </a:t>
            </a:r>
            <a:r>
              <a:rPr lang="uk-UA" altLang="ru-RU" sz="1800" dirty="0"/>
              <a:t>підмножини </a:t>
            </a:r>
            <a:r>
              <a:rPr lang="uk-UA" altLang="ru-RU" sz="1800" b="1" dirty="0" err="1"/>
              <a:t>ss</a:t>
            </a:r>
            <a:r>
              <a:rPr lang="uk-UA" altLang="ru-RU" sz="1800" dirty="0"/>
              <a:t> з </a:t>
            </a:r>
            <a:r>
              <a:rPr lang="uk-UA" altLang="ru-RU" sz="1800" b="1" dirty="0">
                <a:solidFill>
                  <a:srgbClr val="0000CC"/>
                </a:solidFill>
              </a:rPr>
              <a:t>s</a:t>
            </a:r>
            <a:r>
              <a:rPr lang="uk-UA" altLang="ru-RU" sz="1800" dirty="0"/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800" dirty="0" smtClean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 smtClean="0"/>
              <a:t>Розглянемо </a:t>
            </a:r>
            <a:r>
              <a:rPr lang="uk-UA" altLang="ru-RU" sz="1800" dirty="0"/>
              <a:t>набори - кандидати у АП з 2 предметами в умові, наприклад набір </a:t>
            </a:r>
            <a:r>
              <a:rPr lang="en-US" altLang="ru-RU" sz="1800" b="1" dirty="0" smtClean="0">
                <a:solidFill>
                  <a:srgbClr val="0000CC"/>
                </a:solidFill>
              </a:rPr>
              <a:t>s</a:t>
            </a:r>
            <a:r>
              <a:rPr lang="en-US" altLang="ru-RU" sz="1800" b="1" dirty="0">
                <a:solidFill>
                  <a:srgbClr val="0000CC"/>
                </a:solidFill>
              </a:rPr>
              <a:t>=</a:t>
            </a:r>
            <a:r>
              <a:rPr lang="uk-UA" altLang="ru-RU" sz="1800" b="1" dirty="0">
                <a:solidFill>
                  <a:srgbClr val="0000CC"/>
                </a:solidFill>
              </a:rPr>
              <a:t>{спаржа, квасоля, кабачки} </a:t>
            </a:r>
            <a:r>
              <a:rPr lang="uk-UA" altLang="ru-RU" sz="1800" dirty="0"/>
              <a:t>з множини </a:t>
            </a:r>
            <a:r>
              <a:rPr lang="uk-UA" altLang="ru-RU" sz="1800" b="1" dirty="0"/>
              <a:t>F3</a:t>
            </a:r>
            <a:r>
              <a:rPr lang="uk-UA" altLang="ru-RU" sz="1800" dirty="0"/>
              <a:t>. Відповідними </a:t>
            </a:r>
            <a:r>
              <a:rPr lang="uk-UA" altLang="ru-RU" sz="1800" dirty="0" err="1" smtClean="0"/>
              <a:t>піднаборами</a:t>
            </a:r>
            <a:r>
              <a:rPr lang="uk-UA" altLang="ru-RU" sz="1800" dirty="0" smtClean="0"/>
              <a:t> </a:t>
            </a:r>
            <a:r>
              <a:rPr lang="uk-UA" altLang="ru-RU" sz="1800" b="1" dirty="0">
                <a:solidFill>
                  <a:srgbClr val="0000CC"/>
                </a:solidFill>
              </a:rPr>
              <a:t>s</a:t>
            </a:r>
            <a:r>
              <a:rPr lang="uk-UA" altLang="ru-RU" sz="1800" dirty="0"/>
              <a:t> </a:t>
            </a:r>
            <a:r>
              <a:rPr lang="uk-UA" altLang="ru-RU" sz="1800" dirty="0" smtClean="0"/>
              <a:t>будуть:</a:t>
            </a: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b="1" dirty="0" smtClean="0">
                <a:solidFill>
                  <a:srgbClr val="0000CC"/>
                </a:solidFill>
              </a:rPr>
              <a:t>{</a:t>
            </a:r>
            <a:r>
              <a:rPr lang="uk-UA" altLang="ru-RU" sz="1800" b="1" dirty="0">
                <a:solidFill>
                  <a:srgbClr val="0000CC"/>
                </a:solidFill>
              </a:rPr>
              <a:t>спаржа}, {квасоля}, {кабачки}, {спаржа, квасоля}, {спаржа, кабачки}</a:t>
            </a:r>
            <a:r>
              <a:rPr lang="uk-UA" altLang="ru-RU" sz="1800" b="1" dirty="0" smtClean="0">
                <a:solidFill>
                  <a:srgbClr val="0000CC"/>
                </a:solidFill>
              </a:rPr>
              <a:t>, {</a:t>
            </a:r>
            <a:r>
              <a:rPr lang="uk-UA" altLang="ru-RU" sz="1800" b="1" dirty="0">
                <a:solidFill>
                  <a:srgbClr val="0000CC"/>
                </a:solidFill>
              </a:rPr>
              <a:t>квасоля, кабачки}. </a:t>
            </a:r>
            <a:endParaRPr lang="uk-UA" altLang="ru-RU" sz="1800" b="1" dirty="0" smtClean="0">
              <a:solidFill>
                <a:srgbClr val="0000CC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uk-UA" altLang="ru-RU" sz="1800" dirty="0" smtClean="0"/>
              <a:t>Проаналізуємо </a:t>
            </a:r>
            <a:r>
              <a:rPr lang="uk-UA" altLang="ru-RU" sz="1800" dirty="0"/>
              <a:t>утворювані асоціативні правила з двома </a:t>
            </a:r>
            <a:r>
              <a:rPr lang="uk-UA" altLang="ru-RU" sz="1800" dirty="0" smtClean="0"/>
              <a:t>предметами </a:t>
            </a:r>
            <a:r>
              <a:rPr lang="uk-UA" altLang="ru-RU" sz="1800" dirty="0"/>
              <a:t>в умові: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8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4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4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4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400" dirty="0"/>
          </a:p>
          <a:p>
            <a:pPr marL="0" indent="0">
              <a:lnSpc>
                <a:spcPct val="100000"/>
              </a:lnSpc>
            </a:pPr>
            <a:endParaRPr lang="uk-UA" altLang="ru-RU" sz="1600" dirty="0"/>
          </a:p>
          <a:p>
            <a:pPr marL="0" indent="0">
              <a:lnSpc>
                <a:spcPct val="100000"/>
              </a:lnSpc>
              <a:buNone/>
            </a:pPr>
            <a:r>
              <a:rPr lang="uk-UA" altLang="ru-RU" sz="1600" dirty="0"/>
              <a:t>Для порогу достовірності 60% всі отримані асоціації будуть правилами. Для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uk-UA" altLang="ru-RU" sz="1600" dirty="0"/>
              <a:t>порогу 0,8 - правилами будуть лише дві перші асоціації.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uk-UA" altLang="ru-RU" sz="1600" dirty="0"/>
              <a:t>Тепер розглянемо кандидатів у правила, що мають одну умову і один наслідок,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uk-UA" altLang="ru-RU" sz="1600" dirty="0"/>
              <a:t>які згенеруємо на основі отриманої раніше множини F2, яка складалась з 7 2-х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uk-UA" altLang="ru-RU" sz="1600" dirty="0"/>
              <a:t>предметних наборів.</a:t>
            </a:r>
            <a:endParaRPr lang="uk-UA" altLang="ru-RU" sz="14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uk-UA" altLang="ru-RU" sz="1400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856" y="1129716"/>
            <a:ext cx="6323512" cy="144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463" y="44084"/>
            <a:ext cx="12192000" cy="7218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Приклад роботи алгоритму </a:t>
            </a:r>
            <a:r>
              <a:rPr lang="en-US" altLang="ru-RU" sz="3600" b="1" dirty="0" err="1" smtClean="0">
                <a:solidFill>
                  <a:schemeClr val="bg1"/>
                </a:solidFill>
                <a:latin typeface="+mn-lt"/>
              </a:rPr>
              <a:t>Apriori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665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7908" y="5366192"/>
            <a:ext cx="11746523" cy="917377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uk-UA" altLang="ru-RU" sz="1800" dirty="0" smtClean="0"/>
              <a:t>Розроблені </a:t>
            </a:r>
            <a:r>
              <a:rPr lang="uk-UA" altLang="ru-RU" sz="1800" dirty="0"/>
              <a:t>правила можна використати для розробки більш досконалої </a:t>
            </a:r>
            <a:r>
              <a:rPr lang="uk-UA" altLang="ru-RU" sz="1800" dirty="0" smtClean="0"/>
              <a:t> </a:t>
            </a:r>
            <a:r>
              <a:rPr lang="uk-UA" altLang="ru-RU" sz="1800" b="1" dirty="0" smtClean="0"/>
              <a:t>маркетингової </a:t>
            </a:r>
            <a:r>
              <a:rPr lang="uk-UA" altLang="ru-RU" sz="1800" b="1" dirty="0"/>
              <a:t>стратегії, оптимізації </a:t>
            </a:r>
            <a:r>
              <a:rPr lang="uk-UA" altLang="ru-RU" sz="1800" b="1" dirty="0" err="1"/>
              <a:t>закупівель</a:t>
            </a:r>
            <a:r>
              <a:rPr lang="uk-UA" altLang="ru-RU" sz="1800" b="1" dirty="0"/>
              <a:t> і розміщення товарів </a:t>
            </a:r>
            <a:r>
              <a:rPr lang="uk-UA" altLang="ru-RU" sz="1800" dirty="0"/>
              <a:t>на </a:t>
            </a:r>
            <a:r>
              <a:rPr lang="uk-UA" altLang="ru-RU" sz="1800" dirty="0" smtClean="0"/>
              <a:t>прилавках </a:t>
            </a:r>
            <a:r>
              <a:rPr lang="uk-UA" altLang="ru-RU" sz="1800" dirty="0"/>
              <a:t>і вітринах.</a:t>
            </a:r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255" y="1127456"/>
            <a:ext cx="9364745" cy="194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21" y="3385405"/>
            <a:ext cx="7764201" cy="198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4463" y="44084"/>
            <a:ext cx="12192000" cy="7218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Приклад роботи алгоритму </a:t>
            </a:r>
            <a:r>
              <a:rPr lang="en-US" altLang="ru-RU" sz="3600" b="1" dirty="0" err="1" smtClean="0">
                <a:solidFill>
                  <a:schemeClr val="bg1"/>
                </a:solidFill>
                <a:latin typeface="+mn-lt"/>
              </a:rPr>
              <a:t>Apriori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1070881"/>
            <a:ext cx="28272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uk-UA" altLang="ru-RU" dirty="0"/>
              <a:t>Для перевірки значущості генерованих правил, </a:t>
            </a:r>
            <a:r>
              <a:rPr lang="uk-UA" altLang="ru-RU" b="1" dirty="0"/>
              <a:t>перемножимо їх значення </a:t>
            </a:r>
            <a:r>
              <a:rPr lang="uk-UA" altLang="ru-RU" b="1" dirty="0" smtClean="0"/>
              <a:t>підтримки </a:t>
            </a:r>
            <a:r>
              <a:rPr lang="uk-UA" altLang="ru-RU" b="1" dirty="0"/>
              <a:t>і достовірності </a:t>
            </a:r>
            <a:r>
              <a:rPr lang="uk-UA" altLang="ru-RU" dirty="0"/>
              <a:t>та </a:t>
            </a:r>
            <a:r>
              <a:rPr lang="uk-UA" altLang="ru-RU" b="1" dirty="0" err="1"/>
              <a:t>проранжуємо</a:t>
            </a:r>
            <a:r>
              <a:rPr lang="uk-UA" altLang="ru-RU" dirty="0"/>
              <a:t> їх. Включимо до переліку правил </a:t>
            </a:r>
            <a:r>
              <a:rPr lang="uk-UA" altLang="ru-RU" dirty="0" smtClean="0"/>
              <a:t>лише </a:t>
            </a:r>
            <a:r>
              <a:rPr lang="uk-UA" altLang="ru-RU" dirty="0"/>
              <a:t>ті асоціації, для яких отримане </a:t>
            </a:r>
            <a:r>
              <a:rPr lang="uk-UA" altLang="ru-RU" dirty="0" smtClean="0"/>
              <a:t>значення </a:t>
            </a:r>
            <a:r>
              <a:rPr lang="uk-UA" altLang="ru-RU" dirty="0"/>
              <a:t>складе не менше за </a:t>
            </a:r>
            <a:r>
              <a:rPr lang="uk-UA" altLang="ru-RU" b="1" dirty="0">
                <a:solidFill>
                  <a:srgbClr val="0000CC"/>
                </a:solidFill>
              </a:rPr>
              <a:t>80%:</a:t>
            </a:r>
            <a:endParaRPr lang="uk-UA" altLang="ru-RU" b="1" dirty="0">
              <a:solidFill>
                <a:srgbClr val="0000CC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730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5888"/>
            <a:ext cx="12192000" cy="5048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Послідовні</a:t>
            </a:r>
            <a:r>
              <a:rPr lang="ru-RU" alt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altLang="ru-RU" sz="3600" b="1" dirty="0" err="1" smtClean="0">
                <a:solidFill>
                  <a:schemeClr val="bg1"/>
                </a:solidFill>
                <a:latin typeface="+mn-lt"/>
              </a:rPr>
              <a:t>шаблони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1071893"/>
            <a:ext cx="12192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err="1" smtClean="0"/>
              <a:t>Асоціативні</a:t>
            </a:r>
            <a:r>
              <a:rPr lang="ru-RU" b="1" dirty="0" smtClean="0"/>
              <a:t> правила (АП) </a:t>
            </a:r>
            <a:r>
              <a:rPr lang="ru-RU" b="1" dirty="0" err="1" smtClean="0"/>
              <a:t>мають</a:t>
            </a:r>
            <a:r>
              <a:rPr lang="ru-RU" b="1" dirty="0" smtClean="0"/>
              <a:t> ряд </a:t>
            </a:r>
            <a:r>
              <a:rPr lang="ru-RU" b="1" dirty="0" err="1" smtClean="0"/>
              <a:t>обмежень</a:t>
            </a:r>
            <a:r>
              <a:rPr lang="ru-RU" b="1" dirty="0" smtClean="0"/>
              <a:t>, </a:t>
            </a:r>
            <a:r>
              <a:rPr lang="ru-RU" b="1" dirty="0" err="1" smtClean="0"/>
              <a:t>які</a:t>
            </a:r>
            <a:r>
              <a:rPr lang="ru-RU" b="1" dirty="0" smtClean="0"/>
              <a:t> </a:t>
            </a:r>
            <a:r>
              <a:rPr lang="ru-RU" b="1" dirty="0" err="1" smtClean="0"/>
              <a:t>обмежують</a:t>
            </a:r>
            <a:r>
              <a:rPr lang="ru-RU" b="1" dirty="0" smtClean="0"/>
              <a:t> </a:t>
            </a:r>
            <a:r>
              <a:rPr lang="ru-RU" b="1" dirty="0" err="1" smtClean="0"/>
              <a:t>можливості</a:t>
            </a:r>
            <a:r>
              <a:rPr lang="ru-RU" b="1" dirty="0" smtClean="0"/>
              <a:t> </a:t>
            </a:r>
            <a:r>
              <a:rPr lang="ru-RU" b="1" dirty="0" err="1" smtClean="0"/>
              <a:t>аналізу</a:t>
            </a:r>
            <a:r>
              <a:rPr lang="ru-RU" b="1" dirty="0" smtClean="0"/>
              <a:t> </a:t>
            </a:r>
            <a:r>
              <a:rPr lang="ru-RU" b="1" dirty="0" err="1" smtClean="0"/>
              <a:t>асоціацій</a:t>
            </a:r>
            <a:r>
              <a:rPr lang="ru-RU" b="1" dirty="0" smtClean="0"/>
              <a:t>: </a:t>
            </a:r>
          </a:p>
          <a:p>
            <a:pPr marL="342900" indent="-342900">
              <a:buAutoNum type="arabicPeriod"/>
            </a:pPr>
            <a:r>
              <a:rPr lang="ru-RU" dirty="0" smtClean="0"/>
              <a:t>АП </a:t>
            </a:r>
            <a:r>
              <a:rPr lang="ru-RU" b="1" dirty="0" err="1" smtClean="0"/>
              <a:t>враховують</a:t>
            </a:r>
            <a:r>
              <a:rPr lang="ru-RU" dirty="0" smtClean="0"/>
              <a:t> </a:t>
            </a:r>
            <a:r>
              <a:rPr lang="ru-RU" dirty="0" err="1" smtClean="0"/>
              <a:t>лише</a:t>
            </a:r>
            <a:r>
              <a:rPr lang="ru-RU" dirty="0" smtClean="0"/>
              <a:t> </a:t>
            </a:r>
            <a:r>
              <a:rPr lang="ru-RU" dirty="0" err="1" smtClean="0"/>
              <a:t>факти</a:t>
            </a:r>
            <a:r>
              <a:rPr lang="ru-RU" dirty="0" smtClean="0"/>
              <a:t> </a:t>
            </a:r>
            <a:r>
              <a:rPr lang="ru-RU" dirty="0" err="1" smtClean="0">
                <a:solidFill>
                  <a:srgbClr val="0000CC"/>
                </a:solidFill>
              </a:rPr>
              <a:t>спільної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появи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товарів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smtClean="0"/>
              <a:t>і </a:t>
            </a:r>
            <a:r>
              <a:rPr lang="ru-RU" b="1" dirty="0" smtClean="0"/>
              <a:t>не </a:t>
            </a:r>
            <a:r>
              <a:rPr lang="ru-RU" b="1" dirty="0" err="1" smtClean="0"/>
              <a:t>враховують</a:t>
            </a:r>
            <a:r>
              <a:rPr lang="ru-RU" b="1" dirty="0" smtClean="0"/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часовий</a:t>
            </a:r>
            <a:r>
              <a:rPr lang="ru-RU" b="1" dirty="0" smtClean="0">
                <a:solidFill>
                  <a:srgbClr val="0000CC"/>
                </a:solidFill>
              </a:rPr>
              <a:t> аспект </a:t>
            </a:r>
            <a:r>
              <a:rPr lang="ru-RU" b="1" dirty="0" err="1" smtClean="0">
                <a:solidFill>
                  <a:srgbClr val="0000CC"/>
                </a:solidFill>
              </a:rPr>
              <a:t>послідовності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появи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товарів</a:t>
            </a:r>
            <a:r>
              <a:rPr lang="ru-RU" b="1" dirty="0" smtClean="0">
                <a:solidFill>
                  <a:srgbClr val="0000CC"/>
                </a:solidFill>
              </a:rPr>
              <a:t> і </a:t>
            </a:r>
            <a:r>
              <a:rPr lang="ru-RU" b="1" dirty="0" err="1" smtClean="0">
                <a:solidFill>
                  <a:srgbClr val="0000CC"/>
                </a:solidFill>
              </a:rPr>
              <a:t>динаміку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продажів</a:t>
            </a:r>
            <a:r>
              <a:rPr lang="ru-RU" dirty="0" smtClean="0"/>
              <a:t>. </a:t>
            </a:r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 err="1" smtClean="0"/>
              <a:t>розглянути</a:t>
            </a:r>
            <a:r>
              <a:rPr lang="ru-RU" dirty="0" smtClean="0"/>
              <a:t>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ru-RU" dirty="0" err="1" smtClean="0"/>
              <a:t>подій</a:t>
            </a:r>
            <a:r>
              <a:rPr lang="ru-RU" dirty="0" smtClean="0"/>
              <a:t>, таких, як </a:t>
            </a:r>
            <a:r>
              <a:rPr lang="ru-RU" dirty="0" err="1" smtClean="0"/>
              <a:t>зростання</a:t>
            </a:r>
            <a:r>
              <a:rPr lang="ru-RU" dirty="0" smtClean="0"/>
              <a:t> </a:t>
            </a:r>
            <a:r>
              <a:rPr lang="ru-RU" dirty="0" err="1" smtClean="0"/>
              <a:t>чи</a:t>
            </a:r>
            <a:r>
              <a:rPr lang="ru-RU" dirty="0" smtClean="0"/>
              <a:t> спад </a:t>
            </a:r>
            <a:r>
              <a:rPr lang="ru-RU" dirty="0" err="1" smtClean="0"/>
              <a:t>продажів</a:t>
            </a:r>
            <a:r>
              <a:rPr lang="ru-RU" dirty="0" smtClean="0"/>
              <a:t> </a:t>
            </a:r>
            <a:r>
              <a:rPr lang="ru-RU" dirty="0" err="1" smtClean="0"/>
              <a:t>певного</a:t>
            </a:r>
            <a:r>
              <a:rPr lang="ru-RU" dirty="0" smtClean="0"/>
              <a:t> товару </a:t>
            </a:r>
            <a:r>
              <a:rPr lang="ru-RU" dirty="0" err="1" smtClean="0"/>
              <a:t>або</a:t>
            </a:r>
            <a:r>
              <a:rPr lang="ru-RU" dirty="0" smtClean="0"/>
              <a:t>  </a:t>
            </a:r>
            <a:r>
              <a:rPr lang="ru-RU" dirty="0" err="1" smtClean="0"/>
              <a:t>послуги</a:t>
            </a:r>
            <a:r>
              <a:rPr lang="ru-RU" dirty="0" smtClean="0"/>
              <a:t> за </a:t>
            </a:r>
            <a:r>
              <a:rPr lang="ru-RU" dirty="0" err="1" smtClean="0"/>
              <a:t>кілька</a:t>
            </a:r>
            <a:r>
              <a:rPr lang="ru-RU" dirty="0" smtClean="0"/>
              <a:t> </a:t>
            </a:r>
            <a:r>
              <a:rPr lang="ru-RU" dirty="0" err="1" smtClean="0"/>
              <a:t>послідовних</a:t>
            </a:r>
            <a:r>
              <a:rPr lang="ru-RU" dirty="0" smtClean="0"/>
              <a:t> </a:t>
            </a:r>
            <a:r>
              <a:rPr lang="ru-RU" dirty="0" err="1" smtClean="0"/>
              <a:t>періодів</a:t>
            </a:r>
            <a:r>
              <a:rPr lang="ru-RU" dirty="0" smtClean="0"/>
              <a:t> часу, то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зробити</a:t>
            </a:r>
            <a:r>
              <a:rPr lang="ru-RU" dirty="0" smtClean="0"/>
              <a:t> </a:t>
            </a:r>
            <a:r>
              <a:rPr lang="ru-RU" dirty="0" err="1" smtClean="0"/>
              <a:t>деякі</a:t>
            </a:r>
            <a:r>
              <a:rPr lang="ru-RU" dirty="0" smtClean="0"/>
              <a:t> </a:t>
            </a:r>
            <a:r>
              <a:rPr lang="ru-RU" dirty="0" err="1" smtClean="0"/>
              <a:t>висновки</a:t>
            </a:r>
            <a:r>
              <a:rPr lang="ru-RU" dirty="0" smtClean="0"/>
              <a:t> </a:t>
            </a:r>
            <a:r>
              <a:rPr lang="ru-RU" dirty="0" err="1" smtClean="0"/>
              <a:t>щодо</a:t>
            </a:r>
            <a:r>
              <a:rPr lang="ru-RU" dirty="0" smtClean="0"/>
              <a:t> </a:t>
            </a:r>
            <a:r>
              <a:rPr lang="ru-RU" dirty="0" err="1" smtClean="0"/>
              <a:t>готовності</a:t>
            </a:r>
            <a:r>
              <a:rPr lang="ru-RU" dirty="0" smtClean="0"/>
              <a:t> </a:t>
            </a:r>
            <a:r>
              <a:rPr lang="ru-RU" dirty="0" err="1" smtClean="0"/>
              <a:t>клієнтів</a:t>
            </a:r>
            <a:r>
              <a:rPr lang="ru-RU" dirty="0" smtClean="0"/>
              <a:t> до покупки нового товару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послуги</a:t>
            </a:r>
            <a:r>
              <a:rPr lang="ru-RU" dirty="0" smtClean="0"/>
              <a:t>, про </a:t>
            </a:r>
            <a:r>
              <a:rPr lang="ru-RU" dirty="0" err="1" smtClean="0"/>
              <a:t>доцільність</a:t>
            </a:r>
            <a:r>
              <a:rPr lang="ru-RU" dirty="0" smtClean="0"/>
              <a:t>  </a:t>
            </a:r>
            <a:r>
              <a:rPr lang="ru-RU" dirty="0" err="1" smtClean="0"/>
              <a:t>стимулювання</a:t>
            </a:r>
            <a:r>
              <a:rPr lang="ru-RU" dirty="0" smtClean="0"/>
              <a:t> </a:t>
            </a:r>
            <a:r>
              <a:rPr lang="ru-RU" dirty="0" err="1" smtClean="0"/>
              <a:t>попиту</a:t>
            </a:r>
            <a:r>
              <a:rPr lang="ru-RU" dirty="0" smtClean="0"/>
              <a:t> і т. </a:t>
            </a:r>
            <a:r>
              <a:rPr lang="ru-RU" dirty="0" err="1" smtClean="0"/>
              <a:t>ін</a:t>
            </a:r>
            <a:r>
              <a:rPr lang="ru-RU" dirty="0" smtClean="0"/>
              <a:t>. Для </a:t>
            </a:r>
            <a:r>
              <a:rPr lang="ru-RU" dirty="0" err="1" smtClean="0"/>
              <a:t>розгляду</a:t>
            </a:r>
            <a:r>
              <a:rPr lang="ru-RU" dirty="0" smtClean="0"/>
              <a:t> часу і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ru-RU" dirty="0" err="1" smtClean="0"/>
              <a:t>появи</a:t>
            </a:r>
            <a:r>
              <a:rPr lang="ru-RU" dirty="0" smtClean="0"/>
              <a:t> </a:t>
            </a:r>
            <a:r>
              <a:rPr lang="ru-RU" dirty="0" err="1" smtClean="0"/>
              <a:t>товарів</a:t>
            </a:r>
            <a:r>
              <a:rPr lang="ru-RU" dirty="0" smtClean="0"/>
              <a:t>  </a:t>
            </a:r>
            <a:r>
              <a:rPr lang="ru-RU" dirty="0" err="1" smtClean="0"/>
              <a:t>достатньо</a:t>
            </a:r>
            <a:r>
              <a:rPr lang="ru-RU" dirty="0" smtClean="0"/>
              <a:t> </a:t>
            </a:r>
            <a:r>
              <a:rPr lang="ru-RU" dirty="0" err="1" smtClean="0"/>
              <a:t>фіксувати</a:t>
            </a:r>
            <a:r>
              <a:rPr lang="ru-RU" dirty="0" smtClean="0"/>
              <a:t> в </a:t>
            </a:r>
            <a:r>
              <a:rPr lang="ru-RU" dirty="0" err="1" smtClean="0"/>
              <a:t>транзакції</a:t>
            </a:r>
            <a:r>
              <a:rPr lang="ru-RU" dirty="0" smtClean="0"/>
              <a:t> </a:t>
            </a:r>
            <a:r>
              <a:rPr lang="ru-RU" dirty="0" err="1" smtClean="0"/>
              <a:t>її</a:t>
            </a:r>
            <a:r>
              <a:rPr lang="ru-RU" dirty="0" smtClean="0"/>
              <a:t> дату і час, </a:t>
            </a:r>
          </a:p>
          <a:p>
            <a:pPr marL="342900" indent="-342900">
              <a:buAutoNum type="arabicPeriod"/>
            </a:pPr>
            <a:r>
              <a:rPr lang="ru-RU" dirty="0" smtClean="0"/>
              <a:t>АП не є </a:t>
            </a:r>
            <a:r>
              <a:rPr lang="ru-RU" b="1" dirty="0" err="1" smtClean="0"/>
              <a:t>клієнтоорієнтованими</a:t>
            </a:r>
            <a:r>
              <a:rPr lang="ru-RU" dirty="0" smtClean="0"/>
              <a:t> – не </a:t>
            </a:r>
            <a:r>
              <a:rPr lang="ru-RU" dirty="0" err="1" smtClean="0"/>
              <a:t>пов'язують</a:t>
            </a:r>
            <a:r>
              <a:rPr lang="ru-RU" dirty="0" smtClean="0"/>
              <a:t> </a:t>
            </a:r>
            <a:r>
              <a:rPr lang="ru-RU" dirty="0" err="1" smtClean="0"/>
              <a:t>набори</a:t>
            </a:r>
            <a:r>
              <a:rPr lang="ru-RU" dirty="0" smtClean="0"/>
              <a:t> </a:t>
            </a:r>
            <a:r>
              <a:rPr lang="ru-RU" dirty="0" err="1" smtClean="0"/>
              <a:t>предметів</a:t>
            </a:r>
            <a:r>
              <a:rPr lang="ru-RU" dirty="0" smtClean="0"/>
              <a:t> у </a:t>
            </a:r>
            <a:r>
              <a:rPr lang="ru-RU" dirty="0" err="1" smtClean="0"/>
              <a:t>транзакції</a:t>
            </a:r>
            <a:r>
              <a:rPr lang="ru-RU" dirty="0" smtClean="0"/>
              <a:t>  з </a:t>
            </a:r>
            <a:r>
              <a:rPr lang="ru-RU" dirty="0" err="1" smtClean="0"/>
              <a:t>певним</a:t>
            </a:r>
            <a:r>
              <a:rPr lang="ru-RU" dirty="0" smtClean="0"/>
              <a:t> </a:t>
            </a:r>
            <a:r>
              <a:rPr lang="ru-RU" dirty="0" err="1" smtClean="0"/>
              <a:t>клієнтом</a:t>
            </a:r>
            <a:r>
              <a:rPr lang="ru-RU" dirty="0" smtClean="0"/>
              <a:t>. Але </a:t>
            </a:r>
            <a:r>
              <a:rPr lang="ru-RU" dirty="0" err="1" smtClean="0"/>
              <a:t>дослідження</a:t>
            </a:r>
            <a:r>
              <a:rPr lang="ru-RU" dirty="0" smtClean="0"/>
              <a:t> </a:t>
            </a:r>
            <a:r>
              <a:rPr lang="ru-RU" dirty="0" err="1" smtClean="0"/>
              <a:t>динаміки</a:t>
            </a:r>
            <a:r>
              <a:rPr lang="ru-RU" dirty="0" smtClean="0"/>
              <a:t> </a:t>
            </a:r>
            <a:r>
              <a:rPr lang="ru-RU" dirty="0" err="1" smtClean="0"/>
              <a:t>продажів</a:t>
            </a:r>
            <a:r>
              <a:rPr lang="ru-RU" dirty="0" smtClean="0"/>
              <a:t> для </a:t>
            </a:r>
            <a:r>
              <a:rPr lang="ru-RU" dirty="0" err="1" smtClean="0"/>
              <a:t>окремих</a:t>
            </a:r>
            <a:r>
              <a:rPr lang="ru-RU" dirty="0" smtClean="0"/>
              <a:t> </a:t>
            </a:r>
            <a:r>
              <a:rPr lang="ru-RU" dirty="0" err="1" smtClean="0"/>
              <a:t>клієнтів</a:t>
            </a:r>
            <a:r>
              <a:rPr lang="ru-RU" dirty="0" smtClean="0"/>
              <a:t>  </a:t>
            </a:r>
            <a:r>
              <a:rPr lang="ru-RU" dirty="0" err="1" smtClean="0"/>
              <a:t>може</a:t>
            </a:r>
            <a:r>
              <a:rPr lang="ru-RU" dirty="0" smtClean="0"/>
              <a:t> бути </a:t>
            </a:r>
            <a:r>
              <a:rPr lang="ru-RU" dirty="0" err="1" smtClean="0"/>
              <a:t>цікавим</a:t>
            </a:r>
            <a:r>
              <a:rPr lang="ru-RU" dirty="0" smtClean="0"/>
              <a:t>. </a:t>
            </a:r>
          </a:p>
          <a:p>
            <a:pPr marL="342900" indent="-342900">
              <a:buAutoNum type="arabicPeriod"/>
            </a:pPr>
            <a:r>
              <a:rPr lang="ru-RU" b="1" dirty="0" err="1" smtClean="0"/>
              <a:t>Клієнтоорієнтованими</a:t>
            </a:r>
            <a:r>
              <a:rPr lang="ru-RU" dirty="0" smtClean="0"/>
              <a:t> </a:t>
            </a:r>
            <a:r>
              <a:rPr lang="ru-RU" dirty="0" err="1" smtClean="0"/>
              <a:t>називають</a:t>
            </a:r>
            <a:r>
              <a:rPr lang="ru-RU" dirty="0" smtClean="0"/>
              <a:t> </a:t>
            </a:r>
            <a:r>
              <a:rPr lang="ru-RU" dirty="0" err="1" smtClean="0"/>
              <a:t>транзакції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крім</a:t>
            </a:r>
            <a:r>
              <a:rPr lang="ru-RU" dirty="0" smtClean="0"/>
              <a:t> набору </a:t>
            </a:r>
            <a:r>
              <a:rPr lang="ru-RU" b="1" dirty="0" err="1" smtClean="0">
                <a:solidFill>
                  <a:srgbClr val="0000CC"/>
                </a:solidFill>
              </a:rPr>
              <a:t>Предметів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/>
              <a:t>містять</a:t>
            </a:r>
            <a:r>
              <a:rPr lang="ru-RU" dirty="0" smtClean="0"/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Ідентифікатор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клієнта</a:t>
            </a:r>
            <a:r>
              <a:rPr lang="ru-RU" dirty="0" smtClean="0"/>
              <a:t>. </a:t>
            </a:r>
            <a:r>
              <a:rPr lang="ru-RU" dirty="0" err="1" smtClean="0"/>
              <a:t>Отримати</a:t>
            </a:r>
            <a:r>
              <a:rPr lang="ru-RU" dirty="0" smtClean="0"/>
              <a:t> </a:t>
            </a:r>
            <a:r>
              <a:rPr lang="ru-RU" dirty="0" err="1" smtClean="0"/>
              <a:t>ідентифікаторів</a:t>
            </a:r>
            <a:r>
              <a:rPr lang="ru-RU" dirty="0" smtClean="0"/>
              <a:t> </a:t>
            </a:r>
            <a:r>
              <a:rPr lang="ru-RU" dirty="0" err="1" smtClean="0"/>
              <a:t>клієнтів</a:t>
            </a:r>
            <a:r>
              <a:rPr lang="ru-RU" dirty="0" smtClean="0"/>
              <a:t>  </a:t>
            </a:r>
            <a:r>
              <a:rPr lang="ru-RU" dirty="0" err="1" smtClean="0"/>
              <a:t>можна</a:t>
            </a:r>
            <a:r>
              <a:rPr lang="ru-RU" dirty="0" smtClean="0"/>
              <a:t>, </a:t>
            </a:r>
            <a:r>
              <a:rPr lang="ru-RU" dirty="0" err="1" smtClean="0"/>
              <a:t>наприклад</a:t>
            </a:r>
            <a:r>
              <a:rPr lang="ru-RU" dirty="0" smtClean="0"/>
              <a:t>, при </a:t>
            </a:r>
            <a:r>
              <a:rPr lang="ru-RU" dirty="0" err="1" smtClean="0"/>
              <a:t>торгівлі</a:t>
            </a:r>
            <a:r>
              <a:rPr lang="ru-RU" dirty="0" smtClean="0"/>
              <a:t> по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картках</a:t>
            </a:r>
            <a:r>
              <a:rPr lang="ru-RU" dirty="0" smtClean="0"/>
              <a:t>, з правом на </a:t>
            </a:r>
            <a:r>
              <a:rPr lang="ru-RU" dirty="0" err="1" smtClean="0"/>
              <a:t>знижку</a:t>
            </a:r>
            <a:r>
              <a:rPr lang="ru-RU" dirty="0" smtClean="0"/>
              <a:t>. </a:t>
            </a:r>
          </a:p>
          <a:p>
            <a:pPr marL="342900" indent="-342900">
              <a:buAutoNum type="arabicPeriod"/>
            </a:pPr>
            <a:r>
              <a:rPr lang="ru-RU" dirty="0" err="1" smtClean="0"/>
              <a:t>Розширення</a:t>
            </a:r>
            <a:r>
              <a:rPr lang="ru-RU" dirty="0" smtClean="0"/>
              <a:t> </a:t>
            </a:r>
            <a:r>
              <a:rPr lang="ru-RU" dirty="0" err="1" smtClean="0"/>
              <a:t>можливостей</a:t>
            </a:r>
            <a:r>
              <a:rPr lang="ru-RU" dirty="0" smtClean="0"/>
              <a:t> </a:t>
            </a:r>
            <a:r>
              <a:rPr lang="ru-RU" b="1" dirty="0" err="1" smtClean="0"/>
              <a:t>аналізу</a:t>
            </a:r>
            <a:r>
              <a:rPr lang="ru-RU" b="1" dirty="0" smtClean="0"/>
              <a:t> </a:t>
            </a:r>
            <a:r>
              <a:rPr lang="ru-RU" b="1" dirty="0" err="1" smtClean="0"/>
              <a:t>транзакційних</a:t>
            </a:r>
            <a:r>
              <a:rPr lang="ru-RU" b="1" dirty="0" smtClean="0"/>
              <a:t> </a:t>
            </a:r>
            <a:r>
              <a:rPr lang="ru-RU" b="1" dirty="0" err="1" smtClean="0"/>
              <a:t>даних</a:t>
            </a:r>
            <a:r>
              <a:rPr lang="ru-RU" b="1" dirty="0" smtClean="0"/>
              <a:t> з </a:t>
            </a:r>
            <a:r>
              <a:rPr lang="ru-RU" b="1" dirty="0" err="1" smtClean="0"/>
              <a:t>урахуванням</a:t>
            </a:r>
            <a:r>
              <a:rPr lang="ru-RU" b="1" dirty="0" smtClean="0"/>
              <a:t> часу,  </a:t>
            </a:r>
            <a:r>
              <a:rPr lang="ru-RU" b="1" dirty="0" err="1" smtClean="0"/>
              <a:t>послідовності</a:t>
            </a:r>
            <a:r>
              <a:rPr lang="ru-RU" b="1" dirty="0" smtClean="0"/>
              <a:t> </a:t>
            </a:r>
            <a:r>
              <a:rPr lang="ru-RU" b="1" dirty="0" err="1" smtClean="0"/>
              <a:t>появи</a:t>
            </a:r>
            <a:r>
              <a:rPr lang="ru-RU" b="1" dirty="0" smtClean="0"/>
              <a:t> </a:t>
            </a:r>
            <a:r>
              <a:rPr lang="ru-RU" b="1" dirty="0" err="1" smtClean="0"/>
              <a:t>предметів</a:t>
            </a:r>
            <a:r>
              <a:rPr lang="ru-RU" b="1" dirty="0" smtClean="0"/>
              <a:t> і </a:t>
            </a:r>
            <a:r>
              <a:rPr lang="ru-RU" b="1" dirty="0" err="1" smtClean="0"/>
              <a:t>орієнтованості</a:t>
            </a:r>
            <a:r>
              <a:rPr lang="ru-RU" b="1" dirty="0" smtClean="0"/>
              <a:t> на конкретного </a:t>
            </a:r>
            <a:r>
              <a:rPr lang="ru-RU" b="1" dirty="0" err="1" smtClean="0"/>
              <a:t>клієнта</a:t>
            </a:r>
            <a:r>
              <a:rPr lang="ru-RU" dirty="0" smtClean="0"/>
              <a:t>, </a:t>
            </a:r>
            <a:r>
              <a:rPr lang="ru-RU" dirty="0" err="1" smtClean="0"/>
              <a:t>вирішує</a:t>
            </a:r>
            <a:r>
              <a:rPr lang="ru-RU" dirty="0" smtClean="0"/>
              <a:t>  задача </a:t>
            </a:r>
            <a:r>
              <a:rPr lang="en-GB" dirty="0" smtClean="0"/>
              <a:t>DM </a:t>
            </a:r>
            <a:r>
              <a:rPr lang="ru-RU" dirty="0" smtClean="0"/>
              <a:t>з </a:t>
            </a:r>
            <a:r>
              <a:rPr lang="ru-RU" dirty="0" err="1" smtClean="0"/>
              <a:t>назвою</a:t>
            </a:r>
            <a:r>
              <a:rPr lang="ru-RU" dirty="0" smtClean="0"/>
              <a:t> </a:t>
            </a:r>
            <a:r>
              <a:rPr lang="ru-RU" b="1" dirty="0" smtClean="0">
                <a:solidFill>
                  <a:srgbClr val="FF0000"/>
                </a:solidFill>
              </a:rPr>
              <a:t>«</a:t>
            </a:r>
            <a:r>
              <a:rPr lang="ru-RU" b="1" dirty="0" err="1" smtClean="0">
                <a:solidFill>
                  <a:srgbClr val="FF0000"/>
                </a:solidFill>
              </a:rPr>
              <a:t>послідовні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шаблони</a:t>
            </a:r>
            <a:r>
              <a:rPr lang="ru-RU" b="1" dirty="0" smtClean="0">
                <a:solidFill>
                  <a:srgbClr val="FF0000"/>
                </a:solidFill>
              </a:rPr>
              <a:t>» (</a:t>
            </a:r>
            <a:r>
              <a:rPr lang="en-GB" b="1" dirty="0" smtClean="0">
                <a:solidFill>
                  <a:srgbClr val="FF0000"/>
                </a:solidFill>
              </a:rPr>
              <a:t>time - serial sequential pattern). </a:t>
            </a:r>
            <a:endParaRPr lang="uk-UA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ru-RU" b="1" dirty="0" err="1" smtClean="0">
                <a:solidFill>
                  <a:srgbClr val="FF0000"/>
                </a:solidFill>
              </a:rPr>
              <a:t>Теорія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послідовних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шаблонів</a:t>
            </a:r>
            <a:r>
              <a:rPr lang="ru-RU" b="1" dirty="0" smtClean="0">
                <a:solidFill>
                  <a:srgbClr val="FF0000"/>
                </a:solidFill>
              </a:rPr>
              <a:t> (ПШ)</a:t>
            </a:r>
            <a:r>
              <a:rPr lang="ru-RU" dirty="0" smtClean="0"/>
              <a:t> є </a:t>
            </a:r>
            <a:r>
              <a:rPr lang="ru-RU" dirty="0" err="1" smtClean="0"/>
              <a:t>розширенням</a:t>
            </a:r>
            <a:r>
              <a:rPr lang="ru-RU" dirty="0" smtClean="0"/>
              <a:t> </a:t>
            </a:r>
            <a:r>
              <a:rPr lang="ru-RU" dirty="0" err="1" smtClean="0"/>
              <a:t>теорії</a:t>
            </a:r>
            <a:r>
              <a:rPr lang="ru-RU" dirty="0" smtClean="0"/>
              <a:t> АП, а для </a:t>
            </a:r>
            <a:r>
              <a:rPr lang="ru-RU" dirty="0" err="1" smtClean="0"/>
              <a:t>їх</a:t>
            </a:r>
            <a:r>
              <a:rPr lang="ru-RU" dirty="0" smtClean="0"/>
              <a:t> </a:t>
            </a:r>
            <a:r>
              <a:rPr lang="ru-RU" dirty="0" err="1" smtClean="0"/>
              <a:t>пошуку</a:t>
            </a:r>
            <a:r>
              <a:rPr lang="ru-RU" dirty="0" smtClean="0"/>
              <a:t>  </a:t>
            </a:r>
            <a:r>
              <a:rPr lang="ru-RU" dirty="0" err="1" smtClean="0"/>
              <a:t>використовуються</a:t>
            </a:r>
            <a:r>
              <a:rPr lang="ru-RU" dirty="0" smtClean="0"/>
              <a:t> </a:t>
            </a:r>
            <a:r>
              <a:rPr lang="ru-RU" dirty="0" err="1" smtClean="0"/>
              <a:t>модифіковані</a:t>
            </a:r>
            <a:r>
              <a:rPr lang="ru-RU" dirty="0" smtClean="0"/>
              <a:t> </a:t>
            </a:r>
            <a:r>
              <a:rPr lang="ru-RU" dirty="0" err="1" smtClean="0"/>
              <a:t>варіанти</a:t>
            </a:r>
            <a:r>
              <a:rPr lang="ru-RU" dirty="0" smtClean="0"/>
              <a:t> алгоритму </a:t>
            </a:r>
            <a:r>
              <a:rPr lang="en-GB" b="1" dirty="0" err="1" smtClean="0"/>
              <a:t>Apriori</a:t>
            </a:r>
            <a:r>
              <a:rPr lang="en-GB" dirty="0" smtClean="0"/>
              <a:t>. </a:t>
            </a:r>
            <a:r>
              <a:rPr lang="ru-RU" dirty="0" err="1" smtClean="0"/>
              <a:t>Особливістю</a:t>
            </a:r>
            <a:r>
              <a:rPr lang="ru-RU" dirty="0" smtClean="0"/>
              <a:t> ПШ є  </a:t>
            </a:r>
            <a:r>
              <a:rPr lang="ru-RU" b="1" dirty="0" err="1" smtClean="0"/>
              <a:t>обов’язкове</a:t>
            </a:r>
            <a:r>
              <a:rPr lang="ru-RU" b="1" dirty="0" smtClean="0"/>
              <a:t> </a:t>
            </a:r>
            <a:r>
              <a:rPr lang="ru-RU" b="1" dirty="0" err="1" smtClean="0"/>
              <a:t>урахування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послідовності</a:t>
            </a:r>
            <a:r>
              <a:rPr lang="ru-RU" b="1" dirty="0" smtClean="0"/>
              <a:t> </a:t>
            </a:r>
            <a:r>
              <a:rPr lang="ru-RU" b="1" dirty="0" err="1" smtClean="0"/>
              <a:t>появи</a:t>
            </a:r>
            <a:r>
              <a:rPr lang="ru-RU" b="1" dirty="0" smtClean="0"/>
              <a:t> </a:t>
            </a:r>
            <a:r>
              <a:rPr lang="ru-RU" b="1" dirty="0" err="1" smtClean="0"/>
              <a:t>предметів</a:t>
            </a:r>
            <a:r>
              <a:rPr lang="ru-RU" b="1" dirty="0" smtClean="0"/>
              <a:t> і </a:t>
            </a:r>
            <a:r>
              <a:rPr lang="ru-RU" b="1" dirty="0" err="1" smtClean="0"/>
              <a:t>їх</a:t>
            </a:r>
            <a:r>
              <a:rPr lang="ru-RU" b="1" dirty="0" smtClean="0"/>
              <a:t> </a:t>
            </a:r>
            <a:r>
              <a:rPr lang="ru-RU" b="1" dirty="0" err="1" smtClean="0"/>
              <a:t>груп</a:t>
            </a:r>
            <a:r>
              <a:rPr lang="ru-RU" dirty="0" smtClean="0"/>
              <a:t>. </a:t>
            </a:r>
          </a:p>
          <a:p>
            <a:pPr marL="342900" indent="-342900">
              <a:buAutoNum type="arabicPeriod"/>
            </a:pPr>
            <a:r>
              <a:rPr lang="ru-RU" dirty="0" err="1" smtClean="0"/>
              <a:t>Застосування</a:t>
            </a:r>
            <a:r>
              <a:rPr lang="ru-RU" dirty="0" smtClean="0"/>
              <a:t> ПШ </a:t>
            </a:r>
            <a:r>
              <a:rPr lang="ru-RU" dirty="0" err="1" smtClean="0"/>
              <a:t>виходить</a:t>
            </a:r>
            <a:r>
              <a:rPr lang="ru-RU" dirty="0" smtClean="0"/>
              <a:t> за межи </a:t>
            </a:r>
            <a:r>
              <a:rPr lang="ru-RU" dirty="0" err="1" smtClean="0"/>
              <a:t>аналізу</a:t>
            </a:r>
            <a:r>
              <a:rPr lang="ru-RU" dirty="0" smtClean="0"/>
              <a:t> </a:t>
            </a:r>
            <a:r>
              <a:rPr lang="ru-RU" dirty="0" err="1" smtClean="0"/>
              <a:t>ринкової</a:t>
            </a:r>
            <a:r>
              <a:rPr lang="ru-RU" dirty="0" smtClean="0"/>
              <a:t> </a:t>
            </a:r>
            <a:r>
              <a:rPr lang="ru-RU" dirty="0" err="1" smtClean="0"/>
              <a:t>корзини</a:t>
            </a:r>
            <a:r>
              <a:rPr lang="ru-RU" dirty="0" smtClean="0"/>
              <a:t>. ПШ </a:t>
            </a:r>
            <a:r>
              <a:rPr lang="ru-RU" dirty="0" err="1" smtClean="0"/>
              <a:t>дозволяють</a:t>
            </a:r>
            <a:r>
              <a:rPr lang="ru-RU" dirty="0" smtClean="0"/>
              <a:t>  </a:t>
            </a:r>
            <a:r>
              <a:rPr lang="ru-RU" dirty="0" err="1" smtClean="0"/>
              <a:t>виявляти</a:t>
            </a:r>
            <a:r>
              <a:rPr lang="ru-RU" dirty="0" smtClean="0"/>
              <a:t> </a:t>
            </a:r>
            <a:r>
              <a:rPr lang="ru-RU" dirty="0" err="1" smtClean="0"/>
              <a:t>типові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ru-RU" dirty="0" err="1" smtClean="0"/>
              <a:t>подій</a:t>
            </a:r>
            <a:r>
              <a:rPr lang="ru-RU" dirty="0" smtClean="0"/>
              <a:t> в </a:t>
            </a:r>
            <a:r>
              <a:rPr lang="ru-RU" dirty="0" err="1" smtClean="0"/>
              <a:t>різноманітних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областях.  </a:t>
            </a:r>
          </a:p>
          <a:p>
            <a:pPr marL="342900" indent="-342900">
              <a:buAutoNum type="arabicPeriod"/>
            </a:pPr>
            <a:r>
              <a:rPr lang="ru-RU" b="1" dirty="0" err="1" smtClean="0">
                <a:solidFill>
                  <a:srgbClr val="008000"/>
                </a:solidFill>
              </a:rPr>
              <a:t>Наприклад</a:t>
            </a:r>
            <a:r>
              <a:rPr lang="ru-RU" dirty="0" smtClean="0">
                <a:solidFill>
                  <a:srgbClr val="008000"/>
                </a:solidFill>
              </a:rPr>
              <a:t>, </a:t>
            </a:r>
            <a:r>
              <a:rPr lang="ru-RU" dirty="0" err="1" smtClean="0">
                <a:solidFill>
                  <a:srgbClr val="008000"/>
                </a:solidFill>
              </a:rPr>
              <a:t>послідовність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може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містити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такі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події</a:t>
            </a:r>
            <a:r>
              <a:rPr lang="ru-RU" dirty="0" smtClean="0">
                <a:solidFill>
                  <a:srgbClr val="008000"/>
                </a:solidFill>
              </a:rPr>
              <a:t>, як </a:t>
            </a:r>
            <a:r>
              <a:rPr lang="ru-RU" dirty="0" err="1" smtClean="0">
                <a:solidFill>
                  <a:srgbClr val="008000"/>
                </a:solidFill>
              </a:rPr>
              <a:t>взяття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декількох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фільмів</a:t>
            </a:r>
            <a:r>
              <a:rPr lang="ru-RU" dirty="0" smtClean="0">
                <a:solidFill>
                  <a:srgbClr val="008000"/>
                </a:solidFill>
              </a:rPr>
              <a:t>  </a:t>
            </a:r>
            <a:r>
              <a:rPr lang="ru-RU" dirty="0" err="1" smtClean="0">
                <a:solidFill>
                  <a:srgbClr val="008000"/>
                </a:solidFill>
              </a:rPr>
              <a:t>клієнтом</a:t>
            </a:r>
            <a:r>
              <a:rPr lang="ru-RU" dirty="0" smtClean="0">
                <a:solidFill>
                  <a:srgbClr val="008000"/>
                </a:solidFill>
              </a:rPr>
              <a:t> у </a:t>
            </a:r>
            <a:r>
              <a:rPr lang="ru-RU" dirty="0" err="1" smtClean="0">
                <a:solidFill>
                  <a:srgbClr val="008000"/>
                </a:solidFill>
              </a:rPr>
              <a:t>відеопрокаті</a:t>
            </a:r>
            <a:r>
              <a:rPr lang="ru-RU" dirty="0" smtClean="0">
                <a:solidFill>
                  <a:srgbClr val="008000"/>
                </a:solidFill>
              </a:rPr>
              <a:t>. </a:t>
            </a:r>
            <a:r>
              <a:rPr lang="ru-RU" dirty="0" err="1" smtClean="0">
                <a:solidFill>
                  <a:srgbClr val="008000"/>
                </a:solidFill>
              </a:rPr>
              <a:t>Аналіз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всіх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послідовностей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фільмів</a:t>
            </a:r>
            <a:r>
              <a:rPr lang="ru-RU" dirty="0" smtClean="0">
                <a:solidFill>
                  <a:srgbClr val="008000"/>
                </a:solidFill>
              </a:rPr>
              <a:t> , </a:t>
            </a:r>
            <a:r>
              <a:rPr lang="ru-RU" dirty="0" err="1" smtClean="0">
                <a:solidFill>
                  <a:srgbClr val="008000"/>
                </a:solidFill>
              </a:rPr>
              <a:t>взятих</a:t>
            </a:r>
            <a:r>
              <a:rPr lang="ru-RU" dirty="0" smtClean="0">
                <a:solidFill>
                  <a:srgbClr val="008000"/>
                </a:solidFill>
              </a:rPr>
              <a:t> напрокат  </a:t>
            </a:r>
            <a:r>
              <a:rPr lang="ru-RU" dirty="0" err="1" smtClean="0">
                <a:solidFill>
                  <a:srgbClr val="008000"/>
                </a:solidFill>
              </a:rPr>
              <a:t>певними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клієнтами</a:t>
            </a:r>
            <a:r>
              <a:rPr lang="ru-RU" dirty="0" smtClean="0">
                <a:solidFill>
                  <a:srgbClr val="008000"/>
                </a:solidFill>
              </a:rPr>
              <a:t>, </a:t>
            </a:r>
            <a:r>
              <a:rPr lang="ru-RU" dirty="0" err="1" smtClean="0">
                <a:solidFill>
                  <a:srgbClr val="008000"/>
                </a:solidFill>
              </a:rPr>
              <a:t>може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виявити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найбільш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типові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шаблони</a:t>
            </a:r>
            <a:r>
              <a:rPr lang="ru-RU" dirty="0" smtClean="0">
                <a:solidFill>
                  <a:srgbClr val="008000"/>
                </a:solidFill>
              </a:rPr>
              <a:t>. </a:t>
            </a:r>
            <a:r>
              <a:rPr lang="ru-RU" dirty="0" err="1" smtClean="0">
                <a:solidFill>
                  <a:srgbClr val="008000"/>
                </a:solidFill>
              </a:rPr>
              <a:t>Знання</a:t>
            </a:r>
            <a:r>
              <a:rPr lang="ru-RU" dirty="0" smtClean="0">
                <a:solidFill>
                  <a:srgbClr val="008000"/>
                </a:solidFill>
              </a:rPr>
              <a:t> таких  </a:t>
            </a:r>
            <a:r>
              <a:rPr lang="ru-RU" dirty="0" err="1" smtClean="0">
                <a:solidFill>
                  <a:srgbClr val="008000"/>
                </a:solidFill>
              </a:rPr>
              <a:t>послідовностей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допоможе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стимулювати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клієнтів</a:t>
            </a:r>
            <a:r>
              <a:rPr lang="ru-RU" dirty="0" smtClean="0">
                <a:solidFill>
                  <a:srgbClr val="008000"/>
                </a:solidFill>
              </a:rPr>
              <a:t>, </a:t>
            </a:r>
            <a:r>
              <a:rPr lang="ru-RU" dirty="0" err="1" smtClean="0">
                <a:solidFill>
                  <a:srgbClr val="008000"/>
                </a:solidFill>
              </a:rPr>
              <a:t>пропонуючи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їм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err="1" smtClean="0">
                <a:solidFill>
                  <a:srgbClr val="008000"/>
                </a:solidFill>
              </a:rPr>
              <a:t>фільми</a:t>
            </a:r>
            <a:r>
              <a:rPr lang="ru-RU" dirty="0" smtClean="0">
                <a:solidFill>
                  <a:srgbClr val="008000"/>
                </a:solidFill>
              </a:rPr>
              <a:t> в  порядку, </a:t>
            </a:r>
            <a:r>
              <a:rPr lang="ru-RU" dirty="0" err="1" smtClean="0">
                <a:solidFill>
                  <a:srgbClr val="008000"/>
                </a:solidFill>
              </a:rPr>
              <a:t>встановленому</a:t>
            </a:r>
            <a:r>
              <a:rPr lang="ru-RU" dirty="0" smtClean="0">
                <a:solidFill>
                  <a:srgbClr val="008000"/>
                </a:solidFill>
              </a:rPr>
              <a:t> шаблоном.</a:t>
            </a:r>
            <a:endParaRPr lang="ru-RU" dirty="0">
              <a:solidFill>
                <a:srgbClr val="008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486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11016"/>
            <a:ext cx="12192000" cy="5831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Постановка задачі пошуку послідовних 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шаблонів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1074905"/>
            <a:ext cx="12192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Нехай є база </a:t>
            </a:r>
            <a:r>
              <a:rPr lang="ru-RU" dirty="0" err="1" smtClean="0"/>
              <a:t>даних</a:t>
            </a:r>
            <a:r>
              <a:rPr lang="ru-RU" dirty="0" smtClean="0"/>
              <a:t> </a:t>
            </a:r>
            <a:r>
              <a:rPr lang="en-GB" b="1" dirty="0" smtClean="0"/>
              <a:t>D</a:t>
            </a:r>
            <a:r>
              <a:rPr lang="en-GB" dirty="0" smtClean="0"/>
              <a:t> </a:t>
            </a:r>
            <a:r>
              <a:rPr lang="ru-RU" dirty="0" err="1" smtClean="0"/>
              <a:t>записів</a:t>
            </a:r>
            <a:r>
              <a:rPr lang="ru-RU" dirty="0" smtClean="0"/>
              <a:t>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 з полями: </a:t>
            </a:r>
            <a:r>
              <a:rPr lang="ru-RU" b="1" dirty="0" err="1" smtClean="0"/>
              <a:t>ідентифікатор</a:t>
            </a:r>
            <a:r>
              <a:rPr lang="ru-RU" b="1" dirty="0" smtClean="0"/>
              <a:t>  </a:t>
            </a:r>
            <a:r>
              <a:rPr lang="ru-RU" b="1" dirty="0" err="1" smtClean="0"/>
              <a:t>клієнта</a:t>
            </a:r>
            <a:r>
              <a:rPr lang="ru-RU" b="1" dirty="0" smtClean="0"/>
              <a:t>, дата/час </a:t>
            </a:r>
            <a:r>
              <a:rPr lang="ru-RU" b="1" dirty="0" err="1" smtClean="0"/>
              <a:t>транзакції</a:t>
            </a:r>
            <a:r>
              <a:rPr lang="ru-RU" b="1" dirty="0" smtClean="0"/>
              <a:t> та </a:t>
            </a:r>
            <a:r>
              <a:rPr lang="ru-RU" b="1" dirty="0" err="1" smtClean="0"/>
              <a:t>набір</a:t>
            </a:r>
            <a:r>
              <a:rPr lang="ru-RU" b="1" dirty="0" smtClean="0"/>
              <a:t> </a:t>
            </a:r>
            <a:r>
              <a:rPr lang="ru-RU" b="1" dirty="0" err="1" smtClean="0"/>
              <a:t>куплених</a:t>
            </a:r>
            <a:r>
              <a:rPr lang="ru-RU" b="1" dirty="0" smtClean="0"/>
              <a:t> </a:t>
            </a:r>
            <a:r>
              <a:rPr lang="ru-RU" b="1" dirty="0" err="1" smtClean="0"/>
              <a:t>товарів</a:t>
            </a:r>
            <a:r>
              <a:rPr lang="ru-RU" dirty="0" smtClean="0"/>
              <a:t>, при </a:t>
            </a:r>
            <a:r>
              <a:rPr lang="ru-RU" dirty="0" err="1" smtClean="0"/>
              <a:t>обмеженні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b="1" dirty="0" err="1" smtClean="0"/>
              <a:t>жоден</a:t>
            </a:r>
            <a:r>
              <a:rPr lang="ru-RU" b="1" dirty="0" smtClean="0"/>
              <a:t>  </a:t>
            </a:r>
            <a:r>
              <a:rPr lang="ru-RU" b="1" dirty="0" err="1" smtClean="0"/>
              <a:t>клієнт</a:t>
            </a:r>
            <a:r>
              <a:rPr lang="ru-RU" b="1" dirty="0" smtClean="0"/>
              <a:t> </a:t>
            </a:r>
            <a:r>
              <a:rPr lang="ru-RU" b="1" dirty="0" err="1" smtClean="0"/>
              <a:t>має</a:t>
            </a:r>
            <a:r>
              <a:rPr lang="ru-RU" b="1" dirty="0" smtClean="0"/>
              <a:t> не </a:t>
            </a:r>
            <a:r>
              <a:rPr lang="ru-RU" b="1" dirty="0" err="1" smtClean="0"/>
              <a:t>більше</a:t>
            </a:r>
            <a:r>
              <a:rPr lang="ru-RU" b="1" dirty="0" smtClean="0"/>
              <a:t> </a:t>
            </a:r>
            <a:r>
              <a:rPr lang="ru-RU" b="1" dirty="0" err="1" smtClean="0"/>
              <a:t>однієї</a:t>
            </a:r>
            <a:r>
              <a:rPr lang="ru-RU" b="1" dirty="0" smtClean="0"/>
              <a:t> </a:t>
            </a:r>
            <a:r>
              <a:rPr lang="ru-RU" b="1" dirty="0" err="1" smtClean="0"/>
              <a:t>транзакцій</a:t>
            </a:r>
            <a:r>
              <a:rPr lang="ru-RU" b="1" dirty="0" smtClean="0"/>
              <a:t> у одну </a:t>
            </a:r>
            <a:r>
              <a:rPr lang="ru-RU" b="1" dirty="0" err="1" smtClean="0"/>
              <a:t>мить</a:t>
            </a:r>
            <a:r>
              <a:rPr lang="ru-RU" b="1" dirty="0" smtClean="0"/>
              <a:t> часу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Введемо</a:t>
            </a:r>
            <a:r>
              <a:rPr lang="ru-RU" dirty="0" smtClean="0"/>
              <a:t> </a:t>
            </a:r>
            <a:r>
              <a:rPr lang="ru-RU" dirty="0" err="1" smtClean="0"/>
              <a:t>поняття</a:t>
            </a:r>
            <a:r>
              <a:rPr lang="ru-RU" dirty="0" smtClean="0"/>
              <a:t>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rgbClr val="0000CC"/>
                </a:solidFill>
              </a:rPr>
              <a:t>Предметний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набір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dirty="0" smtClean="0"/>
              <a:t>– </a:t>
            </a:r>
            <a:r>
              <a:rPr lang="ru-RU" dirty="0" err="1" smtClean="0"/>
              <a:t>порожній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dirty="0" err="1" smtClean="0"/>
              <a:t>предметів</a:t>
            </a:r>
            <a:r>
              <a:rPr lang="ru-RU" dirty="0" smtClean="0"/>
              <a:t> (</a:t>
            </a:r>
            <a:r>
              <a:rPr lang="ru-RU" dirty="0" err="1" smtClean="0"/>
              <a:t>товарів</a:t>
            </a:r>
            <a:r>
              <a:rPr lang="ru-RU" dirty="0" smtClean="0"/>
              <a:t>) </a:t>
            </a:r>
            <a:r>
              <a:rPr lang="ru-RU" dirty="0" err="1" smtClean="0"/>
              <a:t>однієї</a:t>
            </a:r>
            <a:r>
              <a:rPr lang="ru-RU" dirty="0" smtClean="0"/>
              <a:t> </a:t>
            </a:r>
            <a:r>
              <a:rPr lang="ru-RU" dirty="0" err="1" smtClean="0"/>
              <a:t>транзакції</a:t>
            </a:r>
            <a:r>
              <a:rPr lang="ru-RU" dirty="0" smtClean="0"/>
              <a:t>.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rgbClr val="0000CC"/>
                </a:solidFill>
              </a:rPr>
              <a:t>Послідовність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smtClean="0"/>
              <a:t>- </a:t>
            </a:r>
            <a:r>
              <a:rPr lang="ru-RU" dirty="0" err="1" smtClean="0"/>
              <a:t>впорядкований</a:t>
            </a:r>
            <a:r>
              <a:rPr lang="ru-RU" dirty="0" smtClean="0"/>
              <a:t> список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.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ru-RU" dirty="0" err="1" smtClean="0"/>
              <a:t>записують</a:t>
            </a:r>
            <a:r>
              <a:rPr lang="ru-RU" dirty="0" smtClean="0"/>
              <a:t> у </a:t>
            </a:r>
            <a:r>
              <a:rPr lang="ru-RU" dirty="0" err="1" smtClean="0"/>
              <a:t>трикутних</a:t>
            </a:r>
            <a:r>
              <a:rPr lang="ru-RU" dirty="0" smtClean="0"/>
              <a:t> дужках, а </a:t>
            </a:r>
            <a:r>
              <a:rPr lang="ru-RU" dirty="0" err="1" smtClean="0"/>
              <a:t>набір</a:t>
            </a:r>
            <a:r>
              <a:rPr lang="ru-RU" dirty="0" smtClean="0"/>
              <a:t> - у </a:t>
            </a:r>
            <a:r>
              <a:rPr lang="ru-RU" dirty="0" err="1" smtClean="0"/>
              <a:t>круглих</a:t>
            </a:r>
            <a:r>
              <a:rPr lang="ru-RU" dirty="0" smtClean="0"/>
              <a:t>. </a:t>
            </a:r>
            <a:r>
              <a:rPr lang="ru-RU" dirty="0" err="1" smtClean="0"/>
              <a:t>Отож</a:t>
            </a:r>
            <a:r>
              <a:rPr lang="ru-RU" dirty="0" smtClean="0"/>
              <a:t>, </a:t>
            </a:r>
            <a:r>
              <a:rPr lang="ru-RU" b="1" dirty="0" err="1" smtClean="0"/>
              <a:t>набори</a:t>
            </a:r>
            <a:r>
              <a:rPr lang="ru-RU" dirty="0" smtClean="0"/>
              <a:t>  </a:t>
            </a:r>
            <a:r>
              <a:rPr lang="ru-RU" dirty="0" err="1" smtClean="0"/>
              <a:t>будуть</a:t>
            </a:r>
            <a:r>
              <a:rPr lang="ru-RU" dirty="0" smtClean="0"/>
              <a:t> </a:t>
            </a:r>
            <a:r>
              <a:rPr lang="ru-RU" dirty="0" err="1" smtClean="0"/>
              <a:t>записані</a:t>
            </a:r>
            <a:r>
              <a:rPr lang="ru-RU" dirty="0" smtClean="0"/>
              <a:t> як </a:t>
            </a:r>
            <a:r>
              <a:rPr lang="ru-RU" b="1" dirty="0" smtClean="0"/>
              <a:t>(2,4,5),(1,3), </a:t>
            </a:r>
            <a:r>
              <a:rPr lang="ru-RU" dirty="0" smtClean="0"/>
              <a:t>а </a:t>
            </a:r>
            <a:r>
              <a:rPr lang="ru-RU" b="1" dirty="0" err="1" smtClean="0">
                <a:solidFill>
                  <a:srgbClr val="008000"/>
                </a:solidFill>
              </a:rPr>
              <a:t>послідовність</a:t>
            </a:r>
            <a:r>
              <a:rPr lang="ru-RU" dirty="0" smtClean="0">
                <a:solidFill>
                  <a:srgbClr val="008000"/>
                </a:solidFill>
              </a:rPr>
              <a:t> </a:t>
            </a:r>
            <a:r>
              <a:rPr lang="ru-RU" dirty="0" smtClean="0"/>
              <a:t>з </a:t>
            </a:r>
            <a:r>
              <a:rPr lang="ru-RU" dirty="0" err="1" smtClean="0"/>
              <a:t>цими</a:t>
            </a:r>
            <a:r>
              <a:rPr lang="ru-RU" dirty="0" smtClean="0"/>
              <a:t> </a:t>
            </a:r>
            <a:r>
              <a:rPr lang="ru-RU" dirty="0" err="1" smtClean="0"/>
              <a:t>набори</a:t>
            </a:r>
            <a:r>
              <a:rPr lang="ru-RU" dirty="0" smtClean="0"/>
              <a:t>, як </a:t>
            </a:r>
            <a:r>
              <a:rPr lang="ru-RU" b="1" dirty="0" smtClean="0">
                <a:solidFill>
                  <a:srgbClr val="008000"/>
                </a:solidFill>
              </a:rPr>
              <a:t>&lt;(2,4,5),(1,3)&gt;.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одному </a:t>
            </a:r>
            <a:r>
              <a:rPr lang="ru-RU" dirty="0" err="1" smtClean="0"/>
              <a:t>наборі</a:t>
            </a:r>
            <a:r>
              <a:rPr lang="ru-RU" dirty="0" smtClean="0"/>
              <a:t> </a:t>
            </a:r>
            <a:r>
              <a:rPr lang="ru-RU" dirty="0" err="1" smtClean="0"/>
              <a:t>записуються</a:t>
            </a:r>
            <a:r>
              <a:rPr lang="ru-RU" dirty="0" smtClean="0"/>
              <a:t> </a:t>
            </a:r>
            <a:r>
              <a:rPr lang="ru-RU" dirty="0" err="1" smtClean="0"/>
              <a:t>лише</a:t>
            </a:r>
            <a:r>
              <a:rPr lang="ru-RU" dirty="0" smtClean="0"/>
              <a:t> </a:t>
            </a:r>
            <a:r>
              <a:rPr lang="ru-RU" dirty="0" err="1" smtClean="0"/>
              <a:t>ті</a:t>
            </a:r>
            <a:r>
              <a:rPr lang="ru-RU" dirty="0" smtClean="0"/>
              <a:t> </a:t>
            </a:r>
            <a:r>
              <a:rPr lang="ru-RU" dirty="0" err="1" smtClean="0"/>
              <a:t>товари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були</a:t>
            </a:r>
            <a:r>
              <a:rPr lang="ru-RU" dirty="0" smtClean="0"/>
              <a:t> </a:t>
            </a:r>
            <a:r>
              <a:rPr lang="ru-RU" dirty="0" err="1" smtClean="0"/>
              <a:t>придбані</a:t>
            </a:r>
            <a:r>
              <a:rPr lang="ru-RU" dirty="0" smtClean="0"/>
              <a:t> </a:t>
            </a:r>
            <a:r>
              <a:rPr lang="ru-RU" dirty="0" err="1" smtClean="0"/>
              <a:t>одночасно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Позначимо</a:t>
            </a:r>
            <a:r>
              <a:rPr lang="ru-RU" dirty="0" smtClean="0"/>
              <a:t> </a:t>
            </a:r>
            <a:r>
              <a:rPr lang="ru-RU" dirty="0" err="1" smtClean="0"/>
              <a:t>предметний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en-GB" b="1" dirty="0" smtClean="0"/>
              <a:t>I={i</a:t>
            </a:r>
            <a:r>
              <a:rPr lang="en-GB" b="1" baseline="-25000" dirty="0" smtClean="0"/>
              <a:t>1</a:t>
            </a:r>
            <a:r>
              <a:rPr lang="en-GB" b="1" dirty="0" smtClean="0"/>
              <a:t>, i</a:t>
            </a:r>
            <a:r>
              <a:rPr lang="en-GB" b="1" baseline="-25000" dirty="0" smtClean="0"/>
              <a:t>2</a:t>
            </a:r>
            <a:r>
              <a:rPr lang="en-GB" b="1" dirty="0" smtClean="0"/>
              <a:t>, …, </a:t>
            </a:r>
            <a:r>
              <a:rPr lang="en-GB" b="1" dirty="0" err="1" smtClean="0"/>
              <a:t>i</a:t>
            </a:r>
            <a:r>
              <a:rPr lang="en-GB" b="1" baseline="-25000" dirty="0" err="1" smtClean="0"/>
              <a:t>j</a:t>
            </a:r>
            <a:r>
              <a:rPr lang="en-GB" b="1" dirty="0" smtClean="0"/>
              <a:t>,…i</a:t>
            </a:r>
            <a:r>
              <a:rPr lang="en-GB" b="1" baseline="-25000" dirty="0" smtClean="0"/>
              <a:t>n</a:t>
            </a:r>
            <a:r>
              <a:rPr lang="en-GB" b="1" dirty="0" smtClean="0"/>
              <a:t>}, </a:t>
            </a:r>
            <a:r>
              <a:rPr lang="ru-RU" dirty="0" smtClean="0"/>
              <a:t>де </a:t>
            </a:r>
            <a:r>
              <a:rPr lang="en-GB" b="1" dirty="0" smtClean="0"/>
              <a:t>i</a:t>
            </a:r>
            <a:r>
              <a:rPr lang="en-GB" b="1" baseline="-25000" dirty="0" smtClean="0"/>
              <a:t>1</a:t>
            </a:r>
            <a:r>
              <a:rPr lang="en-GB" b="1" dirty="0" smtClean="0"/>
              <a:t> </a:t>
            </a:r>
            <a:r>
              <a:rPr lang="en-GB" dirty="0" smtClean="0"/>
              <a:t>– </a:t>
            </a:r>
            <a:r>
              <a:rPr lang="ru-RU" dirty="0" smtClean="0"/>
              <a:t>предмет, а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en-GB" b="1" dirty="0" smtClean="0">
                <a:solidFill>
                  <a:srgbClr val="008000"/>
                </a:solidFill>
              </a:rPr>
              <a:t>S = I</a:t>
            </a:r>
            <a:r>
              <a:rPr lang="en-GB" b="1" baseline="-25000" dirty="0" smtClean="0">
                <a:solidFill>
                  <a:srgbClr val="008000"/>
                </a:solidFill>
              </a:rPr>
              <a:t>1</a:t>
            </a:r>
            <a:r>
              <a:rPr lang="en-GB" b="1" dirty="0" smtClean="0">
                <a:solidFill>
                  <a:srgbClr val="008000"/>
                </a:solidFill>
              </a:rPr>
              <a:t>, I</a:t>
            </a:r>
            <a:r>
              <a:rPr lang="en-GB" b="1" baseline="-25000" dirty="0" smtClean="0">
                <a:solidFill>
                  <a:srgbClr val="008000"/>
                </a:solidFill>
              </a:rPr>
              <a:t>2</a:t>
            </a:r>
            <a:r>
              <a:rPr lang="en-GB" b="1" dirty="0" smtClean="0">
                <a:solidFill>
                  <a:srgbClr val="008000"/>
                </a:solidFill>
              </a:rPr>
              <a:t> , ..., </a:t>
            </a:r>
            <a:r>
              <a:rPr lang="en-GB" b="1" dirty="0" err="1" smtClean="0">
                <a:solidFill>
                  <a:srgbClr val="008000"/>
                </a:solidFill>
              </a:rPr>
              <a:t>I</a:t>
            </a:r>
            <a:r>
              <a:rPr lang="en-GB" b="1" baseline="-25000" dirty="0" err="1" smtClean="0">
                <a:solidFill>
                  <a:srgbClr val="008000"/>
                </a:solidFill>
              </a:rPr>
              <a:t>m</a:t>
            </a:r>
            <a:r>
              <a:rPr lang="en-GB" b="1" dirty="0" smtClean="0">
                <a:solidFill>
                  <a:srgbClr val="008000"/>
                </a:solidFill>
              </a:rPr>
              <a:t>, </a:t>
            </a:r>
            <a:r>
              <a:rPr lang="ru-RU" dirty="0" smtClean="0"/>
              <a:t>де </a:t>
            </a:r>
            <a:r>
              <a:rPr lang="en-GB" b="1" dirty="0" smtClean="0">
                <a:solidFill>
                  <a:srgbClr val="008000"/>
                </a:solidFill>
              </a:rPr>
              <a:t>I</a:t>
            </a:r>
            <a:r>
              <a:rPr lang="ru-RU" b="1" baseline="-25000" dirty="0" smtClean="0">
                <a:solidFill>
                  <a:srgbClr val="008000"/>
                </a:solidFill>
              </a:rPr>
              <a:t>і</a:t>
            </a:r>
            <a:r>
              <a:rPr lang="ru-RU" b="1" dirty="0" smtClean="0">
                <a:solidFill>
                  <a:srgbClr val="008000"/>
                </a:solidFill>
              </a:rPr>
              <a:t>- </a:t>
            </a:r>
            <a:r>
              <a:rPr lang="ru-RU" dirty="0" err="1" smtClean="0"/>
              <a:t>предметний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en-GB" dirty="0" smtClean="0"/>
              <a:t>S1 </a:t>
            </a:r>
            <a:r>
              <a:rPr lang="ru-RU" b="1" dirty="0" err="1" smtClean="0"/>
              <a:t>міститься</a:t>
            </a:r>
            <a:r>
              <a:rPr lang="ru-RU" dirty="0" smtClean="0"/>
              <a:t> у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en-GB" dirty="0" smtClean="0"/>
              <a:t>S2, </a:t>
            </a:r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 err="1" smtClean="0"/>
              <a:t>всі</a:t>
            </a:r>
            <a:r>
              <a:rPr lang="ru-RU" dirty="0" smtClean="0"/>
              <a:t> </a:t>
            </a:r>
            <a:r>
              <a:rPr lang="ru-RU" dirty="0" err="1" smtClean="0"/>
              <a:t>предметні</a:t>
            </a:r>
            <a:r>
              <a:rPr lang="ru-RU" dirty="0" smtClean="0"/>
              <a:t> </a:t>
            </a:r>
            <a:r>
              <a:rPr lang="ru-RU" dirty="0" err="1" smtClean="0"/>
              <a:t>набори</a:t>
            </a:r>
            <a:r>
              <a:rPr lang="ru-RU" dirty="0" smtClean="0"/>
              <a:t> </a:t>
            </a:r>
            <a:r>
              <a:rPr lang="en-GB" dirty="0" smtClean="0"/>
              <a:t>S1  </a:t>
            </a:r>
            <a:r>
              <a:rPr lang="ru-RU" dirty="0" err="1" smtClean="0"/>
              <a:t>містяться</a:t>
            </a:r>
            <a:r>
              <a:rPr lang="ru-RU" dirty="0" smtClean="0"/>
              <a:t> у </a:t>
            </a:r>
            <a:r>
              <a:rPr lang="ru-RU" dirty="0" err="1" smtClean="0"/>
              <a:t>предметних</a:t>
            </a:r>
            <a:r>
              <a:rPr lang="ru-RU" dirty="0" smtClean="0"/>
              <a:t> наборах </a:t>
            </a:r>
            <a:r>
              <a:rPr lang="en-GB" dirty="0" smtClean="0"/>
              <a:t>S2. </a:t>
            </a:r>
            <a:r>
              <a:rPr lang="ru-RU" b="1" dirty="0" err="1" smtClean="0">
                <a:solidFill>
                  <a:srgbClr val="008000"/>
                </a:solidFill>
              </a:rPr>
              <a:t>Наприклад</a:t>
            </a:r>
            <a:r>
              <a:rPr lang="ru-RU" b="1" dirty="0" smtClean="0">
                <a:solidFill>
                  <a:srgbClr val="008000"/>
                </a:solidFill>
              </a:rPr>
              <a:t> , </a:t>
            </a:r>
            <a:r>
              <a:rPr lang="ru-RU" b="1" dirty="0" err="1" smtClean="0">
                <a:solidFill>
                  <a:srgbClr val="008000"/>
                </a:solidFill>
              </a:rPr>
              <a:t>послідовність</a:t>
            </a:r>
            <a:r>
              <a:rPr lang="ru-RU" b="1" dirty="0" smtClean="0">
                <a:solidFill>
                  <a:srgbClr val="008000"/>
                </a:solidFill>
              </a:rPr>
              <a:t> &lt;(3);(4,5);(8)&gt;  </a:t>
            </a:r>
            <a:r>
              <a:rPr lang="ru-RU" b="1" dirty="0" err="1" smtClean="0">
                <a:solidFill>
                  <a:srgbClr val="008000"/>
                </a:solidFill>
              </a:rPr>
              <a:t>міститься</a:t>
            </a:r>
            <a:r>
              <a:rPr lang="ru-RU" b="1" dirty="0" smtClean="0">
                <a:solidFill>
                  <a:srgbClr val="008000"/>
                </a:solidFill>
              </a:rPr>
              <a:t> в </a:t>
            </a:r>
            <a:r>
              <a:rPr lang="ru-RU" b="1" dirty="0" err="1" smtClean="0">
                <a:solidFill>
                  <a:srgbClr val="008000"/>
                </a:solidFill>
              </a:rPr>
              <a:t>послідовності</a:t>
            </a:r>
            <a:r>
              <a:rPr lang="ru-RU" b="1" dirty="0" smtClean="0">
                <a:solidFill>
                  <a:srgbClr val="008000"/>
                </a:solidFill>
              </a:rPr>
              <a:t> &lt;(7);(3,8);(9);(4,5,6);(8)&gt;, </a:t>
            </a:r>
            <a:r>
              <a:rPr lang="ru-RU" b="1" dirty="0" err="1" smtClean="0">
                <a:solidFill>
                  <a:srgbClr val="008000"/>
                </a:solidFill>
              </a:rPr>
              <a:t>оскільки</a:t>
            </a:r>
            <a:r>
              <a:rPr lang="ru-RU" b="1" dirty="0" smtClean="0">
                <a:solidFill>
                  <a:srgbClr val="008000"/>
                </a:solidFill>
              </a:rPr>
              <a:t> (3)</a:t>
            </a:r>
            <a:r>
              <a:rPr lang="uk-UA" altLang="ru-RU" b="1" dirty="0">
                <a:solidFill>
                  <a:srgbClr val="008000"/>
                </a:solidFill>
                <a:sym typeface="Symbol" panose="05050102010706020507" pitchFamily="18" charset="2"/>
              </a:rPr>
              <a:t> </a:t>
            </a:r>
            <a:r>
              <a:rPr lang="ru-RU" b="1" dirty="0" smtClean="0">
                <a:solidFill>
                  <a:srgbClr val="008000"/>
                </a:solidFill>
              </a:rPr>
              <a:t>(3,8),(4,5) </a:t>
            </a:r>
            <a:r>
              <a:rPr lang="uk-UA" altLang="ru-RU" b="1" dirty="0">
                <a:solidFill>
                  <a:srgbClr val="008000"/>
                </a:solidFill>
                <a:sym typeface="Symbol" panose="05050102010706020507" pitchFamily="18" charset="2"/>
              </a:rPr>
              <a:t></a:t>
            </a:r>
            <a:r>
              <a:rPr lang="ru-RU" b="1" dirty="0" smtClean="0">
                <a:solidFill>
                  <a:srgbClr val="008000"/>
                </a:solidFill>
              </a:rPr>
              <a:t>(4,5,6) і (8) </a:t>
            </a:r>
            <a:r>
              <a:rPr lang="uk-UA" altLang="ru-RU" b="1" dirty="0">
                <a:solidFill>
                  <a:srgbClr val="008000"/>
                </a:solidFill>
                <a:sym typeface="Symbol" panose="05050102010706020507" pitchFamily="18" charset="2"/>
              </a:rPr>
              <a:t></a:t>
            </a:r>
            <a:r>
              <a:rPr lang="ru-RU" b="1" dirty="0" smtClean="0">
                <a:solidFill>
                  <a:srgbClr val="008000"/>
                </a:solidFill>
              </a:rPr>
              <a:t>(8).</a:t>
            </a:r>
            <a:r>
              <a:rPr lang="ru-RU" dirty="0" smtClean="0"/>
              <a:t> Але &lt;(3);(5)&gt;</a:t>
            </a:r>
            <a:r>
              <a:rPr lang="uk-UA" altLang="ru-RU" dirty="0">
                <a:sym typeface="Symbol" panose="05050102010706020507" pitchFamily="18" charset="2"/>
              </a:rPr>
              <a:t> </a:t>
            </a:r>
            <a:r>
              <a:rPr lang="uk-UA" altLang="ru-RU" dirty="0" smtClean="0">
                <a:sym typeface="Symbol" panose="05050102010706020507" pitchFamily="18" charset="2"/>
              </a:rPr>
              <a:t></a:t>
            </a:r>
            <a:r>
              <a:rPr lang="ru-RU" dirty="0" smtClean="0"/>
              <a:t> &lt;(3,5)&gt; і </a:t>
            </a:r>
            <a:r>
              <a:rPr lang="ru-RU" dirty="0" err="1" smtClean="0"/>
              <a:t>навпаки</a:t>
            </a:r>
            <a:r>
              <a:rPr lang="ru-RU" dirty="0" smtClean="0"/>
              <a:t>, </a:t>
            </a:r>
            <a:r>
              <a:rPr lang="ru-RU" dirty="0" err="1" smtClean="0"/>
              <a:t>бо</a:t>
            </a:r>
            <a:r>
              <a:rPr lang="ru-RU" dirty="0" smtClean="0"/>
              <a:t> в </a:t>
            </a:r>
            <a:r>
              <a:rPr lang="ru-RU" dirty="0" err="1" smtClean="0"/>
              <a:t>першій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 </a:t>
            </a:r>
            <a:r>
              <a:rPr lang="ru-RU" dirty="0" err="1" smtClean="0"/>
              <a:t>предмети</a:t>
            </a:r>
            <a:r>
              <a:rPr lang="ru-RU" dirty="0" smtClean="0"/>
              <a:t> 3 і 5 </a:t>
            </a:r>
            <a:r>
              <a:rPr lang="ru-RU" dirty="0" err="1" smtClean="0"/>
              <a:t>були</a:t>
            </a:r>
            <a:r>
              <a:rPr lang="ru-RU" dirty="0" smtClean="0"/>
              <a:t> </a:t>
            </a:r>
            <a:r>
              <a:rPr lang="ru-RU" dirty="0" err="1" smtClean="0"/>
              <a:t>куплені</a:t>
            </a:r>
            <a:r>
              <a:rPr lang="ru-RU" dirty="0" smtClean="0"/>
              <a:t> один за </a:t>
            </a:r>
            <a:r>
              <a:rPr lang="ru-RU" dirty="0" err="1" smtClean="0"/>
              <a:t>іншим</a:t>
            </a:r>
            <a:r>
              <a:rPr lang="ru-RU" dirty="0" smtClean="0"/>
              <a:t>, а в </a:t>
            </a:r>
            <a:r>
              <a:rPr lang="ru-RU" dirty="0" err="1" smtClean="0"/>
              <a:t>другій</a:t>
            </a:r>
            <a:r>
              <a:rPr lang="ru-RU" dirty="0" smtClean="0"/>
              <a:t> - </a:t>
            </a:r>
            <a:r>
              <a:rPr lang="ru-RU" dirty="0" err="1" smtClean="0"/>
              <a:t>одночасно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en-GB" dirty="0" smtClean="0"/>
              <a:t>S </a:t>
            </a:r>
            <a:r>
              <a:rPr lang="ru-RU" dirty="0" err="1" smtClean="0"/>
              <a:t>називається</a:t>
            </a:r>
            <a:r>
              <a:rPr lang="ru-RU" dirty="0" smtClean="0"/>
              <a:t> </a:t>
            </a:r>
            <a:r>
              <a:rPr lang="ru-RU" b="1" dirty="0" smtClean="0"/>
              <a:t>максимальною</a:t>
            </a:r>
            <a:r>
              <a:rPr lang="ru-RU" dirty="0" smtClean="0"/>
              <a:t> , </a:t>
            </a:r>
            <a:r>
              <a:rPr lang="ru-RU" dirty="0" err="1" smtClean="0"/>
              <a:t>якщо</a:t>
            </a:r>
            <a:r>
              <a:rPr lang="ru-RU" dirty="0" smtClean="0"/>
              <a:t> вона не </a:t>
            </a:r>
            <a:r>
              <a:rPr lang="ru-RU" dirty="0" err="1" smtClean="0"/>
              <a:t>міститься</a:t>
            </a:r>
            <a:r>
              <a:rPr lang="ru-RU" dirty="0" smtClean="0"/>
              <a:t> в </a:t>
            </a:r>
            <a:r>
              <a:rPr lang="ru-RU" dirty="0" err="1" smtClean="0"/>
              <a:t>іншій</a:t>
            </a:r>
            <a:r>
              <a:rPr lang="ru-RU" dirty="0" smtClean="0"/>
              <a:t>  </a:t>
            </a:r>
            <a:r>
              <a:rPr lang="ru-RU" dirty="0" err="1" smtClean="0"/>
              <a:t>послідовності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en-GB" dirty="0" smtClean="0"/>
              <a:t>S </a:t>
            </a:r>
            <a:r>
              <a:rPr lang="ru-RU" dirty="0" err="1" smtClean="0"/>
              <a:t>називається</a:t>
            </a:r>
            <a:r>
              <a:rPr lang="ru-RU" dirty="0" smtClean="0"/>
              <a:t> </a:t>
            </a:r>
            <a:r>
              <a:rPr lang="ru-RU" b="1" dirty="0" err="1" smtClean="0"/>
              <a:t>клієнтською</a:t>
            </a:r>
            <a:r>
              <a:rPr lang="ru-RU" dirty="0" smtClean="0"/>
              <a:t> </a:t>
            </a:r>
            <a:r>
              <a:rPr lang="ru-RU" dirty="0" err="1" smtClean="0"/>
              <a:t>якщо</a:t>
            </a:r>
            <a:r>
              <a:rPr lang="ru-RU" dirty="0" smtClean="0"/>
              <a:t> вона </a:t>
            </a:r>
            <a:r>
              <a:rPr lang="ru-RU" dirty="0" err="1" smtClean="0"/>
              <a:t>містить</a:t>
            </a:r>
            <a:r>
              <a:rPr lang="ru-RU" dirty="0" smtClean="0"/>
              <a:t> </a:t>
            </a:r>
            <a:r>
              <a:rPr lang="ru-RU" dirty="0" err="1" smtClean="0"/>
              <a:t>транзакції</a:t>
            </a:r>
            <a:r>
              <a:rPr lang="ru-RU" dirty="0" smtClean="0"/>
              <a:t> одного  </a:t>
            </a:r>
            <a:r>
              <a:rPr lang="ru-RU" dirty="0" err="1" smtClean="0"/>
              <a:t>Клієнта</a:t>
            </a:r>
            <a:r>
              <a:rPr lang="ru-RU" dirty="0" smtClean="0"/>
              <a:t>, </a:t>
            </a:r>
            <a:r>
              <a:rPr lang="ru-RU" dirty="0" err="1" smtClean="0"/>
              <a:t>впорядкованих</a:t>
            </a:r>
            <a:r>
              <a:rPr lang="ru-RU" dirty="0" smtClean="0"/>
              <a:t> по </a:t>
            </a:r>
            <a:r>
              <a:rPr lang="ru-RU" dirty="0" err="1" smtClean="0"/>
              <a:t>даті</a:t>
            </a:r>
            <a:r>
              <a:rPr lang="ru-RU" dirty="0" smtClean="0"/>
              <a:t>, часу </a:t>
            </a:r>
            <a:r>
              <a:rPr lang="ru-RU" dirty="0" err="1" smtClean="0"/>
              <a:t>або</a:t>
            </a:r>
            <a:r>
              <a:rPr lang="ru-RU" dirty="0" smtClean="0"/>
              <a:t> номеру </a:t>
            </a:r>
            <a:r>
              <a:rPr lang="ru-RU" dirty="0" err="1" smtClean="0"/>
              <a:t>візиту</a:t>
            </a:r>
            <a:r>
              <a:rPr lang="ru-RU" dirty="0" smtClean="0"/>
              <a:t>. </a:t>
            </a:r>
            <a:r>
              <a:rPr lang="ru-RU" dirty="0" err="1" smtClean="0"/>
              <a:t>Тобто</a:t>
            </a:r>
            <a:r>
              <a:rPr lang="ru-RU" dirty="0" smtClean="0"/>
              <a:t>, </a:t>
            </a:r>
            <a:r>
              <a:rPr lang="ru-RU" b="1" dirty="0" err="1" smtClean="0"/>
              <a:t>клієнтська</a:t>
            </a:r>
            <a:r>
              <a:rPr lang="ru-RU" b="1" dirty="0" smtClean="0"/>
              <a:t>  </a:t>
            </a:r>
            <a:r>
              <a:rPr lang="ru-RU" b="1" dirty="0" err="1" smtClean="0"/>
              <a:t>послідовність</a:t>
            </a:r>
            <a:r>
              <a:rPr lang="ru-RU" b="1" dirty="0" smtClean="0"/>
              <a:t> - </a:t>
            </a:r>
            <a:r>
              <a:rPr lang="ru-RU" b="1" dirty="0" err="1" smtClean="0"/>
              <a:t>це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послідовність</a:t>
            </a:r>
            <a:r>
              <a:rPr lang="ru-RU" b="1" dirty="0" smtClean="0"/>
              <a:t> </a:t>
            </a:r>
            <a:r>
              <a:rPr lang="ru-RU" b="1" dirty="0" err="1" smtClean="0"/>
              <a:t>предметних</a:t>
            </a:r>
            <a:r>
              <a:rPr lang="ru-RU" b="1" dirty="0" smtClean="0"/>
              <a:t> </a:t>
            </a:r>
            <a:r>
              <a:rPr lang="ru-RU" b="1" dirty="0" err="1" smtClean="0"/>
              <a:t>наборів</a:t>
            </a:r>
            <a:r>
              <a:rPr lang="ru-RU" b="1" dirty="0" smtClean="0"/>
              <a:t>, </a:t>
            </a:r>
            <a:r>
              <a:rPr lang="ru-RU" b="1" dirty="0" err="1" smtClean="0"/>
              <a:t>що</a:t>
            </a:r>
            <a:r>
              <a:rPr lang="ru-RU" b="1" dirty="0" smtClean="0"/>
              <a:t> </a:t>
            </a:r>
            <a:r>
              <a:rPr lang="ru-RU" b="1" dirty="0" err="1" smtClean="0"/>
              <a:t>містяться</a:t>
            </a:r>
            <a:r>
              <a:rPr lang="ru-RU" b="1" dirty="0" smtClean="0"/>
              <a:t> в </a:t>
            </a:r>
            <a:r>
              <a:rPr lang="ru-RU" b="1" dirty="0" err="1" smtClean="0"/>
              <a:t>усіх</a:t>
            </a:r>
            <a:r>
              <a:rPr lang="ru-RU" b="1" dirty="0" smtClean="0"/>
              <a:t>  </a:t>
            </a:r>
            <a:r>
              <a:rPr lang="ru-RU" b="1" dirty="0" err="1" smtClean="0"/>
              <a:t>транзакціях</a:t>
            </a:r>
            <a:r>
              <a:rPr lang="ru-RU" b="1" dirty="0" smtClean="0"/>
              <a:t> </a:t>
            </a:r>
            <a:r>
              <a:rPr lang="ru-RU" b="1" dirty="0" err="1" smtClean="0"/>
              <a:t>даного</a:t>
            </a:r>
            <a:r>
              <a:rPr lang="ru-RU" b="1" dirty="0" smtClean="0"/>
              <a:t> </a:t>
            </a:r>
            <a:r>
              <a:rPr lang="ru-RU" b="1" dirty="0" err="1" smtClean="0"/>
              <a:t>клієнта</a:t>
            </a:r>
            <a:r>
              <a:rPr lang="ru-RU" b="1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en-GB" dirty="0" smtClean="0"/>
              <a:t>S </a:t>
            </a:r>
            <a:r>
              <a:rPr lang="ru-RU" dirty="0" err="1" smtClean="0"/>
              <a:t>називається</a:t>
            </a:r>
            <a:r>
              <a:rPr lang="ru-RU" dirty="0" smtClean="0"/>
              <a:t> </a:t>
            </a:r>
            <a:r>
              <a:rPr lang="ru-RU" b="1" dirty="0" err="1" smtClean="0"/>
              <a:t>підтримуваною</a:t>
            </a:r>
            <a:r>
              <a:rPr lang="ru-RU" b="1" dirty="0" smtClean="0"/>
              <a:t> </a:t>
            </a:r>
            <a:r>
              <a:rPr lang="ru-RU" b="1" dirty="0" err="1" smtClean="0"/>
              <a:t>клієнтом</a:t>
            </a:r>
            <a:r>
              <a:rPr lang="ru-RU" dirty="0" smtClean="0"/>
              <a:t>, </a:t>
            </a:r>
            <a:r>
              <a:rPr lang="ru-RU" dirty="0" err="1" smtClean="0"/>
              <a:t>якщо</a:t>
            </a:r>
            <a:r>
              <a:rPr lang="ru-RU" dirty="0" smtClean="0"/>
              <a:t> вона </a:t>
            </a:r>
            <a:r>
              <a:rPr lang="ru-RU" dirty="0" err="1" smtClean="0"/>
              <a:t>міститься</a:t>
            </a:r>
            <a:r>
              <a:rPr lang="ru-RU" dirty="0" smtClean="0"/>
              <a:t> в  </a:t>
            </a:r>
            <a:r>
              <a:rPr lang="ru-RU" dirty="0" err="1" smtClean="0"/>
              <a:t>клієнтській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ru-RU" dirty="0" err="1" smtClean="0"/>
              <a:t>даного</a:t>
            </a:r>
            <a:r>
              <a:rPr lang="ru-RU" dirty="0" smtClean="0"/>
              <a:t> </a:t>
            </a:r>
            <a:r>
              <a:rPr lang="ru-RU" dirty="0" err="1" smtClean="0"/>
              <a:t>клієнта</a:t>
            </a:r>
            <a:r>
              <a:rPr lang="ru-RU" dirty="0" smtClean="0"/>
              <a:t>. </a:t>
            </a:r>
            <a:r>
              <a:rPr lang="ru-RU" dirty="0" err="1" smtClean="0"/>
              <a:t>Тоді</a:t>
            </a:r>
            <a:r>
              <a:rPr lang="ru-RU" dirty="0" smtClean="0"/>
              <a:t> </a:t>
            </a:r>
            <a:r>
              <a:rPr lang="ru-RU" b="1" dirty="0" err="1" smtClean="0"/>
              <a:t>підтримка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послідовності</a:t>
            </a:r>
            <a:r>
              <a:rPr lang="ru-RU" b="1" dirty="0" smtClean="0"/>
              <a:t> </a:t>
            </a:r>
            <a:r>
              <a:rPr lang="ru-RU" b="1" dirty="0" err="1" smtClean="0"/>
              <a:t>визначає</a:t>
            </a:r>
            <a:r>
              <a:rPr lang="ru-RU" b="1" dirty="0" smtClean="0"/>
              <a:t>  </a:t>
            </a:r>
            <a:r>
              <a:rPr lang="ru-RU" b="1" dirty="0" err="1" smtClean="0"/>
              <a:t>кількість</a:t>
            </a:r>
            <a:r>
              <a:rPr lang="ru-RU" b="1" dirty="0" smtClean="0"/>
              <a:t> </a:t>
            </a:r>
            <a:r>
              <a:rPr lang="ru-RU" b="1" dirty="0" err="1" smtClean="0"/>
              <a:t>клієнтів</a:t>
            </a:r>
            <a:r>
              <a:rPr lang="ru-RU" b="1" dirty="0" smtClean="0"/>
              <a:t>, </a:t>
            </a:r>
            <a:r>
              <a:rPr lang="ru-RU" b="1" dirty="0" err="1" smtClean="0"/>
              <a:t>що</a:t>
            </a:r>
            <a:r>
              <a:rPr lang="ru-RU" b="1" dirty="0" smtClean="0"/>
              <a:t> </a:t>
            </a:r>
            <a:r>
              <a:rPr lang="ru-RU" b="1" dirty="0" err="1" smtClean="0"/>
              <a:t>підтримують</a:t>
            </a:r>
            <a:r>
              <a:rPr lang="ru-RU" b="1" dirty="0" smtClean="0"/>
              <a:t> </a:t>
            </a:r>
            <a:r>
              <a:rPr lang="ru-RU" b="1" dirty="0" err="1" smtClean="0"/>
              <a:t>дану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послідовність</a:t>
            </a:r>
            <a:r>
              <a:rPr lang="ru-RU" b="1" dirty="0" smtClean="0"/>
              <a:t>.</a:t>
            </a:r>
            <a:r>
              <a:rPr lang="ru-RU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Т</a:t>
            </a:r>
            <a:r>
              <a:rPr lang="ru-RU" dirty="0" smtClean="0"/>
              <a:t>аким чином, </a:t>
            </a:r>
            <a:r>
              <a:rPr lang="ru-RU" dirty="0" err="1" smtClean="0"/>
              <a:t>поняття</a:t>
            </a:r>
            <a:r>
              <a:rPr lang="ru-RU" dirty="0" smtClean="0"/>
              <a:t>  </a:t>
            </a:r>
            <a:r>
              <a:rPr lang="ru-RU" dirty="0" err="1" smtClean="0"/>
              <a:t>підтримки</a:t>
            </a:r>
            <a:r>
              <a:rPr lang="ru-RU" dirty="0" smtClean="0"/>
              <a:t> в </a:t>
            </a:r>
            <a:r>
              <a:rPr lang="ru-RU" dirty="0" err="1" smtClean="0"/>
              <a:t>теорії</a:t>
            </a:r>
            <a:r>
              <a:rPr lang="ru-RU" dirty="0" smtClean="0"/>
              <a:t> </a:t>
            </a:r>
            <a:r>
              <a:rPr lang="ru-RU" dirty="0" err="1" smtClean="0"/>
              <a:t>послідовних</a:t>
            </a:r>
            <a:r>
              <a:rPr lang="ru-RU" dirty="0" smtClean="0"/>
              <a:t> </a:t>
            </a:r>
            <a:r>
              <a:rPr lang="ru-RU" dirty="0" err="1" smtClean="0"/>
              <a:t>шаблонів</a:t>
            </a:r>
            <a:r>
              <a:rPr lang="ru-RU" dirty="0" smtClean="0"/>
              <a:t> </a:t>
            </a:r>
            <a:r>
              <a:rPr lang="ru-RU" dirty="0" err="1" smtClean="0"/>
              <a:t>дещо</a:t>
            </a:r>
            <a:r>
              <a:rPr lang="ru-RU" dirty="0" smtClean="0"/>
              <a:t> </a:t>
            </a:r>
            <a:r>
              <a:rPr lang="ru-RU" dirty="0" err="1" smtClean="0"/>
              <a:t>відрізняється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аналогічного</a:t>
            </a:r>
            <a:r>
              <a:rPr lang="ru-RU" dirty="0" smtClean="0"/>
              <a:t>  </a:t>
            </a:r>
            <a:r>
              <a:rPr lang="ru-RU" dirty="0" err="1" smtClean="0"/>
              <a:t>поняття</a:t>
            </a:r>
            <a:r>
              <a:rPr lang="ru-RU" dirty="0" smtClean="0"/>
              <a:t> </a:t>
            </a:r>
            <a:r>
              <a:rPr lang="ru-RU" dirty="0" err="1" smtClean="0"/>
              <a:t>теорії</a:t>
            </a:r>
            <a:r>
              <a:rPr lang="ru-RU" dirty="0" smtClean="0"/>
              <a:t> </a:t>
            </a:r>
            <a:r>
              <a:rPr lang="ru-RU" dirty="0" err="1" smtClean="0"/>
              <a:t>асоціативних</a:t>
            </a:r>
            <a:r>
              <a:rPr lang="ru-RU" dirty="0" smtClean="0"/>
              <a:t> правил.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769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45481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Задача </a:t>
            </a:r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пошуку послідовних </a:t>
            </a:r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шаблонів (ПШ)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948"/>
            <a:ext cx="8163387" cy="16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676" y="2552818"/>
            <a:ext cx="2897685" cy="125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" y="4044404"/>
            <a:ext cx="12103768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600" dirty="0" err="1" smtClean="0"/>
              <a:t>Задамо</a:t>
            </a:r>
            <a:r>
              <a:rPr lang="ru-RU" sz="1600" dirty="0" smtClean="0"/>
              <a:t> </a:t>
            </a:r>
            <a:r>
              <a:rPr lang="ru-RU" sz="1600" b="1" dirty="0" err="1" smtClean="0">
                <a:solidFill>
                  <a:srgbClr val="0000CC"/>
                </a:solidFill>
              </a:rPr>
              <a:t>рівень</a:t>
            </a:r>
            <a:r>
              <a:rPr lang="ru-RU" sz="1600" b="1" dirty="0" smtClean="0">
                <a:solidFill>
                  <a:srgbClr val="0000CC"/>
                </a:solidFill>
              </a:rPr>
              <a:t> </a:t>
            </a:r>
            <a:r>
              <a:rPr lang="ru-RU" sz="1600" b="1" dirty="0" err="1" smtClean="0">
                <a:solidFill>
                  <a:srgbClr val="0000CC"/>
                </a:solidFill>
              </a:rPr>
              <a:t>мінімальної</a:t>
            </a:r>
            <a:r>
              <a:rPr lang="ru-RU" sz="1600" b="1" dirty="0" smtClean="0">
                <a:solidFill>
                  <a:srgbClr val="0000CC"/>
                </a:solidFill>
              </a:rPr>
              <a:t> </a:t>
            </a:r>
            <a:r>
              <a:rPr lang="ru-RU" sz="1600" b="1" dirty="0" err="1" smtClean="0">
                <a:solidFill>
                  <a:srgbClr val="0000CC"/>
                </a:solidFill>
              </a:rPr>
              <a:t>підтримки</a:t>
            </a:r>
            <a:r>
              <a:rPr lang="ru-RU" sz="1600" b="1" dirty="0" smtClean="0">
                <a:solidFill>
                  <a:srgbClr val="0000CC"/>
                </a:solidFill>
              </a:rPr>
              <a:t> </a:t>
            </a:r>
            <a:r>
              <a:rPr lang="ru-RU" sz="1600" dirty="0" smtClean="0"/>
              <a:t>25%. </a:t>
            </a:r>
            <a:r>
              <a:rPr lang="ru-RU" sz="1600" dirty="0" err="1" smtClean="0"/>
              <a:t>Йому</a:t>
            </a:r>
            <a:r>
              <a:rPr lang="ru-RU" sz="1600" dirty="0" smtClean="0"/>
              <a:t> </a:t>
            </a:r>
            <a:r>
              <a:rPr lang="ru-RU" sz="1600" dirty="0" err="1" smtClean="0"/>
              <a:t>задовольняють</a:t>
            </a:r>
            <a:r>
              <a:rPr lang="ru-RU" sz="1600" dirty="0" smtClean="0"/>
              <a:t> </a:t>
            </a:r>
            <a:r>
              <a:rPr lang="ru-RU" sz="1600" b="1" dirty="0" err="1" smtClean="0">
                <a:solidFill>
                  <a:srgbClr val="0000CC"/>
                </a:solidFill>
              </a:rPr>
              <a:t>максимальні</a:t>
            </a:r>
            <a:r>
              <a:rPr lang="ru-RU" sz="1600" b="1" dirty="0" smtClean="0">
                <a:solidFill>
                  <a:srgbClr val="0000CC"/>
                </a:solidFill>
              </a:rPr>
              <a:t>  </a:t>
            </a:r>
            <a:r>
              <a:rPr lang="ru-RU" sz="1600" b="1" dirty="0" err="1" smtClean="0">
                <a:solidFill>
                  <a:srgbClr val="0000CC"/>
                </a:solidFill>
              </a:rPr>
              <a:t>послідовності</a:t>
            </a:r>
            <a:r>
              <a:rPr lang="ru-RU" sz="1600" b="1" dirty="0" smtClean="0">
                <a:solidFill>
                  <a:srgbClr val="0000CC"/>
                </a:solidFill>
              </a:rPr>
              <a:t> </a:t>
            </a:r>
            <a:r>
              <a:rPr lang="ru-RU" sz="1600" b="1" dirty="0" smtClean="0"/>
              <a:t>&lt;(3);(9)&gt; і &lt;(3); (4,7)&gt; </a:t>
            </a:r>
            <a:r>
              <a:rPr lang="ru-RU" sz="1600" dirty="0" err="1" smtClean="0"/>
              <a:t>підтримувані</a:t>
            </a:r>
            <a:r>
              <a:rPr lang="ru-RU" sz="1600" dirty="0" smtClean="0"/>
              <a:t> </a:t>
            </a:r>
            <a:r>
              <a:rPr lang="ru-RU" sz="1600" dirty="0" err="1" smtClean="0"/>
              <a:t>двома</a:t>
            </a:r>
            <a:r>
              <a:rPr lang="ru-RU" sz="1600" dirty="0" smtClean="0"/>
              <a:t> </a:t>
            </a:r>
            <a:r>
              <a:rPr lang="ru-RU" sz="1600" dirty="0" err="1" smtClean="0"/>
              <a:t>клієнтами</a:t>
            </a:r>
            <a:r>
              <a:rPr lang="ru-RU" sz="1600" dirty="0" smtClean="0"/>
              <a:t> (як </a:t>
            </a:r>
            <a:r>
              <a:rPr lang="ru-RU" sz="1600" dirty="0" err="1" smtClean="0"/>
              <a:t>мінімум</a:t>
            </a:r>
            <a:r>
              <a:rPr lang="ru-RU" sz="1600" b="1" dirty="0" smtClean="0">
                <a:solidFill>
                  <a:srgbClr val="FF0000"/>
                </a:solidFill>
              </a:rPr>
              <a:t>).  Вони і є </a:t>
            </a:r>
            <a:r>
              <a:rPr lang="ru-RU" sz="1600" b="1" dirty="0" err="1" smtClean="0">
                <a:solidFill>
                  <a:srgbClr val="FF0000"/>
                </a:solidFill>
              </a:rPr>
              <a:t>шуканими</a:t>
            </a:r>
            <a:r>
              <a:rPr lang="ru-RU" sz="1600" b="1" dirty="0" smtClean="0">
                <a:solidFill>
                  <a:srgbClr val="FF0000"/>
                </a:solidFill>
              </a:rPr>
              <a:t> ПШ. </a:t>
            </a:r>
          </a:p>
          <a:p>
            <a:r>
              <a:rPr lang="ru-RU" sz="1600" dirty="0" smtClean="0"/>
              <a:t>Шаблон</a:t>
            </a:r>
            <a:r>
              <a:rPr lang="ru-RU" sz="1600" b="1" dirty="0" smtClean="0"/>
              <a:t> &lt;(3);(9)&gt; </a:t>
            </a:r>
            <a:r>
              <a:rPr lang="ru-RU" sz="1600" dirty="0" err="1" smtClean="0"/>
              <a:t>підтримують</a:t>
            </a:r>
            <a:r>
              <a:rPr lang="ru-RU" sz="1600" dirty="0" smtClean="0"/>
              <a:t> </a:t>
            </a:r>
            <a:r>
              <a:rPr lang="ru-RU" sz="1600" dirty="0" err="1" smtClean="0"/>
              <a:t>клієнти</a:t>
            </a:r>
            <a:r>
              <a:rPr lang="ru-RU" sz="1600" dirty="0" smtClean="0"/>
              <a:t> </a:t>
            </a:r>
            <a:r>
              <a:rPr lang="ru-RU" sz="1600" b="1" dirty="0" smtClean="0"/>
              <a:t>1 і 4. </a:t>
            </a:r>
            <a:r>
              <a:rPr lang="ru-RU" sz="1600" dirty="0" err="1" smtClean="0"/>
              <a:t>Клієнт</a:t>
            </a:r>
            <a:r>
              <a:rPr lang="ru-RU" sz="1600" dirty="0" smtClean="0"/>
              <a:t> 4 купив  </a:t>
            </a:r>
            <a:r>
              <a:rPr lang="ru-RU" sz="1600" dirty="0" err="1" smtClean="0"/>
              <a:t>предмети</a:t>
            </a:r>
            <a:r>
              <a:rPr lang="ru-RU" sz="1600" dirty="0" smtClean="0"/>
              <a:t> (4,7) </a:t>
            </a:r>
            <a:r>
              <a:rPr lang="ru-RU" sz="1600" dirty="0" err="1" smtClean="0"/>
              <a:t>між</a:t>
            </a:r>
            <a:r>
              <a:rPr lang="ru-RU" sz="1600" dirty="0" smtClean="0"/>
              <a:t> 3 і 9, але </a:t>
            </a:r>
            <a:r>
              <a:rPr lang="ru-RU" sz="1600" dirty="0" err="1" smtClean="0"/>
              <a:t>він</a:t>
            </a:r>
            <a:r>
              <a:rPr lang="ru-RU" sz="1600" dirty="0" smtClean="0"/>
              <a:t> </a:t>
            </a:r>
            <a:r>
              <a:rPr lang="ru-RU" sz="1600" dirty="0" err="1" smtClean="0"/>
              <a:t>підтримує</a:t>
            </a:r>
            <a:r>
              <a:rPr lang="ru-RU" sz="1600" dirty="0" smtClean="0"/>
              <a:t> шаблон </a:t>
            </a:r>
            <a:r>
              <a:rPr lang="ru-RU" sz="1600" b="1" dirty="0" smtClean="0"/>
              <a:t>&lt;(3);(9)&gt;, </a:t>
            </a:r>
            <a:r>
              <a:rPr lang="ru-RU" sz="1600" dirty="0" err="1" smtClean="0"/>
              <a:t>оскільки</a:t>
            </a:r>
            <a:r>
              <a:rPr lang="ru-RU" sz="1600" dirty="0" smtClean="0"/>
              <a:t> </a:t>
            </a:r>
            <a:r>
              <a:rPr lang="ru-RU" sz="1600" dirty="0" err="1" smtClean="0"/>
              <a:t>шаблони</a:t>
            </a:r>
            <a:r>
              <a:rPr lang="ru-RU" sz="1600" dirty="0" smtClean="0"/>
              <a:t>  не </a:t>
            </a:r>
            <a:r>
              <a:rPr lang="ru-RU" sz="1600" dirty="0" err="1" smtClean="0"/>
              <a:t>обов'язково</a:t>
            </a:r>
            <a:r>
              <a:rPr lang="ru-RU" sz="1600" dirty="0" smtClean="0"/>
              <a:t> є </a:t>
            </a:r>
            <a:r>
              <a:rPr lang="ru-RU" sz="1600" dirty="0" err="1" smtClean="0"/>
              <a:t>безперервними</a:t>
            </a:r>
            <a:r>
              <a:rPr lang="ru-RU" sz="1600" dirty="0" smtClean="0"/>
              <a:t> </a:t>
            </a:r>
            <a:r>
              <a:rPr lang="ru-RU" sz="1600" dirty="0" err="1" smtClean="0"/>
              <a:t>послідовностями</a:t>
            </a:r>
            <a:r>
              <a:rPr lang="ru-RU" sz="1600" dirty="0" smtClean="0"/>
              <a:t>. </a:t>
            </a:r>
          </a:p>
          <a:p>
            <a:r>
              <a:rPr lang="ru-RU" sz="1600" dirty="0" smtClean="0"/>
              <a:t>Шаблон </a:t>
            </a:r>
            <a:r>
              <a:rPr lang="ru-RU" sz="1600" b="1" dirty="0" smtClean="0"/>
              <a:t>&lt;(3);(4,7)&gt;  </a:t>
            </a:r>
            <a:r>
              <a:rPr lang="ru-RU" sz="1600" dirty="0" err="1" smtClean="0"/>
              <a:t>підтримують</a:t>
            </a:r>
            <a:r>
              <a:rPr lang="ru-RU" sz="1600" dirty="0" smtClean="0"/>
              <a:t> </a:t>
            </a:r>
            <a:r>
              <a:rPr lang="ru-RU" sz="1600" dirty="0" err="1" smtClean="0"/>
              <a:t>клієнти</a:t>
            </a:r>
            <a:r>
              <a:rPr lang="ru-RU" sz="1600" dirty="0" smtClean="0"/>
              <a:t> </a:t>
            </a:r>
            <a:r>
              <a:rPr lang="ru-RU" sz="1600" b="1" dirty="0" smtClean="0"/>
              <a:t>2 і 4</a:t>
            </a:r>
            <a:r>
              <a:rPr lang="ru-RU" sz="1600" dirty="0" smtClean="0"/>
              <a:t>. </a:t>
            </a:r>
            <a:r>
              <a:rPr lang="ru-RU" sz="1600" dirty="0" err="1" smtClean="0"/>
              <a:t>Клієнт</a:t>
            </a:r>
            <a:r>
              <a:rPr lang="ru-RU" sz="1600" dirty="0" smtClean="0"/>
              <a:t> 2 купив предмет 6 </a:t>
            </a:r>
            <a:r>
              <a:rPr lang="ru-RU" sz="1600" dirty="0" err="1" smtClean="0"/>
              <a:t>між</a:t>
            </a:r>
            <a:r>
              <a:rPr lang="ru-RU" sz="1600" dirty="0" smtClean="0"/>
              <a:t> 4 і 7, але </a:t>
            </a:r>
            <a:r>
              <a:rPr lang="ru-RU" sz="1600" dirty="0" err="1" smtClean="0"/>
              <a:t>підтримує</a:t>
            </a:r>
            <a:r>
              <a:rPr lang="ru-RU" sz="1600" dirty="0" smtClean="0"/>
              <a:t>  </a:t>
            </a:r>
            <a:r>
              <a:rPr lang="ru-RU" sz="1600" dirty="0" err="1" smtClean="0"/>
              <a:t>даний</a:t>
            </a:r>
            <a:r>
              <a:rPr lang="ru-RU" sz="1600" dirty="0" smtClean="0"/>
              <a:t> шаблон, </a:t>
            </a:r>
            <a:r>
              <a:rPr lang="ru-RU" sz="1600" dirty="0" err="1" smtClean="0"/>
              <a:t>оскільки</a:t>
            </a:r>
            <a:r>
              <a:rPr lang="ru-RU" sz="1600" dirty="0" smtClean="0"/>
              <a:t> </a:t>
            </a:r>
            <a:r>
              <a:rPr lang="ru-RU" sz="1600" dirty="0" err="1" smtClean="0"/>
              <a:t>набір</a:t>
            </a:r>
            <a:r>
              <a:rPr lang="ru-RU" sz="1600" dirty="0" smtClean="0"/>
              <a:t> (4,7) є </a:t>
            </a:r>
            <a:r>
              <a:rPr lang="ru-RU" sz="1600" dirty="0" err="1" smtClean="0"/>
              <a:t>підмножиною</a:t>
            </a:r>
            <a:r>
              <a:rPr lang="ru-RU" sz="1600" dirty="0" smtClean="0"/>
              <a:t> (4,6,7).</a:t>
            </a:r>
          </a:p>
          <a:p>
            <a:r>
              <a:rPr lang="ru-RU" sz="1600" dirty="0" smtClean="0"/>
              <a:t>Шаблон </a:t>
            </a:r>
            <a:r>
              <a:rPr lang="ru-RU" sz="1600" b="1" dirty="0" smtClean="0"/>
              <a:t>&lt;(1,2),(3)&gt; н</a:t>
            </a:r>
            <a:r>
              <a:rPr lang="ru-RU" sz="1600" dirty="0" smtClean="0"/>
              <a:t>е </a:t>
            </a:r>
            <a:r>
              <a:rPr lang="ru-RU" sz="1600" dirty="0" err="1" smtClean="0"/>
              <a:t>задовольняє</a:t>
            </a:r>
            <a:r>
              <a:rPr lang="ru-RU" sz="1600" dirty="0" smtClean="0"/>
              <a:t> </a:t>
            </a:r>
            <a:r>
              <a:rPr lang="ru-RU" sz="1600" dirty="0" err="1" smtClean="0"/>
              <a:t>мінімальну</a:t>
            </a:r>
            <a:r>
              <a:rPr lang="ru-RU" sz="1600" dirty="0" smtClean="0"/>
              <a:t> </a:t>
            </a:r>
            <a:r>
              <a:rPr lang="ru-RU" sz="1600" dirty="0" err="1" smtClean="0"/>
              <a:t>підтримку</a:t>
            </a:r>
            <a:r>
              <a:rPr lang="ru-RU" sz="1600" dirty="0" smtClean="0"/>
              <a:t>, яку </a:t>
            </a:r>
            <a:r>
              <a:rPr lang="ru-RU" sz="1600" dirty="0" err="1" smtClean="0"/>
              <a:t>підтримує</a:t>
            </a:r>
            <a:r>
              <a:rPr lang="ru-RU" sz="1600" dirty="0" smtClean="0"/>
              <a:t>  </a:t>
            </a:r>
            <a:r>
              <a:rPr lang="ru-RU" sz="1600" dirty="0" err="1" smtClean="0"/>
              <a:t>лише</a:t>
            </a:r>
            <a:r>
              <a:rPr lang="ru-RU" sz="1600" dirty="0" smtClean="0"/>
              <a:t> </a:t>
            </a:r>
            <a:r>
              <a:rPr lang="ru-RU" sz="1600" dirty="0" err="1" smtClean="0"/>
              <a:t>клієнт</a:t>
            </a:r>
            <a:r>
              <a:rPr lang="ru-RU" sz="1600" dirty="0" smtClean="0"/>
              <a:t> 2. </a:t>
            </a:r>
          </a:p>
          <a:p>
            <a:r>
              <a:rPr lang="ru-RU" sz="1600" dirty="0" err="1" smtClean="0"/>
              <a:t>Послідовності</a:t>
            </a:r>
            <a:r>
              <a:rPr lang="ru-RU" sz="1600" dirty="0" smtClean="0"/>
              <a:t> </a:t>
            </a:r>
            <a:r>
              <a:rPr lang="ru-RU" sz="1600" b="1" dirty="0" smtClean="0"/>
              <a:t>&lt;(3)&gt;,&lt;(5)&gt;,&lt;(7)&gt;,&lt;(9)&gt;,&lt;(3);(4)&gt;,&lt;(3);(7)&gt; і &lt;(4,7)&gt;, </a:t>
            </a:r>
            <a:r>
              <a:rPr lang="ru-RU" sz="1600" dirty="0" err="1" smtClean="0"/>
              <a:t>задовольняють</a:t>
            </a:r>
            <a:r>
              <a:rPr lang="ru-RU" sz="1600" dirty="0" smtClean="0"/>
              <a:t> </a:t>
            </a:r>
            <a:r>
              <a:rPr lang="ru-RU" sz="1600" dirty="0" err="1" smtClean="0"/>
              <a:t>мінімальній</a:t>
            </a:r>
            <a:r>
              <a:rPr lang="ru-RU" sz="1600" dirty="0" smtClean="0"/>
              <a:t> </a:t>
            </a:r>
            <a:r>
              <a:rPr lang="ru-RU" sz="1600" dirty="0" err="1" smtClean="0"/>
              <a:t>підтримці</a:t>
            </a:r>
            <a:r>
              <a:rPr lang="ru-RU" sz="1600" dirty="0" smtClean="0"/>
              <a:t>, але не є </a:t>
            </a:r>
            <a:r>
              <a:rPr lang="ru-RU" sz="1600" dirty="0" err="1" smtClean="0"/>
              <a:t>максимальними</a:t>
            </a:r>
            <a:r>
              <a:rPr lang="ru-RU" sz="1600" dirty="0" smtClean="0"/>
              <a:t>, </a:t>
            </a:r>
            <a:r>
              <a:rPr lang="ru-RU" sz="1600" dirty="0" err="1" smtClean="0"/>
              <a:t>оскільки</a:t>
            </a:r>
            <a:r>
              <a:rPr lang="ru-RU" sz="1600" dirty="0" smtClean="0"/>
              <a:t>  </a:t>
            </a:r>
            <a:r>
              <a:rPr lang="ru-RU" sz="1600" dirty="0" err="1" smtClean="0"/>
              <a:t>містяться</a:t>
            </a:r>
            <a:r>
              <a:rPr lang="ru-RU" sz="1600" dirty="0" smtClean="0"/>
              <a:t> в </a:t>
            </a:r>
            <a:r>
              <a:rPr lang="ru-RU" sz="1600" dirty="0" err="1" smtClean="0"/>
              <a:t>більш</a:t>
            </a:r>
            <a:r>
              <a:rPr lang="ru-RU" sz="1600" dirty="0" smtClean="0"/>
              <a:t> </a:t>
            </a:r>
            <a:r>
              <a:rPr lang="ru-RU" sz="1600" dirty="0" err="1" smtClean="0"/>
              <a:t>довгих</a:t>
            </a:r>
            <a:r>
              <a:rPr lang="ru-RU" sz="1600" dirty="0" smtClean="0"/>
              <a:t> </a:t>
            </a:r>
            <a:r>
              <a:rPr lang="ru-RU" sz="1600" dirty="0" err="1" smtClean="0"/>
              <a:t>послідовностях</a:t>
            </a:r>
            <a:r>
              <a:rPr lang="ru-RU" sz="1600" dirty="0" smtClean="0"/>
              <a:t>. 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1023075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solidFill>
                  <a:srgbClr val="0000CC"/>
                </a:solidFill>
              </a:rPr>
              <a:t>Пошук</a:t>
            </a:r>
            <a:r>
              <a:rPr lang="ru-RU" b="1" dirty="0" smtClean="0">
                <a:solidFill>
                  <a:srgbClr val="0000CC"/>
                </a:solidFill>
              </a:rPr>
              <a:t> ПШ </a:t>
            </a:r>
            <a:r>
              <a:rPr lang="ru-RU" b="1" dirty="0" err="1" smtClean="0">
                <a:solidFill>
                  <a:srgbClr val="0000CC"/>
                </a:solidFill>
              </a:rPr>
              <a:t>полягає</a:t>
            </a:r>
            <a:r>
              <a:rPr lang="ru-RU" b="1" dirty="0" smtClean="0">
                <a:solidFill>
                  <a:srgbClr val="0000CC"/>
                </a:solidFill>
              </a:rPr>
              <a:t> у </a:t>
            </a:r>
            <a:r>
              <a:rPr lang="ru-RU" b="1" dirty="0" err="1" smtClean="0">
                <a:solidFill>
                  <a:srgbClr val="0000CC"/>
                </a:solidFill>
              </a:rPr>
              <a:t>виявленні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максимальних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послідовностей</a:t>
            </a:r>
            <a:r>
              <a:rPr lang="ru-RU" b="1" dirty="0" smtClean="0">
                <a:solidFill>
                  <a:srgbClr val="0000CC"/>
                </a:solidFill>
              </a:rPr>
              <a:t> з </a:t>
            </a:r>
            <a:r>
              <a:rPr lang="ru-RU" b="1" dirty="0" err="1" smtClean="0">
                <a:solidFill>
                  <a:srgbClr val="0000CC"/>
                </a:solidFill>
              </a:rPr>
              <a:t>підтримкою</a:t>
            </a:r>
            <a:r>
              <a:rPr lang="ru-RU" b="1" dirty="0" smtClean="0">
                <a:solidFill>
                  <a:srgbClr val="0000CC"/>
                </a:solidFill>
              </a:rPr>
              <a:t>  </a:t>
            </a:r>
            <a:r>
              <a:rPr lang="ru-RU" b="1" dirty="0" err="1" smtClean="0">
                <a:solidFill>
                  <a:srgbClr val="0000CC"/>
                </a:solidFill>
              </a:rPr>
              <a:t>вищою</a:t>
            </a:r>
            <a:r>
              <a:rPr lang="ru-RU" b="1" dirty="0" smtClean="0">
                <a:solidFill>
                  <a:srgbClr val="0000CC"/>
                </a:solidFill>
              </a:rPr>
              <a:t> за заданий </a:t>
            </a:r>
            <a:r>
              <a:rPr lang="ru-RU" b="1" dirty="0" err="1" smtClean="0">
                <a:solidFill>
                  <a:srgbClr val="0000CC"/>
                </a:solidFill>
              </a:rPr>
              <a:t>поріг</a:t>
            </a:r>
            <a:r>
              <a:rPr lang="ru-RU" b="1" dirty="0" smtClean="0">
                <a:solidFill>
                  <a:srgbClr val="0000CC"/>
                </a:solidFill>
              </a:rPr>
              <a:t>. </a:t>
            </a:r>
            <a:r>
              <a:rPr lang="ru-RU" dirty="0" err="1" smtClean="0"/>
              <a:t>Кожна</a:t>
            </a:r>
            <a:r>
              <a:rPr lang="ru-RU" dirty="0" smtClean="0"/>
              <a:t> максимальна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і є ПШ.  </a:t>
            </a:r>
            <a:r>
              <a:rPr lang="ru-RU" dirty="0" err="1" smtClean="0"/>
              <a:t>Частими</a:t>
            </a:r>
            <a:r>
              <a:rPr lang="ru-RU" dirty="0" smtClean="0"/>
              <a:t> </a:t>
            </a:r>
            <a:r>
              <a:rPr lang="ru-RU" dirty="0" err="1" smtClean="0"/>
              <a:t>послідовностями</a:t>
            </a:r>
            <a:r>
              <a:rPr lang="ru-RU" dirty="0" smtClean="0"/>
              <a:t> є </a:t>
            </a:r>
            <a:r>
              <a:rPr lang="ru-RU" dirty="0" err="1" smtClean="0"/>
              <a:t>ті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задовольняють</a:t>
            </a:r>
            <a:r>
              <a:rPr lang="ru-RU" dirty="0" smtClean="0"/>
              <a:t> </a:t>
            </a:r>
            <a:r>
              <a:rPr lang="ru-RU" dirty="0" err="1" smtClean="0"/>
              <a:t>мінімальну</a:t>
            </a:r>
            <a:r>
              <a:rPr lang="ru-RU" dirty="0" smtClean="0"/>
              <a:t> </a:t>
            </a:r>
            <a:r>
              <a:rPr lang="ru-RU" dirty="0" err="1" smtClean="0"/>
              <a:t>підтримку</a:t>
            </a:r>
            <a:r>
              <a:rPr lang="ru-RU" dirty="0" smtClean="0"/>
              <a:t>.  </a:t>
            </a:r>
          </a:p>
          <a:p>
            <a:pPr algn="just"/>
            <a:r>
              <a:rPr lang="ru-RU" dirty="0" err="1" smtClean="0"/>
              <a:t>Розглянемо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dirty="0" err="1" smtClean="0"/>
              <a:t>впорядкованих</a:t>
            </a:r>
            <a:r>
              <a:rPr lang="ru-RU" dirty="0" smtClean="0"/>
              <a:t>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: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11662" y="1868330"/>
            <a:ext cx="37921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Перетворимо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 у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: 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80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201" y="3735321"/>
            <a:ext cx="4551436" cy="135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1028353"/>
            <a:ext cx="1188319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Довжина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послідовності</a:t>
            </a:r>
            <a:r>
              <a:rPr lang="ru-RU" b="1" dirty="0" smtClean="0"/>
              <a:t> </a:t>
            </a:r>
            <a:r>
              <a:rPr lang="ru-RU" dirty="0" smtClean="0"/>
              <a:t>-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в </a:t>
            </a:r>
            <a:r>
              <a:rPr lang="ru-RU" dirty="0" err="1" smtClean="0"/>
              <a:t>ній</a:t>
            </a:r>
            <a:r>
              <a:rPr lang="ru-RU" dirty="0" smtClean="0"/>
              <a:t> </a:t>
            </a:r>
            <a:r>
              <a:rPr lang="ru-RU" dirty="0" err="1" smtClean="0"/>
              <a:t>містяться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ru-RU" dirty="0" err="1" smtClean="0"/>
              <a:t>довжини</a:t>
            </a:r>
            <a:r>
              <a:rPr lang="ru-RU" dirty="0" smtClean="0"/>
              <a:t> </a:t>
            </a:r>
            <a:r>
              <a:rPr lang="en-GB" b="1" dirty="0" smtClean="0">
                <a:solidFill>
                  <a:srgbClr val="0000CC"/>
                </a:solidFill>
              </a:rPr>
              <a:t>k </a:t>
            </a:r>
            <a:r>
              <a:rPr lang="ru-RU" dirty="0" err="1" smtClean="0"/>
              <a:t>будемо</a:t>
            </a:r>
            <a:r>
              <a:rPr lang="ru-RU" dirty="0" smtClean="0"/>
              <a:t> </a:t>
            </a:r>
            <a:r>
              <a:rPr lang="ru-RU" dirty="0" err="1" smtClean="0"/>
              <a:t>називати</a:t>
            </a:r>
            <a:r>
              <a:rPr lang="ru-RU" dirty="0" smtClean="0"/>
              <a:t> </a:t>
            </a:r>
            <a:r>
              <a:rPr lang="en-GB" b="1" dirty="0" smtClean="0">
                <a:solidFill>
                  <a:srgbClr val="0000CC"/>
                </a:solidFill>
              </a:rPr>
              <a:t>k</a:t>
            </a:r>
            <a:r>
              <a:rPr lang="en-GB" b="1" dirty="0" smtClean="0"/>
              <a:t>-</a:t>
            </a:r>
            <a:r>
              <a:rPr lang="ru-RU" b="1" dirty="0" err="1" smtClean="0"/>
              <a:t>елементною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послідовністю</a:t>
            </a:r>
            <a:r>
              <a:rPr lang="ru-RU" dirty="0" smtClean="0"/>
              <a:t>.  </a:t>
            </a:r>
          </a:p>
          <a:p>
            <a:r>
              <a:rPr lang="ru-RU" b="1" dirty="0" err="1" smtClean="0"/>
              <a:t>Підтримка</a:t>
            </a:r>
            <a:r>
              <a:rPr lang="ru-RU" b="1" dirty="0" smtClean="0"/>
              <a:t> предметного набору </a:t>
            </a:r>
            <a:r>
              <a:rPr lang="en-GB" b="1" dirty="0" smtClean="0">
                <a:solidFill>
                  <a:srgbClr val="0000CC"/>
                </a:solidFill>
              </a:rPr>
              <a:t>I</a:t>
            </a:r>
            <a:r>
              <a:rPr lang="en-GB" dirty="0" smtClean="0"/>
              <a:t> </a:t>
            </a:r>
            <a:r>
              <a:rPr lang="ru-RU" dirty="0" err="1" smtClean="0"/>
              <a:t>дорівнює</a:t>
            </a:r>
            <a:r>
              <a:rPr lang="ru-RU" dirty="0" smtClean="0"/>
              <a:t>  </a:t>
            </a:r>
            <a:r>
              <a:rPr lang="ru-RU" dirty="0" err="1" smtClean="0"/>
              <a:t>кількості</a:t>
            </a:r>
            <a:r>
              <a:rPr lang="ru-RU" dirty="0" smtClean="0"/>
              <a:t> </a:t>
            </a:r>
            <a:r>
              <a:rPr lang="ru-RU" dirty="0" err="1" smtClean="0"/>
              <a:t>клієнтів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придбали</a:t>
            </a:r>
            <a:r>
              <a:rPr lang="ru-RU" dirty="0" smtClean="0"/>
              <a:t>  </a:t>
            </a:r>
            <a:r>
              <a:rPr lang="ru-RU" dirty="0" err="1" smtClean="0"/>
              <a:t>предмети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входять</a:t>
            </a:r>
            <a:r>
              <a:rPr lang="ru-RU" dirty="0" smtClean="0"/>
              <a:t> до </a:t>
            </a:r>
            <a:r>
              <a:rPr lang="ru-RU" dirty="0" err="1" smtClean="0"/>
              <a:t>нього</a:t>
            </a:r>
            <a:r>
              <a:rPr lang="ru-RU" dirty="0" smtClean="0"/>
              <a:t>, в </a:t>
            </a:r>
            <a:r>
              <a:rPr lang="ru-RU" dirty="0" err="1" smtClean="0"/>
              <a:t>одній</a:t>
            </a:r>
            <a:r>
              <a:rPr lang="ru-RU" dirty="0" smtClean="0"/>
              <a:t> </a:t>
            </a:r>
            <a:r>
              <a:rPr lang="ru-RU" dirty="0" err="1" smtClean="0"/>
              <a:t>транзакції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Таким чином, </a:t>
            </a:r>
            <a:r>
              <a:rPr lang="ru-RU" dirty="0" err="1" smtClean="0"/>
              <a:t>предметний</a:t>
            </a:r>
            <a:r>
              <a:rPr lang="ru-RU" dirty="0" smtClean="0"/>
              <a:t>  </a:t>
            </a:r>
            <a:r>
              <a:rPr lang="ru-RU" dirty="0" err="1" smtClean="0"/>
              <a:t>набір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en-GB" b="1" dirty="0" smtClean="0">
                <a:solidFill>
                  <a:srgbClr val="0000CC"/>
                </a:solidFill>
              </a:rPr>
              <a:t>I </a:t>
            </a:r>
            <a:r>
              <a:rPr lang="ru-RU" dirty="0" smtClean="0"/>
              <a:t>та </a:t>
            </a:r>
            <a:r>
              <a:rPr lang="ru-RU" b="1" dirty="0" smtClean="0">
                <a:solidFill>
                  <a:srgbClr val="0000CC"/>
                </a:solidFill>
              </a:rPr>
              <a:t>1</a:t>
            </a:r>
            <a:r>
              <a:rPr lang="ru-RU" dirty="0" smtClean="0"/>
              <a:t>-послідовність </a:t>
            </a:r>
            <a:r>
              <a:rPr lang="ru-RU" b="1" dirty="0" smtClean="0">
                <a:solidFill>
                  <a:srgbClr val="0000CC"/>
                </a:solidFill>
              </a:rPr>
              <a:t>&lt;</a:t>
            </a:r>
            <a:r>
              <a:rPr lang="en-GB" b="1" dirty="0" smtClean="0">
                <a:solidFill>
                  <a:srgbClr val="0000CC"/>
                </a:solidFill>
              </a:rPr>
              <a:t>I&gt; </a:t>
            </a:r>
            <a:r>
              <a:rPr lang="ru-RU" dirty="0" err="1" smtClean="0"/>
              <a:t>мають</a:t>
            </a:r>
            <a:r>
              <a:rPr lang="ru-RU" dirty="0" smtClean="0"/>
              <a:t> </a:t>
            </a:r>
            <a:r>
              <a:rPr lang="ru-RU" dirty="0" err="1" smtClean="0"/>
              <a:t>однакову</a:t>
            </a:r>
            <a:r>
              <a:rPr lang="ru-RU" dirty="0" smtClean="0"/>
              <a:t> </a:t>
            </a:r>
            <a:r>
              <a:rPr lang="ru-RU" dirty="0" err="1" smtClean="0"/>
              <a:t>підтримку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Нагадаємо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в АП  </a:t>
            </a:r>
            <a:r>
              <a:rPr lang="ru-RU" b="1" dirty="0" err="1" smtClean="0"/>
              <a:t>предметний</a:t>
            </a:r>
            <a:r>
              <a:rPr lang="ru-RU" b="1" dirty="0" smtClean="0"/>
              <a:t> </a:t>
            </a:r>
            <a:r>
              <a:rPr lang="ru-RU" b="1" dirty="0" err="1" smtClean="0"/>
              <a:t>набір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задовольняє</a:t>
            </a:r>
            <a:r>
              <a:rPr lang="ru-RU" dirty="0" smtClean="0"/>
              <a:t> </a:t>
            </a:r>
            <a:r>
              <a:rPr lang="ru-RU" dirty="0" err="1" smtClean="0"/>
              <a:t>рівню</a:t>
            </a:r>
            <a:r>
              <a:rPr lang="ru-RU" dirty="0" smtClean="0"/>
              <a:t> </a:t>
            </a:r>
            <a:r>
              <a:rPr lang="ru-RU" dirty="0" err="1" smtClean="0"/>
              <a:t>мінімальної</a:t>
            </a:r>
            <a:r>
              <a:rPr lang="ru-RU" dirty="0" smtClean="0"/>
              <a:t> </a:t>
            </a:r>
            <a:r>
              <a:rPr lang="ru-RU" dirty="0" err="1" smtClean="0"/>
              <a:t>підтримки</a:t>
            </a:r>
            <a:r>
              <a:rPr lang="ru-RU" dirty="0" smtClean="0"/>
              <a:t>, </a:t>
            </a:r>
            <a:r>
              <a:rPr lang="ru-RU" dirty="0" err="1" smtClean="0"/>
              <a:t>називається</a:t>
            </a:r>
            <a:r>
              <a:rPr lang="ru-RU" dirty="0" smtClean="0"/>
              <a:t>  </a:t>
            </a:r>
            <a:r>
              <a:rPr lang="ru-RU" b="1" dirty="0" smtClean="0"/>
              <a:t>частим</a:t>
            </a:r>
            <a:r>
              <a:rPr lang="ru-RU" dirty="0" smtClean="0"/>
              <a:t>. </a:t>
            </a:r>
            <a:r>
              <a:rPr lang="ru-RU" dirty="0" err="1" smtClean="0"/>
              <a:t>Зауважимо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будь-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b="1" dirty="0" err="1" smtClean="0"/>
              <a:t>предметний</a:t>
            </a:r>
            <a:r>
              <a:rPr lang="ru-RU" b="1" dirty="0" smtClean="0"/>
              <a:t> </a:t>
            </a:r>
            <a:r>
              <a:rPr lang="ru-RU" b="1" dirty="0" err="1" smtClean="0"/>
              <a:t>набір</a:t>
            </a:r>
            <a:r>
              <a:rPr lang="ru-RU" b="1" dirty="0" smtClean="0"/>
              <a:t> в </a:t>
            </a:r>
            <a:r>
              <a:rPr lang="ru-RU" b="1" dirty="0" err="1" smtClean="0"/>
              <a:t>частій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послідовності</a:t>
            </a:r>
            <a:r>
              <a:rPr lang="ru-RU" b="1" dirty="0" smtClean="0"/>
              <a:t>  </a:t>
            </a:r>
            <a:r>
              <a:rPr lang="ru-RU" dirty="0" err="1" smtClean="0"/>
              <a:t>також</a:t>
            </a:r>
            <a:r>
              <a:rPr lang="ru-RU" dirty="0" smtClean="0"/>
              <a:t> </a:t>
            </a:r>
            <a:r>
              <a:rPr lang="ru-RU" dirty="0" err="1" smtClean="0"/>
              <a:t>має</a:t>
            </a:r>
            <a:r>
              <a:rPr lang="ru-RU" dirty="0" smtClean="0"/>
              <a:t> бути </a:t>
            </a:r>
            <a:r>
              <a:rPr lang="ru-RU" b="1" dirty="0" smtClean="0"/>
              <a:t>частим</a:t>
            </a:r>
            <a:r>
              <a:rPr lang="ru-RU" dirty="0" smtClean="0"/>
              <a:t>, на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вказує</a:t>
            </a:r>
            <a:r>
              <a:rPr lang="ru-RU" dirty="0" smtClean="0"/>
              <a:t> </a:t>
            </a:r>
            <a:r>
              <a:rPr lang="ru-RU" dirty="0" err="1" smtClean="0"/>
              <a:t>властивість</a:t>
            </a:r>
            <a:r>
              <a:rPr lang="ru-RU" dirty="0" smtClean="0"/>
              <a:t> </a:t>
            </a:r>
            <a:r>
              <a:rPr lang="ru-RU" dirty="0" err="1" smtClean="0"/>
              <a:t>антимонотонності</a:t>
            </a:r>
            <a:r>
              <a:rPr lang="ru-RU" dirty="0" smtClean="0"/>
              <a:t>. </a:t>
            </a:r>
            <a:r>
              <a:rPr lang="ru-RU" dirty="0" err="1" smtClean="0"/>
              <a:t>Отже</a:t>
            </a:r>
            <a:r>
              <a:rPr lang="ru-RU" dirty="0" smtClean="0"/>
              <a:t>,  </a:t>
            </a:r>
            <a:r>
              <a:rPr lang="ru-RU" b="1" dirty="0" smtClean="0">
                <a:solidFill>
                  <a:srgbClr val="FF0000"/>
                </a:solidFill>
              </a:rPr>
              <a:t>будь-яка часта </a:t>
            </a:r>
            <a:r>
              <a:rPr lang="ru-RU" b="1" dirty="0" err="1" smtClean="0">
                <a:solidFill>
                  <a:srgbClr val="FF0000"/>
                </a:solidFill>
              </a:rPr>
              <a:t>послідовність</a:t>
            </a:r>
            <a:r>
              <a:rPr lang="ru-RU" b="1" dirty="0" smtClean="0">
                <a:solidFill>
                  <a:srgbClr val="FF0000"/>
                </a:solidFill>
              </a:rPr>
              <a:t> буде </a:t>
            </a:r>
            <a:r>
              <a:rPr lang="ru-RU" b="1" dirty="0" err="1" smtClean="0">
                <a:solidFill>
                  <a:srgbClr val="FF0000"/>
                </a:solidFill>
              </a:rPr>
              <a:t>складатися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тільки</a:t>
            </a:r>
            <a:r>
              <a:rPr lang="ru-RU" b="1" dirty="0" smtClean="0">
                <a:solidFill>
                  <a:srgbClr val="FF0000"/>
                </a:solidFill>
              </a:rPr>
              <a:t> з </a:t>
            </a:r>
            <a:r>
              <a:rPr lang="ru-RU" b="1" dirty="0" err="1" smtClean="0">
                <a:solidFill>
                  <a:srgbClr val="FF0000"/>
                </a:solidFill>
              </a:rPr>
              <a:t>частих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предметних</a:t>
            </a:r>
            <a:r>
              <a:rPr lang="ru-RU" b="1" dirty="0" smtClean="0">
                <a:solidFill>
                  <a:srgbClr val="FF0000"/>
                </a:solidFill>
              </a:rPr>
              <a:t>  </a:t>
            </a:r>
            <a:r>
              <a:rPr lang="ru-RU" b="1" dirty="0" err="1" smtClean="0">
                <a:solidFill>
                  <a:srgbClr val="FF0000"/>
                </a:solidFill>
              </a:rPr>
              <a:t>наборів</a:t>
            </a:r>
            <a:r>
              <a:rPr lang="ru-RU" dirty="0" smtClean="0"/>
              <a:t>.  </a:t>
            </a:r>
            <a:r>
              <a:rPr lang="ru-RU" dirty="0" err="1" smtClean="0"/>
              <a:t>Наведемо</a:t>
            </a:r>
            <a:r>
              <a:rPr lang="ru-RU" dirty="0" smtClean="0"/>
              <a:t> </a:t>
            </a:r>
            <a:r>
              <a:rPr lang="ru-RU" dirty="0" err="1" smtClean="0"/>
              <a:t>часті</a:t>
            </a:r>
            <a:r>
              <a:rPr lang="ru-RU" dirty="0" smtClean="0"/>
              <a:t> </a:t>
            </a:r>
            <a:r>
              <a:rPr lang="ru-RU" dirty="0" err="1" smtClean="0"/>
              <a:t>предметні</a:t>
            </a:r>
            <a:r>
              <a:rPr lang="ru-RU" dirty="0" smtClean="0"/>
              <a:t> </a:t>
            </a:r>
            <a:r>
              <a:rPr lang="ru-RU" dirty="0" err="1" smtClean="0"/>
              <a:t>набори</a:t>
            </a:r>
            <a:r>
              <a:rPr lang="ru-RU" dirty="0" smtClean="0"/>
              <a:t> з прикладу: </a:t>
            </a:r>
            <a:endParaRPr lang="ru-RU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128954"/>
            <a:ext cx="12192000" cy="476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Пошук послідовних шаблонів 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767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128954"/>
            <a:ext cx="12192000" cy="476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Пошук послідовних шаблонів 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071769"/>
            <a:ext cx="11992399" cy="337015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ru-RU" dirty="0" err="1" smtClean="0"/>
              <a:t>Процес</a:t>
            </a:r>
            <a:r>
              <a:rPr lang="ru-RU" dirty="0" smtClean="0"/>
              <a:t> </a:t>
            </a:r>
            <a:r>
              <a:rPr lang="ru-RU" dirty="0" err="1" smtClean="0"/>
              <a:t>пошуку</a:t>
            </a:r>
            <a:r>
              <a:rPr lang="ru-RU" dirty="0" smtClean="0"/>
              <a:t> ПШ </a:t>
            </a:r>
            <a:r>
              <a:rPr lang="ru-RU" dirty="0" err="1" smtClean="0"/>
              <a:t>складається</a:t>
            </a:r>
            <a:r>
              <a:rPr lang="ru-RU" dirty="0" smtClean="0"/>
              <a:t> з таких </a:t>
            </a:r>
            <a:r>
              <a:rPr lang="ru-RU" dirty="0" err="1" smtClean="0"/>
              <a:t>кроків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300"/>
              </a:spcAft>
              <a:buFont typeface="+mj-lt"/>
              <a:buAutoNum type="arabicPeriod"/>
            </a:pPr>
            <a:r>
              <a:rPr lang="ru-RU" dirty="0" smtClean="0"/>
              <a:t> </a:t>
            </a:r>
            <a:r>
              <a:rPr lang="ru-RU" dirty="0" err="1" smtClean="0"/>
              <a:t>Сортування</a:t>
            </a:r>
            <a:r>
              <a:rPr lang="ru-RU" dirty="0" smtClean="0"/>
              <a:t>  - </a:t>
            </a:r>
            <a:r>
              <a:rPr lang="ru-RU" dirty="0" err="1" smtClean="0"/>
              <a:t>транзакції</a:t>
            </a:r>
            <a:r>
              <a:rPr lang="ru-RU" dirty="0" smtClean="0"/>
              <a:t> </a:t>
            </a:r>
            <a:r>
              <a:rPr lang="ru-RU" dirty="0" err="1" smtClean="0"/>
              <a:t>упорядковуються</a:t>
            </a:r>
            <a:r>
              <a:rPr lang="ru-RU" dirty="0" smtClean="0"/>
              <a:t> за кодами </a:t>
            </a:r>
            <a:r>
              <a:rPr lang="ru-RU" dirty="0" err="1" smtClean="0"/>
              <a:t>клієнтів</a:t>
            </a:r>
            <a:r>
              <a:rPr lang="ru-RU" dirty="0" smtClean="0"/>
              <a:t>, а </a:t>
            </a:r>
            <a:r>
              <a:rPr lang="ru-RU" dirty="0" err="1" smtClean="0"/>
              <a:t>транзакції</a:t>
            </a:r>
            <a:r>
              <a:rPr lang="ru-RU" dirty="0" smtClean="0"/>
              <a:t>  кожного </a:t>
            </a:r>
            <a:r>
              <a:rPr lang="ru-RU" dirty="0" err="1" smtClean="0"/>
              <a:t>клієнта</a:t>
            </a:r>
            <a:r>
              <a:rPr lang="ru-RU" dirty="0" smtClean="0"/>
              <a:t> - за датою, часом </a:t>
            </a:r>
            <a:r>
              <a:rPr lang="ru-RU" dirty="0" err="1" smtClean="0"/>
              <a:t>або</a:t>
            </a:r>
            <a:r>
              <a:rPr lang="ru-RU" dirty="0" smtClean="0"/>
              <a:t> номером </a:t>
            </a:r>
            <a:r>
              <a:rPr lang="ru-RU" dirty="0" err="1" smtClean="0"/>
              <a:t>візиту</a:t>
            </a:r>
            <a:r>
              <a:rPr lang="ru-RU" dirty="0" smtClean="0"/>
              <a:t>. Таким чином, початкова  база </a:t>
            </a:r>
            <a:r>
              <a:rPr lang="ru-RU" dirty="0" err="1" smtClean="0"/>
              <a:t>даних</a:t>
            </a:r>
            <a:r>
              <a:rPr lang="ru-RU" dirty="0" smtClean="0"/>
              <a:t> </a:t>
            </a:r>
            <a:r>
              <a:rPr lang="ru-RU" dirty="0" err="1" smtClean="0"/>
              <a:t>перетвориться</a:t>
            </a:r>
            <a:r>
              <a:rPr lang="ru-RU" dirty="0" smtClean="0"/>
              <a:t> в базу </a:t>
            </a:r>
            <a:r>
              <a:rPr lang="ru-RU" dirty="0" err="1" smtClean="0"/>
              <a:t>даних</a:t>
            </a:r>
            <a:r>
              <a:rPr lang="ru-RU" dirty="0" smtClean="0"/>
              <a:t>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. </a:t>
            </a:r>
          </a:p>
          <a:p>
            <a:pPr marL="342900" indent="-342900">
              <a:spcAft>
                <a:spcPts val="300"/>
              </a:spcAft>
              <a:buFont typeface="+mj-lt"/>
              <a:buAutoNum type="arabicPeriod"/>
            </a:pPr>
            <a:r>
              <a:rPr lang="ru-RU" dirty="0" err="1" smtClean="0"/>
              <a:t>Пошук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 </a:t>
            </a:r>
            <a:r>
              <a:rPr lang="en-GB" dirty="0" smtClean="0"/>
              <a:t>F. </a:t>
            </a:r>
            <a:endParaRPr lang="uk-UA" dirty="0" smtClean="0"/>
          </a:p>
          <a:p>
            <a:pPr marL="800100" lvl="1" indent="-342900">
              <a:spcAft>
                <a:spcPts val="300"/>
              </a:spcAft>
              <a:buFont typeface="+mj-lt"/>
              <a:buAutoNum type="alphaLcPeriod"/>
            </a:pPr>
            <a:r>
              <a:rPr lang="ru-RU" dirty="0" err="1" smtClean="0"/>
              <a:t>Одночасно</a:t>
            </a:r>
            <a:r>
              <a:rPr lang="ru-RU" dirty="0" smtClean="0"/>
              <a:t> </a:t>
            </a:r>
            <a:r>
              <a:rPr lang="ru-RU" dirty="0" err="1" smtClean="0"/>
              <a:t>шукається</a:t>
            </a:r>
            <a:r>
              <a:rPr lang="ru-RU" dirty="0" smtClean="0"/>
              <a:t> </a:t>
            </a:r>
            <a:r>
              <a:rPr lang="ru-RU" dirty="0" err="1" smtClean="0"/>
              <a:t>множина</a:t>
            </a:r>
            <a:r>
              <a:rPr lang="ru-RU" dirty="0" smtClean="0"/>
              <a:t> </a:t>
            </a:r>
            <a:r>
              <a:rPr lang="ru-RU" dirty="0" err="1" smtClean="0"/>
              <a:t>всіх</a:t>
            </a:r>
            <a:r>
              <a:rPr lang="ru-RU" dirty="0" smtClean="0"/>
              <a:t>  </a:t>
            </a:r>
            <a:r>
              <a:rPr lang="ru-RU" dirty="0" err="1" smtClean="0"/>
              <a:t>частих</a:t>
            </a:r>
            <a:r>
              <a:rPr lang="ru-RU" dirty="0" smtClean="0"/>
              <a:t> 1-послідовностей, </a:t>
            </a:r>
            <a:r>
              <a:rPr lang="ru-RU" dirty="0" err="1" smtClean="0"/>
              <a:t>оскільки</a:t>
            </a:r>
            <a:r>
              <a:rPr lang="ru-RU" dirty="0" smtClean="0"/>
              <a:t> </a:t>
            </a:r>
            <a:r>
              <a:rPr lang="ru-RU" dirty="0" err="1" smtClean="0"/>
              <a:t>це</a:t>
            </a:r>
            <a:r>
              <a:rPr lang="ru-RU" dirty="0" smtClean="0"/>
              <a:t> просто </a:t>
            </a:r>
            <a:r>
              <a:rPr lang="ru-RU" dirty="0" err="1" smtClean="0"/>
              <a:t>множина</a:t>
            </a:r>
            <a:r>
              <a:rPr lang="ru-RU" dirty="0" smtClean="0"/>
              <a:t> {&lt;</a:t>
            </a:r>
            <a:r>
              <a:rPr lang="en-GB" dirty="0" smtClean="0"/>
              <a:t>f&gt;|f</a:t>
            </a:r>
            <a:r>
              <a:rPr lang="uk-UA" altLang="ru-RU" dirty="0">
                <a:sym typeface="Symbol" panose="05050102010706020507" pitchFamily="18" charset="2"/>
              </a:rPr>
              <a:t>  </a:t>
            </a:r>
            <a:r>
              <a:rPr lang="en-GB" dirty="0" smtClean="0"/>
              <a:t>F} . </a:t>
            </a:r>
            <a:endParaRPr lang="uk-UA" dirty="0" smtClean="0"/>
          </a:p>
          <a:p>
            <a:pPr marL="800100" lvl="1" indent="-342900">
              <a:spcAft>
                <a:spcPts val="300"/>
              </a:spcAft>
              <a:buFont typeface="+mj-lt"/>
              <a:buAutoNum type="alphaLcPeriod"/>
            </a:pPr>
            <a:r>
              <a:rPr lang="ru-RU" dirty="0" err="1" smtClean="0"/>
              <a:t>Підтримкою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 на </a:t>
            </a:r>
            <a:r>
              <a:rPr lang="ru-RU" dirty="0" err="1" smtClean="0"/>
              <a:t>множині</a:t>
            </a:r>
            <a:r>
              <a:rPr lang="ru-RU" dirty="0" smtClean="0"/>
              <a:t>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 є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, в </a:t>
            </a:r>
            <a:r>
              <a:rPr lang="ru-RU" dirty="0" err="1" smtClean="0"/>
              <a:t>яких</a:t>
            </a:r>
            <a:r>
              <a:rPr lang="ru-RU" dirty="0" smtClean="0"/>
              <a:t> представлено </a:t>
            </a:r>
            <a:r>
              <a:rPr lang="ru-RU" dirty="0" err="1" smtClean="0"/>
              <a:t>даний</a:t>
            </a:r>
            <a:r>
              <a:rPr lang="ru-RU" dirty="0" smtClean="0"/>
              <a:t> </a:t>
            </a:r>
            <a:r>
              <a:rPr lang="ru-RU" dirty="0" err="1" smtClean="0"/>
              <a:t>предметний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. При </a:t>
            </a:r>
            <a:r>
              <a:rPr lang="ru-RU" dirty="0" err="1" smtClean="0"/>
              <a:t>пошуку</a:t>
            </a:r>
            <a:r>
              <a:rPr lang="ru-RU" dirty="0" smtClean="0"/>
              <a:t>  ПШ -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 err="1" smtClean="0"/>
              <a:t>клієнтів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купили </a:t>
            </a:r>
            <a:r>
              <a:rPr lang="ru-RU" dirty="0" err="1" smtClean="0"/>
              <a:t>даний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dirty="0" err="1" smtClean="0"/>
              <a:t>хоча</a:t>
            </a:r>
            <a:r>
              <a:rPr lang="ru-RU" dirty="0" smtClean="0"/>
              <a:t> б в </a:t>
            </a:r>
            <a:r>
              <a:rPr lang="ru-RU" dirty="0" err="1" smtClean="0"/>
              <a:t>одній</a:t>
            </a:r>
            <a:r>
              <a:rPr lang="ru-RU" dirty="0" smtClean="0"/>
              <a:t> </a:t>
            </a:r>
            <a:r>
              <a:rPr lang="ru-RU" dirty="0" err="1" smtClean="0"/>
              <a:t>транзакції</a:t>
            </a:r>
            <a:r>
              <a:rPr lang="ru-RU" dirty="0" smtClean="0"/>
              <a:t>. </a:t>
            </a:r>
          </a:p>
          <a:p>
            <a:pPr marL="800100" lvl="1" indent="-342900">
              <a:spcAft>
                <a:spcPts val="300"/>
              </a:spcAft>
              <a:buFont typeface="+mj-lt"/>
              <a:buAutoNum type="alphaLcPeriod"/>
            </a:pPr>
            <a:r>
              <a:rPr lang="ru-RU" dirty="0" err="1" smtClean="0"/>
              <a:t>Далі</a:t>
            </a:r>
            <a:r>
              <a:rPr lang="ru-RU" dirty="0" smtClean="0"/>
              <a:t> </a:t>
            </a:r>
            <a:r>
              <a:rPr lang="ru-RU" dirty="0" err="1" smtClean="0"/>
              <a:t>множину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, </a:t>
            </a:r>
            <a:r>
              <a:rPr lang="ru-RU" dirty="0" err="1" smtClean="0"/>
              <a:t>якими</a:t>
            </a:r>
            <a:r>
              <a:rPr lang="ru-RU" dirty="0" smtClean="0"/>
              <a:t> у нас є (3), (4),(7),(4,7) і (9),  </a:t>
            </a:r>
            <a:r>
              <a:rPr lang="ru-RU" dirty="0" err="1" smtClean="0"/>
              <a:t>подають</a:t>
            </a:r>
            <a:r>
              <a:rPr lang="ru-RU" dirty="0" smtClean="0"/>
              <a:t> у альтернативному </a:t>
            </a:r>
            <a:r>
              <a:rPr lang="ru-RU" dirty="0" err="1" smtClean="0"/>
              <a:t>вигляді</a:t>
            </a:r>
            <a:r>
              <a:rPr lang="ru-RU" dirty="0" smtClean="0"/>
              <a:t> букв, </a:t>
            </a:r>
            <a:r>
              <a:rPr lang="ru-RU" dirty="0" err="1" smtClean="0"/>
              <a:t>цілих</a:t>
            </a:r>
            <a:r>
              <a:rPr lang="ru-RU" dirty="0" smtClean="0"/>
              <a:t> чисел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двійкових</a:t>
            </a:r>
            <a:r>
              <a:rPr lang="ru-RU" dirty="0" smtClean="0"/>
              <a:t> 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. </a:t>
            </a:r>
          </a:p>
          <a:p>
            <a:pPr marL="800100" lvl="1" indent="-342900">
              <a:spcAft>
                <a:spcPts val="300"/>
              </a:spcAft>
              <a:buFont typeface="+mj-lt"/>
              <a:buAutoNum type="alphaLcPeriod"/>
            </a:pPr>
            <a:r>
              <a:rPr lang="ru-RU" dirty="0" err="1" smtClean="0"/>
              <a:t>Подання</a:t>
            </a:r>
            <a:r>
              <a:rPr lang="ru-RU" dirty="0" smtClean="0"/>
              <a:t> у </a:t>
            </a:r>
            <a:r>
              <a:rPr lang="ru-RU" dirty="0" err="1" smtClean="0"/>
              <a:t>вигляді</a:t>
            </a:r>
            <a:r>
              <a:rPr lang="ru-RU" dirty="0" smtClean="0"/>
              <a:t> </a:t>
            </a:r>
            <a:r>
              <a:rPr lang="ru-RU" dirty="0" err="1" smtClean="0"/>
              <a:t>окремих</a:t>
            </a:r>
            <a:r>
              <a:rPr lang="ru-RU" dirty="0" smtClean="0"/>
              <a:t> </a:t>
            </a:r>
            <a:r>
              <a:rPr lang="ru-RU" dirty="0" err="1" smtClean="0"/>
              <a:t>значень</a:t>
            </a:r>
            <a:r>
              <a:rPr lang="ru-RU" dirty="0" smtClean="0"/>
              <a:t> </a:t>
            </a:r>
            <a:r>
              <a:rPr lang="ru-RU" dirty="0" err="1" smtClean="0"/>
              <a:t>спрощує</a:t>
            </a:r>
            <a:r>
              <a:rPr lang="ru-RU" dirty="0" smtClean="0"/>
              <a:t> </a:t>
            </a:r>
            <a:r>
              <a:rPr lang="ru-RU" dirty="0" err="1" smtClean="0"/>
              <a:t>алгоритмічну</a:t>
            </a:r>
            <a:r>
              <a:rPr lang="ru-RU" dirty="0" smtClean="0"/>
              <a:t>  </a:t>
            </a:r>
            <a:r>
              <a:rPr lang="ru-RU" dirty="0" err="1" smtClean="0"/>
              <a:t>реалізацію</a:t>
            </a:r>
            <a:r>
              <a:rPr lang="ru-RU" dirty="0" smtClean="0"/>
              <a:t> </a:t>
            </a:r>
            <a:r>
              <a:rPr lang="ru-RU" dirty="0" err="1" smtClean="0"/>
              <a:t>задачі</a:t>
            </a:r>
            <a:r>
              <a:rPr lang="ru-RU" dirty="0" smtClean="0"/>
              <a:t>. </a:t>
            </a:r>
            <a:endParaRPr lang="ru-RU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161" y="4597777"/>
            <a:ext cx="7737929" cy="155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050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761" y="3663348"/>
            <a:ext cx="6107113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128954"/>
            <a:ext cx="12192000" cy="476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Пошук послідовних шаблонів 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6891" y="1078025"/>
            <a:ext cx="120982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ru-RU" b="1" dirty="0" err="1" smtClean="0"/>
              <a:t>Перетворення</a:t>
            </a:r>
            <a:r>
              <a:rPr lang="ru-RU" dirty="0" smtClean="0"/>
              <a:t> - </a:t>
            </a:r>
            <a:r>
              <a:rPr lang="ru-RU" dirty="0" err="1" smtClean="0"/>
              <a:t>визначають</a:t>
            </a:r>
            <a:r>
              <a:rPr lang="ru-RU" dirty="0" smtClean="0"/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часті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послідовності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містяться</a:t>
            </a:r>
            <a:r>
              <a:rPr lang="ru-RU" dirty="0" smtClean="0"/>
              <a:t> в </a:t>
            </a:r>
            <a:r>
              <a:rPr lang="ru-RU" b="1" dirty="0" err="1" smtClean="0">
                <a:solidFill>
                  <a:srgbClr val="0000CC"/>
                </a:solidFill>
              </a:rPr>
              <a:t>клієнтській</a:t>
            </a:r>
            <a:r>
              <a:rPr lang="ru-RU" b="1" dirty="0" smtClean="0">
                <a:solidFill>
                  <a:srgbClr val="0000CC"/>
                </a:solidFill>
              </a:rPr>
              <a:t>  </a:t>
            </a:r>
            <a:r>
              <a:rPr lang="ru-RU" b="1" dirty="0" err="1" smtClean="0">
                <a:solidFill>
                  <a:srgbClr val="0000CC"/>
                </a:solidFill>
              </a:rPr>
              <a:t>послідовності</a:t>
            </a:r>
            <a:r>
              <a:rPr lang="ru-RU" b="1" dirty="0" smtClean="0">
                <a:solidFill>
                  <a:srgbClr val="0000CC"/>
                </a:solidFill>
              </a:rPr>
              <a:t> (КП). 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dirty="0" smtClean="0"/>
              <a:t>Для </a:t>
            </a:r>
            <a:r>
              <a:rPr lang="ru-RU" dirty="0" err="1" smtClean="0"/>
              <a:t>цього</a:t>
            </a:r>
            <a:r>
              <a:rPr lang="ru-RU" dirty="0" smtClean="0"/>
              <a:t> </a:t>
            </a:r>
            <a:r>
              <a:rPr lang="ru-RU" dirty="0" err="1" smtClean="0"/>
              <a:t>кожна</a:t>
            </a:r>
            <a:r>
              <a:rPr lang="ru-RU" dirty="0" smtClean="0"/>
              <a:t> </a:t>
            </a:r>
            <a:r>
              <a:rPr lang="ru-RU" dirty="0" err="1" smtClean="0"/>
              <a:t>транзакція</a:t>
            </a:r>
            <a:r>
              <a:rPr lang="ru-RU" dirty="0" smtClean="0"/>
              <a:t> КП </a:t>
            </a:r>
            <a:r>
              <a:rPr lang="ru-RU" dirty="0" err="1" smtClean="0"/>
              <a:t>заміщається</a:t>
            </a:r>
            <a:r>
              <a:rPr lang="ru-RU" dirty="0" smtClean="0"/>
              <a:t> </a:t>
            </a:r>
            <a:r>
              <a:rPr lang="ru-RU" dirty="0" err="1" smtClean="0"/>
              <a:t>множиною</a:t>
            </a:r>
            <a:r>
              <a:rPr lang="ru-RU" dirty="0" smtClean="0"/>
              <a:t> </a:t>
            </a:r>
            <a:r>
              <a:rPr lang="ru-RU" dirty="0" err="1" smtClean="0"/>
              <a:t>її</a:t>
            </a:r>
            <a:r>
              <a:rPr lang="ru-RU" dirty="0" smtClean="0"/>
              <a:t> 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. 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 err="1" smtClean="0"/>
              <a:t>транзакція</a:t>
            </a:r>
            <a:r>
              <a:rPr lang="ru-RU" dirty="0" smtClean="0"/>
              <a:t> не </a:t>
            </a:r>
            <a:r>
              <a:rPr lang="ru-RU" dirty="0" err="1" smtClean="0"/>
              <a:t>містить</a:t>
            </a:r>
            <a:r>
              <a:rPr lang="ru-RU" dirty="0" smtClean="0"/>
              <a:t> </a:t>
            </a:r>
            <a:r>
              <a:rPr lang="ru-RU" dirty="0" err="1" smtClean="0"/>
              <a:t>жодного</a:t>
            </a:r>
            <a:r>
              <a:rPr lang="ru-RU" dirty="0" smtClean="0"/>
              <a:t> частого  предметного набору, то </a:t>
            </a:r>
            <a:r>
              <a:rPr lang="ru-RU" dirty="0" err="1" smtClean="0"/>
              <a:t>внаслідок</a:t>
            </a:r>
            <a:r>
              <a:rPr lang="ru-RU" dirty="0" smtClean="0"/>
              <a:t> </a:t>
            </a:r>
            <a:r>
              <a:rPr lang="ru-RU" dirty="0" err="1" smtClean="0"/>
              <a:t>перетворення</a:t>
            </a:r>
            <a:r>
              <a:rPr lang="ru-RU" dirty="0" smtClean="0"/>
              <a:t> вона </a:t>
            </a:r>
            <a:r>
              <a:rPr lang="ru-RU" dirty="0" err="1" smtClean="0"/>
              <a:t>вилучається</a:t>
            </a:r>
            <a:r>
              <a:rPr lang="ru-RU" dirty="0" smtClean="0"/>
              <a:t> з </a:t>
            </a:r>
            <a:r>
              <a:rPr lang="ru-RU" dirty="0" err="1" smtClean="0"/>
              <a:t>розгляду</a:t>
            </a:r>
            <a:r>
              <a:rPr lang="ru-RU" dirty="0" smtClean="0"/>
              <a:t>.  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dirty="0" err="1" smtClean="0"/>
              <a:t>Якщо</a:t>
            </a:r>
            <a:r>
              <a:rPr lang="ru-RU" dirty="0" smtClean="0"/>
              <a:t> КП не </a:t>
            </a:r>
            <a:r>
              <a:rPr lang="ru-RU" dirty="0" err="1" smtClean="0"/>
              <a:t>містить</a:t>
            </a:r>
            <a:r>
              <a:rPr lang="ru-RU" dirty="0" smtClean="0"/>
              <a:t> </a:t>
            </a:r>
            <a:r>
              <a:rPr lang="ru-RU" dirty="0" err="1" smtClean="0"/>
              <a:t>жодного</a:t>
            </a:r>
            <a:r>
              <a:rPr lang="ru-RU" dirty="0" smtClean="0"/>
              <a:t> частого предметного набору, то </a:t>
            </a:r>
            <a:r>
              <a:rPr lang="ru-RU" dirty="0" err="1" smtClean="0"/>
              <a:t>уся</a:t>
            </a:r>
            <a:r>
              <a:rPr lang="ru-RU" dirty="0" smtClean="0"/>
              <a:t>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 </a:t>
            </a:r>
            <a:r>
              <a:rPr lang="ru-RU" dirty="0" err="1" smtClean="0"/>
              <a:t>також</a:t>
            </a:r>
            <a:r>
              <a:rPr lang="ru-RU" dirty="0" smtClean="0"/>
              <a:t> </a:t>
            </a:r>
            <a:r>
              <a:rPr lang="ru-RU" dirty="0" err="1" smtClean="0"/>
              <a:t>вилучається</a:t>
            </a:r>
            <a:r>
              <a:rPr lang="ru-RU" dirty="0" smtClean="0"/>
              <a:t>.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dirty="0" err="1" smtClean="0"/>
              <a:t>Після</a:t>
            </a:r>
            <a:r>
              <a:rPr lang="ru-RU" dirty="0" smtClean="0"/>
              <a:t> </a:t>
            </a:r>
            <a:r>
              <a:rPr lang="ru-RU" dirty="0" err="1" smtClean="0"/>
              <a:t>перетворення</a:t>
            </a:r>
            <a:r>
              <a:rPr lang="ru-RU" dirty="0" smtClean="0"/>
              <a:t> </a:t>
            </a:r>
            <a:r>
              <a:rPr lang="ru-RU" dirty="0" err="1" smtClean="0"/>
              <a:t>кожна</a:t>
            </a:r>
            <a:r>
              <a:rPr lang="ru-RU" dirty="0" smtClean="0"/>
              <a:t> КП буде подана як </a:t>
            </a:r>
            <a:r>
              <a:rPr lang="ru-RU" dirty="0" err="1" smtClean="0"/>
              <a:t>множина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 </a:t>
            </a:r>
            <a:r>
              <a:rPr lang="en-GB" b="1" dirty="0" smtClean="0"/>
              <a:t>f1 , f2 , ... , fn. </a:t>
            </a:r>
            <a:endParaRPr lang="uk-UA" b="1" dirty="0" smtClean="0"/>
          </a:p>
          <a:p>
            <a:pPr marL="800100" lvl="1" indent="-342900">
              <a:buFont typeface="+mj-lt"/>
              <a:buAutoNum type="alphaLcPeriod"/>
            </a:pPr>
            <a:r>
              <a:rPr lang="ru-RU" dirty="0" err="1" smtClean="0"/>
              <a:t>Позначимо</a:t>
            </a:r>
            <a:r>
              <a:rPr lang="ru-RU" dirty="0" smtClean="0"/>
              <a:t> </a:t>
            </a:r>
            <a:r>
              <a:rPr lang="ru-RU" dirty="0" err="1" smtClean="0"/>
              <a:t>такий</a:t>
            </a:r>
            <a:r>
              <a:rPr lang="ru-RU" dirty="0" smtClean="0"/>
              <a:t> </a:t>
            </a:r>
            <a:r>
              <a:rPr lang="ru-RU" dirty="0" err="1" smtClean="0"/>
              <a:t>перетворений</a:t>
            </a:r>
            <a:r>
              <a:rPr lang="ru-RU" dirty="0" smtClean="0"/>
              <a:t>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 </a:t>
            </a:r>
            <a:r>
              <a:rPr lang="en-GB" b="1" dirty="0" smtClean="0"/>
              <a:t>DT</a:t>
            </a:r>
            <a:r>
              <a:rPr lang="en-GB" dirty="0" smtClean="0"/>
              <a:t>. </a:t>
            </a:r>
            <a:r>
              <a:rPr lang="ru-RU" dirty="0" err="1" smtClean="0"/>
              <a:t>Наприклад</a:t>
            </a:r>
            <a:r>
              <a:rPr lang="ru-RU" dirty="0" smtClean="0"/>
              <a:t> , в </a:t>
            </a:r>
            <a:r>
              <a:rPr lang="ru-RU" dirty="0" err="1" smtClean="0"/>
              <a:t>процесі</a:t>
            </a:r>
            <a:r>
              <a:rPr lang="ru-RU" dirty="0" smtClean="0"/>
              <a:t>  </a:t>
            </a:r>
            <a:r>
              <a:rPr lang="ru-RU" dirty="0" err="1" smtClean="0"/>
              <a:t>перетворення</a:t>
            </a:r>
            <a:r>
              <a:rPr lang="ru-RU" dirty="0" smtClean="0"/>
              <a:t> </a:t>
            </a:r>
            <a:r>
              <a:rPr lang="ru-RU" dirty="0" err="1" smtClean="0"/>
              <a:t>клієнтської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ru-RU" b="1" dirty="0" smtClean="0"/>
              <a:t>2</a:t>
            </a:r>
            <a:r>
              <a:rPr lang="ru-RU" dirty="0" smtClean="0"/>
              <a:t>,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b="1" dirty="0" smtClean="0"/>
              <a:t>(1,2 ) </a:t>
            </a:r>
            <a:r>
              <a:rPr lang="ru-RU" dirty="0" err="1" smtClean="0"/>
              <a:t>був</a:t>
            </a:r>
            <a:r>
              <a:rPr lang="ru-RU" dirty="0" smtClean="0"/>
              <a:t> </a:t>
            </a:r>
            <a:r>
              <a:rPr lang="ru-RU" dirty="0" err="1" smtClean="0"/>
              <a:t>вилучений</a:t>
            </a:r>
            <a:r>
              <a:rPr lang="ru-RU" dirty="0" smtClean="0"/>
              <a:t>, </a:t>
            </a:r>
            <a:r>
              <a:rPr lang="ru-RU" dirty="0" err="1" smtClean="0"/>
              <a:t>оскільки</a:t>
            </a:r>
            <a:r>
              <a:rPr lang="ru-RU" dirty="0" smtClean="0"/>
              <a:t>  </a:t>
            </a:r>
            <a:r>
              <a:rPr lang="ru-RU" dirty="0" err="1" smtClean="0"/>
              <a:t>він</a:t>
            </a:r>
            <a:r>
              <a:rPr lang="ru-RU" dirty="0" smtClean="0"/>
              <a:t> не є частим, а </a:t>
            </a:r>
            <a:r>
              <a:rPr lang="ru-RU" dirty="0" err="1" smtClean="0"/>
              <a:t>набір</a:t>
            </a:r>
            <a:r>
              <a:rPr lang="ru-RU" dirty="0" smtClean="0"/>
              <a:t> </a:t>
            </a:r>
            <a:r>
              <a:rPr lang="ru-RU" b="1" dirty="0" smtClean="0"/>
              <a:t>(4,6,7) </a:t>
            </a:r>
            <a:r>
              <a:rPr lang="ru-RU" dirty="0" err="1" smtClean="0"/>
              <a:t>було</a:t>
            </a:r>
            <a:r>
              <a:rPr lang="ru-RU" dirty="0" smtClean="0"/>
              <a:t> </a:t>
            </a:r>
            <a:r>
              <a:rPr lang="ru-RU" dirty="0" err="1" smtClean="0"/>
              <a:t>замінено</a:t>
            </a:r>
            <a:r>
              <a:rPr lang="ru-RU" dirty="0" smtClean="0"/>
              <a:t> </a:t>
            </a:r>
            <a:r>
              <a:rPr lang="ru-RU" dirty="0" err="1" smtClean="0"/>
              <a:t>множиною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 </a:t>
            </a:r>
            <a:r>
              <a:rPr lang="ru-RU" dirty="0" err="1" smtClean="0"/>
              <a:t>наборів</a:t>
            </a:r>
            <a:r>
              <a:rPr lang="ru-RU" dirty="0" smtClean="0"/>
              <a:t> </a:t>
            </a:r>
            <a:r>
              <a:rPr lang="ru-RU" b="1" dirty="0" smtClean="0"/>
              <a:t>{(4); (7); (4 ,7)}. 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3783" y="4892073"/>
            <a:ext cx="12014527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ru-RU" b="1" dirty="0" err="1" smtClean="0"/>
              <a:t>Пошук</a:t>
            </a:r>
            <a:r>
              <a:rPr lang="ru-RU" b="1" dirty="0" smtClean="0"/>
              <a:t> </a:t>
            </a:r>
            <a:r>
              <a:rPr lang="ru-RU" b="1" dirty="0" err="1" smtClean="0"/>
              <a:t>частих</a:t>
            </a:r>
            <a:r>
              <a:rPr lang="ru-RU" b="1" dirty="0" smtClean="0"/>
              <a:t>  </a:t>
            </a:r>
            <a:r>
              <a:rPr lang="ru-RU" b="1" dirty="0" err="1" smtClean="0"/>
              <a:t>послідовностей</a:t>
            </a:r>
            <a:r>
              <a:rPr lang="ru-RU" b="1" dirty="0" smtClean="0"/>
              <a:t> </a:t>
            </a:r>
            <a:r>
              <a:rPr lang="ru-RU" dirty="0" smtClean="0"/>
              <a:t>на </a:t>
            </a:r>
            <a:r>
              <a:rPr lang="ru-RU" dirty="0" err="1" smtClean="0"/>
              <a:t>множині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. 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ru-RU" b="1" dirty="0" err="1" smtClean="0"/>
              <a:t>Пошук</a:t>
            </a:r>
            <a:r>
              <a:rPr lang="ru-RU" b="1" dirty="0" smtClean="0"/>
              <a:t> </a:t>
            </a:r>
            <a:r>
              <a:rPr lang="ru-RU" b="1" dirty="0" err="1" smtClean="0"/>
              <a:t>максимальних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послідовностей</a:t>
            </a:r>
            <a:r>
              <a:rPr lang="ru-RU" b="1" dirty="0" smtClean="0"/>
              <a:t> </a:t>
            </a:r>
            <a:r>
              <a:rPr lang="ru-RU" dirty="0" smtClean="0"/>
              <a:t>- </a:t>
            </a:r>
            <a:r>
              <a:rPr lang="ru-RU" dirty="0" err="1" smtClean="0"/>
              <a:t>серед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 </a:t>
            </a:r>
            <a:r>
              <a:rPr lang="ru-RU" dirty="0" err="1" smtClean="0"/>
              <a:t>шукають</a:t>
            </a:r>
            <a:r>
              <a:rPr lang="ru-RU" dirty="0" smtClean="0"/>
              <a:t>  </a:t>
            </a:r>
            <a:r>
              <a:rPr lang="ru-RU" dirty="0" err="1" smtClean="0"/>
              <a:t>максимальні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. </a:t>
            </a:r>
            <a:r>
              <a:rPr lang="ru-RU" dirty="0" err="1" smtClean="0"/>
              <a:t>Іноді</a:t>
            </a:r>
            <a:r>
              <a:rPr lang="ru-RU" dirty="0" smtClean="0"/>
              <a:t> </a:t>
            </a:r>
            <a:r>
              <a:rPr lang="ru-RU" dirty="0" err="1" smtClean="0"/>
              <a:t>даний</a:t>
            </a:r>
            <a:r>
              <a:rPr lang="ru-RU" dirty="0" smtClean="0"/>
              <a:t> </a:t>
            </a:r>
            <a:r>
              <a:rPr lang="ru-RU" dirty="0" err="1" smtClean="0"/>
              <a:t>етап</a:t>
            </a:r>
            <a:r>
              <a:rPr lang="ru-RU" dirty="0" smtClean="0"/>
              <a:t> </a:t>
            </a:r>
            <a:r>
              <a:rPr lang="ru-RU" dirty="0" err="1" smtClean="0"/>
              <a:t>суміщають</a:t>
            </a:r>
            <a:r>
              <a:rPr lang="ru-RU" dirty="0" smtClean="0"/>
              <a:t> з </a:t>
            </a:r>
            <a:r>
              <a:rPr lang="ru-RU" dirty="0" err="1" smtClean="0"/>
              <a:t>попереднім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 </a:t>
            </a:r>
            <a:r>
              <a:rPr lang="ru-RU" dirty="0" err="1" smtClean="0"/>
              <a:t>зменшити</a:t>
            </a:r>
            <a:r>
              <a:rPr lang="ru-RU" dirty="0" smtClean="0"/>
              <a:t> </a:t>
            </a:r>
            <a:r>
              <a:rPr lang="ru-RU" dirty="0" err="1" smtClean="0"/>
              <a:t>витрати</a:t>
            </a:r>
            <a:r>
              <a:rPr lang="ru-RU" dirty="0" smtClean="0"/>
              <a:t> часу на </a:t>
            </a:r>
            <a:r>
              <a:rPr lang="ru-RU" dirty="0" err="1" smtClean="0"/>
              <a:t>обчислення</a:t>
            </a:r>
            <a:r>
              <a:rPr lang="ru-RU" dirty="0" smtClean="0"/>
              <a:t> не </a:t>
            </a:r>
            <a:r>
              <a:rPr lang="ru-RU" dirty="0" err="1" smtClean="0"/>
              <a:t>максимальних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. 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ru-RU" b="1" dirty="0" err="1" smtClean="0">
                <a:solidFill>
                  <a:srgbClr val="0000CC"/>
                </a:solidFill>
              </a:rPr>
              <a:t>Найскладнішим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етапом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процесу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пошуку</a:t>
            </a:r>
            <a:r>
              <a:rPr lang="ru-RU" b="1" dirty="0" smtClean="0">
                <a:solidFill>
                  <a:srgbClr val="0000CC"/>
                </a:solidFill>
              </a:rPr>
              <a:t> ПШ </a:t>
            </a:r>
            <a:r>
              <a:rPr lang="ru-RU" dirty="0" smtClean="0"/>
              <a:t>є </a:t>
            </a:r>
            <a:r>
              <a:rPr lang="ru-RU" dirty="0" err="1" smtClean="0"/>
              <a:t>пошук</a:t>
            </a:r>
            <a:r>
              <a:rPr lang="ru-RU" dirty="0" smtClean="0"/>
              <a:t> </a:t>
            </a:r>
            <a:r>
              <a:rPr lang="ru-RU" b="1" dirty="0" err="1" smtClean="0"/>
              <a:t>частих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послідовностей</a:t>
            </a:r>
            <a:r>
              <a:rPr lang="ru-RU" dirty="0" smtClean="0"/>
              <a:t>,  </a:t>
            </a:r>
            <a:r>
              <a:rPr lang="ru-RU" dirty="0" err="1" smtClean="0"/>
              <a:t>оскільки</a:t>
            </a:r>
            <a:r>
              <a:rPr lang="ru-RU" dirty="0" smtClean="0"/>
              <a:t> велика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</a:t>
            </a:r>
            <a:r>
              <a:rPr lang="ru-RU" dirty="0" err="1" smtClean="0"/>
              <a:t>наборів</a:t>
            </a:r>
            <a:r>
              <a:rPr lang="ru-RU" dirty="0" smtClean="0"/>
              <a:t> </a:t>
            </a:r>
            <a:r>
              <a:rPr lang="ru-RU" dirty="0" err="1" smtClean="0"/>
              <a:t>вимагає</a:t>
            </a:r>
            <a:r>
              <a:rPr lang="ru-RU" dirty="0" smtClean="0"/>
              <a:t> </a:t>
            </a:r>
            <a:r>
              <a:rPr lang="ru-RU" dirty="0" err="1" smtClean="0"/>
              <a:t>розгляду</a:t>
            </a:r>
            <a:r>
              <a:rPr lang="ru-RU" dirty="0" smtClean="0"/>
              <a:t> </a:t>
            </a:r>
            <a:r>
              <a:rPr lang="ru-RU" dirty="0" err="1" smtClean="0"/>
              <a:t>величезної</a:t>
            </a:r>
            <a:r>
              <a:rPr lang="ru-RU" dirty="0" smtClean="0"/>
              <a:t>  </a:t>
            </a:r>
            <a:r>
              <a:rPr lang="ru-RU" dirty="0" err="1" smtClean="0"/>
              <a:t>кількості</a:t>
            </a:r>
            <a:r>
              <a:rPr lang="ru-RU" dirty="0" smtClean="0"/>
              <a:t> </a:t>
            </a:r>
            <a:r>
              <a:rPr lang="ru-RU" dirty="0" err="1" smtClean="0"/>
              <a:t>можливих</a:t>
            </a:r>
            <a:r>
              <a:rPr lang="ru-RU" dirty="0" smtClean="0"/>
              <a:t> </a:t>
            </a:r>
            <a:r>
              <a:rPr lang="ru-RU" dirty="0" err="1" smtClean="0"/>
              <a:t>комбінацій</a:t>
            </a:r>
            <a:r>
              <a:rPr lang="ru-RU" dirty="0" smtClean="0"/>
              <a:t> і </a:t>
            </a:r>
            <a:r>
              <a:rPr lang="ru-RU" dirty="0" err="1" smtClean="0"/>
              <a:t>багатократного</a:t>
            </a:r>
            <a:r>
              <a:rPr lang="ru-RU" dirty="0" smtClean="0"/>
              <a:t> проходу набором </a:t>
            </a:r>
            <a:r>
              <a:rPr lang="ru-RU" dirty="0" err="1" smtClean="0"/>
              <a:t>транзакцій</a:t>
            </a:r>
            <a:r>
              <a:rPr lang="ru-RU" dirty="0"/>
              <a:t>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9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5888"/>
            <a:ext cx="12192000" cy="5048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Алгоритм </a:t>
            </a:r>
            <a:r>
              <a:rPr lang="uk-UA" altLang="ru-RU" sz="3600" b="1" dirty="0" err="1">
                <a:solidFill>
                  <a:schemeClr val="bg1"/>
                </a:solidFill>
                <a:latin typeface="+mn-lt"/>
              </a:rPr>
              <a:t>AprioriAll</a:t>
            </a:r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 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305" y="3516113"/>
            <a:ext cx="8335389" cy="122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898" y="4830963"/>
            <a:ext cx="1800225" cy="144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64123" y="1120996"/>
            <a:ext cx="120278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кожному </a:t>
            </a:r>
            <a:r>
              <a:rPr lang="ru-RU" dirty="0" err="1" smtClean="0"/>
              <a:t>проході</a:t>
            </a:r>
            <a:r>
              <a:rPr lang="ru-RU" dirty="0" smtClean="0"/>
              <a:t> алгоритму </a:t>
            </a:r>
            <a:r>
              <a:rPr lang="en-GB" b="1" dirty="0" err="1" smtClean="0"/>
              <a:t>AprioriAll</a:t>
            </a:r>
            <a:r>
              <a:rPr lang="en-GB" b="1" dirty="0" smtClean="0"/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скануються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часті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послідовності</a:t>
            </a:r>
            <a:r>
              <a:rPr lang="ru-RU" dirty="0" smtClean="0"/>
              <a:t>,  </a:t>
            </a:r>
            <a:r>
              <a:rPr lang="ru-RU" dirty="0" err="1" smtClean="0"/>
              <a:t>знайдені</a:t>
            </a:r>
            <a:r>
              <a:rPr lang="ru-RU" dirty="0" smtClean="0"/>
              <a:t> на </a:t>
            </a:r>
            <a:r>
              <a:rPr lang="ru-RU" dirty="0" err="1" smtClean="0"/>
              <a:t>попередньому</a:t>
            </a:r>
            <a:r>
              <a:rPr lang="ru-RU" dirty="0" smtClean="0"/>
              <a:t> </a:t>
            </a:r>
            <a:r>
              <a:rPr lang="ru-RU" dirty="0" err="1" smtClean="0"/>
              <a:t>проході</a:t>
            </a:r>
            <a:r>
              <a:rPr lang="ru-RU" dirty="0" smtClean="0"/>
              <a:t>, і </a:t>
            </a:r>
            <a:r>
              <a:rPr lang="ru-RU" b="1" dirty="0" err="1" smtClean="0">
                <a:solidFill>
                  <a:srgbClr val="0000CC"/>
                </a:solidFill>
              </a:rPr>
              <a:t>формуються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нові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послідовності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dirty="0" smtClean="0"/>
              <a:t>- </a:t>
            </a:r>
            <a:r>
              <a:rPr lang="ru-RU" dirty="0" err="1" smtClean="0"/>
              <a:t>кандидати</a:t>
            </a:r>
            <a:r>
              <a:rPr lang="ru-RU" dirty="0" smtClean="0"/>
              <a:t>, а </a:t>
            </a:r>
            <a:r>
              <a:rPr lang="ru-RU" dirty="0" err="1" smtClean="0"/>
              <a:t>потім</a:t>
            </a:r>
            <a:r>
              <a:rPr lang="ru-RU" dirty="0" smtClean="0"/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обчислюється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їх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підтримка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dirty="0" smtClean="0"/>
              <a:t>в </a:t>
            </a:r>
            <a:r>
              <a:rPr lang="ru-RU" dirty="0" err="1" smtClean="0"/>
              <a:t>процесі</a:t>
            </a:r>
            <a:r>
              <a:rPr lang="ru-RU" dirty="0" smtClean="0"/>
              <a:t> нового проходу.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Надалі</a:t>
            </a:r>
            <a:r>
              <a:rPr lang="ru-RU" dirty="0" smtClean="0"/>
              <a:t> </a:t>
            </a:r>
            <a:r>
              <a:rPr lang="ru-RU" dirty="0" err="1" smtClean="0"/>
              <a:t>підтримка</a:t>
            </a:r>
            <a:r>
              <a:rPr lang="ru-RU" dirty="0" smtClean="0"/>
              <a:t> </a:t>
            </a:r>
            <a:r>
              <a:rPr lang="ru-RU" dirty="0" err="1" smtClean="0"/>
              <a:t>використовується</a:t>
            </a:r>
            <a:r>
              <a:rPr lang="ru-RU" dirty="0" smtClean="0"/>
              <a:t> для </a:t>
            </a:r>
            <a:r>
              <a:rPr lang="ru-RU" dirty="0" err="1" smtClean="0"/>
              <a:t>визначення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Часті</a:t>
            </a:r>
            <a:r>
              <a:rPr lang="ru-RU" dirty="0" smtClean="0"/>
              <a:t>  </a:t>
            </a:r>
            <a:r>
              <a:rPr lang="ru-RU" dirty="0" err="1" smtClean="0"/>
              <a:t>предметні</a:t>
            </a:r>
            <a:r>
              <a:rPr lang="ru-RU" dirty="0" smtClean="0"/>
              <a:t> </a:t>
            </a:r>
            <a:r>
              <a:rPr lang="ru-RU" dirty="0" err="1" smtClean="0"/>
              <a:t>набори</a:t>
            </a:r>
            <a:r>
              <a:rPr lang="ru-RU" dirty="0" smtClean="0"/>
              <a:t>, </a:t>
            </a:r>
            <a:r>
              <a:rPr lang="ru-RU" dirty="0" err="1" smtClean="0"/>
              <a:t>знайдені</a:t>
            </a:r>
            <a:r>
              <a:rPr lang="ru-RU" dirty="0" smtClean="0"/>
              <a:t> на </a:t>
            </a:r>
            <a:r>
              <a:rPr lang="ru-RU" dirty="0" err="1" smtClean="0"/>
              <a:t>проході</a:t>
            </a:r>
            <a:r>
              <a:rPr lang="ru-RU" dirty="0" smtClean="0"/>
              <a:t> 1, є </a:t>
            </a:r>
            <a:r>
              <a:rPr lang="ru-RU" dirty="0" err="1" smtClean="0"/>
              <a:t>частими</a:t>
            </a:r>
            <a:r>
              <a:rPr lang="ru-RU" dirty="0" smtClean="0"/>
              <a:t> 1-послідовностями, тому  </a:t>
            </a:r>
            <a:r>
              <a:rPr lang="ru-RU" dirty="0" err="1" smtClean="0"/>
              <a:t>іноді</a:t>
            </a:r>
            <a:r>
              <a:rPr lang="ru-RU" dirty="0" smtClean="0"/>
              <a:t> </a:t>
            </a:r>
            <a:r>
              <a:rPr lang="ru-RU" dirty="0" err="1" smtClean="0"/>
              <a:t>цей</a:t>
            </a:r>
            <a:r>
              <a:rPr lang="ru-RU" dirty="0" smtClean="0"/>
              <a:t> </a:t>
            </a:r>
            <a:r>
              <a:rPr lang="ru-RU" dirty="0" err="1" smtClean="0"/>
              <a:t>процес</a:t>
            </a:r>
            <a:r>
              <a:rPr lang="ru-RU" dirty="0" smtClean="0"/>
              <a:t> </a:t>
            </a:r>
            <a:r>
              <a:rPr lang="ru-RU" dirty="0" err="1" smtClean="0"/>
              <a:t>називають</a:t>
            </a:r>
            <a:r>
              <a:rPr lang="ru-RU" dirty="0" smtClean="0"/>
              <a:t> </a:t>
            </a:r>
            <a:r>
              <a:rPr lang="ru-RU" b="1" dirty="0" err="1" smtClean="0"/>
              <a:t>ініціалізацією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/>
              <a:t>Позначимо</a:t>
            </a:r>
            <a:r>
              <a:rPr lang="ru-RU" dirty="0" smtClean="0"/>
              <a:t> </a:t>
            </a:r>
            <a:r>
              <a:rPr lang="en-GB" dirty="0" smtClean="0"/>
              <a:t>F</a:t>
            </a:r>
            <a:r>
              <a:rPr lang="en-GB" baseline="-25000" dirty="0" smtClean="0"/>
              <a:t>k-1</a:t>
            </a:r>
            <a:r>
              <a:rPr lang="en-GB" dirty="0" smtClean="0"/>
              <a:t> - </a:t>
            </a:r>
            <a:r>
              <a:rPr lang="ru-RU" dirty="0" err="1" smtClean="0"/>
              <a:t>множину</a:t>
            </a:r>
            <a:r>
              <a:rPr lang="ru-RU" dirty="0" smtClean="0"/>
              <a:t> </a:t>
            </a:r>
            <a:r>
              <a:rPr lang="ru-RU" dirty="0" err="1" smtClean="0"/>
              <a:t>всіх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(</a:t>
            </a:r>
            <a:r>
              <a:rPr lang="en-GB" dirty="0" smtClean="0"/>
              <a:t>k-1)-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/>
              <a:t>Вилучимо</a:t>
            </a:r>
            <a:r>
              <a:rPr lang="ru-RU" dirty="0" smtClean="0"/>
              <a:t> </a:t>
            </a:r>
            <a:r>
              <a:rPr lang="ru-RU" dirty="0" err="1" smtClean="0"/>
              <a:t>всі</a:t>
            </a:r>
            <a:r>
              <a:rPr lang="ru-RU" dirty="0" smtClean="0"/>
              <a:t> 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таким чином, </a:t>
            </a:r>
            <a:r>
              <a:rPr lang="ru-RU" dirty="0" err="1" smtClean="0"/>
              <a:t>що</a:t>
            </a:r>
            <a:r>
              <a:rPr lang="ru-RU" dirty="0" smtClean="0"/>
              <a:t> (</a:t>
            </a:r>
            <a:r>
              <a:rPr lang="en-GB" dirty="0" smtClean="0"/>
              <a:t>k -1)-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не </a:t>
            </a:r>
            <a:r>
              <a:rPr lang="ru-RU" dirty="0" err="1" smtClean="0"/>
              <a:t>належатимуть</a:t>
            </a:r>
            <a:r>
              <a:rPr lang="ru-RU" dirty="0" smtClean="0"/>
              <a:t> </a:t>
            </a:r>
            <a:r>
              <a:rPr lang="ru-RU" dirty="0" err="1" smtClean="0"/>
              <a:t>множині</a:t>
            </a:r>
            <a:r>
              <a:rPr lang="ru-RU" dirty="0" smtClean="0"/>
              <a:t>  </a:t>
            </a:r>
            <a:r>
              <a:rPr lang="en-GB" dirty="0" err="1" smtClean="0"/>
              <a:t>F</a:t>
            </a:r>
            <a:r>
              <a:rPr lang="en-GB" baseline="-25000" dirty="0" err="1" smtClean="0"/>
              <a:t>k</a:t>
            </a:r>
            <a:r>
              <a:rPr lang="en-GB" baseline="-25000" dirty="0" smtClean="0"/>
              <a:t> -1</a:t>
            </a:r>
            <a:r>
              <a:rPr lang="en-GB" dirty="0" smtClean="0"/>
              <a:t>, </a:t>
            </a:r>
            <a:r>
              <a:rPr lang="ru-RU" dirty="0" err="1" smtClean="0"/>
              <a:t>тобто</a:t>
            </a:r>
            <a:r>
              <a:rPr lang="ru-RU" dirty="0" smtClean="0"/>
              <a:t> не є </a:t>
            </a:r>
            <a:r>
              <a:rPr lang="ru-RU" dirty="0" err="1" smtClean="0"/>
              <a:t>частими</a:t>
            </a:r>
            <a:r>
              <a:rPr lang="ru-RU" dirty="0" smtClean="0"/>
              <a:t>. </a:t>
            </a:r>
            <a:r>
              <a:rPr lang="ru-RU" dirty="0" err="1" smtClean="0"/>
              <a:t>Наприклад</a:t>
            </a:r>
            <a:r>
              <a:rPr lang="ru-RU" dirty="0" smtClean="0"/>
              <a:t>, </a:t>
            </a:r>
            <a:r>
              <a:rPr lang="ru-RU" dirty="0" err="1" smtClean="0"/>
              <a:t>розглянемо</a:t>
            </a:r>
            <a:r>
              <a:rPr lang="ru-RU" dirty="0" smtClean="0"/>
              <a:t> </a:t>
            </a:r>
            <a:r>
              <a:rPr lang="ru-RU" dirty="0" err="1" smtClean="0"/>
              <a:t>множину</a:t>
            </a:r>
            <a:r>
              <a:rPr lang="ru-RU" dirty="0" smtClean="0"/>
              <a:t> 3-послідовностей  </a:t>
            </a:r>
            <a:r>
              <a:rPr lang="en-GB" dirty="0" smtClean="0"/>
              <a:t>F3, </a:t>
            </a:r>
            <a:r>
              <a:rPr lang="ru-RU" dirty="0" err="1" smtClean="0"/>
              <a:t>подану</a:t>
            </a:r>
            <a:r>
              <a:rPr lang="ru-RU" dirty="0" smtClean="0"/>
              <a:t> у </a:t>
            </a:r>
            <a:r>
              <a:rPr lang="ru-RU" dirty="0" err="1" smtClean="0"/>
              <a:t>першому</a:t>
            </a:r>
            <a:r>
              <a:rPr lang="ru-RU" dirty="0" smtClean="0"/>
              <a:t> </a:t>
            </a:r>
            <a:r>
              <a:rPr lang="ru-RU" dirty="0" err="1" smtClean="0"/>
              <a:t>стовпчику</a:t>
            </a:r>
            <a:r>
              <a:rPr lang="ru-RU" dirty="0" smtClean="0"/>
              <a:t> </a:t>
            </a:r>
            <a:r>
              <a:rPr lang="ru-RU" dirty="0" err="1" smtClean="0"/>
              <a:t>таблиці</a:t>
            </a:r>
            <a:r>
              <a:rPr lang="ru-RU" dirty="0" smtClean="0"/>
              <a:t>: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4123" y="4830963"/>
            <a:ext cx="99737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/>
              <a:t>Після</a:t>
            </a:r>
            <a:r>
              <a:rPr lang="ru-RU" b="1" dirty="0" smtClean="0"/>
              <a:t> </a:t>
            </a:r>
            <a:r>
              <a:rPr lang="ru-RU" b="1" dirty="0" err="1" smtClean="0"/>
              <a:t>відсікання</a:t>
            </a:r>
            <a:r>
              <a:rPr lang="ru-RU" b="1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, </a:t>
            </a:r>
            <a:r>
              <a:rPr lang="ru-RU" dirty="0" err="1" smtClean="0"/>
              <a:t>підпослідовності</a:t>
            </a:r>
            <a:r>
              <a:rPr lang="ru-RU" dirty="0" smtClean="0"/>
              <a:t> </a:t>
            </a:r>
            <a:r>
              <a:rPr lang="ru-RU" dirty="0" err="1" smtClean="0"/>
              <a:t>яких</a:t>
            </a:r>
            <a:r>
              <a:rPr lang="ru-RU" dirty="0" smtClean="0"/>
              <a:t> не </a:t>
            </a:r>
            <a:r>
              <a:rPr lang="ru-RU" dirty="0" err="1" smtClean="0"/>
              <a:t>має</a:t>
            </a:r>
            <a:r>
              <a:rPr lang="ru-RU" dirty="0" smtClean="0"/>
              <a:t> в </a:t>
            </a:r>
            <a:r>
              <a:rPr lang="en-GB" dirty="0" smtClean="0"/>
              <a:t>F3,  </a:t>
            </a:r>
            <a:r>
              <a:rPr lang="ru-RU" dirty="0" err="1" smtClean="0"/>
              <a:t>маємо</a:t>
            </a:r>
            <a:r>
              <a:rPr lang="ru-RU" dirty="0" smtClean="0"/>
              <a:t> </a:t>
            </a:r>
            <a:r>
              <a:rPr lang="ru-RU" dirty="0" err="1" smtClean="0"/>
              <a:t>єдину</a:t>
            </a:r>
            <a:r>
              <a:rPr lang="ru-RU" dirty="0" smtClean="0"/>
              <a:t> </a:t>
            </a:r>
            <a:r>
              <a:rPr lang="ru-RU" dirty="0" err="1" smtClean="0"/>
              <a:t>послідовність</a:t>
            </a:r>
            <a:r>
              <a:rPr lang="ru-RU" dirty="0" smtClean="0"/>
              <a:t>, </a:t>
            </a:r>
            <a:r>
              <a:rPr lang="ru-RU" dirty="0" err="1" smtClean="0"/>
              <a:t>подану</a:t>
            </a:r>
            <a:r>
              <a:rPr lang="ru-RU" dirty="0" smtClean="0"/>
              <a:t> в 3-му </a:t>
            </a:r>
            <a:r>
              <a:rPr lang="ru-RU" dirty="0" err="1" smtClean="0"/>
              <a:t>стовпці</a:t>
            </a:r>
            <a:r>
              <a:rPr lang="ru-RU" dirty="0" smtClean="0"/>
              <a:t>. </a:t>
            </a:r>
            <a:r>
              <a:rPr lang="ru-RU" dirty="0" err="1" smtClean="0"/>
              <a:t>Наприклад</a:t>
            </a:r>
            <a:r>
              <a:rPr lang="ru-RU" dirty="0" smtClean="0"/>
              <a:t>,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 1243 </a:t>
            </a:r>
            <a:r>
              <a:rPr lang="ru-RU" dirty="0" err="1" smtClean="0"/>
              <a:t>відсікається</a:t>
            </a:r>
            <a:r>
              <a:rPr lang="ru-RU" dirty="0" smtClean="0"/>
              <a:t>, </a:t>
            </a:r>
            <a:r>
              <a:rPr lang="ru-RU" dirty="0" err="1" smtClean="0"/>
              <a:t>оскільки</a:t>
            </a:r>
            <a:r>
              <a:rPr lang="ru-RU" dirty="0" smtClean="0"/>
              <a:t> </a:t>
            </a:r>
            <a:r>
              <a:rPr lang="ru-RU" dirty="0" err="1" smtClean="0"/>
              <a:t>підпослідовність</a:t>
            </a:r>
            <a:r>
              <a:rPr lang="ru-RU" dirty="0" smtClean="0"/>
              <a:t> 243 не </a:t>
            </a:r>
            <a:r>
              <a:rPr lang="ru-RU" dirty="0" err="1" smtClean="0"/>
              <a:t>лежить</a:t>
            </a:r>
            <a:r>
              <a:rPr lang="ru-RU" dirty="0" smtClean="0"/>
              <a:t> в </a:t>
            </a:r>
            <a:r>
              <a:rPr lang="en-GB" dirty="0" smtClean="0"/>
              <a:t>F3.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Розглянемо</a:t>
            </a:r>
            <a:r>
              <a:rPr lang="ru-RU" dirty="0" smtClean="0"/>
              <a:t>  базу </a:t>
            </a:r>
            <a:r>
              <a:rPr lang="ru-RU" dirty="0" err="1" smtClean="0"/>
              <a:t>даних</a:t>
            </a:r>
            <a:r>
              <a:rPr lang="ru-RU" dirty="0" smtClean="0"/>
              <a:t> </a:t>
            </a:r>
            <a:r>
              <a:rPr lang="ru-RU" dirty="0" err="1" smtClean="0"/>
              <a:t>клієнтських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, </a:t>
            </a:r>
            <a:r>
              <a:rPr lang="ru-RU" dirty="0" err="1" smtClean="0"/>
              <a:t>подану</a:t>
            </a:r>
            <a:r>
              <a:rPr lang="ru-RU" dirty="0" smtClean="0"/>
              <a:t> в </a:t>
            </a:r>
            <a:r>
              <a:rPr lang="ru-RU" dirty="0" err="1" smtClean="0"/>
              <a:t>таблиці</a:t>
            </a:r>
            <a:r>
              <a:rPr lang="ru-RU" dirty="0" smtClean="0"/>
              <a:t> </a:t>
            </a:r>
            <a:endParaRPr lang="ru-RU" dirty="0"/>
          </a:p>
        </p:txBody>
      </p:sp>
      <p:cxnSp>
        <p:nvCxnSpPr>
          <p:cNvPr id="6" name="Прямая со стрелкой 5"/>
          <p:cNvCxnSpPr>
            <a:endCxn id="17413" idx="1"/>
          </p:cNvCxnSpPr>
          <p:nvPr/>
        </p:nvCxnSpPr>
        <p:spPr>
          <a:xfrm flipV="1">
            <a:off x="7387520" y="5554069"/>
            <a:ext cx="2750378" cy="191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51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766" y="2860739"/>
            <a:ext cx="8315988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115888"/>
            <a:ext cx="12192000" cy="504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sz="3600" b="1" smtClean="0">
                <a:solidFill>
                  <a:schemeClr val="bg1"/>
                </a:solidFill>
                <a:latin typeface="+mn-lt"/>
              </a:rPr>
              <a:t>Алгоритм AprioriAll 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106413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/>
              <a:t>У </a:t>
            </a:r>
            <a:r>
              <a:rPr lang="ru-RU" dirty="0" err="1" smtClean="0"/>
              <a:t>даному</a:t>
            </a:r>
            <a:r>
              <a:rPr lang="ru-RU" dirty="0" smtClean="0"/>
              <a:t> </a:t>
            </a:r>
            <a:r>
              <a:rPr lang="ru-RU" dirty="0" err="1" smtClean="0"/>
              <a:t>прикладі</a:t>
            </a:r>
            <a:r>
              <a:rPr lang="ru-RU" dirty="0" smtClean="0"/>
              <a:t> ми не </a:t>
            </a:r>
            <a:r>
              <a:rPr lang="ru-RU" dirty="0" err="1" smtClean="0"/>
              <a:t>розглядаємо</a:t>
            </a:r>
            <a:r>
              <a:rPr lang="ru-RU" dirty="0" smtClean="0"/>
              <a:t> </a:t>
            </a:r>
            <a:r>
              <a:rPr lang="ru-RU" dirty="0" err="1" smtClean="0"/>
              <a:t>початкову</a:t>
            </a:r>
            <a:r>
              <a:rPr lang="ru-RU" dirty="0" smtClean="0"/>
              <a:t> базу </a:t>
            </a:r>
            <a:r>
              <a:rPr lang="ru-RU" dirty="0" err="1" smtClean="0"/>
              <a:t>даних</a:t>
            </a:r>
            <a:r>
              <a:rPr lang="ru-RU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Клієнтські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ru-RU" dirty="0" err="1" smtClean="0"/>
              <a:t>отримані</a:t>
            </a:r>
            <a:r>
              <a:rPr lang="ru-RU" dirty="0" smtClean="0"/>
              <a:t> шляхом </a:t>
            </a:r>
            <a:r>
              <a:rPr lang="ru-RU" dirty="0" err="1" smtClean="0"/>
              <a:t>заміни</a:t>
            </a:r>
            <a:r>
              <a:rPr lang="ru-RU" dirty="0" smtClean="0"/>
              <a:t> </a:t>
            </a:r>
            <a:r>
              <a:rPr lang="ru-RU" dirty="0" err="1" smtClean="0"/>
              <a:t>транзакцій</a:t>
            </a:r>
            <a:r>
              <a:rPr lang="ru-RU" dirty="0" smtClean="0"/>
              <a:t> </a:t>
            </a:r>
            <a:r>
              <a:rPr lang="ru-RU" dirty="0" err="1" smtClean="0"/>
              <a:t>містяться</a:t>
            </a:r>
            <a:r>
              <a:rPr lang="ru-RU" dirty="0" smtClean="0"/>
              <a:t> в них </a:t>
            </a:r>
            <a:r>
              <a:rPr lang="ru-RU" dirty="0" err="1" smtClean="0"/>
              <a:t>частими</a:t>
            </a:r>
            <a:r>
              <a:rPr lang="ru-RU" dirty="0" smtClean="0"/>
              <a:t>  </a:t>
            </a:r>
            <a:r>
              <a:rPr lang="ru-RU" dirty="0" err="1" smtClean="0"/>
              <a:t>предметними</a:t>
            </a:r>
            <a:r>
              <a:rPr lang="ru-RU" dirty="0" smtClean="0"/>
              <a:t> наборами.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Мінімальна</a:t>
            </a:r>
            <a:r>
              <a:rPr lang="ru-RU" dirty="0" smtClean="0"/>
              <a:t> </a:t>
            </a:r>
            <a:r>
              <a:rPr lang="ru-RU" dirty="0" err="1" smtClean="0"/>
              <a:t>підтримка</a:t>
            </a:r>
            <a:r>
              <a:rPr lang="ru-RU" dirty="0" smtClean="0"/>
              <a:t> </a:t>
            </a:r>
            <a:r>
              <a:rPr lang="ru-RU" dirty="0" err="1" smtClean="0"/>
              <a:t>визначена</a:t>
            </a:r>
            <a:r>
              <a:rPr lang="ru-RU" dirty="0" smtClean="0"/>
              <a:t> 40% (</a:t>
            </a:r>
            <a:r>
              <a:rPr lang="ru-RU" dirty="0" err="1" smtClean="0"/>
              <a:t>дві</a:t>
            </a:r>
            <a:r>
              <a:rPr lang="ru-RU" dirty="0" smtClean="0"/>
              <a:t> </a:t>
            </a:r>
            <a:r>
              <a:rPr lang="ru-RU" dirty="0" err="1" smtClean="0"/>
              <a:t>клієнтські</a:t>
            </a:r>
            <a:r>
              <a:rPr lang="ru-RU" dirty="0" smtClean="0"/>
              <a:t>  </a:t>
            </a:r>
            <a:r>
              <a:rPr lang="ru-RU" dirty="0" err="1" smtClean="0"/>
              <a:t>послідовності</a:t>
            </a:r>
            <a:r>
              <a:rPr lang="ru-RU" dirty="0" smtClean="0"/>
              <a:t>).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/>
              <a:t>На </a:t>
            </a:r>
            <a:r>
              <a:rPr lang="ru-RU" dirty="0" err="1" smtClean="0"/>
              <a:t>першому</a:t>
            </a:r>
            <a:r>
              <a:rPr lang="ru-RU" dirty="0" smtClean="0"/>
              <a:t> </a:t>
            </a:r>
            <a:r>
              <a:rPr lang="ru-RU" dirty="0" err="1" smtClean="0"/>
              <a:t>проході</a:t>
            </a:r>
            <a:r>
              <a:rPr lang="ru-RU" dirty="0" smtClean="0"/>
              <a:t> по </a:t>
            </a:r>
            <a:r>
              <a:rPr lang="ru-RU" dirty="0" err="1" smtClean="0"/>
              <a:t>базі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r>
              <a:rPr lang="ru-RU" dirty="0" smtClean="0"/>
              <a:t> проводиться </a:t>
            </a:r>
            <a:r>
              <a:rPr lang="ru-RU" dirty="0" err="1" smtClean="0"/>
              <a:t>пошук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dirty="0" err="1" smtClean="0"/>
              <a:t>предметних</a:t>
            </a:r>
            <a:r>
              <a:rPr lang="ru-RU" dirty="0" smtClean="0"/>
              <a:t>  </a:t>
            </a:r>
            <a:r>
              <a:rPr lang="ru-RU" dirty="0" err="1" smtClean="0"/>
              <a:t>наборів</a:t>
            </a:r>
            <a:r>
              <a:rPr lang="ru-RU" dirty="0" smtClean="0"/>
              <a:t>, і, </a:t>
            </a:r>
            <a:r>
              <a:rPr lang="ru-RU" dirty="0" err="1" smtClean="0"/>
              <a:t>відповідно</a:t>
            </a:r>
            <a:r>
              <a:rPr lang="ru-RU" dirty="0" smtClean="0"/>
              <a:t>, </a:t>
            </a:r>
            <a:r>
              <a:rPr lang="ru-RU" dirty="0" err="1" smtClean="0"/>
              <a:t>частих</a:t>
            </a:r>
            <a:r>
              <a:rPr lang="ru-RU" dirty="0" smtClean="0"/>
              <a:t> 1-послідовностей.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Результати</a:t>
            </a:r>
            <a:r>
              <a:rPr lang="ru-RU" dirty="0" smtClean="0"/>
              <a:t>, а </a:t>
            </a:r>
            <a:r>
              <a:rPr lang="ru-RU" dirty="0" err="1" smtClean="0"/>
              <a:t>саме</a:t>
            </a:r>
            <a:r>
              <a:rPr lang="ru-RU" dirty="0" smtClean="0"/>
              <a:t> </a:t>
            </a:r>
            <a:r>
              <a:rPr lang="ru-RU" dirty="0" err="1" smtClean="0"/>
              <a:t>часті</a:t>
            </a:r>
            <a:r>
              <a:rPr lang="ru-RU" dirty="0" smtClean="0"/>
              <a:t>  </a:t>
            </a:r>
            <a:r>
              <a:rPr lang="ru-RU" dirty="0" err="1" smtClean="0"/>
              <a:t>послідовності</a:t>
            </a:r>
            <a:r>
              <a:rPr lang="ru-RU" dirty="0" smtClean="0"/>
              <a:t> </a:t>
            </a:r>
            <a:r>
              <a:rPr lang="ru-RU" dirty="0" err="1" smtClean="0"/>
              <a:t>довжин</a:t>
            </a:r>
            <a:r>
              <a:rPr lang="ru-RU" dirty="0" smtClean="0"/>
              <a:t> 2, 3, і 4, </a:t>
            </a:r>
            <a:r>
              <a:rPr lang="ru-RU" dirty="0" err="1" smtClean="0"/>
              <a:t>значення</a:t>
            </a:r>
            <a:r>
              <a:rPr lang="ru-RU" dirty="0" smtClean="0"/>
              <a:t> </a:t>
            </a:r>
            <a:r>
              <a:rPr lang="ru-RU" dirty="0" err="1" smtClean="0"/>
              <a:t>їх</a:t>
            </a:r>
            <a:r>
              <a:rPr lang="ru-RU" dirty="0" smtClean="0"/>
              <a:t> </a:t>
            </a:r>
            <a:r>
              <a:rPr lang="ru-RU" dirty="0" err="1" smtClean="0"/>
              <a:t>підтримки</a:t>
            </a:r>
            <a:r>
              <a:rPr lang="ru-RU" dirty="0" smtClean="0"/>
              <a:t>, </a:t>
            </a:r>
            <a:r>
              <a:rPr lang="ru-RU" dirty="0" err="1" smtClean="0"/>
              <a:t>подамо</a:t>
            </a:r>
            <a:r>
              <a:rPr lang="ru-RU" dirty="0" smtClean="0"/>
              <a:t> таблицею: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4947284"/>
            <a:ext cx="11935961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 smtClean="0"/>
              <a:t>На 5-му </a:t>
            </a:r>
            <a:r>
              <a:rPr lang="ru-RU" dirty="0" err="1" smtClean="0"/>
              <a:t>проході</a:t>
            </a:r>
            <a:r>
              <a:rPr lang="ru-RU" dirty="0" smtClean="0"/>
              <a:t> </a:t>
            </a:r>
            <a:r>
              <a:rPr lang="ru-RU" dirty="0" err="1" smtClean="0"/>
              <a:t>нових</a:t>
            </a:r>
            <a:r>
              <a:rPr lang="ru-RU" dirty="0" smtClean="0"/>
              <a:t> </a:t>
            </a:r>
            <a:r>
              <a:rPr lang="ru-RU" dirty="0" err="1" smtClean="0"/>
              <a:t>кандидатів</a:t>
            </a:r>
            <a:r>
              <a:rPr lang="ru-RU" dirty="0" smtClean="0"/>
              <a:t> </a:t>
            </a:r>
            <a:r>
              <a:rPr lang="ru-RU" dirty="0" err="1" smtClean="0"/>
              <a:t>отримано</a:t>
            </a:r>
            <a:r>
              <a:rPr lang="ru-RU" dirty="0" smtClean="0"/>
              <a:t> не </a:t>
            </a:r>
            <a:r>
              <a:rPr lang="ru-RU" dirty="0" err="1" smtClean="0"/>
              <a:t>було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Таким чином,  </a:t>
            </a:r>
            <a:r>
              <a:rPr lang="ru-RU" dirty="0" err="1" smtClean="0"/>
              <a:t>максимальними</a:t>
            </a:r>
            <a:r>
              <a:rPr lang="ru-RU" dirty="0" smtClean="0"/>
              <a:t> </a:t>
            </a:r>
            <a:r>
              <a:rPr lang="ru-RU" dirty="0" err="1" smtClean="0"/>
              <a:t>частими</a:t>
            </a:r>
            <a:r>
              <a:rPr lang="ru-RU" dirty="0" smtClean="0"/>
              <a:t> </a:t>
            </a:r>
            <a:r>
              <a:rPr lang="ru-RU" dirty="0" err="1" smtClean="0"/>
              <a:t>послідовностями</a:t>
            </a:r>
            <a:r>
              <a:rPr lang="ru-RU" dirty="0" smtClean="0"/>
              <a:t> є </a:t>
            </a:r>
            <a:r>
              <a:rPr lang="ru-RU" b="1" dirty="0" smtClean="0">
                <a:solidFill>
                  <a:srgbClr val="0000CC"/>
                </a:solidFill>
              </a:rPr>
              <a:t>&lt;1,2,3,4&gt;, &lt;1,3,5&gt; і &lt;4,5&gt;,  </a:t>
            </a:r>
            <a:r>
              <a:rPr lang="ru-RU" dirty="0" err="1" smtClean="0"/>
              <a:t>оскільки</a:t>
            </a:r>
            <a:r>
              <a:rPr lang="ru-RU" dirty="0" smtClean="0"/>
              <a:t> вони не </a:t>
            </a:r>
            <a:r>
              <a:rPr lang="ru-RU" dirty="0" err="1" smtClean="0"/>
              <a:t>містяться</a:t>
            </a:r>
            <a:r>
              <a:rPr lang="ru-RU" dirty="0" smtClean="0"/>
              <a:t> в </a:t>
            </a:r>
            <a:r>
              <a:rPr lang="ru-RU" dirty="0" err="1" smtClean="0"/>
              <a:t>послідовностях</a:t>
            </a:r>
            <a:r>
              <a:rPr lang="ru-RU" dirty="0" smtClean="0"/>
              <a:t> </a:t>
            </a:r>
            <a:r>
              <a:rPr lang="ru-RU" dirty="0" err="1" smtClean="0"/>
              <a:t>більшої</a:t>
            </a:r>
            <a:r>
              <a:rPr lang="ru-RU" dirty="0" smtClean="0"/>
              <a:t> </a:t>
            </a:r>
            <a:r>
              <a:rPr lang="ru-RU" dirty="0" err="1" smtClean="0"/>
              <a:t>довжини</a:t>
            </a:r>
            <a:r>
              <a:rPr lang="ru-RU" dirty="0" smtClean="0"/>
              <a:t>. Вони і </a:t>
            </a:r>
            <a:r>
              <a:rPr lang="ru-RU" dirty="0" err="1" smtClean="0"/>
              <a:t>будуть</a:t>
            </a:r>
            <a:r>
              <a:rPr lang="ru-RU" dirty="0" smtClean="0"/>
              <a:t>  </a:t>
            </a:r>
            <a:r>
              <a:rPr lang="ru-RU" b="1" dirty="0" err="1" smtClean="0">
                <a:solidFill>
                  <a:srgbClr val="FF0000"/>
                </a:solidFill>
              </a:rPr>
              <a:t>шуканими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</a:rPr>
              <a:t>послідовними</a:t>
            </a:r>
            <a:r>
              <a:rPr lang="ru-RU" b="1" dirty="0" smtClean="0">
                <a:solidFill>
                  <a:srgbClr val="FF0000"/>
                </a:solidFill>
              </a:rPr>
              <a:t> шаблонами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Узагальнену</a:t>
            </a:r>
            <a:r>
              <a:rPr lang="ru-RU" dirty="0" smtClean="0"/>
              <a:t> схему алгоритму </a:t>
            </a:r>
            <a:r>
              <a:rPr lang="en-GB" dirty="0" err="1" smtClean="0"/>
              <a:t>AprioriAll</a:t>
            </a:r>
            <a:r>
              <a:rPr lang="en-GB" dirty="0" smtClean="0"/>
              <a:t>  </a:t>
            </a:r>
            <a:r>
              <a:rPr lang="ru-RU" dirty="0" smtClean="0"/>
              <a:t>подано на рисунку,  де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en-GB" b="1" dirty="0" smtClean="0">
                <a:solidFill>
                  <a:srgbClr val="0000CC"/>
                </a:solidFill>
              </a:rPr>
              <a:t>F</a:t>
            </a:r>
            <a:r>
              <a:rPr lang="en-GB" b="1" baseline="-25000" dirty="0" smtClean="0">
                <a:solidFill>
                  <a:srgbClr val="0000CC"/>
                </a:solidFill>
              </a:rPr>
              <a:t>k-1</a:t>
            </a:r>
            <a:r>
              <a:rPr lang="en-GB" b="1" dirty="0" smtClean="0">
                <a:solidFill>
                  <a:srgbClr val="0000CC"/>
                </a:solidFill>
              </a:rPr>
              <a:t> </a:t>
            </a:r>
            <a:r>
              <a:rPr lang="en-GB" dirty="0" smtClean="0"/>
              <a:t>–</a:t>
            </a:r>
            <a:r>
              <a:rPr lang="uk-UA" dirty="0" smtClean="0"/>
              <a:t> </a:t>
            </a:r>
            <a:r>
              <a:rPr lang="ru-RU" dirty="0" err="1" smtClean="0"/>
              <a:t>множина</a:t>
            </a:r>
            <a:r>
              <a:rPr lang="ru-RU" dirty="0" smtClean="0"/>
              <a:t> </a:t>
            </a:r>
            <a:r>
              <a:rPr lang="ru-RU" dirty="0" err="1" smtClean="0"/>
              <a:t>всіх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</a:t>
            </a:r>
            <a:r>
              <a:rPr lang="ru-RU" b="1" dirty="0" smtClean="0">
                <a:solidFill>
                  <a:srgbClr val="0000CC"/>
                </a:solidFill>
              </a:rPr>
              <a:t>(</a:t>
            </a:r>
            <a:r>
              <a:rPr lang="en-GB" b="1" dirty="0" smtClean="0">
                <a:solidFill>
                  <a:srgbClr val="0000CC"/>
                </a:solidFill>
              </a:rPr>
              <a:t>k-1)-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, </a:t>
            </a:r>
          </a:p>
          <a:p>
            <a:r>
              <a:rPr lang="en-GB" b="1" dirty="0" smtClean="0">
                <a:solidFill>
                  <a:srgbClr val="0000CC"/>
                </a:solidFill>
              </a:rPr>
              <a:t>k </a:t>
            </a:r>
            <a:r>
              <a:rPr lang="en-GB" dirty="0" smtClean="0"/>
              <a:t>–  </a:t>
            </a:r>
            <a:r>
              <a:rPr lang="ru-RU" dirty="0" err="1" smtClean="0"/>
              <a:t>довжина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, </a:t>
            </a:r>
            <a:r>
              <a:rPr lang="en-GB" b="1" dirty="0" err="1" smtClean="0">
                <a:solidFill>
                  <a:srgbClr val="0000CC"/>
                </a:solidFill>
              </a:rPr>
              <a:t>C</a:t>
            </a:r>
            <a:r>
              <a:rPr lang="en-GB" b="1" baseline="-25000" dirty="0" err="1" smtClean="0">
                <a:solidFill>
                  <a:srgbClr val="0000CC"/>
                </a:solidFill>
              </a:rPr>
              <a:t>k</a:t>
            </a:r>
            <a:r>
              <a:rPr lang="en-GB" dirty="0" smtClean="0"/>
              <a:t> - </a:t>
            </a:r>
            <a:r>
              <a:rPr lang="ru-RU" dirty="0" err="1" smtClean="0"/>
              <a:t>множина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 </a:t>
            </a:r>
            <a:r>
              <a:rPr lang="ru-RU" dirty="0" err="1" smtClean="0"/>
              <a:t>кандидатів</a:t>
            </a:r>
            <a:r>
              <a:rPr lang="ru-RU" dirty="0" smtClean="0"/>
              <a:t> </a:t>
            </a:r>
            <a:r>
              <a:rPr lang="ru-RU" dirty="0" err="1" smtClean="0"/>
              <a:t>довжини</a:t>
            </a:r>
            <a:r>
              <a:rPr lang="ru-RU" dirty="0" smtClean="0"/>
              <a:t> </a:t>
            </a:r>
            <a:r>
              <a:rPr lang="en-GB" b="1" dirty="0" smtClean="0">
                <a:solidFill>
                  <a:srgbClr val="0000CC"/>
                </a:solidFill>
              </a:rPr>
              <a:t>k</a:t>
            </a:r>
            <a:r>
              <a:rPr lang="en-GB" dirty="0" smtClean="0"/>
              <a:t>,  </a:t>
            </a:r>
            <a:r>
              <a:rPr lang="en-GB" b="1" dirty="0" err="1" smtClean="0">
                <a:solidFill>
                  <a:srgbClr val="0000CC"/>
                </a:solidFill>
              </a:rPr>
              <a:t>s</a:t>
            </a:r>
            <a:r>
              <a:rPr lang="en-GB" b="1" baseline="-25000" dirty="0" err="1" smtClean="0">
                <a:solidFill>
                  <a:srgbClr val="0000CC"/>
                </a:solidFill>
              </a:rPr>
              <a:t>i</a:t>
            </a:r>
            <a:r>
              <a:rPr lang="en-GB" b="1" dirty="0" smtClean="0">
                <a:solidFill>
                  <a:srgbClr val="0000CC"/>
                </a:solidFill>
              </a:rPr>
              <a:t> </a:t>
            </a:r>
            <a:r>
              <a:rPr lang="en-GB" dirty="0" smtClean="0"/>
              <a:t>- </a:t>
            </a:r>
            <a:r>
              <a:rPr lang="ru-RU" dirty="0" err="1" smtClean="0"/>
              <a:t>послідовності-кандидати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входять</a:t>
            </a:r>
            <a:r>
              <a:rPr lang="ru-RU" dirty="0" smtClean="0"/>
              <a:t> до </a:t>
            </a:r>
            <a:r>
              <a:rPr lang="en-GB" b="1" dirty="0" err="1" smtClean="0">
                <a:solidFill>
                  <a:srgbClr val="0000CC"/>
                </a:solidFill>
              </a:rPr>
              <a:t>C</a:t>
            </a:r>
            <a:r>
              <a:rPr lang="en-GB" b="1" baseline="-25000" dirty="0" err="1" smtClean="0">
                <a:solidFill>
                  <a:srgbClr val="0000CC"/>
                </a:solidFill>
              </a:rPr>
              <a:t>k</a:t>
            </a:r>
            <a:r>
              <a:rPr lang="en-GB" dirty="0" smtClean="0"/>
              <a:t>, </a:t>
            </a:r>
            <a:r>
              <a:rPr lang="en-GB" b="1" dirty="0" smtClean="0">
                <a:solidFill>
                  <a:srgbClr val="0000CC"/>
                </a:solidFill>
              </a:rPr>
              <a:t>Sup</a:t>
            </a:r>
            <a:r>
              <a:rPr lang="en-GB" dirty="0" smtClean="0"/>
              <a:t> – </a:t>
            </a:r>
            <a:r>
              <a:rPr lang="ru-RU" dirty="0" smtClean="0"/>
              <a:t>оператор </a:t>
            </a:r>
            <a:r>
              <a:rPr lang="ru-RU" dirty="0" err="1" smtClean="0"/>
              <a:t>обчислення</a:t>
            </a:r>
            <a:r>
              <a:rPr lang="ru-RU" dirty="0" smtClean="0"/>
              <a:t> </a:t>
            </a:r>
            <a:r>
              <a:rPr lang="ru-RU" dirty="0" err="1" smtClean="0"/>
              <a:t>підтримки</a:t>
            </a:r>
            <a:r>
              <a:rPr lang="ru-RU" dirty="0" smtClean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227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5888"/>
            <a:ext cx="12192000" cy="5048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altLang="ru-RU" sz="3600" b="1" dirty="0" smtClean="0">
                <a:solidFill>
                  <a:schemeClr val="bg1"/>
                </a:solidFill>
                <a:latin typeface="+mn-lt"/>
              </a:rPr>
              <a:t>Фрагмент схеми </a:t>
            </a:r>
            <a:r>
              <a:rPr lang="uk-UA" altLang="ru-RU" sz="3600" b="1" dirty="0">
                <a:solidFill>
                  <a:schemeClr val="bg1"/>
                </a:solidFill>
                <a:latin typeface="+mn-lt"/>
              </a:rPr>
              <a:t>алгоритму </a:t>
            </a:r>
            <a:r>
              <a:rPr lang="en-US" altLang="ru-RU" sz="3600" b="1" dirty="0" err="1" smtClean="0">
                <a:solidFill>
                  <a:schemeClr val="bg1"/>
                </a:solidFill>
                <a:latin typeface="+mn-lt"/>
              </a:rPr>
              <a:t>AprioriAll</a:t>
            </a:r>
            <a:endParaRPr lang="uk-UA" alt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460" name="Picture 4" descr="Частые последовательности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59444" y="1081210"/>
            <a:ext cx="8432556" cy="5776790"/>
          </a:xfrm>
          <a:prstGeom prst="rect">
            <a:avLst/>
          </a:prstGeom>
          <a:solidFill>
            <a:schemeClr val="bg1"/>
          </a:solidFill>
          <a:ln/>
          <a:extLst/>
        </p:spPr>
      </p:pic>
      <p:sp>
        <p:nvSpPr>
          <p:cNvPr id="2" name="Прямоугольник 1"/>
          <p:cNvSpPr/>
          <p:nvPr/>
        </p:nvSpPr>
        <p:spPr>
          <a:xfrm>
            <a:off x="0" y="1164159"/>
            <a:ext cx="49588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F</a:t>
            </a:r>
            <a:r>
              <a:rPr lang="en-GB" baseline="-25000" dirty="0" smtClean="0"/>
              <a:t>k-1</a:t>
            </a:r>
            <a:r>
              <a:rPr lang="en-GB" dirty="0" smtClean="0"/>
              <a:t> – </a:t>
            </a:r>
            <a:r>
              <a:rPr lang="ru-RU" dirty="0" err="1" smtClean="0"/>
              <a:t>множина</a:t>
            </a:r>
            <a:r>
              <a:rPr lang="ru-RU" dirty="0" smtClean="0"/>
              <a:t> </a:t>
            </a:r>
            <a:r>
              <a:rPr lang="ru-RU" dirty="0" err="1" smtClean="0"/>
              <a:t>всіх</a:t>
            </a:r>
            <a:r>
              <a:rPr lang="ru-RU" dirty="0" smtClean="0"/>
              <a:t> </a:t>
            </a:r>
            <a:r>
              <a:rPr lang="ru-RU" dirty="0" err="1" smtClean="0"/>
              <a:t>частих</a:t>
            </a:r>
            <a:r>
              <a:rPr lang="ru-RU" dirty="0" smtClean="0"/>
              <a:t> (</a:t>
            </a:r>
            <a:r>
              <a:rPr lang="en-GB" dirty="0" smtClean="0"/>
              <a:t>k-1)-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, </a:t>
            </a:r>
          </a:p>
          <a:p>
            <a:r>
              <a:rPr lang="en-GB" dirty="0" smtClean="0"/>
              <a:t>k –  </a:t>
            </a:r>
            <a:r>
              <a:rPr lang="ru-RU" dirty="0" err="1" smtClean="0"/>
              <a:t>довжина</a:t>
            </a:r>
            <a:r>
              <a:rPr lang="ru-RU" dirty="0" smtClean="0"/>
              <a:t> </a:t>
            </a:r>
            <a:r>
              <a:rPr lang="ru-RU" dirty="0" err="1" smtClean="0"/>
              <a:t>послідовності</a:t>
            </a:r>
            <a:r>
              <a:rPr lang="ru-RU" dirty="0" smtClean="0"/>
              <a:t>, </a:t>
            </a:r>
          </a:p>
          <a:p>
            <a:r>
              <a:rPr lang="en-GB" dirty="0" err="1" smtClean="0"/>
              <a:t>C</a:t>
            </a:r>
            <a:r>
              <a:rPr lang="en-GB" baseline="-25000" dirty="0" err="1" smtClean="0"/>
              <a:t>k</a:t>
            </a:r>
            <a:r>
              <a:rPr lang="en-GB" dirty="0" smtClean="0"/>
              <a:t> - </a:t>
            </a:r>
            <a:r>
              <a:rPr lang="ru-RU" dirty="0" err="1" smtClean="0"/>
              <a:t>множина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 </a:t>
            </a:r>
            <a:r>
              <a:rPr lang="ru-RU" dirty="0" err="1" smtClean="0"/>
              <a:t>кандидатів</a:t>
            </a:r>
            <a:r>
              <a:rPr lang="ru-RU" dirty="0" smtClean="0"/>
              <a:t> </a:t>
            </a:r>
            <a:r>
              <a:rPr lang="ru-RU" dirty="0" err="1" smtClean="0"/>
              <a:t>довжини</a:t>
            </a:r>
            <a:r>
              <a:rPr lang="ru-RU" dirty="0" smtClean="0"/>
              <a:t> </a:t>
            </a:r>
            <a:r>
              <a:rPr lang="en-GB" dirty="0" smtClean="0"/>
              <a:t>k,  </a:t>
            </a:r>
            <a:endParaRPr lang="uk-UA" dirty="0" smtClean="0"/>
          </a:p>
          <a:p>
            <a:r>
              <a:rPr lang="en-GB" dirty="0" err="1" smtClean="0"/>
              <a:t>s</a:t>
            </a:r>
            <a:r>
              <a:rPr lang="en-GB" baseline="-25000" dirty="0" err="1" smtClean="0"/>
              <a:t>i</a:t>
            </a:r>
            <a:r>
              <a:rPr lang="en-GB" dirty="0" smtClean="0"/>
              <a:t> - </a:t>
            </a:r>
            <a:r>
              <a:rPr lang="ru-RU" dirty="0" err="1" smtClean="0"/>
              <a:t>послідовності-кандидати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входять</a:t>
            </a:r>
            <a:r>
              <a:rPr lang="ru-RU" dirty="0" smtClean="0"/>
              <a:t> до </a:t>
            </a:r>
            <a:r>
              <a:rPr lang="en-GB" dirty="0" err="1" smtClean="0"/>
              <a:t>C</a:t>
            </a:r>
            <a:r>
              <a:rPr lang="en-GB" baseline="-25000" dirty="0" err="1" smtClean="0"/>
              <a:t>k</a:t>
            </a:r>
            <a:r>
              <a:rPr lang="en-GB" dirty="0" smtClean="0"/>
              <a:t>, </a:t>
            </a:r>
            <a:endParaRPr lang="uk-UA" dirty="0" smtClean="0"/>
          </a:p>
          <a:p>
            <a:r>
              <a:rPr lang="en-GB" dirty="0" smtClean="0"/>
              <a:t>Sup – </a:t>
            </a:r>
            <a:r>
              <a:rPr lang="ru-RU" dirty="0" smtClean="0"/>
              <a:t>оператор </a:t>
            </a:r>
            <a:r>
              <a:rPr lang="ru-RU" dirty="0" err="1" smtClean="0"/>
              <a:t>обчислення</a:t>
            </a:r>
            <a:r>
              <a:rPr lang="ru-RU" dirty="0" smtClean="0"/>
              <a:t> </a:t>
            </a:r>
            <a:r>
              <a:rPr lang="ru-RU" dirty="0" err="1" smtClean="0"/>
              <a:t>підтримки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484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r>
              <a:rPr lang="ru-RU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052343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4674</Words>
  <Application>Microsoft Office PowerPoint</Application>
  <PresentationFormat>Широкоэкранный</PresentationFormat>
  <Paragraphs>310</Paragraphs>
  <Slides>32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41" baseType="lpstr">
      <vt:lpstr>Arial</vt:lpstr>
      <vt:lpstr>Calibri</vt:lpstr>
      <vt:lpstr>Symbol</vt:lpstr>
      <vt:lpstr>Times New Roman</vt:lpstr>
      <vt:lpstr>TimesNewRomanPS-BoldItalicMT</vt:lpstr>
      <vt:lpstr>Wingdings</vt:lpstr>
      <vt:lpstr>1_Тема Office</vt:lpstr>
      <vt:lpstr>Формула</vt:lpstr>
      <vt:lpstr>Equation</vt:lpstr>
      <vt:lpstr>Презентация PowerPoint</vt:lpstr>
      <vt:lpstr>Структура курса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Задача виявлення АП           </vt:lpstr>
      <vt:lpstr>                   Значущість асоціативних правил</vt:lpstr>
      <vt:lpstr>                   Значущість асоціативних правил</vt:lpstr>
      <vt:lpstr>Обчислювальна складність</vt:lpstr>
      <vt:lpstr>                                        Алгоритм Apriori</vt:lpstr>
      <vt:lpstr>Приклад роботи алгоритму Apriori</vt:lpstr>
      <vt:lpstr>Презентация PowerPoint</vt:lpstr>
      <vt:lpstr>Презентация PowerPoint</vt:lpstr>
      <vt:lpstr>Презентация PowerPoint</vt:lpstr>
      <vt:lpstr>Послідовні шаблони</vt:lpstr>
      <vt:lpstr>Постановка задачі пошуку послідовних шаблонів</vt:lpstr>
      <vt:lpstr>Задача пошуку послідовних шаблонів (ПШ)</vt:lpstr>
      <vt:lpstr>Презентация PowerPoint</vt:lpstr>
      <vt:lpstr>Презентация PowerPoint</vt:lpstr>
      <vt:lpstr>Презентация PowerPoint</vt:lpstr>
      <vt:lpstr>Алгоритм AprioriAll </vt:lpstr>
      <vt:lpstr>Презентация PowerPoint</vt:lpstr>
      <vt:lpstr>Фрагмент схеми алгоритму AprioriAll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32</cp:revision>
  <dcterms:created xsi:type="dcterms:W3CDTF">2020-11-23T06:22:16Z</dcterms:created>
  <dcterms:modified xsi:type="dcterms:W3CDTF">2020-11-24T12:02:00Z</dcterms:modified>
</cp:coreProperties>
</file>