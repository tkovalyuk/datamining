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5" r:id="rId1"/>
  </p:sldMasterIdLst>
  <p:notesMasterIdLst>
    <p:notesMasterId r:id="rId75"/>
  </p:notesMasterIdLst>
  <p:sldIdLst>
    <p:sldId id="291" r:id="rId2"/>
    <p:sldId id="292" r:id="rId3"/>
    <p:sldId id="294" r:id="rId4"/>
    <p:sldId id="293" r:id="rId5"/>
    <p:sldId id="351" r:id="rId6"/>
    <p:sldId id="352" r:id="rId7"/>
    <p:sldId id="379" r:id="rId8"/>
    <p:sldId id="354" r:id="rId9"/>
    <p:sldId id="353" r:id="rId10"/>
    <p:sldId id="380" r:id="rId11"/>
    <p:sldId id="381" r:id="rId12"/>
    <p:sldId id="355" r:id="rId13"/>
    <p:sldId id="356" r:id="rId14"/>
    <p:sldId id="357" r:id="rId15"/>
    <p:sldId id="382" r:id="rId16"/>
    <p:sldId id="383" r:id="rId17"/>
    <p:sldId id="390" r:id="rId18"/>
    <p:sldId id="384" r:id="rId19"/>
    <p:sldId id="385" r:id="rId20"/>
    <p:sldId id="386" r:id="rId21"/>
    <p:sldId id="387" r:id="rId22"/>
    <p:sldId id="388" r:id="rId23"/>
    <p:sldId id="389" r:id="rId24"/>
    <p:sldId id="358" r:id="rId25"/>
    <p:sldId id="359" r:id="rId26"/>
    <p:sldId id="393" r:id="rId27"/>
    <p:sldId id="394" r:id="rId28"/>
    <p:sldId id="395" r:id="rId29"/>
    <p:sldId id="396" r:id="rId30"/>
    <p:sldId id="397" r:id="rId31"/>
    <p:sldId id="398" r:id="rId32"/>
    <p:sldId id="392" r:id="rId33"/>
    <p:sldId id="403" r:id="rId34"/>
    <p:sldId id="404" r:id="rId35"/>
    <p:sldId id="405" r:id="rId36"/>
    <p:sldId id="406" r:id="rId37"/>
    <p:sldId id="407" r:id="rId38"/>
    <p:sldId id="408" r:id="rId39"/>
    <p:sldId id="415" r:id="rId40"/>
    <p:sldId id="410" r:id="rId41"/>
    <p:sldId id="411" r:id="rId42"/>
    <p:sldId id="412" r:id="rId43"/>
    <p:sldId id="416" r:id="rId44"/>
    <p:sldId id="420" r:id="rId45"/>
    <p:sldId id="417" r:id="rId46"/>
    <p:sldId id="421" r:id="rId47"/>
    <p:sldId id="422" r:id="rId48"/>
    <p:sldId id="423" r:id="rId49"/>
    <p:sldId id="424" r:id="rId50"/>
    <p:sldId id="425" r:id="rId51"/>
    <p:sldId id="426" r:id="rId52"/>
    <p:sldId id="427" r:id="rId53"/>
    <p:sldId id="428" r:id="rId54"/>
    <p:sldId id="429" r:id="rId55"/>
    <p:sldId id="430" r:id="rId56"/>
    <p:sldId id="431" r:id="rId57"/>
    <p:sldId id="432" r:id="rId58"/>
    <p:sldId id="433" r:id="rId59"/>
    <p:sldId id="434" r:id="rId60"/>
    <p:sldId id="435" r:id="rId61"/>
    <p:sldId id="438" r:id="rId62"/>
    <p:sldId id="439" r:id="rId63"/>
    <p:sldId id="441" r:id="rId64"/>
    <p:sldId id="440" r:id="rId65"/>
    <p:sldId id="418" r:id="rId66"/>
    <p:sldId id="442" r:id="rId67"/>
    <p:sldId id="443" r:id="rId68"/>
    <p:sldId id="444" r:id="rId69"/>
    <p:sldId id="445" r:id="rId70"/>
    <p:sldId id="361" r:id="rId71"/>
    <p:sldId id="362" r:id="rId72"/>
    <p:sldId id="326" r:id="rId73"/>
    <p:sldId id="328" r:id="rId74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30956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1pPr>
    <a:lvl2pPr marL="0" marR="0" indent="0" algn="ctr" defTabSz="30956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2pPr>
    <a:lvl3pPr marL="0" marR="0" indent="0" algn="ctr" defTabSz="30956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3pPr>
    <a:lvl4pPr marL="0" marR="0" indent="0" algn="ctr" defTabSz="30956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4pPr>
    <a:lvl5pPr marL="0" marR="0" indent="0" algn="ctr" defTabSz="30956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5pPr>
    <a:lvl6pPr marL="0" marR="0" indent="0" algn="ctr" defTabSz="30956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6pPr>
    <a:lvl7pPr marL="0" marR="0" indent="0" algn="ctr" defTabSz="30956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7pPr>
    <a:lvl8pPr marL="0" marR="0" indent="0" algn="ctr" defTabSz="30956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8pPr>
    <a:lvl9pPr marL="0" marR="0" indent="0" algn="ctr" defTabSz="30956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800080"/>
    <a:srgbClr val="008000"/>
    <a:srgbClr val="FDE6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18" autoAdjust="0"/>
    <p:restoredTop sz="88038" autoAdjust="0"/>
  </p:normalViewPr>
  <p:slideViewPr>
    <p:cSldViewPr snapToGrid="0" snapToObjects="1">
      <p:cViewPr varScale="1">
        <p:scale>
          <a:sx n="93" d="100"/>
          <a:sy n="93" d="100"/>
        </p:scale>
        <p:origin x="252" y="8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image" Target="../media/image20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image" Target="../media/image26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image" Target="../media/image31.emf"/><Relationship Id="rId5" Type="http://schemas.openxmlformats.org/officeDocument/2006/relationships/image" Target="../media/image35.emf"/><Relationship Id="rId4" Type="http://schemas.openxmlformats.org/officeDocument/2006/relationships/image" Target="../media/image34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4" Type="http://schemas.openxmlformats.org/officeDocument/2006/relationships/image" Target="../media/image40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47.emf"/><Relationship Id="rId1" Type="http://schemas.openxmlformats.org/officeDocument/2006/relationships/image" Target="../media/image46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e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5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5" name="Shape 12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026852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71450" latinLnBrk="0">
      <a:lnSpc>
        <a:spcPct val="117999"/>
      </a:lnSpc>
      <a:defRPr sz="800">
        <a:latin typeface="+mj-lt"/>
        <a:ea typeface="+mj-ea"/>
        <a:cs typeface="+mj-cs"/>
        <a:sym typeface="Helvetica Neue"/>
      </a:defRPr>
    </a:lvl1pPr>
    <a:lvl2pPr indent="228600" defTabSz="171450" latinLnBrk="0">
      <a:lnSpc>
        <a:spcPct val="117999"/>
      </a:lnSpc>
      <a:defRPr sz="800">
        <a:latin typeface="+mj-lt"/>
        <a:ea typeface="+mj-ea"/>
        <a:cs typeface="+mj-cs"/>
        <a:sym typeface="Helvetica Neue"/>
      </a:defRPr>
    </a:lvl2pPr>
    <a:lvl3pPr indent="457200" defTabSz="171450" latinLnBrk="0">
      <a:lnSpc>
        <a:spcPct val="117999"/>
      </a:lnSpc>
      <a:defRPr sz="800">
        <a:latin typeface="+mj-lt"/>
        <a:ea typeface="+mj-ea"/>
        <a:cs typeface="+mj-cs"/>
        <a:sym typeface="Helvetica Neue"/>
      </a:defRPr>
    </a:lvl3pPr>
    <a:lvl4pPr indent="685800" defTabSz="171450" latinLnBrk="0">
      <a:lnSpc>
        <a:spcPct val="117999"/>
      </a:lnSpc>
      <a:defRPr sz="800">
        <a:latin typeface="+mj-lt"/>
        <a:ea typeface="+mj-ea"/>
        <a:cs typeface="+mj-cs"/>
        <a:sym typeface="Helvetica Neue"/>
      </a:defRPr>
    </a:lvl4pPr>
    <a:lvl5pPr indent="914400" defTabSz="171450" latinLnBrk="0">
      <a:lnSpc>
        <a:spcPct val="117999"/>
      </a:lnSpc>
      <a:defRPr sz="800">
        <a:latin typeface="+mj-lt"/>
        <a:ea typeface="+mj-ea"/>
        <a:cs typeface="+mj-cs"/>
        <a:sym typeface="Helvetica Neue"/>
      </a:defRPr>
    </a:lvl5pPr>
    <a:lvl6pPr indent="1143000" defTabSz="171450" latinLnBrk="0">
      <a:lnSpc>
        <a:spcPct val="117999"/>
      </a:lnSpc>
      <a:defRPr sz="800">
        <a:latin typeface="+mj-lt"/>
        <a:ea typeface="+mj-ea"/>
        <a:cs typeface="+mj-cs"/>
        <a:sym typeface="Helvetica Neue"/>
      </a:defRPr>
    </a:lvl6pPr>
    <a:lvl7pPr indent="1371600" defTabSz="171450" latinLnBrk="0">
      <a:lnSpc>
        <a:spcPct val="117999"/>
      </a:lnSpc>
      <a:defRPr sz="800">
        <a:latin typeface="+mj-lt"/>
        <a:ea typeface="+mj-ea"/>
        <a:cs typeface="+mj-cs"/>
        <a:sym typeface="Helvetica Neue"/>
      </a:defRPr>
    </a:lvl7pPr>
    <a:lvl8pPr indent="1600200" defTabSz="171450" latinLnBrk="0">
      <a:lnSpc>
        <a:spcPct val="117999"/>
      </a:lnSpc>
      <a:defRPr sz="800">
        <a:latin typeface="+mj-lt"/>
        <a:ea typeface="+mj-ea"/>
        <a:cs typeface="+mj-cs"/>
        <a:sym typeface="Helvetica Neue"/>
      </a:defRPr>
    </a:lvl8pPr>
    <a:lvl9pPr indent="1828800" defTabSz="171450" latinLnBrk="0">
      <a:lnSpc>
        <a:spcPct val="117999"/>
      </a:lnSpc>
      <a:defRPr sz="8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81780DED-A8D5-41EF-B1AF-A275F38F5EEE}" type="slidenum">
              <a:rPr lang="ru-RU" smtClean="0">
                <a:solidFill>
                  <a:prstClr val="black"/>
                </a:solidFill>
                <a:latin typeface="Calibri" panose="020F0502020204030204"/>
              </a:rPr>
              <a:pPr/>
              <a:t>1</a:t>
            </a:fld>
            <a:endParaRPr lang="ru-RU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90400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/>
          <a:lstStyle/>
          <a:p>
            <a:pPr>
              <a:buFont typeface="Calibri" pitchFamily="34" charset="0"/>
              <a:buNone/>
            </a:pPr>
            <a:fld id="{27F86DBC-9074-431C-AB33-99473EE12A17}" type="slidenum">
              <a:rPr lang="en-US" smtClean="0">
                <a:solidFill>
                  <a:prstClr val="black"/>
                </a:solidFill>
                <a:latin typeface="Calibri" pitchFamily="34" charset="0"/>
                <a:ea typeface="DejaVu LGC Sans"/>
                <a:cs typeface="DejaVu LGC Sans"/>
              </a:rPr>
              <a:pPr>
                <a:buFont typeface="Calibri" pitchFamily="34" charset="0"/>
                <a:buNone/>
              </a:pPr>
              <a:t>33</a:t>
            </a:fld>
            <a:endParaRPr lang="en-US" smtClean="0">
              <a:solidFill>
                <a:prstClr val="black"/>
              </a:solidFill>
              <a:latin typeface="Calibri" pitchFamily="34" charset="0"/>
              <a:ea typeface="DejaVu LGC Sans"/>
              <a:cs typeface="DejaVu LGC Sans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826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/>
          <a:lstStyle/>
          <a:p>
            <a:pPr>
              <a:buFont typeface="Calibri" pitchFamily="34" charset="0"/>
              <a:buNone/>
            </a:pPr>
            <a:fld id="{C3BFBDD2-41DB-45AD-95F0-2B4146935D89}" type="slidenum">
              <a:rPr lang="en-US" smtClean="0">
                <a:solidFill>
                  <a:prstClr val="black"/>
                </a:solidFill>
                <a:latin typeface="Calibri" pitchFamily="34" charset="0"/>
                <a:ea typeface="DejaVu LGC Sans"/>
                <a:cs typeface="DejaVu LGC Sans"/>
              </a:rPr>
              <a:pPr>
                <a:buFont typeface="Calibri" pitchFamily="34" charset="0"/>
                <a:buNone/>
              </a:pPr>
              <a:t>42</a:t>
            </a:fld>
            <a:endParaRPr lang="en-US" smtClean="0">
              <a:solidFill>
                <a:prstClr val="black"/>
              </a:solidFill>
              <a:latin typeface="Calibri" pitchFamily="34" charset="0"/>
              <a:ea typeface="DejaVu LGC Sans"/>
              <a:cs typeface="DejaVu LGC Sans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857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Image Placeholder 1">
            <a:extLst>
              <a:ext uri="{FF2B5EF4-FFF2-40B4-BE49-F238E27FC236}">
                <a16:creationId xmlns="" xmlns:a16="http://schemas.microsoft.com/office/drawing/2014/main" id="{20B3041E-EF8E-4B4D-8CED-02568D6775A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420688" y="704850"/>
            <a:ext cx="6172200" cy="3471863"/>
          </a:xfrm>
          <a:ln/>
        </p:spPr>
      </p:sp>
      <p:sp>
        <p:nvSpPr>
          <p:cNvPr id="58371" name="Notes Placeholder 2">
            <a:extLst>
              <a:ext uri="{FF2B5EF4-FFF2-40B4-BE49-F238E27FC236}">
                <a16:creationId xmlns="" xmlns:a16="http://schemas.microsoft.com/office/drawing/2014/main" id="{992D7DAD-5E42-4229-9A2B-16AC2D955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03677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5225588" cy="376238"/>
          </a:xfrm>
        </p:spPr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534053" y="4790029"/>
            <a:ext cx="609947" cy="273844"/>
          </a:xfrm>
        </p:spPr>
        <p:txBody>
          <a:bodyPr/>
          <a:lstStyle>
            <a:lvl1pPr algn="l">
              <a:defRPr sz="1200"/>
            </a:lvl1pPr>
          </a:lstStyle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0" y="773084"/>
            <a:ext cx="9144000" cy="39941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 hangingPunct="1"/>
            <a:endParaRPr lang="ru-RU" sz="1350" kern="1200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24692" y="4846890"/>
            <a:ext cx="4941488" cy="240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685800" hangingPunct="1">
              <a:lnSpc>
                <a:spcPct val="80000"/>
              </a:lnSpc>
            </a:pPr>
            <a:r>
              <a:rPr lang="uk-UA" sz="1200" kern="1200" dirty="0" err="1" smtClean="0">
                <a:solidFill>
                  <a:prstClr val="white">
                    <a:lumMod val="95000"/>
                  </a:prstClr>
                </a:solidFill>
                <a:latin typeface="Calibri" panose="020F0502020204030204"/>
                <a:ea typeface="+mn-ea"/>
                <a:cs typeface="+mn-cs"/>
              </a:rPr>
              <a:t>Ковалюк</a:t>
            </a:r>
            <a:r>
              <a:rPr lang="uk-UA" sz="1200" kern="1200" dirty="0" smtClean="0">
                <a:solidFill>
                  <a:prstClr val="white">
                    <a:lumMod val="95000"/>
                  </a:prstClr>
                </a:solidFill>
                <a:latin typeface="Calibri" panose="020F0502020204030204"/>
                <a:ea typeface="+mn-ea"/>
                <a:cs typeface="+mn-cs"/>
              </a:rPr>
              <a:t> Т.В. Програмні Технології </a:t>
            </a:r>
            <a:r>
              <a:rPr lang="en-US" sz="1200" kern="1200" dirty="0" smtClean="0">
                <a:solidFill>
                  <a:prstClr val="white">
                    <a:lumMod val="95000"/>
                  </a:prstClr>
                </a:solidFill>
                <a:latin typeface="Calibri" panose="020F0502020204030204"/>
                <a:ea typeface="+mn-ea"/>
                <a:cs typeface="+mn-cs"/>
              </a:rPr>
              <a:t>Data Mining.</a:t>
            </a:r>
            <a:r>
              <a:rPr lang="uk-UA" sz="1200" kern="1200" dirty="0" smtClean="0">
                <a:solidFill>
                  <a:prstClr val="white">
                    <a:lumMod val="95000"/>
                  </a:prstClr>
                </a:solidFill>
                <a:latin typeface="Calibri" panose="020F0502020204030204"/>
                <a:ea typeface="+mn-ea"/>
                <a:cs typeface="+mn-cs"/>
              </a:rPr>
              <a:t> КНУ ім. Т. Шевченка</a:t>
            </a:r>
            <a:endParaRPr lang="ru-RU" sz="1200" kern="1200" dirty="0">
              <a:solidFill>
                <a:prstClr val="white">
                  <a:lumMod val="9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19248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075840" y="4767263"/>
            <a:ext cx="525236" cy="282243"/>
          </a:xfrm>
        </p:spPr>
        <p:txBody>
          <a:bodyPr/>
          <a:lstStyle>
            <a:lvl1pPr algn="l">
              <a:defRPr/>
            </a:lvl1pPr>
          </a:lstStyle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2028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"/>
            <a:ext cx="8280400" cy="4000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163" y="857250"/>
            <a:ext cx="8318500" cy="3886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0764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"/>
            <a:ext cx="8280400" cy="4000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49E90BEF-6253-4D72-8553-3D34C72D4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754D8E0-D346-419B-A9B5-A7B5A9C4B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124A60E-F033-46F8-B461-915F241DB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D6E141-97F8-4B3F-847A-A8137189DD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59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hangingPunct="1"/>
            <a:endParaRPr lang="ru-RU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hangingPunct="1"/>
            <a:endParaRPr lang="ru-RU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-27385"/>
            <a:ext cx="9144000" cy="5143500"/>
          </a:xfrm>
          <a:prstGeom prst="rect">
            <a:avLst/>
          </a:prstGeom>
        </p:spPr>
      </p:pic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439150" y="4842272"/>
            <a:ext cx="6286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hangingPunct="1"/>
            <a:fld id="{59AF118C-CD98-458A-88D0-71AEDA116907}" type="slidenum">
              <a:rPr lang="ru-RU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 hangingPunct="1"/>
              <a:t>‹#›</a:t>
            </a:fld>
            <a:r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t>/59</a:t>
            </a:r>
            <a:endParaRPr lang="ru-RU" kern="1200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0654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70" r:id="rId3"/>
    <p:sldLayoutId id="2147483671" r:id="rId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8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8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9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0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1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2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3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4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5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_________Microsoft_Word_97_20032.doc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22.emf"/><Relationship Id="rId5" Type="http://schemas.openxmlformats.org/officeDocument/2006/relationships/image" Target="../media/image20.wmf"/><Relationship Id="rId10" Type="http://schemas.openxmlformats.org/officeDocument/2006/relationships/oleObject" Target="../embeddings/_________Microsoft_Word_97_20033.doc"/><Relationship Id="rId4" Type="http://schemas.openxmlformats.org/officeDocument/2006/relationships/oleObject" Target="../embeddings/_________Microsoft_Word_97_20031.doc"/><Relationship Id="rId9" Type="http://schemas.openxmlformats.org/officeDocument/2006/relationships/oleObject" Target="../embeddings/oleObject12.bin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3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5.png"/><Relationship Id="rId4" Type="http://schemas.openxmlformats.org/officeDocument/2006/relationships/image" Target="../media/image24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7.e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6.e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9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28.wmf"/><Relationship Id="rId4" Type="http://schemas.openxmlformats.org/officeDocument/2006/relationships/oleObject" Target="../embeddings/oleObject17.bin"/><Relationship Id="rId9" Type="http://schemas.openxmlformats.org/officeDocument/2006/relationships/image" Target="../media/image30.w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35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32.e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34.emf"/><Relationship Id="rId4" Type="http://schemas.openxmlformats.org/officeDocument/2006/relationships/image" Target="../media/image31.emf"/><Relationship Id="rId9" Type="http://schemas.openxmlformats.org/officeDocument/2006/relationships/oleObject" Target="../embeddings/oleObject23.bin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38.wmf"/><Relationship Id="rId11" Type="http://schemas.openxmlformats.org/officeDocument/2006/relationships/image" Target="../media/image41.png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40.wmf"/><Relationship Id="rId4" Type="http://schemas.openxmlformats.org/officeDocument/2006/relationships/image" Target="../media/image37.wmf"/><Relationship Id="rId9" Type="http://schemas.openxmlformats.org/officeDocument/2006/relationships/oleObject" Target="../embeddings/oleObject28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41.wmf"/><Relationship Id="rId9" Type="http://schemas.openxmlformats.org/officeDocument/2006/relationships/image" Target="../media/image45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44.e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47.e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46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49.emf"/><Relationship Id="rId4" Type="http://schemas.openxmlformats.org/officeDocument/2006/relationships/oleObject" Target="../embeddings/oleObject37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50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50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50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50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50.emf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41.wmf"/><Relationship Id="rId9" Type="http://schemas.openxmlformats.org/officeDocument/2006/relationships/image" Target="../media/image55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51.emf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41.wmf"/><Relationship Id="rId9" Type="http://schemas.openxmlformats.org/officeDocument/2006/relationships/image" Target="../media/image59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3" Type="http://schemas.openxmlformats.org/officeDocument/2006/relationships/oleObject" Target="../embeddings/oleObject50.bin"/><Relationship Id="rId7" Type="http://schemas.openxmlformats.org/officeDocument/2006/relationships/image" Target="../media/image42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51.bin"/><Relationship Id="rId5" Type="http://schemas.openxmlformats.org/officeDocument/2006/relationships/image" Target="../media/image52.emf"/><Relationship Id="rId4" Type="http://schemas.openxmlformats.org/officeDocument/2006/relationships/oleObject" Target="../embeddings/_________Microsoft_Word_97_20034.doc"/><Relationship Id="rId9" Type="http://schemas.openxmlformats.org/officeDocument/2006/relationships/image" Target="../media/image43.wmf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" TargetMode="External"/><Relationship Id="rId7" Type="http://schemas.openxmlformats.org/officeDocument/2006/relationships/hyperlink" Target="https://basegroup.ru/deductor/description" TargetMode="External"/><Relationship Id="rId2" Type="http://schemas.openxmlformats.org/officeDocument/2006/relationships/hyperlink" Target="https://www.canva.com/design/DAEK_rvHAY8/CJ3cWEIfHe7kdF81X0h2Lw/edit?category=tADWs7ocEeY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statsoft.ru/home/textbook/default.htm" TargetMode="External"/><Relationship Id="rId5" Type="http://schemas.openxmlformats.org/officeDocument/2006/relationships/hyperlink" Target="http://statsoft.ru/" TargetMode="External"/><Relationship Id="rId4" Type="http://schemas.openxmlformats.org/officeDocument/2006/relationships/hyperlink" Target="https://github.com/ageron/handson-ml" TargetMode="Externa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WordArt 10"/>
          <p:cNvSpPr>
            <a:spLocks noChangeArrowheads="1" noChangeShapeType="1" noTextEdit="1"/>
          </p:cNvSpPr>
          <p:nvPr/>
        </p:nvSpPr>
        <p:spPr bwMode="auto">
          <a:xfrm>
            <a:off x="188120" y="195263"/>
            <a:ext cx="8606560" cy="2969419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defTabSz="685800" hangingPunct="1"/>
            <a:r>
              <a:rPr lang="uk-UA" sz="2700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+mn-lt"/>
                <a:ea typeface="+mn-ea"/>
                <a:cs typeface="Times New Roman"/>
              </a:rPr>
              <a:t>Програмні технології</a:t>
            </a:r>
            <a:br>
              <a:rPr lang="uk-UA" sz="2700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+mn-lt"/>
                <a:ea typeface="+mn-ea"/>
                <a:cs typeface="Times New Roman"/>
              </a:rPr>
            </a:br>
            <a:r>
              <a:rPr lang="en-US" sz="2700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+mn-lt"/>
                <a:ea typeface="+mn-ea"/>
                <a:cs typeface="Times New Roman"/>
              </a:rPr>
              <a:t>Data Mining</a:t>
            </a:r>
            <a:endParaRPr lang="ru-RU" sz="2700" b="1" kern="10" dirty="0">
              <a:solidFill>
                <a:prstClr val="white"/>
              </a:solidFill>
              <a:effectLst>
                <a:outerShdw dist="107763" dir="18900000" algn="ctr" rotWithShape="0">
                  <a:prstClr val="black">
                    <a:alpha val="50000"/>
                  </a:prstClr>
                </a:outerShdw>
              </a:effectLst>
              <a:latin typeface="+mn-lt"/>
              <a:ea typeface="+mn-ea"/>
              <a:cs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1502" y="3437129"/>
            <a:ext cx="7769115" cy="923330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rtlCol="0">
            <a:spAutoFit/>
          </a:bodyPr>
          <a:lstStyle/>
          <a:p>
            <a:pPr defTabSz="685800" hangingPunct="1"/>
            <a:r>
              <a:rPr lang="uk-UA" sz="2700" b="1" kern="12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Лектор </a:t>
            </a:r>
            <a:r>
              <a:rPr lang="uk-UA" sz="2700" b="1" kern="1200" dirty="0" err="1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к.т.н</a:t>
            </a:r>
            <a:r>
              <a:rPr lang="uk-UA" sz="2700" b="1" kern="12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. доц. </a:t>
            </a:r>
            <a:r>
              <a:rPr lang="uk-UA" sz="2700" b="1" kern="1200" dirty="0" err="1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Ковалюк</a:t>
            </a:r>
            <a:r>
              <a:rPr lang="uk-UA" sz="2700" b="1" kern="12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 Тетяна Володимирівна</a:t>
            </a:r>
          </a:p>
          <a:p>
            <a:pPr defTabSz="685800" hangingPunct="1"/>
            <a:r>
              <a:rPr lang="uk-UA" sz="2700" b="1" kern="12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КНУ ім. Тараса Шевченка</a:t>
            </a:r>
            <a:endParaRPr lang="ru-RU" sz="27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512019" y="4618554"/>
            <a:ext cx="2601995" cy="461665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defTabSz="685800" hangingPunct="1">
              <a:spcBef>
                <a:spcPct val="50000"/>
              </a:spcBef>
            </a:pPr>
            <a:r>
              <a:rPr lang="en-US" sz="2400" b="1" kern="12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tkovalyuk@ukr.net</a:t>
            </a:r>
            <a:endParaRPr lang="ru-RU" sz="2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259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WordArt 10"/>
          <p:cNvSpPr>
            <a:spLocks noChangeArrowheads="1" noChangeShapeType="1" noTextEdit="1"/>
          </p:cNvSpPr>
          <p:nvPr/>
        </p:nvSpPr>
        <p:spPr bwMode="auto">
          <a:xfrm>
            <a:off x="441788" y="481024"/>
            <a:ext cx="8483245" cy="3054656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defTabSz="685800" hangingPunct="1"/>
            <a:r>
              <a:rPr lang="uk-UA" sz="2700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+mn-lt"/>
                <a:ea typeface="+mn-ea"/>
                <a:cs typeface="Times New Roman"/>
              </a:rPr>
              <a:t>Лекція </a:t>
            </a:r>
            <a:r>
              <a:rPr lang="uk-UA" sz="2700" b="1" kern="10" dirty="0" smtClean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+mn-lt"/>
                <a:ea typeface="+mn-ea"/>
                <a:cs typeface="Times New Roman"/>
              </a:rPr>
              <a:t>3 </a:t>
            </a:r>
            <a:r>
              <a:rPr lang="uk-UA" sz="2700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+mn-lt"/>
                <a:ea typeface="+mn-ea"/>
                <a:cs typeface="Times New Roman"/>
              </a:rPr>
              <a:t/>
            </a:r>
            <a:br>
              <a:rPr lang="uk-UA" sz="2700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+mn-lt"/>
                <a:ea typeface="+mn-ea"/>
                <a:cs typeface="Times New Roman"/>
              </a:rPr>
            </a:br>
            <a:r>
              <a:rPr lang="uk-UA" sz="2700" b="1" kern="10" dirty="0" smtClean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+mn-lt"/>
                <a:ea typeface="+mn-ea"/>
                <a:cs typeface="Times New Roman"/>
              </a:rPr>
              <a:t>Задача класифікації в</a:t>
            </a:r>
          </a:p>
          <a:p>
            <a:pPr defTabSz="685800" hangingPunct="1"/>
            <a:r>
              <a:rPr lang="uk-UA" sz="2700" b="1" kern="10" dirty="0" smtClean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+mn-lt"/>
                <a:ea typeface="+mn-ea"/>
                <a:cs typeface="Times New Roman"/>
              </a:rPr>
              <a:t> </a:t>
            </a:r>
            <a:r>
              <a:rPr lang="en-US" sz="2700" b="1" kern="10" dirty="0" smtClean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+mn-lt"/>
                <a:ea typeface="+mn-ea"/>
                <a:cs typeface="Times New Roman"/>
              </a:rPr>
              <a:t>Data Mining</a:t>
            </a:r>
            <a:endParaRPr lang="uk-UA" sz="2700" b="1" kern="10" dirty="0" smtClean="0">
              <a:solidFill>
                <a:prstClr val="white"/>
              </a:solidFill>
              <a:effectLst>
                <a:outerShdw dist="107763" dir="18900000" algn="ctr" rotWithShape="0">
                  <a:prstClr val="black">
                    <a:alpha val="50000"/>
                  </a:prstClr>
                </a:outerShdw>
              </a:effectLst>
              <a:latin typeface="+mn-lt"/>
              <a:ea typeface="+mn-ea"/>
              <a:cs typeface="Times New Roman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516398" y="3887895"/>
            <a:ext cx="66867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hangingPunct="1"/>
            <a:r>
              <a:rPr lang="uk-UA" sz="2000" b="1" kern="10" dirty="0" smtClean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+mn-lt"/>
                <a:cs typeface="Times New Roman"/>
              </a:rPr>
              <a:t>(</a:t>
            </a:r>
            <a:r>
              <a:rPr lang="en-US" sz="2000" b="1" kern="10" dirty="0" smtClean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+mn-lt"/>
                <a:cs typeface="Times New Roman"/>
              </a:rPr>
              <a:t>according to the Syllabus of course </a:t>
            </a:r>
            <a:r>
              <a:rPr lang="en-US" sz="2000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+mn-lt"/>
                <a:cs typeface="Times New Roman"/>
              </a:rPr>
              <a:t>CS412 Illinois University</a:t>
            </a:r>
            <a:r>
              <a:rPr lang="uk-UA" sz="2000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+mn-lt"/>
                <a:cs typeface="Times New Roman"/>
              </a:rPr>
              <a:t>) </a:t>
            </a:r>
            <a:endParaRPr lang="ru-RU" sz="2000" b="1" kern="10" dirty="0">
              <a:solidFill>
                <a:prstClr val="white"/>
              </a:solidFill>
              <a:effectLst>
                <a:outerShdw dist="107763" dir="18900000" algn="ctr" rotWithShape="0">
                  <a:prstClr val="black">
                    <a:alpha val="50000"/>
                  </a:prstClr>
                </a:outerShdw>
              </a:effectLst>
              <a:latin typeface="+mn-l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87905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23949" y="168334"/>
            <a:ext cx="8720051" cy="549381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altLang="ru-RU" b="1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Зміст</a:t>
            </a:r>
            <a:endParaRPr lang="ru-RU" altLang="ru-RU" b="1" dirty="0">
              <a:solidFill>
                <a:schemeClr val="bg1"/>
              </a:solidFill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396552" y="799502"/>
            <a:ext cx="576453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800" dirty="0" err="1">
                <a:solidFill>
                  <a:schemeClr val="tx1"/>
                </a:solidFill>
              </a:rPr>
              <a:t>Класифікація</a:t>
            </a:r>
            <a:r>
              <a:rPr lang="ru-RU" sz="1800" dirty="0">
                <a:solidFill>
                  <a:schemeClr val="tx1"/>
                </a:solidFill>
              </a:rPr>
              <a:t>: </a:t>
            </a:r>
            <a:r>
              <a:rPr lang="ru-RU" sz="1800" dirty="0" err="1" smtClean="0">
                <a:solidFill>
                  <a:schemeClr val="tx1"/>
                </a:solidFill>
              </a:rPr>
              <a:t>поняття</a:t>
            </a:r>
            <a:endParaRPr lang="en-US" sz="1800" dirty="0" smtClean="0">
              <a:solidFill>
                <a:schemeClr val="tx1"/>
              </a:solidFill>
            </a:endParaRPr>
          </a:p>
          <a:p>
            <a:pPr algn="l"/>
            <a:r>
              <a:rPr lang="ru-RU" sz="1800" dirty="0" err="1">
                <a:solidFill>
                  <a:schemeClr val="tx1"/>
                </a:solidFill>
              </a:rPr>
              <a:t>Класифікація</a:t>
            </a:r>
            <a:r>
              <a:rPr lang="ru-RU" sz="1800" dirty="0">
                <a:solidFill>
                  <a:schemeClr val="tx1"/>
                </a:solidFill>
              </a:rPr>
              <a:t>: </a:t>
            </a:r>
            <a:r>
              <a:rPr lang="ru-RU" sz="1800" dirty="0" err="1" smtClean="0">
                <a:solidFill>
                  <a:schemeClr val="tx1"/>
                </a:solidFill>
              </a:rPr>
              <a:t>визначення</a:t>
            </a:r>
            <a:endParaRPr lang="en-US" sz="1800" dirty="0" smtClean="0">
              <a:solidFill>
                <a:schemeClr val="tx1"/>
              </a:solidFill>
            </a:endParaRPr>
          </a:p>
          <a:p>
            <a:pPr algn="l"/>
            <a:r>
              <a:rPr lang="ru-RU" sz="1800" dirty="0" err="1">
                <a:solidFill>
                  <a:schemeClr val="tx1"/>
                </a:solidFill>
              </a:rPr>
              <a:t>Класифікація</a:t>
            </a:r>
            <a:r>
              <a:rPr lang="ru-RU" sz="1800" dirty="0">
                <a:solidFill>
                  <a:schemeClr val="tx1"/>
                </a:solidFill>
              </a:rPr>
              <a:t>: </a:t>
            </a:r>
            <a:r>
              <a:rPr lang="ru-RU" sz="1800" dirty="0" err="1">
                <a:solidFill>
                  <a:schemeClr val="tx1"/>
                </a:solidFill>
              </a:rPr>
              <a:t>математична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ru-RU" sz="1800" dirty="0" smtClean="0">
                <a:solidFill>
                  <a:schemeClr val="tx1"/>
                </a:solidFill>
              </a:rPr>
              <a:t>модель</a:t>
            </a:r>
            <a:endParaRPr lang="en-US" sz="1800" dirty="0" smtClean="0">
              <a:solidFill>
                <a:schemeClr val="tx1"/>
              </a:solidFill>
            </a:endParaRPr>
          </a:p>
          <a:p>
            <a:pPr algn="l"/>
            <a:r>
              <a:rPr lang="ru-RU" sz="1800" dirty="0" err="1">
                <a:solidFill>
                  <a:schemeClr val="tx1"/>
                </a:solidFill>
              </a:rPr>
              <a:t>Техніки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ru-RU" sz="1800" dirty="0" err="1" smtClean="0">
                <a:solidFill>
                  <a:schemeClr val="tx1"/>
                </a:solidFill>
              </a:rPr>
              <a:t>класифікації</a:t>
            </a:r>
            <a:endParaRPr lang="ru-RU" sz="1800" dirty="0" smtClean="0">
              <a:solidFill>
                <a:schemeClr val="tx1"/>
              </a:solidFill>
            </a:endParaRPr>
          </a:p>
          <a:p>
            <a:pPr algn="l"/>
            <a:r>
              <a:rPr lang="ru-RU" sz="1800" dirty="0">
                <a:solidFill>
                  <a:schemeClr val="tx1"/>
                </a:solidFill>
              </a:rPr>
              <a:t>Дерево </a:t>
            </a:r>
            <a:r>
              <a:rPr lang="ru-RU" sz="1800" dirty="0" err="1">
                <a:solidFill>
                  <a:schemeClr val="tx1"/>
                </a:solidFill>
              </a:rPr>
              <a:t>рішень</a:t>
            </a:r>
            <a:r>
              <a:rPr lang="uk-UA" sz="1800" dirty="0">
                <a:solidFill>
                  <a:schemeClr val="tx1"/>
                </a:solidFill>
              </a:rPr>
              <a:t>. </a:t>
            </a:r>
            <a:r>
              <a:rPr lang="uk-UA" sz="1800" dirty="0" smtClean="0">
                <a:solidFill>
                  <a:schemeClr val="tx1"/>
                </a:solidFill>
              </a:rPr>
              <a:t>Поняття</a:t>
            </a:r>
          </a:p>
          <a:p>
            <a:pPr algn="l"/>
            <a:r>
              <a:rPr lang="ru-RU" sz="1800" dirty="0">
                <a:solidFill>
                  <a:schemeClr val="tx1"/>
                </a:solidFill>
              </a:rPr>
              <a:t>Зада</a:t>
            </a:r>
            <a:r>
              <a:rPr lang="uk-UA" sz="1800" dirty="0" err="1">
                <a:solidFill>
                  <a:schemeClr val="tx1"/>
                </a:solidFill>
              </a:rPr>
              <a:t>ча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ru-RU" sz="1800" dirty="0" err="1">
                <a:solidFill>
                  <a:schemeClr val="tx1"/>
                </a:solidFill>
              </a:rPr>
              <a:t>класифікації</a:t>
            </a:r>
            <a:r>
              <a:rPr lang="ru-RU" sz="1800" dirty="0">
                <a:solidFill>
                  <a:schemeClr val="tx1"/>
                </a:solidFill>
              </a:rPr>
              <a:t> дерева </a:t>
            </a:r>
            <a:r>
              <a:rPr lang="ru-RU" sz="1800" dirty="0" err="1" smtClean="0">
                <a:solidFill>
                  <a:schemeClr val="tx1"/>
                </a:solidFill>
              </a:rPr>
              <a:t>рішень</a:t>
            </a:r>
            <a:endParaRPr lang="ru-RU" sz="1800" dirty="0" smtClean="0">
              <a:solidFill>
                <a:schemeClr val="tx1"/>
              </a:solidFill>
            </a:endParaRPr>
          </a:p>
          <a:p>
            <a:pPr algn="l"/>
            <a:r>
              <a:rPr lang="ru-RU" sz="1800" dirty="0" err="1">
                <a:solidFill>
                  <a:schemeClr val="tx1"/>
                </a:solidFill>
              </a:rPr>
              <a:t>Індукція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ru-RU" sz="1800" dirty="0" smtClean="0">
                <a:solidFill>
                  <a:schemeClr val="tx1"/>
                </a:solidFill>
              </a:rPr>
              <a:t> та </a:t>
            </a:r>
            <a:r>
              <a:rPr lang="ru-RU" sz="1800" dirty="0" err="1" smtClean="0">
                <a:solidFill>
                  <a:schemeClr val="tx1"/>
                </a:solidFill>
              </a:rPr>
              <a:t>дедукція</a:t>
            </a:r>
            <a:r>
              <a:rPr lang="ru-RU" sz="1800" dirty="0" smtClean="0">
                <a:solidFill>
                  <a:schemeClr val="tx1"/>
                </a:solidFill>
              </a:rPr>
              <a:t> дерева </a:t>
            </a:r>
            <a:r>
              <a:rPr lang="ru-RU" sz="1800" dirty="0" err="1" smtClean="0">
                <a:solidFill>
                  <a:schemeClr val="tx1"/>
                </a:solidFill>
              </a:rPr>
              <a:t>рішень</a:t>
            </a:r>
            <a:endParaRPr lang="ru-RU" sz="1800" dirty="0" smtClean="0">
              <a:solidFill>
                <a:schemeClr val="tx1"/>
              </a:solidFill>
            </a:endParaRPr>
          </a:p>
          <a:p>
            <a:pPr algn="l"/>
            <a:r>
              <a:rPr lang="ru-RU" sz="1800" dirty="0" smtClean="0">
                <a:solidFill>
                  <a:schemeClr val="tx1"/>
                </a:solidFill>
              </a:rPr>
              <a:t>Алгоритм </a:t>
            </a:r>
            <a:r>
              <a:rPr lang="ru-RU" sz="1800" dirty="0" err="1">
                <a:solidFill>
                  <a:schemeClr val="tx1"/>
                </a:solidFill>
              </a:rPr>
              <a:t>побудови</a:t>
            </a:r>
            <a:r>
              <a:rPr lang="ru-RU" sz="1800" dirty="0">
                <a:solidFill>
                  <a:schemeClr val="tx1"/>
                </a:solidFill>
              </a:rPr>
              <a:t> дерева </a:t>
            </a:r>
            <a:r>
              <a:rPr lang="ru-RU" sz="1800" dirty="0" err="1" smtClean="0">
                <a:solidFill>
                  <a:schemeClr val="tx1"/>
                </a:solidFill>
              </a:rPr>
              <a:t>рішень</a:t>
            </a:r>
            <a:r>
              <a:rPr lang="ru-RU" sz="1800" dirty="0" smtClean="0">
                <a:solidFill>
                  <a:schemeClr val="tx1"/>
                </a:solidFill>
              </a:rPr>
              <a:t> (Ханта)</a:t>
            </a:r>
          </a:p>
          <a:p>
            <a:pPr algn="l"/>
            <a:r>
              <a:rPr lang="uk-UA" sz="1800" dirty="0">
                <a:solidFill>
                  <a:schemeClr val="tx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Критерії  </a:t>
            </a:r>
            <a:r>
              <a:rPr lang="uk-UA" sz="1800" dirty="0" smtClean="0">
                <a:solidFill>
                  <a:schemeClr val="tx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розгалуження</a:t>
            </a:r>
          </a:p>
          <a:p>
            <a:pPr algn="l"/>
            <a:r>
              <a:rPr lang="uk-UA" sz="18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Зупинка </a:t>
            </a:r>
            <a:r>
              <a:rPr lang="uk-UA" sz="1800" dirty="0" err="1" smtClean="0">
                <a:solidFill>
                  <a:schemeClr val="tx1"/>
                </a:solidFill>
                <a:cs typeface="Times New Roman" panose="02020603050405020304" pitchFamily="18" charset="0"/>
              </a:rPr>
              <a:t>алгоритма</a:t>
            </a:r>
            <a:endParaRPr lang="ru-RU" sz="1800" dirty="0">
              <a:solidFill>
                <a:schemeClr val="tx1"/>
              </a:solidFill>
            </a:endParaRPr>
          </a:p>
          <a:p>
            <a:pPr algn="l"/>
            <a:r>
              <a:rPr lang="ru-RU" sz="1800" dirty="0" err="1" smtClean="0">
                <a:solidFill>
                  <a:schemeClr val="tx1"/>
                </a:solidFill>
              </a:rPr>
              <a:t>Розгалуження</a:t>
            </a:r>
            <a:r>
              <a:rPr lang="ru-RU" sz="1800" dirty="0" smtClean="0">
                <a:solidFill>
                  <a:schemeClr val="tx1"/>
                </a:solidFill>
              </a:rPr>
              <a:t> </a:t>
            </a:r>
            <a:r>
              <a:rPr lang="ru-RU" sz="1800" dirty="0">
                <a:solidFill>
                  <a:schemeClr val="tx1"/>
                </a:solidFill>
              </a:rPr>
              <a:t>на </a:t>
            </a:r>
            <a:r>
              <a:rPr lang="ru-RU" sz="1800" dirty="0" err="1">
                <a:solidFill>
                  <a:schemeClr val="tx1"/>
                </a:solidFill>
              </a:rPr>
              <a:t>основі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ru-RU" sz="1800" dirty="0" err="1">
                <a:solidFill>
                  <a:schemeClr val="tx1"/>
                </a:solidFill>
              </a:rPr>
              <a:t>номінальних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ru-RU" sz="1800" dirty="0" err="1" smtClean="0">
                <a:solidFill>
                  <a:schemeClr val="tx1"/>
                </a:solidFill>
              </a:rPr>
              <a:t>атрибутів</a:t>
            </a:r>
            <a:endParaRPr lang="ru-RU" sz="1800" dirty="0" smtClean="0">
              <a:solidFill>
                <a:schemeClr val="tx1"/>
              </a:solidFill>
            </a:endParaRPr>
          </a:p>
          <a:p>
            <a:pPr algn="l"/>
            <a:r>
              <a:rPr lang="ru-RU" sz="1800" dirty="0" err="1">
                <a:solidFill>
                  <a:schemeClr val="tx1"/>
                </a:solidFill>
              </a:rPr>
              <a:t>Міра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ru-RU" sz="1800" dirty="0" err="1">
                <a:solidFill>
                  <a:schemeClr val="tx1"/>
                </a:solidFill>
              </a:rPr>
              <a:t>домішки</a:t>
            </a:r>
            <a:r>
              <a:rPr lang="ru-RU" sz="1800" dirty="0">
                <a:solidFill>
                  <a:schemeClr val="tx1"/>
                </a:solidFill>
              </a:rPr>
              <a:t>: </a:t>
            </a:r>
            <a:r>
              <a:rPr lang="ru-RU" sz="1800" dirty="0" err="1">
                <a:solidFill>
                  <a:schemeClr val="tx1"/>
                </a:solidFill>
              </a:rPr>
              <a:t>Ентропія</a:t>
            </a:r>
            <a:endParaRPr lang="ru-RU" sz="1800" dirty="0">
              <a:solidFill>
                <a:schemeClr val="tx1"/>
              </a:solidFill>
            </a:endParaRPr>
          </a:p>
          <a:p>
            <a:pPr algn="l"/>
            <a:endParaRPr lang="ru-RU" sz="1800" dirty="0">
              <a:solidFill>
                <a:schemeClr val="tx1"/>
              </a:solidFill>
            </a:endParaRPr>
          </a:p>
          <a:p>
            <a:pPr algn="l"/>
            <a:endParaRPr lang="ru-RU" sz="1800" dirty="0">
              <a:solidFill>
                <a:schemeClr val="tx1"/>
              </a:solidFill>
            </a:endParaRPr>
          </a:p>
          <a:p>
            <a:pPr algn="l"/>
            <a:endParaRPr lang="ru-RU" sz="1800" dirty="0">
              <a:solidFill>
                <a:schemeClr val="tx1"/>
              </a:solidFill>
            </a:endParaRPr>
          </a:p>
          <a:p>
            <a:pPr algn="l"/>
            <a:endParaRPr lang="ru-RU" sz="1800" dirty="0">
              <a:solidFill>
                <a:schemeClr val="tx1"/>
              </a:solidFill>
            </a:endParaRPr>
          </a:p>
          <a:p>
            <a:pPr algn="l"/>
            <a:endParaRPr lang="ru-RU" sz="1800" dirty="0">
              <a:solidFill>
                <a:schemeClr val="tx1"/>
              </a:solidFill>
            </a:endParaRPr>
          </a:p>
          <a:p>
            <a:pPr algn="l"/>
            <a:endParaRPr lang="ru-RU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7392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23949" y="168334"/>
            <a:ext cx="8720051" cy="549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altLang="ru-RU" b="1" dirty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Структура курса</a:t>
            </a:r>
          </a:p>
        </p:txBody>
      </p:sp>
      <p:sp>
        <p:nvSpPr>
          <p:cNvPr id="5713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34934" y="814687"/>
            <a:ext cx="7053350" cy="2269937"/>
          </a:xfrm>
          <a:prstGeom prst="rect">
            <a:avLst/>
          </a:prstGeom>
          <a:ln>
            <a:noFill/>
          </a:ln>
        </p:spPr>
        <p:txBody>
          <a:bodyPr/>
          <a:lstStyle/>
          <a:p>
            <a:r>
              <a:rPr lang="ru-RU" altLang="ru-RU" dirty="0" err="1" smtClean="0"/>
              <a:t>Лекц</a:t>
            </a:r>
            <a:r>
              <a:rPr lang="uk-UA" altLang="ru-RU" dirty="0" err="1" smtClean="0"/>
              <a:t>ії</a:t>
            </a:r>
            <a:r>
              <a:rPr lang="ru-RU" altLang="ru-RU" dirty="0" smtClean="0"/>
              <a:t> </a:t>
            </a:r>
            <a:r>
              <a:rPr lang="ru-RU" altLang="ru-RU" dirty="0"/>
              <a:t>– </a:t>
            </a:r>
            <a:r>
              <a:rPr lang="ru-RU" altLang="ru-RU" dirty="0" smtClean="0"/>
              <a:t>24 годин </a:t>
            </a:r>
            <a:endParaRPr lang="ru-RU" altLang="ru-RU" dirty="0"/>
          </a:p>
          <a:p>
            <a:r>
              <a:rPr lang="ru-RU" altLang="ru-RU" dirty="0" err="1" smtClean="0"/>
              <a:t>Лабораторні</a:t>
            </a:r>
            <a:r>
              <a:rPr lang="ru-RU" altLang="ru-RU" dirty="0" smtClean="0"/>
              <a:t> </a:t>
            </a:r>
            <a:r>
              <a:rPr lang="ru-RU" altLang="ru-RU" dirty="0" err="1" smtClean="0"/>
              <a:t>заняття</a:t>
            </a:r>
            <a:r>
              <a:rPr lang="ru-RU" altLang="ru-RU" dirty="0" smtClean="0"/>
              <a:t> (</a:t>
            </a:r>
            <a:r>
              <a:rPr lang="ru-RU" altLang="ru-RU" dirty="0" err="1" smtClean="0"/>
              <a:t>проєктний</a:t>
            </a:r>
            <a:r>
              <a:rPr lang="ru-RU" altLang="ru-RU" dirty="0" smtClean="0"/>
              <a:t> </a:t>
            </a:r>
            <a:r>
              <a:rPr lang="ru-RU" altLang="ru-RU" dirty="0" err="1" smtClean="0"/>
              <a:t>підхід</a:t>
            </a:r>
            <a:r>
              <a:rPr lang="ru-RU" altLang="ru-RU" dirty="0" smtClean="0"/>
              <a:t>) – 24 годин . </a:t>
            </a:r>
            <a:endParaRPr lang="ru-RU" altLang="ru-RU" dirty="0"/>
          </a:p>
          <a:p>
            <a:r>
              <a:rPr lang="ru-RU" altLang="ru-RU" dirty="0" err="1" smtClean="0"/>
              <a:t>Самостійна</a:t>
            </a:r>
            <a:r>
              <a:rPr lang="ru-RU" altLang="ru-RU" dirty="0" smtClean="0"/>
              <a:t> робота </a:t>
            </a:r>
            <a:r>
              <a:rPr lang="ru-RU" altLang="ru-RU" dirty="0"/>
              <a:t>– </a:t>
            </a:r>
            <a:r>
              <a:rPr lang="ru-RU" altLang="ru-RU" dirty="0" smtClean="0"/>
              <a:t>102 </a:t>
            </a:r>
            <a:r>
              <a:rPr lang="ru-RU" altLang="ru-RU" dirty="0" err="1" smtClean="0"/>
              <a:t>години</a:t>
            </a:r>
            <a:endParaRPr lang="ru-RU" altLang="ru-RU" dirty="0"/>
          </a:p>
          <a:p>
            <a:r>
              <a:rPr lang="ru-RU" altLang="ru-RU" dirty="0" err="1" smtClean="0"/>
              <a:t>Контрольні</a:t>
            </a:r>
            <a:r>
              <a:rPr lang="ru-RU" altLang="ru-RU" dirty="0" smtClean="0"/>
              <a:t> </a:t>
            </a:r>
            <a:r>
              <a:rPr lang="ru-RU" altLang="ru-RU" dirty="0" err="1" smtClean="0"/>
              <a:t>роботи</a:t>
            </a:r>
            <a:r>
              <a:rPr lang="ru-RU" altLang="ru-RU" dirty="0" smtClean="0"/>
              <a:t> - 2</a:t>
            </a:r>
            <a:endParaRPr lang="ru-RU" altLang="ru-RU" dirty="0"/>
          </a:p>
          <a:p>
            <a:r>
              <a:rPr lang="ru-RU" altLang="ru-RU" dirty="0" err="1" smtClean="0"/>
              <a:t>Іспит</a:t>
            </a:r>
            <a:endParaRPr lang="ru-RU" altLang="ru-RU" dirty="0"/>
          </a:p>
          <a:p>
            <a:r>
              <a:rPr lang="ru-RU" altLang="ru-RU" dirty="0" smtClean="0"/>
              <a:t>Разом– 150 годин (5 </a:t>
            </a:r>
            <a:r>
              <a:rPr lang="ru-RU" altLang="ru-RU" dirty="0" err="1" smtClean="0"/>
              <a:t>кредитів</a:t>
            </a:r>
            <a:r>
              <a:rPr lang="ru-RU" altLang="ru-RU" dirty="0" smtClean="0"/>
              <a:t>).</a:t>
            </a:r>
            <a:endParaRPr lang="ru-RU" alt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3431826" y="3204678"/>
            <a:ext cx="275684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685800" hangingPunct="1"/>
            <a:r>
              <a:rPr lang="uk-UA" sz="2100" b="1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Підвищення рейтингу</a:t>
            </a:r>
            <a:endParaRPr lang="ru-RU" sz="2100" b="1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0694" y="3740230"/>
            <a:ext cx="89320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 defTabSz="685800" hangingPunct="1">
              <a:buFontTx/>
              <a:buAutoNum type="arabicPeriod"/>
            </a:pPr>
            <a:r>
              <a:rPr lang="uk-UA" sz="1800" kern="1200" dirty="0">
                <a:solidFill>
                  <a:srgbClr val="C00000"/>
                </a:solidFill>
                <a:latin typeface="Calibri" panose="020F0502020204030204"/>
                <a:ea typeface="+mn-ea"/>
                <a:cs typeface="+mn-cs"/>
              </a:rPr>
              <a:t>Сертифікат курсу на </a:t>
            </a:r>
            <a:r>
              <a:rPr lang="en-US" sz="1800" kern="1200" dirty="0" err="1">
                <a:solidFill>
                  <a:srgbClr val="C00000"/>
                </a:solidFill>
                <a:latin typeface="Calibri" panose="020F0502020204030204"/>
                <a:ea typeface="+mn-ea"/>
                <a:cs typeface="+mn-cs"/>
              </a:rPr>
              <a:t>Coursera</a:t>
            </a:r>
            <a:r>
              <a:rPr lang="uk-UA" sz="1800" kern="1200" dirty="0">
                <a:solidFill>
                  <a:srgbClr val="C00000"/>
                </a:solidFill>
                <a:latin typeface="Calibri" panose="020F0502020204030204"/>
                <a:ea typeface="+mn-ea"/>
                <a:cs typeface="+mn-cs"/>
              </a:rPr>
              <a:t> або </a:t>
            </a:r>
            <a:r>
              <a:rPr lang="en-US" sz="1800" kern="1200" dirty="0" err="1">
                <a:solidFill>
                  <a:srgbClr val="C00000"/>
                </a:solidFill>
                <a:latin typeface="Calibri" panose="020F0502020204030204"/>
                <a:ea typeface="+mn-ea"/>
                <a:cs typeface="+mn-cs"/>
              </a:rPr>
              <a:t>Prometeus</a:t>
            </a:r>
            <a:endParaRPr lang="en-US" sz="1800" kern="1200" dirty="0">
              <a:solidFill>
                <a:srgbClr val="C00000"/>
              </a:solidFill>
              <a:latin typeface="Calibri" panose="020F0502020204030204"/>
              <a:ea typeface="+mn-ea"/>
              <a:cs typeface="+mn-cs"/>
            </a:endParaRPr>
          </a:p>
          <a:p>
            <a:pPr marL="342900" indent="-342900" algn="l" defTabSz="685800" hangingPunct="1">
              <a:buFontTx/>
              <a:buAutoNum type="arabicPeriod"/>
            </a:pPr>
            <a:r>
              <a:rPr lang="uk-UA" sz="1800" kern="1200" dirty="0">
                <a:solidFill>
                  <a:srgbClr val="C00000"/>
                </a:solidFill>
                <a:latin typeface="Calibri" panose="020F0502020204030204"/>
                <a:ea typeface="+mn-ea"/>
                <a:cs typeface="+mn-cs"/>
              </a:rPr>
              <a:t>Індивідуальна творча робота з підготовкою </a:t>
            </a:r>
            <a:r>
              <a:rPr lang="uk-UA" sz="1800" kern="1200" dirty="0" err="1">
                <a:solidFill>
                  <a:srgbClr val="C00000"/>
                </a:solidFill>
                <a:latin typeface="Calibri" panose="020F0502020204030204"/>
                <a:ea typeface="+mn-ea"/>
                <a:cs typeface="+mn-cs"/>
              </a:rPr>
              <a:t>студ</a:t>
            </a:r>
            <a:r>
              <a:rPr lang="uk-UA" sz="1800" kern="1200" dirty="0">
                <a:solidFill>
                  <a:srgbClr val="C00000"/>
                </a:solidFill>
                <a:latin typeface="Calibri" panose="020F0502020204030204"/>
                <a:ea typeface="+mn-ea"/>
                <a:cs typeface="+mn-cs"/>
              </a:rPr>
              <a:t>. роботи на конкурс</a:t>
            </a:r>
          </a:p>
          <a:p>
            <a:pPr marL="342900" indent="-342900" algn="l" defTabSz="685800" hangingPunct="1">
              <a:buFontTx/>
              <a:buAutoNum type="arabicPeriod"/>
            </a:pPr>
            <a:r>
              <a:rPr lang="uk-UA" sz="1800" kern="1200" dirty="0">
                <a:solidFill>
                  <a:srgbClr val="C00000"/>
                </a:solidFill>
                <a:latin typeface="Calibri" panose="020F0502020204030204"/>
                <a:ea typeface="+mn-ea"/>
                <a:cs typeface="+mn-cs"/>
              </a:rPr>
              <a:t>Наукова робота з підготовкою наукової статті</a:t>
            </a:r>
            <a:endParaRPr lang="ru-RU" sz="1800" kern="1200" dirty="0">
              <a:solidFill>
                <a:srgbClr val="C00000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1195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-1" y="0"/>
            <a:ext cx="914400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b="1" dirty="0" err="1">
                <a:solidFill>
                  <a:schemeClr val="bg1"/>
                </a:solidFill>
                <a:latin typeface="+mn-lt"/>
              </a:rPr>
              <a:t>Класифікація</a:t>
            </a:r>
            <a:r>
              <a:rPr lang="ru-RU" sz="4000" b="1" dirty="0">
                <a:solidFill>
                  <a:schemeClr val="bg1"/>
                </a:solidFill>
                <a:latin typeface="+mn-lt"/>
              </a:rPr>
              <a:t>: </a:t>
            </a:r>
            <a:r>
              <a:rPr lang="ru-RU" sz="4000" b="1" dirty="0" err="1" smtClean="0">
                <a:solidFill>
                  <a:schemeClr val="bg1"/>
                </a:solidFill>
                <a:latin typeface="+mn-lt"/>
              </a:rPr>
              <a:t>поняття</a:t>
            </a:r>
            <a:endParaRPr lang="ru-RU" sz="40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-1" y="793653"/>
            <a:ext cx="9072081" cy="398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dirty="0" err="1">
                <a:latin typeface="+mn-lt"/>
              </a:rPr>
              <a:t>Під</a:t>
            </a:r>
            <a:r>
              <a:rPr lang="ru-RU" dirty="0">
                <a:latin typeface="+mn-lt"/>
              </a:rPr>
              <a:t> </a:t>
            </a:r>
            <a:r>
              <a:rPr lang="ru-RU" b="1" dirty="0" err="1" smtClean="0">
                <a:solidFill>
                  <a:srgbClr val="800080"/>
                </a:solidFill>
                <a:latin typeface="+mn-lt"/>
              </a:rPr>
              <a:t>класифікацією</a:t>
            </a:r>
            <a:r>
              <a:rPr lang="ru-RU" dirty="0" smtClean="0">
                <a:solidFill>
                  <a:srgbClr val="800080"/>
                </a:solidFill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розуміють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віднесення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об'єктів</a:t>
            </a:r>
            <a:r>
              <a:rPr lang="ru-RU" dirty="0">
                <a:latin typeface="+mn-lt"/>
              </a:rPr>
              <a:t> (</a:t>
            </a:r>
            <a:r>
              <a:rPr lang="ru-RU" dirty="0" err="1">
                <a:latin typeface="+mn-lt"/>
              </a:rPr>
              <a:t>спостережень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подій</a:t>
            </a:r>
            <a:r>
              <a:rPr lang="ru-RU" dirty="0">
                <a:latin typeface="+mn-lt"/>
              </a:rPr>
              <a:t>) до одного </a:t>
            </a:r>
            <a:r>
              <a:rPr lang="ru-RU" dirty="0" err="1" smtClean="0">
                <a:latin typeface="+mn-lt"/>
              </a:rPr>
              <a:t>із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заздалегідь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відомих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класів</a:t>
            </a:r>
            <a:r>
              <a:rPr lang="ru-RU" dirty="0">
                <a:latin typeface="+mn-lt"/>
              </a:rPr>
              <a:t>.</a:t>
            </a:r>
          </a:p>
          <a:p>
            <a:pPr marL="342900" indent="-342900" algn="l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b="1" dirty="0" err="1">
                <a:solidFill>
                  <a:srgbClr val="800080"/>
                </a:solidFill>
                <a:latin typeface="+mn-lt"/>
              </a:rPr>
              <a:t>Класифікація</a:t>
            </a:r>
            <a:r>
              <a:rPr lang="ru-RU" dirty="0">
                <a:solidFill>
                  <a:srgbClr val="800080"/>
                </a:solidFill>
                <a:latin typeface="+mn-lt"/>
              </a:rPr>
              <a:t> </a:t>
            </a:r>
            <a:r>
              <a:rPr lang="ru-RU" dirty="0">
                <a:latin typeface="+mn-lt"/>
              </a:rPr>
              <a:t>- </a:t>
            </a:r>
            <a:r>
              <a:rPr lang="ru-RU" dirty="0" err="1">
                <a:latin typeface="+mn-lt"/>
              </a:rPr>
              <a:t>це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закономірність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що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дозволяє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робити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висновок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щодо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визначення</a:t>
            </a:r>
            <a:r>
              <a:rPr lang="ru-RU" dirty="0">
                <a:latin typeface="+mn-lt"/>
              </a:rPr>
              <a:t> характеристик </a:t>
            </a:r>
            <a:r>
              <a:rPr lang="ru-RU" dirty="0" err="1">
                <a:latin typeface="+mn-lt"/>
              </a:rPr>
              <a:t>конкретної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групи</a:t>
            </a:r>
            <a:r>
              <a:rPr lang="ru-RU" dirty="0">
                <a:latin typeface="+mn-lt"/>
              </a:rPr>
              <a:t>. </a:t>
            </a:r>
            <a:endParaRPr lang="ru-RU" dirty="0" smtClean="0">
              <a:latin typeface="+mn-lt"/>
            </a:endParaRPr>
          </a:p>
          <a:p>
            <a:pPr marL="342900" indent="-342900" algn="l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dirty="0" smtClean="0">
                <a:latin typeface="+mn-lt"/>
              </a:rPr>
              <a:t>Для </a:t>
            </a:r>
            <a:r>
              <a:rPr lang="ru-RU" dirty="0" err="1" smtClean="0">
                <a:latin typeface="+mn-lt"/>
              </a:rPr>
              <a:t>проведення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класифікації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повинні</a:t>
            </a:r>
            <a:r>
              <a:rPr lang="ru-RU" dirty="0">
                <a:latin typeface="+mn-lt"/>
              </a:rPr>
              <a:t> бути </a:t>
            </a:r>
            <a:r>
              <a:rPr lang="ru-RU" b="1" dirty="0" err="1">
                <a:solidFill>
                  <a:srgbClr val="800080"/>
                </a:solidFill>
                <a:latin typeface="+mn-lt"/>
              </a:rPr>
              <a:t>присутні</a:t>
            </a:r>
            <a:r>
              <a:rPr lang="ru-RU" b="1" dirty="0">
                <a:solidFill>
                  <a:srgbClr val="800080"/>
                </a:solidFill>
                <a:latin typeface="+mn-lt"/>
              </a:rPr>
              <a:t> </a:t>
            </a:r>
            <a:r>
              <a:rPr lang="ru-RU" b="1" dirty="0" err="1">
                <a:solidFill>
                  <a:srgbClr val="800080"/>
                </a:solidFill>
                <a:latin typeface="+mn-lt"/>
              </a:rPr>
              <a:t>ознаки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що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характеризують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групу</a:t>
            </a:r>
            <a:r>
              <a:rPr lang="ru-RU" dirty="0">
                <a:latin typeface="+mn-lt"/>
              </a:rPr>
              <a:t>, до </a:t>
            </a:r>
            <a:r>
              <a:rPr lang="ru-RU" dirty="0" err="1">
                <a:latin typeface="+mn-lt"/>
              </a:rPr>
              <a:t>якої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належить</a:t>
            </a:r>
            <a:r>
              <a:rPr lang="ru-RU" dirty="0">
                <a:latin typeface="+mn-lt"/>
              </a:rPr>
              <a:t> та </a:t>
            </a:r>
            <a:r>
              <a:rPr lang="ru-RU" dirty="0" err="1">
                <a:latin typeface="+mn-lt"/>
              </a:rPr>
              <a:t>чи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інша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подія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або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об'єкт</a:t>
            </a:r>
            <a:r>
              <a:rPr lang="ru-RU" dirty="0">
                <a:latin typeface="+mn-lt"/>
              </a:rPr>
              <a:t> (</a:t>
            </a:r>
            <a:r>
              <a:rPr lang="ru-RU" dirty="0" err="1">
                <a:latin typeface="+mn-lt"/>
              </a:rPr>
              <a:t>зазвичай</a:t>
            </a:r>
            <a:r>
              <a:rPr lang="ru-RU" dirty="0">
                <a:latin typeface="+mn-lt"/>
              </a:rPr>
              <a:t> при </a:t>
            </a:r>
            <a:r>
              <a:rPr lang="ru-RU" dirty="0" err="1">
                <a:latin typeface="+mn-lt"/>
              </a:rPr>
              <a:t>цьому</a:t>
            </a:r>
            <a:r>
              <a:rPr lang="ru-RU" dirty="0">
                <a:latin typeface="+mn-lt"/>
              </a:rPr>
              <a:t> на </a:t>
            </a:r>
            <a:r>
              <a:rPr lang="ru-RU" dirty="0" err="1">
                <a:latin typeface="+mn-lt"/>
              </a:rPr>
              <a:t>підставі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аналізу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вже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класифікованих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подій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формулюються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якісь</a:t>
            </a:r>
            <a:r>
              <a:rPr lang="ru-RU" dirty="0">
                <a:latin typeface="+mn-lt"/>
              </a:rPr>
              <a:t> правила).</a:t>
            </a:r>
          </a:p>
          <a:p>
            <a:pPr marL="342900" indent="-342900" algn="l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dirty="0" err="1">
                <a:latin typeface="+mn-lt"/>
              </a:rPr>
              <a:t>Класифікація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відноситься</a:t>
            </a:r>
            <a:r>
              <a:rPr lang="ru-RU" dirty="0">
                <a:latin typeface="+mn-lt"/>
              </a:rPr>
              <a:t> до </a:t>
            </a:r>
            <a:r>
              <a:rPr lang="ru-RU" b="1" dirty="0" err="1">
                <a:solidFill>
                  <a:srgbClr val="800080"/>
                </a:solidFill>
                <a:latin typeface="+mn-lt"/>
              </a:rPr>
              <a:t>стратегії</a:t>
            </a:r>
            <a:r>
              <a:rPr lang="ru-RU" b="1" dirty="0">
                <a:solidFill>
                  <a:srgbClr val="800080"/>
                </a:solidFill>
                <a:latin typeface="+mn-lt"/>
              </a:rPr>
              <a:t> </a:t>
            </a:r>
            <a:r>
              <a:rPr lang="ru-RU" b="1" dirty="0" err="1">
                <a:solidFill>
                  <a:srgbClr val="800080"/>
                </a:solidFill>
                <a:latin typeface="+mn-lt"/>
              </a:rPr>
              <a:t>навчання</a:t>
            </a:r>
            <a:r>
              <a:rPr lang="ru-RU" b="1" dirty="0">
                <a:solidFill>
                  <a:srgbClr val="800080"/>
                </a:solidFill>
                <a:latin typeface="+mn-lt"/>
              </a:rPr>
              <a:t> з учителем </a:t>
            </a:r>
            <a:r>
              <a:rPr lang="ru-RU" dirty="0">
                <a:latin typeface="+mn-lt"/>
              </a:rPr>
              <a:t>(</a:t>
            </a:r>
            <a:r>
              <a:rPr lang="en-GB" dirty="0">
                <a:latin typeface="+mn-lt"/>
              </a:rPr>
              <a:t>supervised learning), </a:t>
            </a:r>
            <a:r>
              <a:rPr lang="ru-RU" dirty="0" smtClean="0">
                <a:latin typeface="+mn-lt"/>
              </a:rPr>
              <a:t>яке </a:t>
            </a:r>
            <a:r>
              <a:rPr lang="ru-RU" dirty="0" err="1" smtClean="0">
                <a:latin typeface="+mn-lt"/>
              </a:rPr>
              <a:t>називають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контрольованим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або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керованим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навчанням</a:t>
            </a:r>
            <a:r>
              <a:rPr lang="ru-RU" dirty="0">
                <a:latin typeface="+mn-lt"/>
              </a:rPr>
              <a:t>.</a:t>
            </a:r>
          </a:p>
          <a:p>
            <a:pPr marL="342900" indent="-342900" algn="l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b="1" dirty="0" err="1">
                <a:solidFill>
                  <a:srgbClr val="800080"/>
                </a:solidFill>
                <a:latin typeface="+mn-lt"/>
              </a:rPr>
              <a:t>Завданням</a:t>
            </a:r>
            <a:r>
              <a:rPr lang="ru-RU" b="1" dirty="0">
                <a:solidFill>
                  <a:srgbClr val="800080"/>
                </a:solidFill>
                <a:latin typeface="+mn-lt"/>
              </a:rPr>
              <a:t> </a:t>
            </a:r>
            <a:r>
              <a:rPr lang="ru-RU" b="1" dirty="0" err="1">
                <a:solidFill>
                  <a:srgbClr val="800080"/>
                </a:solidFill>
                <a:latin typeface="+mn-lt"/>
              </a:rPr>
              <a:t>класифікації</a:t>
            </a:r>
            <a:r>
              <a:rPr lang="ru-RU" b="1" dirty="0">
                <a:solidFill>
                  <a:srgbClr val="800080"/>
                </a:solidFill>
                <a:latin typeface="+mn-lt"/>
              </a:rPr>
              <a:t> </a:t>
            </a:r>
            <a:r>
              <a:rPr lang="ru-RU" dirty="0">
                <a:latin typeface="+mn-lt"/>
              </a:rPr>
              <a:t>часто </a:t>
            </a:r>
            <a:r>
              <a:rPr lang="ru-RU" dirty="0" err="1">
                <a:latin typeface="+mn-lt"/>
              </a:rPr>
              <a:t>називають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передбачення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категоріальної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залежної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змінної</a:t>
            </a:r>
            <a:r>
              <a:rPr lang="ru-RU" dirty="0">
                <a:latin typeface="+mn-lt"/>
              </a:rPr>
              <a:t> (</a:t>
            </a:r>
            <a:r>
              <a:rPr lang="ru-RU" dirty="0" err="1">
                <a:latin typeface="+mn-lt"/>
              </a:rPr>
              <a:t>тобто</a:t>
            </a:r>
            <a:r>
              <a:rPr lang="ru-RU" dirty="0">
                <a:latin typeface="+mn-lt"/>
              </a:rPr>
              <a:t> залежною </a:t>
            </a:r>
            <a:r>
              <a:rPr lang="ru-RU" dirty="0" err="1" smtClean="0">
                <a:latin typeface="+mn-lt"/>
              </a:rPr>
              <a:t>величини</a:t>
            </a:r>
            <a:r>
              <a:rPr lang="ru-RU" dirty="0" smtClean="0">
                <a:latin typeface="+mn-lt"/>
              </a:rPr>
              <a:t>, </a:t>
            </a:r>
            <a:r>
              <a:rPr lang="ru-RU" dirty="0">
                <a:latin typeface="+mn-lt"/>
              </a:rPr>
              <a:t>яка є </a:t>
            </a:r>
            <a:r>
              <a:rPr lang="ru-RU" dirty="0" err="1">
                <a:latin typeface="+mn-lt"/>
              </a:rPr>
              <a:t>категорією</a:t>
            </a:r>
            <a:r>
              <a:rPr lang="ru-RU" dirty="0">
                <a:latin typeface="+mn-lt"/>
              </a:rPr>
              <a:t>) на </a:t>
            </a:r>
            <a:r>
              <a:rPr lang="ru-RU" dirty="0" err="1">
                <a:latin typeface="+mn-lt"/>
              </a:rPr>
              <a:t>основі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вибірки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безперервних</a:t>
            </a:r>
            <a:r>
              <a:rPr lang="ru-RU" dirty="0" smtClean="0">
                <a:latin typeface="+mn-lt"/>
              </a:rPr>
              <a:t> </a:t>
            </a:r>
            <a:r>
              <a:rPr lang="ru-RU" dirty="0">
                <a:latin typeface="+mn-lt"/>
              </a:rPr>
              <a:t>і / </a:t>
            </a:r>
            <a:r>
              <a:rPr lang="ru-RU" dirty="0" err="1">
                <a:latin typeface="+mn-lt"/>
              </a:rPr>
              <a:t>або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категоріальних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змінних</a:t>
            </a:r>
            <a:r>
              <a:rPr lang="ru-RU" dirty="0" smtClean="0">
                <a:latin typeface="+mn-lt"/>
              </a:rPr>
              <a:t>.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00929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5308" y="793254"/>
            <a:ext cx="9038691" cy="398570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ru-RU" dirty="0" err="1" smtClean="0">
                <a:solidFill>
                  <a:srgbClr val="008000"/>
                </a:solidFill>
                <a:latin typeface="+mn-lt"/>
              </a:rPr>
              <a:t>Наприклад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,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можна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передбачити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,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хто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з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клієнтів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фірми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є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потенційним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покупцем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певного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товару, а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хто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-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ні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,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хто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скористається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послугою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фірми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, а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хто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-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ні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, і т.д. </a:t>
            </a:r>
            <a:endParaRPr lang="ru-RU" dirty="0" smtClean="0">
              <a:solidFill>
                <a:srgbClr val="008000"/>
              </a:solidFill>
              <a:latin typeface="+mn-lt"/>
            </a:endParaRPr>
          </a:p>
          <a:p>
            <a:pPr algn="l">
              <a:spcAft>
                <a:spcPts val="600"/>
              </a:spcAft>
            </a:pPr>
            <a:r>
              <a:rPr lang="ru-RU" dirty="0" err="1" smtClean="0">
                <a:latin typeface="+mn-lt"/>
              </a:rPr>
              <a:t>Цей</a:t>
            </a:r>
            <a:r>
              <a:rPr lang="ru-RU" dirty="0" smtClean="0">
                <a:latin typeface="+mn-lt"/>
              </a:rPr>
              <a:t> </a:t>
            </a:r>
            <a:r>
              <a:rPr lang="ru-RU" dirty="0">
                <a:latin typeface="+mn-lt"/>
              </a:rPr>
              <a:t>тип </a:t>
            </a:r>
            <a:r>
              <a:rPr lang="ru-RU" dirty="0" err="1">
                <a:latin typeface="+mn-lt"/>
              </a:rPr>
              <a:t>завдань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відноситься</a:t>
            </a:r>
            <a:r>
              <a:rPr lang="ru-RU" dirty="0">
                <a:latin typeface="+mn-lt"/>
              </a:rPr>
              <a:t> до </a:t>
            </a:r>
            <a:r>
              <a:rPr lang="ru-RU" dirty="0" err="1">
                <a:latin typeface="+mn-lt"/>
              </a:rPr>
              <a:t>завдань</a:t>
            </a:r>
            <a:r>
              <a:rPr lang="ru-RU" dirty="0">
                <a:latin typeface="+mn-lt"/>
              </a:rPr>
              <a:t> </a:t>
            </a:r>
            <a:r>
              <a:rPr lang="ru-RU" b="1" dirty="0" err="1">
                <a:solidFill>
                  <a:srgbClr val="800080"/>
                </a:solidFill>
                <a:latin typeface="+mn-lt"/>
              </a:rPr>
              <a:t>бінарної</a:t>
            </a:r>
            <a:r>
              <a:rPr lang="ru-RU" b="1" dirty="0">
                <a:solidFill>
                  <a:srgbClr val="800080"/>
                </a:solidFill>
                <a:latin typeface="+mn-lt"/>
              </a:rPr>
              <a:t> </a:t>
            </a:r>
            <a:r>
              <a:rPr lang="ru-RU" b="1" dirty="0" err="1">
                <a:solidFill>
                  <a:srgbClr val="800080"/>
                </a:solidFill>
                <a:latin typeface="+mn-lt"/>
              </a:rPr>
              <a:t>класифікації</a:t>
            </a:r>
            <a:r>
              <a:rPr lang="ru-RU" dirty="0">
                <a:latin typeface="+mn-lt"/>
              </a:rPr>
              <a:t>, </a:t>
            </a:r>
            <a:r>
              <a:rPr lang="ru-RU" dirty="0">
                <a:solidFill>
                  <a:srgbClr val="800080"/>
                </a:solidFill>
                <a:latin typeface="+mn-lt"/>
              </a:rPr>
              <a:t>в них </a:t>
            </a:r>
            <a:r>
              <a:rPr lang="ru-RU" dirty="0" err="1">
                <a:solidFill>
                  <a:srgbClr val="800080"/>
                </a:solidFill>
                <a:latin typeface="+mn-lt"/>
              </a:rPr>
              <a:t>залежна</a:t>
            </a:r>
            <a:r>
              <a:rPr lang="ru-RU" dirty="0">
                <a:solidFill>
                  <a:srgbClr val="80008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800080"/>
                </a:solidFill>
                <a:latin typeface="+mn-lt"/>
              </a:rPr>
              <a:t>змінна</a:t>
            </a:r>
            <a:r>
              <a:rPr lang="ru-RU" dirty="0">
                <a:solidFill>
                  <a:srgbClr val="80008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800080"/>
                </a:solidFill>
                <a:latin typeface="+mn-lt"/>
              </a:rPr>
              <a:t>може</a:t>
            </a:r>
            <a:r>
              <a:rPr lang="ru-RU" dirty="0">
                <a:solidFill>
                  <a:srgbClr val="80008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800080"/>
                </a:solidFill>
                <a:latin typeface="+mn-lt"/>
              </a:rPr>
              <a:t>приймати</a:t>
            </a:r>
            <a:r>
              <a:rPr lang="ru-RU" dirty="0">
                <a:solidFill>
                  <a:srgbClr val="80008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800080"/>
                </a:solidFill>
                <a:latin typeface="+mn-lt"/>
              </a:rPr>
              <a:t>тільки</a:t>
            </a:r>
            <a:r>
              <a:rPr lang="ru-RU" dirty="0">
                <a:solidFill>
                  <a:srgbClr val="800080"/>
                </a:solidFill>
                <a:latin typeface="+mn-lt"/>
              </a:rPr>
              <a:t> два </a:t>
            </a:r>
            <a:r>
              <a:rPr lang="ru-RU" dirty="0" err="1">
                <a:solidFill>
                  <a:srgbClr val="800080"/>
                </a:solidFill>
                <a:latin typeface="+mn-lt"/>
              </a:rPr>
              <a:t>значення</a:t>
            </a:r>
            <a:r>
              <a:rPr lang="ru-RU" dirty="0">
                <a:solidFill>
                  <a:srgbClr val="800080"/>
                </a:solidFill>
                <a:latin typeface="+mn-lt"/>
              </a:rPr>
              <a:t> (</a:t>
            </a:r>
            <a:r>
              <a:rPr lang="ru-RU" dirty="0" err="1">
                <a:solidFill>
                  <a:srgbClr val="800080"/>
                </a:solidFill>
                <a:latin typeface="+mn-lt"/>
              </a:rPr>
              <a:t>наприклад</a:t>
            </a:r>
            <a:r>
              <a:rPr lang="ru-RU" dirty="0">
                <a:solidFill>
                  <a:srgbClr val="800080"/>
                </a:solidFill>
                <a:latin typeface="+mn-lt"/>
              </a:rPr>
              <a:t>, так </a:t>
            </a:r>
            <a:r>
              <a:rPr lang="ru-RU" dirty="0" err="1">
                <a:solidFill>
                  <a:srgbClr val="800080"/>
                </a:solidFill>
                <a:latin typeface="+mn-lt"/>
              </a:rPr>
              <a:t>чи</a:t>
            </a:r>
            <a:r>
              <a:rPr lang="ru-RU" dirty="0">
                <a:solidFill>
                  <a:srgbClr val="80008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800080"/>
                </a:solidFill>
                <a:latin typeface="+mn-lt"/>
              </a:rPr>
              <a:t>ні</a:t>
            </a:r>
            <a:r>
              <a:rPr lang="ru-RU" dirty="0">
                <a:solidFill>
                  <a:srgbClr val="800080"/>
                </a:solidFill>
                <a:latin typeface="+mn-lt"/>
              </a:rPr>
              <a:t>, 0 </a:t>
            </a:r>
            <a:r>
              <a:rPr lang="ru-RU" dirty="0" err="1">
                <a:solidFill>
                  <a:srgbClr val="800080"/>
                </a:solidFill>
                <a:latin typeface="+mn-lt"/>
              </a:rPr>
              <a:t>або</a:t>
            </a:r>
            <a:r>
              <a:rPr lang="ru-RU" dirty="0">
                <a:solidFill>
                  <a:srgbClr val="800080"/>
                </a:solidFill>
                <a:latin typeface="+mn-lt"/>
              </a:rPr>
              <a:t> 1).</a:t>
            </a:r>
          </a:p>
          <a:p>
            <a:pPr algn="l">
              <a:spcAft>
                <a:spcPts val="600"/>
              </a:spcAft>
            </a:pPr>
            <a:r>
              <a:rPr lang="ru-RU" dirty="0" err="1">
                <a:latin typeface="+mn-lt"/>
              </a:rPr>
              <a:t>Інший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варіант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класифікації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виникає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якщо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залежна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змінна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може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приймати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значення</a:t>
            </a:r>
            <a:r>
              <a:rPr lang="ru-RU" dirty="0">
                <a:latin typeface="+mn-lt"/>
              </a:rPr>
              <a:t> з </a:t>
            </a:r>
            <a:r>
              <a:rPr lang="ru-RU" dirty="0" err="1" smtClean="0">
                <a:latin typeface="+mn-lt"/>
              </a:rPr>
              <a:t>деякої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множини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визначених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класів</a:t>
            </a:r>
            <a:r>
              <a:rPr lang="ru-RU" dirty="0">
                <a:latin typeface="+mn-lt"/>
              </a:rPr>
              <a:t>. </a:t>
            </a:r>
            <a:endParaRPr lang="ru-RU" dirty="0" smtClean="0">
              <a:latin typeface="+mn-lt"/>
            </a:endParaRPr>
          </a:p>
          <a:p>
            <a:pPr algn="l">
              <a:spcAft>
                <a:spcPts val="600"/>
              </a:spcAft>
            </a:pPr>
            <a:r>
              <a:rPr lang="ru-RU" dirty="0" err="1" smtClean="0">
                <a:solidFill>
                  <a:srgbClr val="008000"/>
                </a:solidFill>
                <a:latin typeface="+mn-lt"/>
              </a:rPr>
              <a:t>Наприклад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, </a:t>
            </a:r>
            <a:r>
              <a:rPr lang="ru-RU" dirty="0" smtClean="0">
                <a:solidFill>
                  <a:srgbClr val="008000"/>
                </a:solidFill>
                <a:latin typeface="+mn-lt"/>
              </a:rPr>
              <a:t>коли </a:t>
            </a:r>
            <a:r>
              <a:rPr lang="ru-RU" dirty="0" err="1" smtClean="0">
                <a:solidFill>
                  <a:srgbClr val="008000"/>
                </a:solidFill>
                <a:latin typeface="+mn-lt"/>
              </a:rPr>
              <a:t>необхідно</a:t>
            </a:r>
            <a:r>
              <a:rPr lang="ru-RU" dirty="0" smtClean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передбачити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, яку марку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автомобіля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захоче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купити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клієнт</a:t>
            </a:r>
            <a:r>
              <a:rPr lang="ru-RU" dirty="0">
                <a:latin typeface="+mn-lt"/>
              </a:rPr>
              <a:t>. 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У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цих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випадках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розглядається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безліч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класів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для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залежної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змінної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lang="ru-RU" dirty="0" err="1">
                <a:latin typeface="+mn-lt"/>
              </a:rPr>
              <a:t>Класифікація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може</a:t>
            </a:r>
            <a:r>
              <a:rPr lang="ru-RU" dirty="0">
                <a:latin typeface="+mn-lt"/>
              </a:rPr>
              <a:t> бути </a:t>
            </a:r>
            <a:r>
              <a:rPr lang="ru-RU" b="1" dirty="0" err="1">
                <a:solidFill>
                  <a:srgbClr val="800080"/>
                </a:solidFill>
                <a:latin typeface="+mn-lt"/>
              </a:rPr>
              <a:t>одновимірної</a:t>
            </a:r>
            <a:r>
              <a:rPr lang="ru-RU" dirty="0">
                <a:solidFill>
                  <a:srgbClr val="800080"/>
                </a:solidFill>
                <a:latin typeface="+mn-lt"/>
              </a:rPr>
              <a:t> </a:t>
            </a:r>
            <a:r>
              <a:rPr lang="ru-RU" dirty="0">
                <a:latin typeface="+mn-lt"/>
              </a:rPr>
              <a:t>(за </a:t>
            </a:r>
            <a:r>
              <a:rPr lang="ru-RU" dirty="0" err="1">
                <a:latin typeface="+mn-lt"/>
              </a:rPr>
              <a:t>однією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ознакою</a:t>
            </a:r>
            <a:r>
              <a:rPr lang="ru-RU" dirty="0">
                <a:latin typeface="+mn-lt"/>
              </a:rPr>
              <a:t>) і </a:t>
            </a:r>
            <a:r>
              <a:rPr lang="ru-RU" b="1" dirty="0" err="1">
                <a:solidFill>
                  <a:srgbClr val="800080"/>
                </a:solidFill>
                <a:latin typeface="+mn-lt"/>
              </a:rPr>
              <a:t>багатовимірної</a:t>
            </a:r>
            <a:r>
              <a:rPr lang="ru-RU" dirty="0">
                <a:solidFill>
                  <a:srgbClr val="800080"/>
                </a:solidFill>
                <a:latin typeface="+mn-lt"/>
              </a:rPr>
              <a:t> </a:t>
            </a:r>
            <a:r>
              <a:rPr lang="ru-RU" dirty="0">
                <a:latin typeface="+mn-lt"/>
              </a:rPr>
              <a:t>(за </a:t>
            </a:r>
            <a:r>
              <a:rPr lang="ru-RU" dirty="0" err="1">
                <a:latin typeface="+mn-lt"/>
              </a:rPr>
              <a:t>двома</a:t>
            </a:r>
            <a:r>
              <a:rPr lang="ru-RU" dirty="0">
                <a:latin typeface="+mn-lt"/>
              </a:rPr>
              <a:t> і </a:t>
            </a:r>
            <a:r>
              <a:rPr lang="ru-RU" dirty="0" err="1">
                <a:latin typeface="+mn-lt"/>
              </a:rPr>
              <a:t>більше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ознаками</a:t>
            </a:r>
            <a:r>
              <a:rPr lang="ru-RU" dirty="0">
                <a:latin typeface="+mn-lt"/>
              </a:rPr>
              <a:t>).</a:t>
            </a:r>
          </a:p>
          <a:p>
            <a:pPr algn="l">
              <a:spcAft>
                <a:spcPts val="600"/>
              </a:spcAft>
            </a:pPr>
            <a:r>
              <a:rPr lang="ru-RU" dirty="0" err="1">
                <a:solidFill>
                  <a:srgbClr val="008000"/>
                </a:solidFill>
                <a:latin typeface="+mn-lt"/>
              </a:rPr>
              <a:t>Багатовимірна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класифікація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була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розроблена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біологами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при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вирішенні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проблем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дискримінації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для классифицирования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організмів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.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-1" y="0"/>
            <a:ext cx="914400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b="1" dirty="0" err="1">
                <a:solidFill>
                  <a:schemeClr val="bg1"/>
                </a:solidFill>
                <a:latin typeface="+mn-lt"/>
              </a:rPr>
              <a:t>Класифікація</a:t>
            </a:r>
            <a:r>
              <a:rPr lang="ru-RU" sz="4000" b="1" dirty="0">
                <a:solidFill>
                  <a:schemeClr val="bg1"/>
                </a:solidFill>
                <a:latin typeface="+mn-lt"/>
              </a:rPr>
              <a:t>: </a:t>
            </a:r>
            <a:r>
              <a:rPr lang="ru-RU" sz="4000" b="1" dirty="0" err="1" smtClean="0">
                <a:solidFill>
                  <a:schemeClr val="bg1"/>
                </a:solidFill>
                <a:latin typeface="+mn-lt"/>
              </a:rPr>
              <a:t>поняття</a:t>
            </a:r>
            <a:endParaRPr lang="ru-RU" sz="40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1982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347246" y="0"/>
            <a:ext cx="601799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err="1">
                <a:solidFill>
                  <a:schemeClr val="bg1"/>
                </a:solidFill>
                <a:latin typeface="+mn-lt"/>
              </a:rPr>
              <a:t>Класифікація</a:t>
            </a:r>
            <a:r>
              <a:rPr lang="ru-RU" sz="4000" b="1" dirty="0">
                <a:solidFill>
                  <a:schemeClr val="bg1"/>
                </a:solidFill>
                <a:latin typeface="+mn-lt"/>
              </a:rPr>
              <a:t>: </a:t>
            </a:r>
            <a:r>
              <a:rPr lang="ru-RU" sz="4000" b="1" dirty="0" err="1" smtClean="0">
                <a:solidFill>
                  <a:schemeClr val="bg1"/>
                </a:solidFill>
                <a:latin typeface="+mn-lt"/>
              </a:rPr>
              <a:t>визначення</a:t>
            </a:r>
            <a:endParaRPr lang="ru-RU" sz="40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95209" y="896655"/>
            <a:ext cx="875358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sz="2000" dirty="0">
                <a:latin typeface="+mn-lt"/>
              </a:rPr>
              <a:t>Дано </a:t>
            </a:r>
            <a:r>
              <a:rPr lang="ru-RU" sz="2000" dirty="0" err="1">
                <a:latin typeface="+mn-lt"/>
              </a:rPr>
              <a:t>колекцію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записів</a:t>
            </a:r>
            <a:r>
              <a:rPr lang="ru-RU" sz="2000" dirty="0">
                <a:latin typeface="+mn-lt"/>
              </a:rPr>
              <a:t> (</a:t>
            </a:r>
            <a:r>
              <a:rPr lang="ru-RU" sz="2000" dirty="0" err="1" smtClean="0">
                <a:latin typeface="+mn-lt"/>
              </a:rPr>
              <a:t>навчальний</a:t>
            </a:r>
            <a:r>
              <a:rPr lang="ru-RU" sz="2000" dirty="0" smtClean="0">
                <a:latin typeface="+mn-lt"/>
              </a:rPr>
              <a:t> </a:t>
            </a:r>
            <a:r>
              <a:rPr lang="ru-RU" sz="2000" dirty="0" err="1" smtClean="0">
                <a:latin typeface="+mn-lt"/>
              </a:rPr>
              <a:t>набір</a:t>
            </a:r>
            <a:r>
              <a:rPr lang="ru-RU" sz="2000" dirty="0" smtClean="0">
                <a:latin typeface="+mn-lt"/>
              </a:rPr>
              <a:t> </a:t>
            </a:r>
            <a:r>
              <a:rPr lang="ru-RU" sz="2000" dirty="0" err="1" smtClean="0">
                <a:latin typeface="+mn-lt"/>
              </a:rPr>
              <a:t>даних</a:t>
            </a:r>
            <a:r>
              <a:rPr lang="ru-RU" sz="2000" dirty="0" smtClean="0">
                <a:latin typeface="+mn-lt"/>
              </a:rPr>
              <a:t>)</a:t>
            </a:r>
            <a:endParaRPr lang="ru-RU" sz="2000" dirty="0">
              <a:latin typeface="+mn-lt"/>
            </a:endParaRPr>
          </a:p>
          <a:p>
            <a:pPr marL="627063" lvl="3" indent="-342900" algn="l">
              <a:buFont typeface="Wingdings" panose="05000000000000000000" pitchFamily="2" charset="2"/>
              <a:buChar char="Ø"/>
            </a:pPr>
            <a:r>
              <a:rPr lang="ru-RU" sz="2000" dirty="0" err="1">
                <a:latin typeface="+mn-lt"/>
              </a:rPr>
              <a:t>Кожен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запис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характеризується</a:t>
            </a:r>
            <a:r>
              <a:rPr lang="ru-RU" sz="2000" dirty="0">
                <a:latin typeface="+mn-lt"/>
              </a:rPr>
              <a:t> кортежем (x, y), </a:t>
            </a:r>
            <a:endParaRPr lang="ru-RU" sz="2000" dirty="0" smtClean="0">
              <a:latin typeface="+mn-lt"/>
            </a:endParaRPr>
          </a:p>
          <a:p>
            <a:pPr marL="642938" lvl="3" algn="l"/>
            <a:r>
              <a:rPr lang="ru-RU" sz="2000" dirty="0" smtClean="0">
                <a:latin typeface="+mn-lt"/>
              </a:rPr>
              <a:t>де </a:t>
            </a:r>
            <a:r>
              <a:rPr lang="ru-RU" sz="2000" dirty="0">
                <a:latin typeface="+mn-lt"/>
              </a:rPr>
              <a:t>x - </a:t>
            </a:r>
            <a:r>
              <a:rPr lang="ru-RU" sz="2000" dirty="0" err="1">
                <a:latin typeface="+mn-lt"/>
              </a:rPr>
              <a:t>набір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атрибутів</a:t>
            </a:r>
            <a:r>
              <a:rPr lang="ru-RU" sz="2000" dirty="0">
                <a:latin typeface="+mn-lt"/>
              </a:rPr>
              <a:t>, а y - </a:t>
            </a:r>
            <a:r>
              <a:rPr lang="ru-RU" sz="2000" dirty="0" err="1">
                <a:latin typeface="+mn-lt"/>
              </a:rPr>
              <a:t>мітка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класу</a:t>
            </a:r>
            <a:endParaRPr lang="ru-RU" sz="2000" dirty="0">
              <a:latin typeface="+mn-lt"/>
            </a:endParaRPr>
          </a:p>
          <a:p>
            <a:pPr marL="1422400" lvl="4" indent="-342900" algn="l">
              <a:buClr>
                <a:srgbClr val="0000CC"/>
              </a:buClr>
              <a:buFont typeface="Wingdings" panose="05000000000000000000" pitchFamily="2" charset="2"/>
              <a:buChar char="v"/>
            </a:pPr>
            <a:r>
              <a:rPr lang="ru-RU" sz="2000" dirty="0">
                <a:solidFill>
                  <a:srgbClr val="0000CC"/>
                </a:solidFill>
                <a:latin typeface="+mn-lt"/>
              </a:rPr>
              <a:t>  x: атрибут, предиктор, </a:t>
            </a:r>
            <a:r>
              <a:rPr lang="ru-RU" sz="2000" dirty="0" err="1">
                <a:solidFill>
                  <a:srgbClr val="0000CC"/>
                </a:solidFill>
                <a:latin typeface="+mn-lt"/>
              </a:rPr>
              <a:t>незалежна</a:t>
            </a:r>
            <a:r>
              <a:rPr lang="ru-RU" sz="2000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sz="2000" dirty="0" err="1">
                <a:solidFill>
                  <a:srgbClr val="0000CC"/>
                </a:solidFill>
                <a:latin typeface="+mn-lt"/>
              </a:rPr>
              <a:t>змінна</a:t>
            </a:r>
            <a:r>
              <a:rPr lang="ru-RU" sz="2000" dirty="0">
                <a:solidFill>
                  <a:srgbClr val="0000CC"/>
                </a:solidFill>
                <a:latin typeface="+mn-lt"/>
              </a:rPr>
              <a:t>, </a:t>
            </a:r>
            <a:r>
              <a:rPr lang="ru-RU" sz="2000" dirty="0" err="1">
                <a:solidFill>
                  <a:srgbClr val="0000CC"/>
                </a:solidFill>
                <a:latin typeface="+mn-lt"/>
              </a:rPr>
              <a:t>вхід</a:t>
            </a:r>
            <a:endParaRPr lang="ru-RU" sz="2000" dirty="0">
              <a:solidFill>
                <a:srgbClr val="0000CC"/>
              </a:solidFill>
              <a:latin typeface="+mn-lt"/>
            </a:endParaRPr>
          </a:p>
          <a:p>
            <a:pPr marL="1422400" lvl="4" indent="-342900" algn="l">
              <a:buClr>
                <a:srgbClr val="0000CC"/>
              </a:buClr>
              <a:buFont typeface="Wingdings" panose="05000000000000000000" pitchFamily="2" charset="2"/>
              <a:buChar char="v"/>
            </a:pPr>
            <a:r>
              <a:rPr lang="ru-RU" sz="2000" dirty="0">
                <a:solidFill>
                  <a:srgbClr val="0000CC"/>
                </a:solidFill>
                <a:latin typeface="+mn-lt"/>
              </a:rPr>
              <a:t>  y: </a:t>
            </a:r>
            <a:r>
              <a:rPr lang="ru-RU" sz="2000" dirty="0" err="1">
                <a:solidFill>
                  <a:srgbClr val="0000CC"/>
                </a:solidFill>
                <a:latin typeface="+mn-lt"/>
              </a:rPr>
              <a:t>клас</a:t>
            </a:r>
            <a:r>
              <a:rPr lang="ru-RU" sz="2000" dirty="0">
                <a:solidFill>
                  <a:srgbClr val="0000CC"/>
                </a:solidFill>
                <a:latin typeface="+mn-lt"/>
              </a:rPr>
              <a:t>, </a:t>
            </a:r>
            <a:r>
              <a:rPr lang="ru-RU" sz="2000" dirty="0" err="1">
                <a:solidFill>
                  <a:srgbClr val="0000CC"/>
                </a:solidFill>
                <a:latin typeface="+mn-lt"/>
              </a:rPr>
              <a:t>відповідь</a:t>
            </a:r>
            <a:r>
              <a:rPr lang="ru-RU" sz="2000" dirty="0">
                <a:solidFill>
                  <a:srgbClr val="0000CC"/>
                </a:solidFill>
                <a:latin typeface="+mn-lt"/>
              </a:rPr>
              <a:t>, </a:t>
            </a:r>
            <a:r>
              <a:rPr lang="ru-RU" sz="2000" dirty="0" err="1">
                <a:solidFill>
                  <a:srgbClr val="0000CC"/>
                </a:solidFill>
                <a:latin typeface="+mn-lt"/>
              </a:rPr>
              <a:t>залежна</a:t>
            </a:r>
            <a:r>
              <a:rPr lang="ru-RU" sz="2000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sz="2000" dirty="0" err="1">
                <a:solidFill>
                  <a:srgbClr val="0000CC"/>
                </a:solidFill>
                <a:latin typeface="+mn-lt"/>
              </a:rPr>
              <a:t>змінна</a:t>
            </a:r>
            <a:r>
              <a:rPr lang="ru-RU" sz="2000" dirty="0">
                <a:solidFill>
                  <a:srgbClr val="0000CC"/>
                </a:solidFill>
                <a:latin typeface="+mn-lt"/>
              </a:rPr>
              <a:t>, </a:t>
            </a:r>
            <a:r>
              <a:rPr lang="ru-RU" sz="2000" dirty="0" err="1">
                <a:solidFill>
                  <a:srgbClr val="0000CC"/>
                </a:solidFill>
                <a:latin typeface="+mn-lt"/>
              </a:rPr>
              <a:t>вихід</a:t>
            </a:r>
            <a:endParaRPr lang="ru-RU" sz="2000" dirty="0">
              <a:solidFill>
                <a:srgbClr val="0000CC"/>
              </a:solidFill>
              <a:latin typeface="+mn-lt"/>
            </a:endParaRPr>
          </a:p>
          <a:p>
            <a:pPr algn="l"/>
            <a:endParaRPr lang="ru-RU" sz="2000" dirty="0">
              <a:latin typeface="+mn-lt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sz="2000" b="1" dirty="0" err="1">
                <a:latin typeface="+mn-lt"/>
              </a:rPr>
              <a:t>Завдання</a:t>
            </a:r>
            <a:r>
              <a:rPr lang="ru-RU" sz="2000" dirty="0">
                <a:latin typeface="+mn-lt"/>
              </a:rPr>
              <a:t>:</a:t>
            </a:r>
          </a:p>
          <a:p>
            <a:pPr marL="703263" indent="-342900" algn="l">
              <a:buFont typeface="Wingdings" panose="05000000000000000000" pitchFamily="2" charset="2"/>
              <a:buChar char="Ø"/>
            </a:pPr>
            <a:r>
              <a:rPr lang="ru-RU" sz="2000" dirty="0" err="1" smtClean="0">
                <a:latin typeface="+mn-lt"/>
              </a:rPr>
              <a:t>Навчити</a:t>
            </a:r>
            <a:r>
              <a:rPr lang="ru-RU" sz="2000" dirty="0" smtClean="0">
                <a:latin typeface="+mn-lt"/>
              </a:rPr>
              <a:t> модель</a:t>
            </a:r>
            <a:r>
              <a:rPr lang="ru-RU" sz="2000" dirty="0">
                <a:latin typeface="+mn-lt"/>
              </a:rPr>
              <a:t>, яка </a:t>
            </a:r>
            <a:r>
              <a:rPr lang="ru-RU" sz="2000" dirty="0" err="1" smtClean="0">
                <a:latin typeface="+mn-lt"/>
              </a:rPr>
              <a:t>співставлятиме</a:t>
            </a:r>
            <a:r>
              <a:rPr lang="ru-RU" sz="2000" dirty="0" smtClean="0">
                <a:latin typeface="+mn-lt"/>
              </a:rPr>
              <a:t> </a:t>
            </a:r>
            <a:r>
              <a:rPr lang="ru-RU" sz="2000" dirty="0" err="1" smtClean="0">
                <a:latin typeface="+mn-lt"/>
              </a:rPr>
              <a:t>кожен</a:t>
            </a:r>
            <a:r>
              <a:rPr lang="ru-RU" sz="2000" dirty="0" smtClean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набір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атрибутів</a:t>
            </a:r>
            <a:r>
              <a:rPr lang="ru-RU" sz="2000" dirty="0">
                <a:latin typeface="+mn-lt"/>
              </a:rPr>
              <a:t> </a:t>
            </a:r>
            <a:r>
              <a:rPr lang="ru-RU" sz="2000" b="1" dirty="0">
                <a:solidFill>
                  <a:srgbClr val="0000CC"/>
                </a:solidFill>
                <a:latin typeface="+mn-lt"/>
              </a:rPr>
              <a:t>x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smtClean="0">
                <a:latin typeface="+mn-lt"/>
              </a:rPr>
              <a:t>з одною </a:t>
            </a:r>
            <a:r>
              <a:rPr lang="ru-RU" sz="2000" dirty="0" err="1">
                <a:latin typeface="+mn-lt"/>
              </a:rPr>
              <a:t>із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заздалегідь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визначених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міток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класу</a:t>
            </a:r>
            <a:r>
              <a:rPr lang="ru-RU" sz="2000" dirty="0">
                <a:latin typeface="+mn-lt"/>
              </a:rPr>
              <a:t> </a:t>
            </a:r>
            <a:r>
              <a:rPr lang="ru-RU" sz="2000" b="1" dirty="0">
                <a:solidFill>
                  <a:srgbClr val="0000CC"/>
                </a:solidFill>
                <a:latin typeface="+mn-lt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1409572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700709" y="0"/>
            <a:ext cx="531106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err="1">
                <a:solidFill>
                  <a:schemeClr val="bg1"/>
                </a:solidFill>
                <a:latin typeface="+mn-lt"/>
              </a:rPr>
              <a:t>Класифікація</a:t>
            </a:r>
            <a:r>
              <a:rPr lang="ru-RU" sz="4000" b="1" dirty="0">
                <a:solidFill>
                  <a:schemeClr val="bg1"/>
                </a:solidFill>
                <a:latin typeface="+mn-lt"/>
              </a:rPr>
              <a:t>: </a:t>
            </a:r>
            <a:r>
              <a:rPr lang="ru-RU" sz="4000" b="1" dirty="0" smtClean="0">
                <a:solidFill>
                  <a:schemeClr val="bg1"/>
                </a:solidFill>
                <a:latin typeface="+mn-lt"/>
              </a:rPr>
              <a:t>приклад</a:t>
            </a:r>
            <a:endParaRPr lang="ru-RU" sz="40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0" y="754538"/>
            <a:ext cx="3670110" cy="403549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7124" y="2245136"/>
            <a:ext cx="4945166" cy="13412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67570" y="924674"/>
            <a:ext cx="558239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 smtClean="0">
                <a:latin typeface="+mn-lt"/>
              </a:rPr>
              <a:t>Класифікація як  задача відображення вхідних атрибутів множини Х на наперед визначені класи У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7071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012224" y="0"/>
            <a:ext cx="66880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smtClean="0">
                <a:solidFill>
                  <a:schemeClr val="bg1"/>
                </a:solidFill>
                <a:latin typeface="+mn-lt"/>
              </a:rPr>
              <a:t>Приклад </a:t>
            </a:r>
            <a:r>
              <a:rPr lang="ru-RU" sz="4000" b="1" dirty="0" err="1" smtClean="0">
                <a:solidFill>
                  <a:schemeClr val="bg1"/>
                </a:solidFill>
                <a:latin typeface="+mn-lt"/>
              </a:rPr>
              <a:t>задачі</a:t>
            </a:r>
            <a:r>
              <a:rPr lang="ru-RU" sz="40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4000" b="1" dirty="0" err="1" smtClean="0">
                <a:solidFill>
                  <a:schemeClr val="bg1"/>
                </a:solidFill>
                <a:latin typeface="+mn-lt"/>
              </a:rPr>
              <a:t>класифікації</a:t>
            </a:r>
            <a:r>
              <a:rPr lang="ru-RU" sz="4000" b="1" dirty="0" smtClean="0">
                <a:solidFill>
                  <a:schemeClr val="bg1"/>
                </a:solidFill>
                <a:latin typeface="+mn-lt"/>
              </a:rPr>
              <a:t> </a:t>
            </a:r>
            <a:endParaRPr lang="ru-RU" sz="4000" b="1" dirty="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635369"/>
              </p:ext>
            </p:extLst>
          </p:nvPr>
        </p:nvGraphicFramePr>
        <p:xfrm>
          <a:off x="0" y="858109"/>
          <a:ext cx="9144000" cy="3931920"/>
        </p:xfrm>
        <a:graphic>
          <a:graphicData uri="http://schemas.openxmlformats.org/drawingml/2006/table">
            <a:tbl>
              <a:tblPr/>
              <a:tblGrid>
                <a:gridCol w="2321960"/>
                <a:gridCol w="3640332"/>
                <a:gridCol w="3181708"/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Task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Attribute set, </a:t>
                      </a:r>
                      <a:r>
                        <a:rPr kumimoji="0" lang="en-US" sz="19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Class label, </a:t>
                      </a:r>
                      <a:r>
                        <a:rPr kumimoji="0" lang="en-US" sz="19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74475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Класифікація</a:t>
                      </a:r>
                      <a:r>
                        <a:rPr kumimoji="0" lang="ru-RU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kumimoji="0" lang="ru-RU" sz="1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повідомлень</a:t>
                      </a:r>
                      <a:r>
                        <a:rPr kumimoji="0" lang="ru-RU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kumimoji="0" lang="ru-RU" sz="1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електронної</a:t>
                      </a:r>
                      <a:r>
                        <a:rPr kumimoji="0" lang="ru-RU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kumimoji="0" lang="ru-RU" sz="1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пошти</a:t>
                      </a: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Особливості</a:t>
                      </a:r>
                      <a:r>
                        <a:rPr kumimoji="0" lang="ru-RU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kumimoji="0" lang="ru-RU" sz="1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вилучені</a:t>
                      </a:r>
                      <a:r>
                        <a:rPr kumimoji="0" lang="ru-RU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kumimoji="0" lang="ru-RU" sz="1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із</a:t>
                      </a:r>
                      <a:r>
                        <a:rPr kumimoji="0" lang="ru-RU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заголовка та </a:t>
                      </a:r>
                      <a:r>
                        <a:rPr kumimoji="0" lang="ru-RU" sz="1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вмісту</a:t>
                      </a:r>
                      <a:r>
                        <a:rPr kumimoji="0" lang="ru-RU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kumimoji="0" lang="ru-RU" sz="1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повідомлення</a:t>
                      </a:r>
                      <a:r>
                        <a:rPr kumimoji="0" lang="ru-RU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kumimoji="0" lang="ru-RU" sz="1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електронної</a:t>
                      </a:r>
                      <a:r>
                        <a:rPr kumimoji="0" lang="ru-RU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kumimoji="0" lang="ru-RU" sz="1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пошти</a:t>
                      </a: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спам </a:t>
                      </a:r>
                      <a:r>
                        <a:rPr kumimoji="0" lang="ru-RU" sz="1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або</a:t>
                      </a:r>
                      <a:r>
                        <a:rPr kumimoji="0" lang="ru-RU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не спам</a:t>
                      </a: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864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Ідентифікація</a:t>
                      </a:r>
                      <a:r>
                        <a:rPr kumimoji="0" lang="ru-RU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kumimoji="0" lang="ru-RU" sz="1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пухлинних</a:t>
                      </a:r>
                      <a:r>
                        <a:rPr kumimoji="0" lang="ru-RU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kumimoji="0" lang="ru-RU" sz="1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клітин</a:t>
                      </a: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Особливості</a:t>
                      </a:r>
                      <a:r>
                        <a:rPr kumimoji="0" lang="ru-RU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kumimoji="0" lang="ru-RU" sz="1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отримані</a:t>
                      </a:r>
                      <a:r>
                        <a:rPr kumimoji="0" lang="ru-RU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з </a:t>
                      </a:r>
                      <a:r>
                        <a:rPr kumimoji="0" lang="ru-RU" sz="1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рентгенівських</a:t>
                      </a:r>
                      <a:r>
                        <a:rPr kumimoji="0" lang="ru-RU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kumimoji="0" lang="ru-RU" sz="1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променів</a:t>
                      </a:r>
                      <a:r>
                        <a:rPr kumimoji="0" lang="ru-RU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kumimoji="0" lang="ru-RU" sz="1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або</a:t>
                      </a:r>
                      <a:r>
                        <a:rPr kumimoji="0" lang="ru-RU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МРТ</a:t>
                      </a: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злоякісні</a:t>
                      </a:r>
                      <a:r>
                        <a:rPr kumimoji="0" lang="ru-RU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kumimoji="0" lang="ru-RU" sz="1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або</a:t>
                      </a:r>
                      <a:r>
                        <a:rPr kumimoji="0" lang="ru-RU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kumimoji="0" lang="ru-RU" sz="1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доброякісні</a:t>
                      </a:r>
                      <a:r>
                        <a:rPr kumimoji="0" lang="ru-RU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kumimoji="0" lang="ru-RU" sz="1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клітини</a:t>
                      </a: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6063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Каталогізація</a:t>
                      </a:r>
                      <a:r>
                        <a:rPr kumimoji="0" lang="ru-RU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галактик</a:t>
                      </a: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Особливості</a:t>
                      </a:r>
                      <a:r>
                        <a:rPr kumimoji="0" lang="ru-RU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kumimoji="0" lang="ru-RU" sz="1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витягнуті</a:t>
                      </a:r>
                      <a:r>
                        <a:rPr kumimoji="0" lang="ru-RU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kumimoji="0" lang="ru-RU" sz="1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із</a:t>
                      </a:r>
                      <a:r>
                        <a:rPr kumimoji="0" lang="ru-RU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kumimoji="0" lang="ru-RU" sz="1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зображень</a:t>
                      </a:r>
                      <a:r>
                        <a:rPr kumimoji="0" lang="ru-RU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у </a:t>
                      </a:r>
                      <a:r>
                        <a:rPr kumimoji="0" lang="ru-RU" sz="1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телескопі</a:t>
                      </a: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Еліптичні</a:t>
                      </a:r>
                      <a:r>
                        <a:rPr kumimoji="0" lang="ru-RU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kumimoji="0" lang="ru-RU" sz="1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спіральні</a:t>
                      </a:r>
                      <a:r>
                        <a:rPr kumimoji="0" lang="ru-RU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kumimoji="0" lang="ru-RU" sz="1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або</a:t>
                      </a:r>
                      <a:r>
                        <a:rPr kumimoji="0" lang="ru-RU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kumimoji="0" lang="ru-RU" sz="1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неправильної</a:t>
                      </a:r>
                      <a:r>
                        <a:rPr kumimoji="0" lang="ru-RU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kumimoji="0" lang="ru-RU" sz="1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форми</a:t>
                      </a:r>
                      <a:r>
                        <a:rPr kumimoji="0" lang="ru-RU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галактики</a:t>
                      </a: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0497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" y="0"/>
            <a:ext cx="92364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b="1" dirty="0" err="1">
                <a:solidFill>
                  <a:schemeClr val="bg1"/>
                </a:solidFill>
                <a:latin typeface="+mn-lt"/>
              </a:rPr>
              <a:t>Класифікація</a:t>
            </a:r>
            <a:r>
              <a:rPr lang="ru-RU" sz="4000" b="1" dirty="0">
                <a:solidFill>
                  <a:schemeClr val="bg1"/>
                </a:solidFill>
                <a:latin typeface="+mn-lt"/>
              </a:rPr>
              <a:t>: </a:t>
            </a:r>
            <a:r>
              <a:rPr lang="ru-RU" sz="4000" b="1" dirty="0" err="1" smtClean="0">
                <a:solidFill>
                  <a:schemeClr val="bg1"/>
                </a:solidFill>
                <a:latin typeface="+mn-lt"/>
              </a:rPr>
              <a:t>математична</a:t>
            </a:r>
            <a:r>
              <a:rPr lang="ru-RU" sz="4000" b="1" dirty="0" smtClean="0">
                <a:solidFill>
                  <a:schemeClr val="bg1"/>
                </a:solidFill>
                <a:latin typeface="+mn-lt"/>
              </a:rPr>
              <a:t> модель</a:t>
            </a:r>
            <a:endParaRPr lang="ru-RU" sz="40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95208" y="896655"/>
            <a:ext cx="875358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000" dirty="0"/>
          </a:p>
          <a:p>
            <a:endParaRPr lang="ru-RU" sz="2000" dirty="0"/>
          </a:p>
          <a:p>
            <a:r>
              <a:rPr lang="ru-RU" sz="2000" dirty="0"/>
              <a:t>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7603" y="873353"/>
            <a:ext cx="8948791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dirty="0">
                <a:latin typeface="+mn-lt"/>
              </a:rPr>
              <a:t>Нехай </a:t>
            </a:r>
            <a:r>
              <a:rPr lang="en-GB" b="1" dirty="0" smtClean="0">
                <a:solidFill>
                  <a:srgbClr val="0000CC"/>
                </a:solidFill>
                <a:latin typeface="+mn-lt"/>
              </a:rPr>
              <a:t>X</a:t>
            </a:r>
            <a:r>
              <a:rPr lang="en-GB" dirty="0" smtClean="0">
                <a:latin typeface="+mn-lt"/>
              </a:rPr>
              <a:t> </a:t>
            </a:r>
            <a:r>
              <a:rPr lang="en-GB" dirty="0">
                <a:latin typeface="+mn-lt"/>
              </a:rPr>
              <a:t>— </a:t>
            </a:r>
            <a:r>
              <a:rPr lang="ru-RU" dirty="0" err="1">
                <a:latin typeface="+mn-lt"/>
              </a:rPr>
              <a:t>множина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описів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об'єктів</a:t>
            </a:r>
            <a:r>
              <a:rPr lang="ru-RU" dirty="0">
                <a:latin typeface="+mn-lt"/>
              </a:rPr>
              <a:t>, </a:t>
            </a:r>
            <a:r>
              <a:rPr lang="en-GB" dirty="0" smtClean="0">
                <a:latin typeface="+mn-lt"/>
              </a:rPr>
              <a:t>Y </a:t>
            </a:r>
            <a:r>
              <a:rPr lang="en-GB" dirty="0">
                <a:latin typeface="+mn-lt"/>
              </a:rPr>
              <a:t>—</a:t>
            </a:r>
            <a:r>
              <a:rPr lang="ru-RU" dirty="0" err="1">
                <a:latin typeface="+mn-lt"/>
              </a:rPr>
              <a:t>множина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номерів</a:t>
            </a:r>
            <a:r>
              <a:rPr lang="ru-RU" dirty="0">
                <a:latin typeface="+mn-lt"/>
              </a:rPr>
              <a:t> (</a:t>
            </a:r>
            <a:r>
              <a:rPr lang="ru-RU" dirty="0" err="1">
                <a:latin typeface="+mn-lt"/>
              </a:rPr>
              <a:t>чи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назв</a:t>
            </a:r>
            <a:r>
              <a:rPr lang="ru-RU" dirty="0">
                <a:latin typeface="+mn-lt"/>
              </a:rPr>
              <a:t>) </a:t>
            </a:r>
            <a:r>
              <a:rPr lang="ru-RU" dirty="0" err="1">
                <a:latin typeface="+mn-lt"/>
              </a:rPr>
              <a:t>класів</a:t>
            </a:r>
            <a:r>
              <a:rPr lang="ru-RU" dirty="0">
                <a:latin typeface="+mn-lt"/>
              </a:rPr>
              <a:t>. </a:t>
            </a:r>
            <a:endParaRPr lang="ru-RU" dirty="0" smtClean="0">
              <a:latin typeface="+mn-lt"/>
            </a:endParaRPr>
          </a:p>
          <a:p>
            <a:pPr algn="l"/>
            <a:r>
              <a:rPr lang="ru-RU" dirty="0" err="1" smtClean="0">
                <a:latin typeface="+mn-lt"/>
              </a:rPr>
              <a:t>Існує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невідома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цільова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залежність</a:t>
            </a:r>
            <a:r>
              <a:rPr lang="ru-RU" dirty="0" smtClean="0">
                <a:latin typeface="+mn-lt"/>
              </a:rPr>
              <a:t> - </a:t>
            </a:r>
            <a:r>
              <a:rPr lang="ru-RU" dirty="0" err="1">
                <a:latin typeface="+mn-lt"/>
              </a:rPr>
              <a:t>відображення</a:t>
            </a:r>
            <a:r>
              <a:rPr lang="ru-RU" dirty="0">
                <a:latin typeface="+mn-lt"/>
              </a:rPr>
              <a:t> </a:t>
            </a:r>
            <a:r>
              <a:rPr lang="en-GB" dirty="0" smtClean="0">
                <a:solidFill>
                  <a:srgbClr val="0000CC"/>
                </a:solidFill>
                <a:latin typeface="+mn-lt"/>
              </a:rPr>
              <a:t>y*</a:t>
            </a:r>
            <a:r>
              <a:rPr lang="uk-UA" dirty="0" smtClean="0">
                <a:solidFill>
                  <a:srgbClr val="0000CC"/>
                </a:solidFill>
                <a:latin typeface="+mn-lt"/>
              </a:rPr>
              <a:t>: </a:t>
            </a:r>
            <a:r>
              <a:rPr lang="en-GB" dirty="0" smtClean="0">
                <a:solidFill>
                  <a:srgbClr val="0000CC"/>
                </a:solidFill>
                <a:latin typeface="+mn-lt"/>
              </a:rPr>
              <a:t>X</a:t>
            </a:r>
            <a:r>
              <a:rPr lang="uk-UA" dirty="0" smtClean="0">
                <a:solidFill>
                  <a:srgbClr val="0000CC"/>
                </a:solidFill>
                <a:latin typeface="+mn-lt"/>
              </a:rPr>
              <a:t> </a:t>
            </a:r>
            <a:r>
              <a:rPr lang="en-GB" dirty="0" smtClean="0">
                <a:solidFill>
                  <a:srgbClr val="0000CC"/>
                </a:solidFill>
                <a:latin typeface="+mn-lt"/>
                <a:sym typeface="Symbol" panose="05050102010706020507" pitchFamily="18" charset="2"/>
              </a:rPr>
              <a:t></a:t>
            </a:r>
            <a:r>
              <a:rPr lang="en-GB" dirty="0" smtClean="0">
                <a:solidFill>
                  <a:srgbClr val="0000CC"/>
                </a:solidFill>
                <a:latin typeface="+mn-lt"/>
              </a:rPr>
              <a:t> Y</a:t>
            </a:r>
            <a:r>
              <a:rPr lang="en-GB" dirty="0" smtClean="0">
                <a:latin typeface="+mn-lt"/>
              </a:rPr>
              <a:t>, </a:t>
            </a:r>
            <a:r>
              <a:rPr lang="ru-RU" dirty="0" err="1">
                <a:latin typeface="+mn-lt"/>
              </a:rPr>
              <a:t>значення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якої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відомі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лише</a:t>
            </a:r>
            <a:r>
              <a:rPr lang="ru-RU" dirty="0">
                <a:latin typeface="+mn-lt"/>
              </a:rPr>
              <a:t> на </a:t>
            </a:r>
            <a:r>
              <a:rPr lang="ru-RU" dirty="0" err="1">
                <a:latin typeface="+mn-lt"/>
              </a:rPr>
              <a:t>елементах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скінченної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навчальної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вибірки</a:t>
            </a:r>
            <a:r>
              <a:rPr lang="ru-RU" dirty="0">
                <a:latin typeface="+mn-lt"/>
              </a:rPr>
              <a:t> </a:t>
            </a:r>
            <a:r>
              <a:rPr lang="en-GB" b="1" dirty="0" err="1" smtClean="0">
                <a:solidFill>
                  <a:srgbClr val="0000CC"/>
                </a:solidFill>
                <a:latin typeface="+mn-lt"/>
              </a:rPr>
              <a:t>X</a:t>
            </a:r>
            <a:r>
              <a:rPr lang="en-GB" b="1" baseline="30000" dirty="0" err="1" smtClean="0">
                <a:solidFill>
                  <a:srgbClr val="0000CC"/>
                </a:solidFill>
                <a:latin typeface="+mn-lt"/>
              </a:rPr>
              <a:t>m</a:t>
            </a:r>
            <a:r>
              <a:rPr lang="uk-UA" b="1" dirty="0" smtClean="0">
                <a:solidFill>
                  <a:srgbClr val="0000CC"/>
                </a:solidFill>
                <a:latin typeface="+mn-lt"/>
              </a:rPr>
              <a:t> =</a:t>
            </a:r>
            <a:r>
              <a:rPr lang="en-US" b="1" dirty="0" smtClean="0">
                <a:solidFill>
                  <a:srgbClr val="0000CC"/>
                </a:solidFill>
                <a:latin typeface="+mn-lt"/>
              </a:rPr>
              <a:t>{(x</a:t>
            </a:r>
            <a:r>
              <a:rPr lang="en-US" b="1" baseline="-25000" dirty="0" smtClean="0">
                <a:solidFill>
                  <a:srgbClr val="0000CC"/>
                </a:solidFill>
                <a:latin typeface="+mn-lt"/>
              </a:rPr>
              <a:t>1</a:t>
            </a:r>
            <a:r>
              <a:rPr lang="en-US" b="1" dirty="0" smtClean="0">
                <a:solidFill>
                  <a:srgbClr val="0000CC"/>
                </a:solidFill>
                <a:latin typeface="+mn-lt"/>
              </a:rPr>
              <a:t>,y</a:t>
            </a:r>
            <a:r>
              <a:rPr lang="en-US" b="1" baseline="-25000" dirty="0" smtClean="0">
                <a:solidFill>
                  <a:srgbClr val="0000CC"/>
                </a:solidFill>
                <a:latin typeface="+mn-lt"/>
              </a:rPr>
              <a:t>1</a:t>
            </a:r>
            <a:r>
              <a:rPr lang="en-US" b="1" dirty="0" smtClean="0">
                <a:solidFill>
                  <a:srgbClr val="0000CC"/>
                </a:solidFill>
                <a:latin typeface="+mn-lt"/>
              </a:rPr>
              <a:t>),…,(</a:t>
            </a:r>
            <a:r>
              <a:rPr lang="en-US" b="1" dirty="0" err="1" smtClean="0">
                <a:solidFill>
                  <a:srgbClr val="0000CC"/>
                </a:solidFill>
                <a:latin typeface="+mn-lt"/>
              </a:rPr>
              <a:t>x</a:t>
            </a:r>
            <a:r>
              <a:rPr lang="en-US" b="1" baseline="-25000" dirty="0" err="1" smtClean="0">
                <a:solidFill>
                  <a:srgbClr val="0000CC"/>
                </a:solidFill>
                <a:latin typeface="+mn-lt"/>
              </a:rPr>
              <a:t>m</a:t>
            </a:r>
            <a:r>
              <a:rPr lang="en-US" b="1" dirty="0" err="1" smtClean="0">
                <a:solidFill>
                  <a:srgbClr val="0000CC"/>
                </a:solidFill>
                <a:latin typeface="+mn-lt"/>
              </a:rPr>
              <a:t>,y</a:t>
            </a:r>
            <a:r>
              <a:rPr lang="en-US" b="1" baseline="-25000" dirty="0" err="1">
                <a:solidFill>
                  <a:srgbClr val="0000CC"/>
                </a:solidFill>
                <a:latin typeface="+mn-lt"/>
              </a:rPr>
              <a:t>m</a:t>
            </a:r>
            <a:r>
              <a:rPr lang="en-US" b="1" dirty="0" smtClean="0">
                <a:solidFill>
                  <a:srgbClr val="0000CC"/>
                </a:solidFill>
                <a:latin typeface="+mn-lt"/>
              </a:rPr>
              <a:t>)}</a:t>
            </a:r>
            <a:r>
              <a:rPr lang="uk-UA" dirty="0">
                <a:latin typeface="+mn-lt"/>
              </a:rPr>
              <a:t>.</a:t>
            </a:r>
            <a:endParaRPr lang="uk-UA" dirty="0" smtClean="0">
              <a:latin typeface="+mn-lt"/>
            </a:endParaRPr>
          </a:p>
          <a:p>
            <a:pPr algn="l"/>
            <a:r>
              <a:rPr lang="ru-RU" dirty="0" err="1" smtClean="0">
                <a:latin typeface="+mn-lt"/>
              </a:rPr>
              <a:t>Потрібно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побудувати</a:t>
            </a:r>
            <a:r>
              <a:rPr lang="ru-RU" dirty="0">
                <a:latin typeface="+mn-lt"/>
              </a:rPr>
              <a:t> алгоритм </a:t>
            </a:r>
            <a:r>
              <a:rPr lang="uk-UA" b="1" dirty="0" smtClean="0">
                <a:solidFill>
                  <a:srgbClr val="0000CC"/>
                </a:solidFill>
                <a:latin typeface="+mn-lt"/>
              </a:rPr>
              <a:t>а: </a:t>
            </a:r>
            <a:r>
              <a:rPr lang="en-GB" b="1" dirty="0">
                <a:solidFill>
                  <a:srgbClr val="0000CC"/>
                </a:solidFill>
              </a:rPr>
              <a:t>X</a:t>
            </a:r>
            <a:r>
              <a:rPr lang="uk-UA" b="1" dirty="0">
                <a:solidFill>
                  <a:srgbClr val="0000CC"/>
                </a:solidFill>
              </a:rPr>
              <a:t> </a:t>
            </a:r>
            <a:r>
              <a:rPr lang="en-GB" b="1" dirty="0">
                <a:solidFill>
                  <a:srgbClr val="0000CC"/>
                </a:solidFill>
                <a:sym typeface="Symbol" panose="05050102010706020507" pitchFamily="18" charset="2"/>
              </a:rPr>
              <a:t></a:t>
            </a:r>
            <a:r>
              <a:rPr lang="en-GB" b="1" dirty="0">
                <a:solidFill>
                  <a:srgbClr val="0000CC"/>
                </a:solidFill>
              </a:rPr>
              <a:t> Y</a:t>
            </a:r>
            <a:r>
              <a:rPr lang="en-GB" dirty="0" smtClean="0">
                <a:latin typeface="+mn-lt"/>
              </a:rPr>
              <a:t>, </a:t>
            </a:r>
            <a:r>
              <a:rPr lang="ru-RU" dirty="0" err="1">
                <a:latin typeface="+mn-lt"/>
              </a:rPr>
              <a:t>здатний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класифікувати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довільний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об'єкт</a:t>
            </a:r>
            <a:r>
              <a:rPr lang="ru-RU" dirty="0">
                <a:latin typeface="+mn-lt"/>
              </a:rPr>
              <a:t> </a:t>
            </a:r>
            <a:endParaRPr lang="ru-RU" dirty="0" smtClean="0">
              <a:latin typeface="+mn-lt"/>
            </a:endParaRPr>
          </a:p>
          <a:p>
            <a:pPr algn="l"/>
            <a:r>
              <a:rPr lang="uk-UA" b="1" dirty="0" smtClean="0">
                <a:solidFill>
                  <a:srgbClr val="0000CC"/>
                </a:solidFill>
                <a:latin typeface="+mn-lt"/>
              </a:rPr>
              <a:t>х </a:t>
            </a:r>
            <a:r>
              <a:rPr lang="uk-UA" b="1" dirty="0" smtClean="0">
                <a:solidFill>
                  <a:srgbClr val="0000CC"/>
                </a:solidFill>
                <a:latin typeface="+mn-lt"/>
                <a:sym typeface="Symbol" panose="05050102010706020507" pitchFamily="18" charset="2"/>
              </a:rPr>
              <a:t></a:t>
            </a:r>
            <a:r>
              <a:rPr lang="uk-UA" b="1" dirty="0" smtClean="0">
                <a:solidFill>
                  <a:srgbClr val="0000CC"/>
                </a:solidFill>
                <a:latin typeface="+mn-lt"/>
              </a:rPr>
              <a:t>Х</a:t>
            </a:r>
            <a:r>
              <a:rPr lang="en-GB" dirty="0" smtClean="0">
                <a:solidFill>
                  <a:srgbClr val="0000CC"/>
                </a:solidFill>
                <a:latin typeface="+mn-lt"/>
              </a:rPr>
              <a:t>.</a:t>
            </a:r>
            <a:endParaRPr lang="ru-RU" dirty="0">
              <a:solidFill>
                <a:srgbClr val="0000CC"/>
              </a:solidFill>
              <a:latin typeface="+mn-lt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24656" y="2851455"/>
            <a:ext cx="8409397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dirty="0" err="1" smtClean="0">
                <a:latin typeface="+mn-lt"/>
              </a:rPr>
              <a:t>Припускається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що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множина</a:t>
            </a:r>
            <a:r>
              <a:rPr lang="ru-RU" dirty="0">
                <a:latin typeface="+mn-lt"/>
              </a:rPr>
              <a:t> пар «</a:t>
            </a:r>
            <a:r>
              <a:rPr lang="ru-RU" dirty="0" err="1">
                <a:latin typeface="+mn-lt"/>
              </a:rPr>
              <a:t>об'єкт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клас</a:t>
            </a:r>
            <a:r>
              <a:rPr lang="ru-RU" dirty="0">
                <a:latin typeface="+mn-lt"/>
              </a:rPr>
              <a:t>» </a:t>
            </a:r>
            <a:r>
              <a:rPr lang="en-GB" b="1" dirty="0" smtClean="0">
                <a:solidFill>
                  <a:srgbClr val="0000CC"/>
                </a:solidFill>
                <a:latin typeface="+mn-lt"/>
              </a:rPr>
              <a:t>X</a:t>
            </a:r>
            <a:r>
              <a:rPr lang="uk-UA" b="1" dirty="0" smtClean="0">
                <a:solidFill>
                  <a:srgbClr val="0000CC"/>
                </a:solidFill>
                <a:latin typeface="+mn-lt"/>
              </a:rPr>
              <a:t> </a:t>
            </a:r>
            <a:r>
              <a:rPr lang="en-GB" b="1" dirty="0" smtClean="0">
                <a:solidFill>
                  <a:srgbClr val="0000CC"/>
                </a:solidFill>
                <a:latin typeface="+mn-lt"/>
              </a:rPr>
              <a:t>×</a:t>
            </a:r>
            <a:r>
              <a:rPr lang="uk-UA" b="1" dirty="0" smtClean="0">
                <a:solidFill>
                  <a:srgbClr val="0000CC"/>
                </a:solidFill>
                <a:latin typeface="+mn-lt"/>
              </a:rPr>
              <a:t> </a:t>
            </a:r>
            <a:r>
              <a:rPr lang="en-GB" b="1" dirty="0" smtClean="0">
                <a:solidFill>
                  <a:srgbClr val="0000CC"/>
                </a:solidFill>
                <a:latin typeface="+mn-lt"/>
              </a:rPr>
              <a:t>Y </a:t>
            </a:r>
            <a:r>
              <a:rPr lang="ru-RU" dirty="0">
                <a:latin typeface="+mn-lt"/>
              </a:rPr>
              <a:t>є </a:t>
            </a:r>
            <a:r>
              <a:rPr lang="ru-RU" dirty="0" err="1">
                <a:latin typeface="+mn-lt"/>
              </a:rPr>
              <a:t>ймовірнісним</a:t>
            </a:r>
            <a:r>
              <a:rPr lang="ru-RU" dirty="0">
                <a:latin typeface="+mn-lt"/>
              </a:rPr>
              <a:t> простором з </a:t>
            </a:r>
            <a:r>
              <a:rPr lang="ru-RU" dirty="0" err="1">
                <a:latin typeface="+mn-lt"/>
              </a:rPr>
              <a:t>невідомою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ймовірнісною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мірою</a:t>
            </a:r>
            <a:r>
              <a:rPr lang="ru-RU" dirty="0">
                <a:latin typeface="+mn-lt"/>
              </a:rPr>
              <a:t> </a:t>
            </a:r>
            <a:r>
              <a:rPr lang="en-GB" b="1" dirty="0" smtClean="0">
                <a:solidFill>
                  <a:srgbClr val="0000CC"/>
                </a:solidFill>
                <a:latin typeface="+mn-lt"/>
              </a:rPr>
              <a:t>P</a:t>
            </a:r>
            <a:r>
              <a:rPr lang="uk-UA" dirty="0" smtClean="0">
                <a:latin typeface="+mn-lt"/>
              </a:rPr>
              <a:t>. </a:t>
            </a:r>
            <a:r>
              <a:rPr lang="ru-RU" dirty="0" smtClean="0">
                <a:latin typeface="+mn-lt"/>
              </a:rPr>
              <a:t>Є </a:t>
            </a:r>
            <a:r>
              <a:rPr lang="ru-RU" dirty="0" err="1">
                <a:latin typeface="+mn-lt"/>
              </a:rPr>
              <a:t>скінченна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навчальна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вибірка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спостережень</a:t>
            </a:r>
            <a:r>
              <a:rPr lang="ru-RU" dirty="0">
                <a:latin typeface="+mn-lt"/>
              </a:rPr>
              <a:t> </a:t>
            </a:r>
            <a:r>
              <a:rPr lang="en-GB" b="1" dirty="0" err="1">
                <a:solidFill>
                  <a:srgbClr val="0000CC"/>
                </a:solidFill>
              </a:rPr>
              <a:t>X</a:t>
            </a:r>
            <a:r>
              <a:rPr lang="en-GB" b="1" baseline="30000" dirty="0" err="1">
                <a:solidFill>
                  <a:srgbClr val="0000CC"/>
                </a:solidFill>
              </a:rPr>
              <a:t>m</a:t>
            </a:r>
            <a:r>
              <a:rPr lang="uk-UA" b="1" dirty="0">
                <a:solidFill>
                  <a:srgbClr val="0000CC"/>
                </a:solidFill>
              </a:rPr>
              <a:t> =</a:t>
            </a:r>
            <a:r>
              <a:rPr lang="en-US" b="1" dirty="0">
                <a:solidFill>
                  <a:srgbClr val="0000CC"/>
                </a:solidFill>
              </a:rPr>
              <a:t>{(x</a:t>
            </a:r>
            <a:r>
              <a:rPr lang="en-US" b="1" baseline="-25000" dirty="0">
                <a:solidFill>
                  <a:srgbClr val="0000CC"/>
                </a:solidFill>
              </a:rPr>
              <a:t>1</a:t>
            </a:r>
            <a:r>
              <a:rPr lang="en-US" b="1" dirty="0">
                <a:solidFill>
                  <a:srgbClr val="0000CC"/>
                </a:solidFill>
              </a:rPr>
              <a:t>,y</a:t>
            </a:r>
            <a:r>
              <a:rPr lang="en-US" b="1" baseline="-25000" dirty="0">
                <a:solidFill>
                  <a:srgbClr val="0000CC"/>
                </a:solidFill>
              </a:rPr>
              <a:t>1</a:t>
            </a:r>
            <a:r>
              <a:rPr lang="en-US" b="1" dirty="0">
                <a:solidFill>
                  <a:srgbClr val="0000CC"/>
                </a:solidFill>
              </a:rPr>
              <a:t>),…,(</a:t>
            </a:r>
            <a:r>
              <a:rPr lang="en-US" b="1" dirty="0" err="1">
                <a:solidFill>
                  <a:srgbClr val="0000CC"/>
                </a:solidFill>
              </a:rPr>
              <a:t>x</a:t>
            </a:r>
            <a:r>
              <a:rPr lang="en-US" b="1" baseline="-25000" dirty="0" err="1">
                <a:solidFill>
                  <a:srgbClr val="0000CC"/>
                </a:solidFill>
              </a:rPr>
              <a:t>m</a:t>
            </a:r>
            <a:r>
              <a:rPr lang="en-US" b="1" dirty="0" err="1">
                <a:solidFill>
                  <a:srgbClr val="0000CC"/>
                </a:solidFill>
              </a:rPr>
              <a:t>,y</a:t>
            </a:r>
            <a:r>
              <a:rPr lang="en-US" b="1" baseline="-25000" dirty="0" err="1">
                <a:solidFill>
                  <a:srgbClr val="0000CC"/>
                </a:solidFill>
              </a:rPr>
              <a:t>m</a:t>
            </a:r>
            <a:r>
              <a:rPr lang="en-US" b="1" dirty="0">
                <a:solidFill>
                  <a:srgbClr val="0000CC"/>
                </a:solidFill>
              </a:rPr>
              <a:t>)} </a:t>
            </a:r>
            <a:r>
              <a:rPr lang="uk-UA" b="1" dirty="0" smtClean="0">
                <a:solidFill>
                  <a:srgbClr val="0000CC"/>
                </a:solidFill>
              </a:rPr>
              <a:t>, </a:t>
            </a:r>
            <a:r>
              <a:rPr lang="ru-RU" dirty="0" err="1" smtClean="0">
                <a:latin typeface="+mn-lt"/>
              </a:rPr>
              <a:t>згенерована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згідно</a:t>
            </a:r>
            <a:r>
              <a:rPr lang="ru-RU" dirty="0">
                <a:latin typeface="+mn-lt"/>
              </a:rPr>
              <a:t> з </a:t>
            </a:r>
            <a:r>
              <a:rPr lang="ru-RU" dirty="0" err="1">
                <a:latin typeface="+mn-lt"/>
              </a:rPr>
              <a:t>ймовірнісною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мірою</a:t>
            </a:r>
            <a:r>
              <a:rPr lang="ru-RU" dirty="0">
                <a:latin typeface="+mn-lt"/>
              </a:rPr>
              <a:t> </a:t>
            </a:r>
            <a:r>
              <a:rPr lang="uk-UA" b="1" dirty="0" smtClean="0">
                <a:solidFill>
                  <a:srgbClr val="0000CC"/>
                </a:solidFill>
                <a:latin typeface="+mn-lt"/>
              </a:rPr>
              <a:t>Р</a:t>
            </a:r>
            <a:r>
              <a:rPr lang="uk-UA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Необхідно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побудувати</a:t>
            </a:r>
            <a:r>
              <a:rPr lang="ru-RU" dirty="0">
                <a:latin typeface="+mn-lt"/>
              </a:rPr>
              <a:t> алгоритм </a:t>
            </a:r>
            <a:r>
              <a:rPr lang="uk-UA" b="1" dirty="0">
                <a:solidFill>
                  <a:srgbClr val="0000CC"/>
                </a:solidFill>
              </a:rPr>
              <a:t>а: </a:t>
            </a:r>
            <a:r>
              <a:rPr lang="en-GB" b="1" dirty="0">
                <a:solidFill>
                  <a:srgbClr val="0000CC"/>
                </a:solidFill>
              </a:rPr>
              <a:t>X</a:t>
            </a:r>
            <a:r>
              <a:rPr lang="uk-UA" b="1" dirty="0">
                <a:solidFill>
                  <a:srgbClr val="0000CC"/>
                </a:solidFill>
              </a:rPr>
              <a:t> </a:t>
            </a:r>
            <a:r>
              <a:rPr lang="en-GB" b="1" dirty="0">
                <a:solidFill>
                  <a:srgbClr val="0000CC"/>
                </a:solidFill>
                <a:sym typeface="Symbol" panose="05050102010706020507" pitchFamily="18" charset="2"/>
              </a:rPr>
              <a:t></a:t>
            </a:r>
            <a:r>
              <a:rPr lang="en-GB" b="1" dirty="0">
                <a:solidFill>
                  <a:srgbClr val="0000CC"/>
                </a:solidFill>
              </a:rPr>
              <a:t> Y</a:t>
            </a:r>
            <a:r>
              <a:rPr lang="en-GB" dirty="0" smtClean="0">
                <a:latin typeface="+mn-lt"/>
              </a:rPr>
              <a:t>, </a:t>
            </a:r>
            <a:r>
              <a:rPr lang="ru-RU" dirty="0" err="1">
                <a:latin typeface="+mn-lt"/>
              </a:rPr>
              <a:t>здатний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класифікувати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довільний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об'єкт</a:t>
            </a:r>
            <a:r>
              <a:rPr lang="ru-RU" dirty="0">
                <a:latin typeface="+mn-lt"/>
              </a:rPr>
              <a:t> </a:t>
            </a:r>
            <a:r>
              <a:rPr lang="uk-UA" b="1" dirty="0">
                <a:solidFill>
                  <a:srgbClr val="0000CC"/>
                </a:solidFill>
              </a:rPr>
              <a:t>х </a:t>
            </a:r>
            <a:r>
              <a:rPr lang="uk-UA" b="1" dirty="0">
                <a:solidFill>
                  <a:srgbClr val="0000CC"/>
                </a:solidFill>
                <a:sym typeface="Symbol" panose="05050102010706020507" pitchFamily="18" charset="2"/>
              </a:rPr>
              <a:t></a:t>
            </a:r>
            <a:r>
              <a:rPr lang="uk-UA" b="1" dirty="0">
                <a:solidFill>
                  <a:srgbClr val="0000CC"/>
                </a:solidFill>
              </a:rPr>
              <a:t>Х</a:t>
            </a:r>
            <a:r>
              <a:rPr lang="en-GB" dirty="0">
                <a:solidFill>
                  <a:srgbClr val="0000CC"/>
                </a:solidFill>
              </a:rPr>
              <a:t>.</a:t>
            </a:r>
            <a:endParaRPr lang="ru-RU" dirty="0">
              <a:solidFill>
                <a:srgbClr val="0000CC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838115" y="2336148"/>
            <a:ext cx="4176143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ru-RU" b="1" dirty="0" err="1">
                <a:latin typeface="+mn-lt"/>
              </a:rPr>
              <a:t>Імовірнісне</a:t>
            </a:r>
            <a:r>
              <a:rPr lang="ru-RU" b="1" dirty="0">
                <a:latin typeface="+mn-lt"/>
              </a:rPr>
              <a:t> </a:t>
            </a:r>
            <a:r>
              <a:rPr lang="ru-RU" b="1" dirty="0" err="1">
                <a:latin typeface="+mn-lt"/>
              </a:rPr>
              <a:t>формулювання</a:t>
            </a:r>
            <a:r>
              <a:rPr lang="ru-RU" b="1" dirty="0">
                <a:latin typeface="+mn-lt"/>
              </a:rPr>
              <a:t> </a:t>
            </a:r>
            <a:r>
              <a:rPr lang="ru-RU" b="1" dirty="0" err="1">
                <a:latin typeface="+mn-lt"/>
              </a:rPr>
              <a:t>завдання</a:t>
            </a:r>
            <a:endParaRPr lang="ru-RU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85842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" y="0"/>
            <a:ext cx="92364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 err="1" smtClean="0">
                <a:solidFill>
                  <a:schemeClr val="bg1"/>
                </a:solidFill>
                <a:latin typeface="+mn-lt"/>
              </a:rPr>
              <a:t>Загальний</a:t>
            </a:r>
            <a:r>
              <a:rPr lang="ru-RU" sz="32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200" b="1" dirty="0" err="1" smtClean="0">
                <a:solidFill>
                  <a:schemeClr val="bg1"/>
                </a:solidFill>
                <a:latin typeface="+mn-lt"/>
              </a:rPr>
              <a:t>підхід</a:t>
            </a:r>
            <a:r>
              <a:rPr lang="ru-RU" sz="3200" b="1" dirty="0" smtClean="0">
                <a:solidFill>
                  <a:schemeClr val="bg1"/>
                </a:solidFill>
                <a:latin typeface="+mn-lt"/>
              </a:rPr>
              <a:t> до </a:t>
            </a:r>
            <a:r>
              <a:rPr lang="ru-RU" sz="3200" b="1" dirty="0" err="1" smtClean="0">
                <a:solidFill>
                  <a:schemeClr val="bg1"/>
                </a:solidFill>
                <a:latin typeface="+mn-lt"/>
              </a:rPr>
              <a:t>побудови</a:t>
            </a:r>
            <a:r>
              <a:rPr lang="ru-RU" sz="32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200" b="1" dirty="0" err="1" smtClean="0">
                <a:solidFill>
                  <a:schemeClr val="bg1"/>
                </a:solidFill>
                <a:latin typeface="+mn-lt"/>
              </a:rPr>
              <a:t>моделі</a:t>
            </a:r>
            <a:r>
              <a:rPr lang="ru-RU" sz="32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200" b="1" dirty="0" err="1" smtClean="0">
                <a:solidFill>
                  <a:schemeClr val="bg1"/>
                </a:solidFill>
                <a:latin typeface="+mn-lt"/>
              </a:rPr>
              <a:t>класифікації</a:t>
            </a:r>
            <a:endParaRPr lang="ru-RU" sz="32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95208" y="896655"/>
            <a:ext cx="875358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000" dirty="0"/>
          </a:p>
          <a:p>
            <a:endParaRPr lang="ru-RU" sz="2000" dirty="0"/>
          </a:p>
          <a:p>
            <a:r>
              <a:rPr lang="ru-RU" sz="2000" dirty="0"/>
              <a:t> 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03" y="766114"/>
            <a:ext cx="6262784" cy="4160837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6360387" y="816556"/>
            <a:ext cx="272265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dirty="0" err="1" smtClean="0">
                <a:latin typeface="+mn-lt"/>
              </a:rPr>
              <a:t>Навчаючий</a:t>
            </a:r>
            <a:r>
              <a:rPr lang="ru-RU" sz="1600" dirty="0" smtClean="0">
                <a:latin typeface="+mn-lt"/>
              </a:rPr>
              <a:t> </a:t>
            </a:r>
            <a:r>
              <a:rPr lang="ru-RU" sz="1600" dirty="0" err="1" smtClean="0">
                <a:latin typeface="+mn-lt"/>
              </a:rPr>
              <a:t>набір</a:t>
            </a:r>
            <a:r>
              <a:rPr lang="ru-RU" sz="1600" dirty="0" smtClean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використовується</a:t>
            </a:r>
            <a:r>
              <a:rPr lang="ru-RU" sz="1600" dirty="0">
                <a:latin typeface="+mn-lt"/>
              </a:rPr>
              <a:t> для </a:t>
            </a:r>
            <a:r>
              <a:rPr lang="ru-RU" sz="1600" dirty="0" err="1">
                <a:latin typeface="+mn-lt"/>
              </a:rPr>
              <a:t>побудови</a:t>
            </a:r>
            <a:r>
              <a:rPr lang="ru-RU" sz="1600" dirty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класифікаційної</a:t>
            </a:r>
            <a:r>
              <a:rPr lang="ru-RU" sz="1600" dirty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моделі</a:t>
            </a:r>
            <a:endParaRPr lang="ru-RU" sz="1600" dirty="0">
              <a:latin typeface="+mn-lt"/>
            </a:endParaRPr>
          </a:p>
          <a:p>
            <a:pPr algn="l"/>
            <a:endParaRPr lang="ru-RU" sz="1600" dirty="0">
              <a:latin typeface="+mn-lt"/>
            </a:endParaRPr>
          </a:p>
          <a:p>
            <a:pPr algn="l"/>
            <a:r>
              <a:rPr lang="ru-RU" sz="1600" dirty="0">
                <a:latin typeface="+mn-lt"/>
              </a:rPr>
              <a:t>Для </a:t>
            </a:r>
            <a:r>
              <a:rPr lang="ru-RU" sz="1600" dirty="0" err="1">
                <a:latin typeface="+mn-lt"/>
              </a:rPr>
              <a:t>оцінки</a:t>
            </a:r>
            <a:r>
              <a:rPr lang="ru-RU" sz="1600" dirty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якості</a:t>
            </a:r>
            <a:r>
              <a:rPr lang="ru-RU" sz="1600" dirty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моделі</a:t>
            </a:r>
            <a:r>
              <a:rPr lang="ru-RU" sz="1600" dirty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використовується</a:t>
            </a:r>
            <a:r>
              <a:rPr lang="ru-RU" sz="1600" dirty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позначений</a:t>
            </a:r>
            <a:r>
              <a:rPr lang="ru-RU" sz="1600" dirty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набір</a:t>
            </a:r>
            <a:r>
              <a:rPr lang="ru-RU" sz="1600" dirty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тестів</a:t>
            </a:r>
            <a:r>
              <a:rPr lang="ru-RU" sz="1600" dirty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раніше</a:t>
            </a:r>
            <a:r>
              <a:rPr lang="ru-RU" sz="1600" dirty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невидимих</a:t>
            </a:r>
            <a:r>
              <a:rPr lang="ru-RU" sz="1600" dirty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записів</a:t>
            </a:r>
            <a:r>
              <a:rPr lang="ru-RU" sz="1600" dirty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даних</a:t>
            </a:r>
            <a:r>
              <a:rPr lang="ru-RU" sz="1600" dirty="0">
                <a:latin typeface="+mn-lt"/>
              </a:rPr>
              <a:t>.</a:t>
            </a:r>
          </a:p>
          <a:p>
            <a:pPr algn="l"/>
            <a:endParaRPr lang="ru-RU" sz="1600" dirty="0">
              <a:latin typeface="+mn-lt"/>
            </a:endParaRPr>
          </a:p>
          <a:p>
            <a:pPr algn="l"/>
            <a:r>
              <a:rPr lang="ru-RU" sz="1600" dirty="0">
                <a:latin typeface="+mn-lt"/>
              </a:rPr>
              <a:t>Модель </a:t>
            </a:r>
            <a:r>
              <a:rPr lang="ru-RU" sz="1600" dirty="0" err="1">
                <a:latin typeface="+mn-lt"/>
              </a:rPr>
              <a:t>класифікації</a:t>
            </a:r>
            <a:r>
              <a:rPr lang="ru-RU" sz="1600" dirty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застосовується</a:t>
            </a:r>
            <a:r>
              <a:rPr lang="ru-RU" sz="1600" dirty="0">
                <a:latin typeface="+mn-lt"/>
              </a:rPr>
              <a:t> до </a:t>
            </a:r>
            <a:r>
              <a:rPr lang="ru-RU" sz="1600" dirty="0" err="1">
                <a:latin typeface="+mn-lt"/>
              </a:rPr>
              <a:t>нових</a:t>
            </a:r>
            <a:r>
              <a:rPr lang="ru-RU" sz="1600" dirty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записів</a:t>
            </a:r>
            <a:r>
              <a:rPr lang="ru-RU" sz="1600" dirty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із</a:t>
            </a:r>
            <a:r>
              <a:rPr lang="ru-RU" sz="1600" dirty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невідомими</a:t>
            </a:r>
            <a:r>
              <a:rPr lang="ru-RU" sz="1600" dirty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мітками</a:t>
            </a:r>
            <a:r>
              <a:rPr lang="ru-RU" sz="1600" dirty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класів</a:t>
            </a:r>
            <a:endParaRPr lang="ru-RU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49425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20921" y="47156"/>
            <a:ext cx="69733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Оцінка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класифікаційних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моделей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29" y="1694141"/>
            <a:ext cx="3024506" cy="1447089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232675" y="1284265"/>
            <a:ext cx="8889685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dirty="0" err="1" smtClean="0">
                <a:latin typeface="+mn-lt"/>
              </a:rPr>
              <a:t>Кількість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записів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тестів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які</a:t>
            </a:r>
            <a:r>
              <a:rPr lang="ru-RU" dirty="0">
                <a:latin typeface="+mn-lt"/>
              </a:rPr>
              <a:t> правильно (</a:t>
            </a:r>
            <a:r>
              <a:rPr lang="ru-RU" dirty="0" err="1">
                <a:latin typeface="+mn-lt"/>
              </a:rPr>
              <a:t>або</a:t>
            </a:r>
            <a:r>
              <a:rPr lang="ru-RU" dirty="0">
                <a:latin typeface="+mn-lt"/>
              </a:rPr>
              <a:t> неправильно) </a:t>
            </a:r>
            <a:r>
              <a:rPr lang="ru-RU" dirty="0" err="1">
                <a:latin typeface="+mn-lt"/>
              </a:rPr>
              <a:t>передбачені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моделлю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класифікації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утворюють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матрицю</a:t>
            </a:r>
            <a:r>
              <a:rPr lang="ru-RU" dirty="0" smtClean="0">
                <a:latin typeface="+mn-lt"/>
              </a:rPr>
              <a:t>:</a:t>
            </a:r>
            <a:endParaRPr lang="ru-RU" dirty="0">
              <a:latin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2675" y="899546"/>
            <a:ext cx="1023037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b="1" dirty="0" smtClean="0">
                <a:latin typeface="+mn-lt"/>
              </a:rPr>
              <a:t>Відомо</a:t>
            </a:r>
            <a:r>
              <a:rPr lang="uk-UA" dirty="0" smtClean="0">
                <a:latin typeface="+mn-lt"/>
              </a:rPr>
              <a:t>:</a:t>
            </a:r>
            <a:endParaRPr lang="ru-RU" dirty="0">
              <a:latin typeface="+mn-lt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362" y="3209056"/>
            <a:ext cx="5868467" cy="684099"/>
          </a:xfrm>
          <a:prstGeom prst="rect">
            <a:avLst/>
          </a:prstGeom>
          <a:ln>
            <a:solidFill>
              <a:srgbClr val="800080"/>
            </a:solidFill>
          </a:ln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0363" y="3960981"/>
            <a:ext cx="5868467" cy="753311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209592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47156"/>
            <a:ext cx="91439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Техніки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класифікації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95209" y="843871"/>
            <a:ext cx="8948790" cy="330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b="1" dirty="0" err="1">
                <a:solidFill>
                  <a:srgbClr val="800080"/>
                </a:solidFill>
                <a:latin typeface="+mn-lt"/>
              </a:rPr>
              <a:t>Базові</a:t>
            </a:r>
            <a:r>
              <a:rPr lang="ru-RU" b="1" dirty="0">
                <a:solidFill>
                  <a:srgbClr val="800080"/>
                </a:solidFill>
                <a:latin typeface="+mn-lt"/>
              </a:rPr>
              <a:t> </a:t>
            </a:r>
            <a:r>
              <a:rPr lang="ru-RU" b="1" dirty="0" err="1">
                <a:solidFill>
                  <a:srgbClr val="800080"/>
                </a:solidFill>
                <a:latin typeface="+mn-lt"/>
              </a:rPr>
              <a:t>класифікатори</a:t>
            </a:r>
            <a:endParaRPr lang="ru-RU" b="1" dirty="0">
              <a:solidFill>
                <a:srgbClr val="800080"/>
              </a:solidFill>
              <a:latin typeface="+mn-lt"/>
            </a:endParaRPr>
          </a:p>
          <a:p>
            <a:pPr marL="703263" indent="-342900" algn="l">
              <a:buClr>
                <a:srgbClr val="0000CC"/>
              </a:buClr>
              <a:buFont typeface="Wingdings" panose="05000000000000000000" pitchFamily="2" charset="2"/>
              <a:buChar char="Ø"/>
            </a:pPr>
            <a:r>
              <a:rPr lang="ru-RU" dirty="0" err="1">
                <a:latin typeface="+mn-lt"/>
              </a:rPr>
              <a:t>Методи</a:t>
            </a:r>
            <a:r>
              <a:rPr lang="ru-RU" dirty="0">
                <a:latin typeface="+mn-lt"/>
              </a:rPr>
              <a:t> на </a:t>
            </a:r>
            <a:r>
              <a:rPr lang="ru-RU" dirty="0" err="1">
                <a:latin typeface="+mn-lt"/>
              </a:rPr>
              <a:t>основі</a:t>
            </a:r>
            <a:r>
              <a:rPr lang="ru-RU" dirty="0">
                <a:latin typeface="+mn-lt"/>
              </a:rPr>
              <a:t> дерева </a:t>
            </a:r>
            <a:r>
              <a:rPr lang="ru-RU" dirty="0" err="1" smtClean="0">
                <a:latin typeface="+mn-lt"/>
              </a:rPr>
              <a:t>рішень</a:t>
            </a:r>
            <a:r>
              <a:rPr lang="en-US" dirty="0" smtClean="0">
                <a:latin typeface="+mn-lt"/>
              </a:rPr>
              <a:t> </a:t>
            </a:r>
            <a:r>
              <a:rPr lang="en-US" dirty="0">
                <a:solidFill>
                  <a:srgbClr val="0000CC"/>
                </a:solidFill>
                <a:latin typeface="+mn-lt"/>
              </a:rPr>
              <a:t>Decision Tree based </a:t>
            </a:r>
            <a:r>
              <a:rPr lang="en-US" dirty="0" smtClean="0">
                <a:solidFill>
                  <a:srgbClr val="0000CC"/>
                </a:solidFill>
                <a:latin typeface="+mn-lt"/>
              </a:rPr>
              <a:t>Methods</a:t>
            </a:r>
            <a:endParaRPr lang="ru-RU" dirty="0">
              <a:solidFill>
                <a:srgbClr val="0000CC"/>
              </a:solidFill>
              <a:latin typeface="+mn-lt"/>
            </a:endParaRPr>
          </a:p>
          <a:p>
            <a:pPr marL="703263" indent="-342900" algn="l">
              <a:buClr>
                <a:srgbClr val="0000CC"/>
              </a:buClr>
              <a:buFont typeface="Wingdings" panose="05000000000000000000" pitchFamily="2" charset="2"/>
              <a:buChar char="Ø"/>
            </a:pPr>
            <a:r>
              <a:rPr lang="ru-RU" dirty="0" err="1">
                <a:latin typeface="+mn-lt"/>
              </a:rPr>
              <a:t>Методи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засновані</a:t>
            </a:r>
            <a:r>
              <a:rPr lang="ru-RU" dirty="0">
                <a:latin typeface="+mn-lt"/>
              </a:rPr>
              <a:t> на </a:t>
            </a:r>
            <a:r>
              <a:rPr lang="ru-RU" dirty="0" smtClean="0">
                <a:latin typeface="+mn-lt"/>
              </a:rPr>
              <a:t>правилах</a:t>
            </a:r>
            <a:r>
              <a:rPr lang="en-US" dirty="0" smtClean="0">
                <a:latin typeface="+mn-lt"/>
              </a:rPr>
              <a:t> </a:t>
            </a:r>
            <a:r>
              <a:rPr lang="en-US" dirty="0" smtClean="0">
                <a:solidFill>
                  <a:srgbClr val="0000CC"/>
                </a:solidFill>
                <a:latin typeface="+mn-lt"/>
              </a:rPr>
              <a:t>Rule-based </a:t>
            </a:r>
            <a:r>
              <a:rPr lang="en-US" dirty="0">
                <a:solidFill>
                  <a:srgbClr val="0000CC"/>
                </a:solidFill>
                <a:latin typeface="+mn-lt"/>
              </a:rPr>
              <a:t>Methods</a:t>
            </a:r>
          </a:p>
          <a:p>
            <a:pPr marL="703263" indent="-342900" algn="l">
              <a:buClr>
                <a:srgbClr val="0000CC"/>
              </a:buClr>
              <a:buFont typeface="Wingdings" panose="05000000000000000000" pitchFamily="2" charset="2"/>
              <a:buChar char="Ø"/>
            </a:pPr>
            <a:r>
              <a:rPr lang="ru-RU" dirty="0" smtClean="0">
                <a:latin typeface="+mn-lt"/>
              </a:rPr>
              <a:t>Метод </a:t>
            </a:r>
            <a:r>
              <a:rPr lang="ru-RU" dirty="0" err="1" smtClean="0">
                <a:latin typeface="+mn-lt"/>
              </a:rPr>
              <a:t>найближчого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сусіда</a:t>
            </a:r>
            <a:r>
              <a:rPr lang="en-US" dirty="0">
                <a:latin typeface="+mn-lt"/>
              </a:rPr>
              <a:t> </a:t>
            </a:r>
            <a:r>
              <a:rPr lang="en-US" dirty="0">
                <a:solidFill>
                  <a:srgbClr val="0000CC"/>
                </a:solidFill>
                <a:latin typeface="+mn-lt"/>
              </a:rPr>
              <a:t>Nearest-neighbor</a:t>
            </a:r>
            <a:endParaRPr lang="ru-RU" dirty="0">
              <a:solidFill>
                <a:srgbClr val="0000CC"/>
              </a:solidFill>
              <a:latin typeface="+mn-lt"/>
            </a:endParaRPr>
          </a:p>
          <a:p>
            <a:pPr marL="703263" indent="-342900" algn="l">
              <a:buClr>
                <a:srgbClr val="0000CC"/>
              </a:buClr>
              <a:buFont typeface="Wingdings" panose="05000000000000000000" pitchFamily="2" charset="2"/>
              <a:buChar char="Ø"/>
            </a:pPr>
            <a:r>
              <a:rPr lang="ru-RU" dirty="0" err="1">
                <a:latin typeface="+mn-lt"/>
              </a:rPr>
              <a:t>Нейронні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мережі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Глибокі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нейронні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мережі</a:t>
            </a:r>
            <a:r>
              <a:rPr lang="en-US" dirty="0">
                <a:latin typeface="+mn-lt"/>
              </a:rPr>
              <a:t> </a:t>
            </a:r>
            <a:r>
              <a:rPr lang="en-US" dirty="0">
                <a:solidFill>
                  <a:srgbClr val="0000CC"/>
                </a:solidFill>
                <a:latin typeface="+mn-lt"/>
              </a:rPr>
              <a:t>Neural Networks, Deep Neural Nets</a:t>
            </a:r>
            <a:endParaRPr lang="ru-RU" dirty="0">
              <a:solidFill>
                <a:srgbClr val="0000CC"/>
              </a:solidFill>
              <a:latin typeface="+mn-lt"/>
            </a:endParaRPr>
          </a:p>
          <a:p>
            <a:pPr marL="703263" indent="-342900" algn="l">
              <a:buClr>
                <a:srgbClr val="0000CC"/>
              </a:buClr>
              <a:buFont typeface="Wingdings" panose="05000000000000000000" pitchFamily="2" charset="2"/>
              <a:buChar char="Ø"/>
            </a:pPr>
            <a:r>
              <a:rPr lang="ru-RU" dirty="0" err="1" smtClean="0">
                <a:latin typeface="+mn-lt"/>
              </a:rPr>
              <a:t>Наївний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Байєсовський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класифікатор</a:t>
            </a:r>
            <a:r>
              <a:rPr lang="ru-RU" dirty="0" smtClean="0">
                <a:latin typeface="+mn-lt"/>
              </a:rPr>
              <a:t> </a:t>
            </a:r>
            <a:r>
              <a:rPr lang="ru-RU" dirty="0">
                <a:latin typeface="+mn-lt"/>
              </a:rPr>
              <a:t>та </a:t>
            </a:r>
            <a:r>
              <a:rPr lang="ru-RU" dirty="0" err="1">
                <a:latin typeface="+mn-lt"/>
              </a:rPr>
              <a:t>Байєсові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мережі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довіри</a:t>
            </a:r>
            <a:r>
              <a:rPr lang="en-US" dirty="0">
                <a:latin typeface="+mn-lt"/>
              </a:rPr>
              <a:t> </a:t>
            </a:r>
            <a:r>
              <a:rPr lang="en-US" dirty="0">
                <a:solidFill>
                  <a:srgbClr val="0000CC"/>
                </a:solidFill>
                <a:latin typeface="+mn-lt"/>
              </a:rPr>
              <a:t>Naïve Bayes and Bayesian Belief </a:t>
            </a:r>
            <a:r>
              <a:rPr lang="en-US" dirty="0" smtClean="0">
                <a:solidFill>
                  <a:srgbClr val="0000CC"/>
                </a:solidFill>
                <a:latin typeface="+mn-lt"/>
              </a:rPr>
              <a:t>Networks </a:t>
            </a:r>
            <a:endParaRPr lang="ru-RU" dirty="0">
              <a:solidFill>
                <a:srgbClr val="0000CC"/>
              </a:solidFill>
              <a:latin typeface="+mn-lt"/>
            </a:endParaRPr>
          </a:p>
          <a:p>
            <a:pPr marL="703263" indent="-342900" algn="l">
              <a:buClr>
                <a:srgbClr val="0000CC"/>
              </a:buClr>
              <a:buFont typeface="Wingdings" panose="05000000000000000000" pitchFamily="2" charset="2"/>
              <a:buChar char="Ø"/>
            </a:pPr>
            <a:r>
              <a:rPr lang="ru-RU" dirty="0" err="1" smtClean="0">
                <a:latin typeface="+mn-lt"/>
              </a:rPr>
              <a:t>Машини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опорних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векторів</a:t>
            </a:r>
            <a:r>
              <a:rPr lang="en-US" dirty="0" smtClean="0">
                <a:latin typeface="+mn-lt"/>
              </a:rPr>
              <a:t>  </a:t>
            </a:r>
            <a:r>
              <a:rPr lang="en-GB" dirty="0" smtClean="0">
                <a:solidFill>
                  <a:srgbClr val="0000CC"/>
                </a:solidFill>
                <a:latin typeface="+mn-lt"/>
              </a:rPr>
              <a:t>Support </a:t>
            </a:r>
            <a:r>
              <a:rPr lang="en-GB" dirty="0">
                <a:solidFill>
                  <a:srgbClr val="0000CC"/>
                </a:solidFill>
                <a:latin typeface="+mn-lt"/>
              </a:rPr>
              <a:t>Vector Machines</a:t>
            </a:r>
            <a:endParaRPr lang="ru-RU" dirty="0">
              <a:solidFill>
                <a:srgbClr val="0000CC"/>
              </a:solidFill>
              <a:latin typeface="+mn-lt"/>
            </a:endParaRPr>
          </a:p>
          <a:p>
            <a:pPr algn="l"/>
            <a:endParaRPr lang="ru-RU" dirty="0">
              <a:latin typeface="+mn-lt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b="1" dirty="0" err="1">
                <a:solidFill>
                  <a:srgbClr val="800080"/>
                </a:solidFill>
                <a:latin typeface="+mn-lt"/>
              </a:rPr>
              <a:t>Класифікатори</a:t>
            </a:r>
            <a:r>
              <a:rPr lang="ru-RU" b="1" dirty="0">
                <a:solidFill>
                  <a:srgbClr val="800080"/>
                </a:solidFill>
                <a:latin typeface="+mn-lt"/>
              </a:rPr>
              <a:t> ансамблю</a:t>
            </a:r>
          </a:p>
          <a:p>
            <a:pPr marL="719138" indent="-342900" algn="l">
              <a:buClr>
                <a:srgbClr val="0000CC"/>
              </a:buClr>
              <a:buFont typeface="Wingdings" panose="05000000000000000000" pitchFamily="2" charset="2"/>
              <a:buChar char="Ø"/>
            </a:pPr>
            <a:r>
              <a:rPr lang="en-US" altLang="en-US" dirty="0">
                <a:latin typeface="+mn-lt"/>
                <a:ea typeface="ＭＳ Ｐゴシック" panose="020B0600070205080204" pitchFamily="34" charset="-128"/>
              </a:rPr>
              <a:t>Boosting, Bagging</a:t>
            </a:r>
            <a:r>
              <a:rPr lang="en-US" altLang="en-US" dirty="0" smtClean="0">
                <a:latin typeface="+mn-lt"/>
                <a:ea typeface="ＭＳ Ｐゴシック" panose="020B0600070205080204" pitchFamily="34" charset="-128"/>
              </a:rPr>
              <a:t>,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випадкові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ліси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4515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44875" y="980601"/>
            <a:ext cx="806007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sz="2000" dirty="0" smtClean="0">
                <a:latin typeface="+mn-lt"/>
              </a:rPr>
              <a:t>Структура </a:t>
            </a:r>
            <a:r>
              <a:rPr lang="ru-RU" sz="2000" dirty="0">
                <a:latin typeface="+mn-lt"/>
              </a:rPr>
              <a:t>дерева, схожа на блок-схему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sz="2000" dirty="0" err="1">
                <a:latin typeface="+mn-lt"/>
              </a:rPr>
              <a:t>Внутрішній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вузол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означає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 smtClean="0">
                <a:latin typeface="+mn-lt"/>
              </a:rPr>
              <a:t>перевірку</a:t>
            </a:r>
            <a:r>
              <a:rPr lang="ru-RU" sz="2000" dirty="0" smtClean="0">
                <a:latin typeface="+mn-lt"/>
              </a:rPr>
              <a:t> атрибуту</a:t>
            </a:r>
            <a:endParaRPr lang="ru-RU" sz="2000" dirty="0">
              <a:latin typeface="+mn-lt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uk-UA" sz="2000" dirty="0" smtClean="0">
                <a:latin typeface="+mn-lt"/>
              </a:rPr>
              <a:t>Гілка </a:t>
            </a:r>
            <a:r>
              <a:rPr lang="ru-RU" sz="2000" dirty="0" err="1" smtClean="0">
                <a:latin typeface="+mn-lt"/>
              </a:rPr>
              <a:t>представляє</a:t>
            </a:r>
            <a:r>
              <a:rPr lang="ru-RU" sz="2000" dirty="0" smtClean="0">
                <a:latin typeface="+mn-lt"/>
              </a:rPr>
              <a:t> </a:t>
            </a:r>
            <a:r>
              <a:rPr lang="ru-RU" sz="2000" dirty="0">
                <a:latin typeface="+mn-lt"/>
              </a:rPr>
              <a:t>результат тесту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sz="2000" dirty="0" err="1">
                <a:latin typeface="+mn-lt"/>
              </a:rPr>
              <a:t>Вузлові</a:t>
            </a:r>
            <a:r>
              <a:rPr lang="ru-RU" sz="2000" dirty="0">
                <a:latin typeface="+mn-lt"/>
              </a:rPr>
              <a:t> листки </a:t>
            </a:r>
            <a:r>
              <a:rPr lang="ru-RU" sz="2000" dirty="0" err="1">
                <a:latin typeface="+mn-lt"/>
              </a:rPr>
              <a:t>представляють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мітки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класів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або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розподіл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класів</a:t>
            </a:r>
            <a:endParaRPr lang="ru-RU" sz="2000" dirty="0"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570966" y="0"/>
            <a:ext cx="505138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ru-RU" sz="3600" b="1" dirty="0">
                <a:solidFill>
                  <a:schemeClr val="bg1"/>
                </a:solidFill>
                <a:latin typeface="+mn-lt"/>
              </a:rPr>
              <a:t>Дерево </a:t>
            </a:r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рішень</a:t>
            </a:r>
            <a:r>
              <a:rPr lang="uk-UA" sz="3600" b="1" dirty="0" smtClean="0">
                <a:solidFill>
                  <a:schemeClr val="bg1"/>
                </a:solidFill>
                <a:latin typeface="+mn-lt"/>
              </a:rPr>
              <a:t>. Поняття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58991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6209C8D7-84F6-408D-8B34-C8AFD82B4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7B3F00D-7942-4514-8C03-F0F627D42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2B5309-B5CA-4AD1-B6EF-30AB68056BA9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8D544E44-FB63-46B6-833E-C93F7C501739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>
          <a:xfrm>
            <a:off x="0" y="4767263"/>
            <a:ext cx="2057400" cy="274637"/>
          </a:xfrm>
        </p:spPr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grpSp>
        <p:nvGrpSpPr>
          <p:cNvPr id="6" name="Группа 5"/>
          <p:cNvGrpSpPr/>
          <p:nvPr/>
        </p:nvGrpSpPr>
        <p:grpSpPr>
          <a:xfrm>
            <a:off x="571393" y="1063774"/>
            <a:ext cx="2857500" cy="3308811"/>
            <a:chOff x="1668961" y="1153924"/>
            <a:chExt cx="2857500" cy="3308811"/>
          </a:xfrm>
        </p:grpSpPr>
        <p:graphicFrame>
          <p:nvGraphicFramePr>
            <p:cNvPr id="11266" name="Object 4">
              <a:extLst>
                <a:ext uri="{FF2B5EF4-FFF2-40B4-BE49-F238E27FC236}">
                  <a16:creationId xmlns="" xmlns:a16="http://schemas.microsoft.com/office/drawing/2014/main" id="{AAF733EE-AC48-417C-A650-8AA95D1D3A6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05610602"/>
                </p:ext>
              </p:extLst>
            </p:nvPr>
          </p:nvGraphicFramePr>
          <p:xfrm>
            <a:off x="1668961" y="1635001"/>
            <a:ext cx="2857500" cy="28277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0" name="Document" r:id="rId3" imgW="5854700" imgH="5778500" progId="Word.Document.8">
                    <p:embed/>
                  </p:oleObj>
                </mc:Choice>
                <mc:Fallback>
                  <p:oleObj name="Document" r:id="rId3" imgW="5854700" imgH="5778500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8961" y="1635001"/>
                          <a:ext cx="2857500" cy="28277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67" name="Text Box 5">
              <a:extLst>
                <a:ext uri="{FF2B5EF4-FFF2-40B4-BE49-F238E27FC236}">
                  <a16:creationId xmlns="" xmlns:a16="http://schemas.microsoft.com/office/drawing/2014/main" id="{3621E2A5-F664-437B-AE78-7D73B7C096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183191">
              <a:off x="2213186" y="1153924"/>
              <a:ext cx="92525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 dirty="0">
                  <a:solidFill>
                    <a:srgbClr val="006600"/>
                  </a:solidFill>
                </a:rPr>
                <a:t>categorical</a:t>
              </a:r>
              <a:endParaRPr lang="en-US" altLang="en-US" sz="1200" dirty="0">
                <a:solidFill>
                  <a:schemeClr val="bg2"/>
                </a:solidFill>
              </a:endParaRPr>
            </a:p>
          </p:txBody>
        </p:sp>
        <p:sp>
          <p:nvSpPr>
            <p:cNvPr id="11268" name="Text Box 6">
              <a:extLst>
                <a:ext uri="{FF2B5EF4-FFF2-40B4-BE49-F238E27FC236}">
                  <a16:creationId xmlns="" xmlns:a16="http://schemas.microsoft.com/office/drawing/2014/main" id="{12F31BB3-3622-408D-93AE-1E2B768392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183191">
              <a:off x="2727536" y="1153924"/>
              <a:ext cx="92525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 dirty="0">
                  <a:solidFill>
                    <a:srgbClr val="006600"/>
                  </a:solidFill>
                </a:rPr>
                <a:t>categorical</a:t>
              </a:r>
              <a:endParaRPr lang="en-US" altLang="en-US" sz="1200" dirty="0">
                <a:solidFill>
                  <a:schemeClr val="bg2"/>
                </a:solidFill>
              </a:endParaRPr>
            </a:p>
          </p:txBody>
        </p:sp>
        <p:sp>
          <p:nvSpPr>
            <p:cNvPr id="11269" name="Text Box 7">
              <a:extLst>
                <a:ext uri="{FF2B5EF4-FFF2-40B4-BE49-F238E27FC236}">
                  <a16:creationId xmlns="" xmlns:a16="http://schemas.microsoft.com/office/drawing/2014/main" id="{CEF1E55E-15F9-4FB1-9AD2-4096F05313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183191">
              <a:off x="3363926" y="1153924"/>
              <a:ext cx="92525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 dirty="0">
                  <a:solidFill>
                    <a:srgbClr val="006600"/>
                  </a:solidFill>
                </a:rPr>
                <a:t>continuous</a:t>
              </a:r>
              <a:endParaRPr lang="en-US" altLang="en-US" sz="1200" dirty="0">
                <a:solidFill>
                  <a:schemeClr val="bg2"/>
                </a:solidFill>
              </a:endParaRPr>
            </a:p>
          </p:txBody>
        </p:sp>
        <p:sp>
          <p:nvSpPr>
            <p:cNvPr id="11270" name="Text Box 8">
              <a:extLst>
                <a:ext uri="{FF2B5EF4-FFF2-40B4-BE49-F238E27FC236}">
                  <a16:creationId xmlns="" xmlns:a16="http://schemas.microsoft.com/office/drawing/2014/main" id="{00F11CDF-7A5F-4A25-A27F-5E19BE37B1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183191">
              <a:off x="3911321" y="1268224"/>
              <a:ext cx="53412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 dirty="0">
                  <a:solidFill>
                    <a:srgbClr val="006600"/>
                  </a:solidFill>
                </a:rPr>
                <a:t>class</a:t>
              </a:r>
              <a:endParaRPr lang="en-US" altLang="en-US" sz="1200" dirty="0">
                <a:solidFill>
                  <a:schemeClr val="bg2"/>
                </a:solidFill>
              </a:endParaRPr>
            </a:p>
          </p:txBody>
        </p:sp>
      </p:grpSp>
      <p:sp>
        <p:nvSpPr>
          <p:cNvPr id="11296" name="AutoShape 34">
            <a:extLst>
              <a:ext uri="{FF2B5EF4-FFF2-40B4-BE49-F238E27FC236}">
                <a16:creationId xmlns="" xmlns:a16="http://schemas.microsoft.com/office/drawing/2014/main" id="{83756341-704C-4551-85C1-F261F77EB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0231" y="2836102"/>
            <a:ext cx="685800" cy="220266"/>
          </a:xfrm>
          <a:prstGeom prst="rightArrow">
            <a:avLst>
              <a:gd name="adj1" fmla="val 50000"/>
              <a:gd name="adj2" fmla="val 77838"/>
            </a:avLst>
          </a:prstGeom>
          <a:solidFill>
            <a:srgbClr val="CC0000"/>
          </a:solidFill>
          <a:ln w="12700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050"/>
          </a:p>
        </p:txBody>
      </p:sp>
      <p:grpSp>
        <p:nvGrpSpPr>
          <p:cNvPr id="7" name="Группа 6"/>
          <p:cNvGrpSpPr/>
          <p:nvPr/>
        </p:nvGrpSpPr>
        <p:grpSpPr>
          <a:xfrm>
            <a:off x="4914900" y="1219795"/>
            <a:ext cx="3458538" cy="2732485"/>
            <a:chOff x="4854179" y="1325166"/>
            <a:chExt cx="2918221" cy="2732485"/>
          </a:xfrm>
        </p:grpSpPr>
        <p:sp>
          <p:nvSpPr>
            <p:cNvPr id="11271" name="Line 9">
              <a:extLst>
                <a:ext uri="{FF2B5EF4-FFF2-40B4-BE49-F238E27FC236}">
                  <a16:creationId xmlns="" xmlns:a16="http://schemas.microsoft.com/office/drawing/2014/main" id="{82EAE677-E585-4156-876E-0290EF4FEB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67463" y="3378994"/>
              <a:ext cx="182166" cy="3952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25"/>
            </a:p>
          </p:txBody>
        </p:sp>
        <p:sp>
          <p:nvSpPr>
            <p:cNvPr id="11272" name="Line 10">
              <a:extLst>
                <a:ext uri="{FF2B5EF4-FFF2-40B4-BE49-F238E27FC236}">
                  <a16:creationId xmlns="" xmlns:a16="http://schemas.microsoft.com/office/drawing/2014/main" id="{77ED1CC4-49CF-4F79-A87A-9B45606084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19737" y="3378994"/>
              <a:ext cx="242888" cy="3952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25"/>
            </a:p>
          </p:txBody>
        </p:sp>
        <p:sp>
          <p:nvSpPr>
            <p:cNvPr id="11273" name="Line 11">
              <a:extLst>
                <a:ext uri="{FF2B5EF4-FFF2-40B4-BE49-F238E27FC236}">
                  <a16:creationId xmlns="" xmlns:a16="http://schemas.microsoft.com/office/drawing/2014/main" id="{52BA86D1-67C3-433A-AACE-C464A5A190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04323" y="2783681"/>
              <a:ext cx="302419" cy="39647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25"/>
            </a:p>
          </p:txBody>
        </p:sp>
        <p:sp>
          <p:nvSpPr>
            <p:cNvPr id="11274" name="Line 12">
              <a:extLst>
                <a:ext uri="{FF2B5EF4-FFF2-40B4-BE49-F238E27FC236}">
                  <a16:creationId xmlns="" xmlns:a16="http://schemas.microsoft.com/office/drawing/2014/main" id="{A7BED808-9C10-478B-9B3B-A9AC1809CA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12769" y="2783681"/>
              <a:ext cx="363141" cy="39647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25"/>
            </a:p>
          </p:txBody>
        </p:sp>
        <p:sp>
          <p:nvSpPr>
            <p:cNvPr id="11275" name="Line 13">
              <a:extLst>
                <a:ext uri="{FF2B5EF4-FFF2-40B4-BE49-F238E27FC236}">
                  <a16:creationId xmlns="" xmlns:a16="http://schemas.microsoft.com/office/drawing/2014/main" id="{80E001A5-6780-480F-ABAA-39BF004359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5766" y="2238375"/>
              <a:ext cx="423863" cy="3476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25"/>
            </a:p>
          </p:txBody>
        </p:sp>
        <p:sp>
          <p:nvSpPr>
            <p:cNvPr id="11276" name="Line 14">
              <a:extLst>
                <a:ext uri="{FF2B5EF4-FFF2-40B4-BE49-F238E27FC236}">
                  <a16:creationId xmlns="" xmlns:a16="http://schemas.microsoft.com/office/drawing/2014/main" id="{8D54B519-3549-4FC6-A7BA-9E2644A641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95875" y="2238375"/>
              <a:ext cx="423863" cy="3476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25"/>
            </a:p>
          </p:txBody>
        </p:sp>
        <p:sp>
          <p:nvSpPr>
            <p:cNvPr id="11277" name="Text Box 15">
              <a:extLst>
                <a:ext uri="{FF2B5EF4-FFF2-40B4-BE49-F238E27FC236}">
                  <a16:creationId xmlns="" xmlns:a16="http://schemas.microsoft.com/office/drawing/2014/main" id="{069D5BD2-820C-412A-B6B0-62846A9D6C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4019" y="1897857"/>
              <a:ext cx="702469" cy="461665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 dirty="0">
                  <a:solidFill>
                    <a:srgbClr val="2D1993"/>
                  </a:solidFill>
                </a:rPr>
                <a:t>Home Owner</a:t>
              </a:r>
              <a:endParaRPr lang="en-US" altLang="en-US" sz="1200" dirty="0">
                <a:solidFill>
                  <a:schemeClr val="bg2"/>
                </a:solidFill>
              </a:endParaRPr>
            </a:p>
          </p:txBody>
        </p:sp>
        <p:sp>
          <p:nvSpPr>
            <p:cNvPr id="11278" name="Text Box 16">
              <a:extLst>
                <a:ext uri="{FF2B5EF4-FFF2-40B4-BE49-F238E27FC236}">
                  <a16:creationId xmlns="" xmlns:a16="http://schemas.microsoft.com/office/drawing/2014/main" id="{8C8FDB0A-874F-41DF-874F-3ED923F47C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6019" y="2586038"/>
              <a:ext cx="701279" cy="276999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>
                  <a:solidFill>
                    <a:srgbClr val="2D1993"/>
                  </a:solidFill>
                </a:rPr>
                <a:t>MarSt</a:t>
              </a:r>
              <a:endParaRPr lang="en-US" altLang="en-US" sz="1200">
                <a:solidFill>
                  <a:schemeClr val="bg2"/>
                </a:solidFill>
              </a:endParaRPr>
            </a:p>
          </p:txBody>
        </p:sp>
        <p:sp>
          <p:nvSpPr>
            <p:cNvPr id="11279" name="Text Box 17">
              <a:extLst>
                <a:ext uri="{FF2B5EF4-FFF2-40B4-BE49-F238E27FC236}">
                  <a16:creationId xmlns="" xmlns:a16="http://schemas.microsoft.com/office/drawing/2014/main" id="{90756A9E-17D5-4C9B-B6F1-3D7F0D6399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01904" y="3180160"/>
              <a:ext cx="726281" cy="276999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>
                  <a:solidFill>
                    <a:srgbClr val="2D1993"/>
                  </a:solidFill>
                </a:rPr>
                <a:t>Income</a:t>
              </a:r>
              <a:endParaRPr lang="en-US" altLang="en-US" sz="1200">
                <a:solidFill>
                  <a:schemeClr val="bg2"/>
                </a:solidFill>
              </a:endParaRPr>
            </a:p>
          </p:txBody>
        </p:sp>
        <p:sp>
          <p:nvSpPr>
            <p:cNvPr id="11280" name="AutoShape 18">
              <a:extLst>
                <a:ext uri="{FF2B5EF4-FFF2-40B4-BE49-F238E27FC236}">
                  <a16:creationId xmlns="" xmlns:a16="http://schemas.microsoft.com/office/drawing/2014/main" id="{FD2811B5-DCF5-4B53-8300-1207982C15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7228" y="3771900"/>
              <a:ext cx="470297" cy="275035"/>
            </a:xfrm>
            <a:prstGeom prst="roundRect">
              <a:avLst>
                <a:gd name="adj" fmla="val 16769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050"/>
            </a:p>
          </p:txBody>
        </p:sp>
        <p:sp>
          <p:nvSpPr>
            <p:cNvPr id="11281" name="Text Box 19">
              <a:extLst>
                <a:ext uri="{FF2B5EF4-FFF2-40B4-BE49-F238E27FC236}">
                  <a16:creationId xmlns="" xmlns:a16="http://schemas.microsoft.com/office/drawing/2014/main" id="{666E12E6-A47F-4131-8ACB-CDA366AA47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40079" y="3771901"/>
              <a:ext cx="51435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>
                  <a:solidFill>
                    <a:srgbClr val="800000"/>
                  </a:solidFill>
                </a:rPr>
                <a:t>YES</a:t>
              </a:r>
              <a:endParaRPr lang="en-US" altLang="en-US" sz="1200">
                <a:solidFill>
                  <a:schemeClr val="bg2"/>
                </a:solidFill>
              </a:endParaRPr>
            </a:p>
          </p:txBody>
        </p:sp>
        <p:sp>
          <p:nvSpPr>
            <p:cNvPr id="11282" name="AutoShape 20">
              <a:extLst>
                <a:ext uri="{FF2B5EF4-FFF2-40B4-BE49-F238E27FC236}">
                  <a16:creationId xmlns="" xmlns:a16="http://schemas.microsoft.com/office/drawing/2014/main" id="{59367DB1-AA95-409A-BAB9-E1B9AC7537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8041" y="3784998"/>
              <a:ext cx="490538" cy="272653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050"/>
            </a:p>
          </p:txBody>
        </p:sp>
        <p:sp>
          <p:nvSpPr>
            <p:cNvPr id="11283" name="Text Box 21">
              <a:extLst>
                <a:ext uri="{FF2B5EF4-FFF2-40B4-BE49-F238E27FC236}">
                  <a16:creationId xmlns="" xmlns:a16="http://schemas.microsoft.com/office/drawing/2014/main" id="{70F9981D-6F2D-4A8A-AC4E-50B624ACBC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6276" y="3774282"/>
              <a:ext cx="41549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>
                  <a:solidFill>
                    <a:srgbClr val="800000"/>
                  </a:solidFill>
                </a:rPr>
                <a:t>NO</a:t>
              </a:r>
              <a:endParaRPr lang="en-US" altLang="en-US" sz="1200">
                <a:solidFill>
                  <a:schemeClr val="bg2"/>
                </a:solidFill>
              </a:endParaRPr>
            </a:p>
          </p:txBody>
        </p:sp>
        <p:sp>
          <p:nvSpPr>
            <p:cNvPr id="11284" name="AutoShape 22">
              <a:extLst>
                <a:ext uri="{FF2B5EF4-FFF2-40B4-BE49-F238E27FC236}">
                  <a16:creationId xmlns="" xmlns:a16="http://schemas.microsoft.com/office/drawing/2014/main" id="{90EC9A02-70FF-437E-A083-E036EBC7A6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4179" y="2596753"/>
              <a:ext cx="514350" cy="260747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050"/>
            </a:p>
          </p:txBody>
        </p:sp>
        <p:sp>
          <p:nvSpPr>
            <p:cNvPr id="11285" name="Text Box 23">
              <a:extLst>
                <a:ext uri="{FF2B5EF4-FFF2-40B4-BE49-F238E27FC236}">
                  <a16:creationId xmlns="" xmlns:a16="http://schemas.microsoft.com/office/drawing/2014/main" id="{8C2D9E2E-C19E-4553-9C99-F6A5730140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1223" y="2586038"/>
              <a:ext cx="41549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>
                  <a:solidFill>
                    <a:srgbClr val="800000"/>
                  </a:solidFill>
                </a:rPr>
                <a:t>NO</a:t>
              </a:r>
              <a:endParaRPr lang="en-US" altLang="en-US" sz="1200">
                <a:solidFill>
                  <a:srgbClr val="00FFFF"/>
                </a:solidFill>
              </a:endParaRPr>
            </a:p>
          </p:txBody>
        </p:sp>
        <p:sp>
          <p:nvSpPr>
            <p:cNvPr id="11286" name="AutoShape 24">
              <a:extLst>
                <a:ext uri="{FF2B5EF4-FFF2-40B4-BE49-F238E27FC236}">
                  <a16:creationId xmlns="" xmlns:a16="http://schemas.microsoft.com/office/drawing/2014/main" id="{46D93ED2-48A5-41B8-A320-78D0FAD2B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5879" y="3200400"/>
              <a:ext cx="514350" cy="285750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050"/>
            </a:p>
          </p:txBody>
        </p:sp>
        <p:sp>
          <p:nvSpPr>
            <p:cNvPr id="11287" name="Text Box 25">
              <a:extLst>
                <a:ext uri="{FF2B5EF4-FFF2-40B4-BE49-F238E27FC236}">
                  <a16:creationId xmlns="" xmlns:a16="http://schemas.microsoft.com/office/drawing/2014/main" id="{FE82CFED-1B96-4755-A8B2-8B44720BD3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58636" y="3200401"/>
              <a:ext cx="41549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>
                  <a:solidFill>
                    <a:srgbClr val="800000"/>
                  </a:solidFill>
                </a:rPr>
                <a:t>NO</a:t>
              </a:r>
              <a:endParaRPr lang="en-US" altLang="en-US" sz="1200">
                <a:solidFill>
                  <a:schemeClr val="bg2"/>
                </a:solidFill>
              </a:endParaRPr>
            </a:p>
          </p:txBody>
        </p:sp>
        <p:sp>
          <p:nvSpPr>
            <p:cNvPr id="11288" name="Text Box 26">
              <a:extLst>
                <a:ext uri="{FF2B5EF4-FFF2-40B4-BE49-F238E27FC236}">
                  <a16:creationId xmlns="" xmlns:a16="http://schemas.microsoft.com/office/drawing/2014/main" id="{6386C606-B31B-495F-8C24-07187CCC51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9601" y="2238376"/>
              <a:ext cx="44916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/>
                <a:t>Yes</a:t>
              </a:r>
              <a:endParaRPr lang="en-US" altLang="en-US" sz="1200">
                <a:solidFill>
                  <a:schemeClr val="bg2"/>
                </a:solidFill>
              </a:endParaRPr>
            </a:p>
          </p:txBody>
        </p:sp>
        <p:sp>
          <p:nvSpPr>
            <p:cNvPr id="11289" name="Text Box 27">
              <a:extLst>
                <a:ext uri="{FF2B5EF4-FFF2-40B4-BE49-F238E27FC236}">
                  <a16:creationId xmlns="" xmlns:a16="http://schemas.microsoft.com/office/drawing/2014/main" id="{77EC554D-F790-49A4-B9EE-AE54664314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9649" y="2238376"/>
              <a:ext cx="38023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/>
                <a:t>No</a:t>
              </a:r>
              <a:endParaRPr lang="en-US" altLang="en-US" sz="1200">
                <a:solidFill>
                  <a:schemeClr val="bg2"/>
                </a:solidFill>
              </a:endParaRPr>
            </a:p>
          </p:txBody>
        </p:sp>
        <p:sp>
          <p:nvSpPr>
            <p:cNvPr id="11290" name="Text Box 28">
              <a:extLst>
                <a:ext uri="{FF2B5EF4-FFF2-40B4-BE49-F238E27FC236}">
                  <a16:creationId xmlns="" xmlns:a16="http://schemas.microsoft.com/office/drawing/2014/main" id="{E28D3DC4-73ED-4E15-A5DD-6639DB190D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5080" y="2812257"/>
              <a:ext cx="74732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/>
                <a:t>Married</a:t>
              </a:r>
              <a:r>
                <a:rPr lang="en-US" altLang="en-US" sz="1200">
                  <a:solidFill>
                    <a:schemeClr val="bg2"/>
                  </a:solidFill>
                </a:rPr>
                <a:t> </a:t>
              </a:r>
            </a:p>
          </p:txBody>
        </p:sp>
        <p:sp>
          <p:nvSpPr>
            <p:cNvPr id="11291" name="Text Box 29">
              <a:extLst>
                <a:ext uri="{FF2B5EF4-FFF2-40B4-BE49-F238E27FC236}">
                  <a16:creationId xmlns="" xmlns:a16="http://schemas.microsoft.com/office/drawing/2014/main" id="{BDBC937C-75A1-46F9-8781-4F71834416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6078" y="2904351"/>
              <a:ext cx="1300357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 dirty="0"/>
                <a:t>Single, Divorced</a:t>
              </a:r>
              <a:endParaRPr lang="en-US" altLang="en-US" sz="1200" dirty="0">
                <a:solidFill>
                  <a:schemeClr val="bg2"/>
                </a:solidFill>
              </a:endParaRPr>
            </a:p>
          </p:txBody>
        </p:sp>
        <p:sp>
          <p:nvSpPr>
            <p:cNvPr id="11292" name="Text Box 30">
              <a:extLst>
                <a:ext uri="{FF2B5EF4-FFF2-40B4-BE49-F238E27FC236}">
                  <a16:creationId xmlns="" xmlns:a16="http://schemas.microsoft.com/office/drawing/2014/main" id="{E0C44E44-8289-4C7B-9727-148BF58FCE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8341" y="3427810"/>
              <a:ext cx="59022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/>
                <a:t>&lt; 80K</a:t>
              </a:r>
              <a:endParaRPr lang="en-US" altLang="en-US" sz="1200">
                <a:solidFill>
                  <a:schemeClr val="bg2"/>
                </a:solidFill>
              </a:endParaRPr>
            </a:p>
          </p:txBody>
        </p:sp>
        <p:sp>
          <p:nvSpPr>
            <p:cNvPr id="11293" name="Text Box 31">
              <a:extLst>
                <a:ext uri="{FF2B5EF4-FFF2-40B4-BE49-F238E27FC236}">
                  <a16:creationId xmlns="" xmlns:a16="http://schemas.microsoft.com/office/drawing/2014/main" id="{6F73CB7E-83CF-4740-B92C-00CFC599F2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9459" y="3427810"/>
              <a:ext cx="59022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/>
                <a:t>&gt; 80K</a:t>
              </a:r>
              <a:endParaRPr lang="en-US" altLang="en-US" sz="1200">
                <a:solidFill>
                  <a:schemeClr val="bg2"/>
                </a:solidFill>
              </a:endParaRPr>
            </a:p>
          </p:txBody>
        </p:sp>
        <p:sp>
          <p:nvSpPr>
            <p:cNvPr id="11294" name="Text Box 32">
              <a:extLst>
                <a:ext uri="{FF2B5EF4-FFF2-40B4-BE49-F238E27FC236}">
                  <a16:creationId xmlns="" xmlns:a16="http://schemas.microsoft.com/office/drawing/2014/main" id="{F4E39710-1A80-4186-BA53-52E339F367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5726" y="1325166"/>
              <a:ext cx="1579278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350" i="1" dirty="0">
                  <a:solidFill>
                    <a:srgbClr val="FF0000"/>
                  </a:solidFill>
                </a:rPr>
                <a:t>Splitting Attributes</a:t>
              </a:r>
            </a:p>
          </p:txBody>
        </p:sp>
        <p:sp>
          <p:nvSpPr>
            <p:cNvPr id="11295" name="Line 33">
              <a:extLst>
                <a:ext uri="{FF2B5EF4-FFF2-40B4-BE49-F238E27FC236}">
                  <a16:creationId xmlns="" xmlns:a16="http://schemas.microsoft.com/office/drawing/2014/main" id="{D43A1C32-B52E-4411-9CA0-91161532E0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7210" y="1610917"/>
              <a:ext cx="402431" cy="40124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25"/>
            </a:p>
          </p:txBody>
        </p:sp>
        <p:sp>
          <p:nvSpPr>
            <p:cNvPr id="11297" name="Line 35">
              <a:extLst>
                <a:ext uri="{FF2B5EF4-FFF2-40B4-BE49-F238E27FC236}">
                  <a16:creationId xmlns="" xmlns:a16="http://schemas.microsoft.com/office/drawing/2014/main" id="{7749B7FD-180C-42E4-B610-574E3B2AA4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06791" y="1610917"/>
              <a:ext cx="57150" cy="85844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25"/>
            </a:p>
          </p:txBody>
        </p:sp>
      </p:grpSp>
      <p:sp>
        <p:nvSpPr>
          <p:cNvPr id="11298" name="Text Box 36">
            <a:extLst>
              <a:ext uri="{FF2B5EF4-FFF2-40B4-BE49-F238E27FC236}">
                <a16:creationId xmlns="" xmlns:a16="http://schemas.microsoft.com/office/drawing/2014/main" id="{FA00C3E4-B00D-4A5E-9FF8-1893408D4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416" y="4376738"/>
            <a:ext cx="18859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500" dirty="0">
                <a:solidFill>
                  <a:schemeClr val="tx2"/>
                </a:solidFill>
              </a:rPr>
              <a:t>Training Data</a:t>
            </a:r>
            <a:endParaRPr lang="en-US" altLang="en-US" sz="1500" dirty="0">
              <a:solidFill>
                <a:schemeClr val="bg2"/>
              </a:solidFill>
            </a:endParaRPr>
          </a:p>
        </p:txBody>
      </p:sp>
      <p:sp>
        <p:nvSpPr>
          <p:cNvPr id="11299" name="Text Box 37">
            <a:extLst>
              <a:ext uri="{FF2B5EF4-FFF2-40B4-BE49-F238E27FC236}">
                <a16:creationId xmlns="" xmlns:a16="http://schemas.microsoft.com/office/drawing/2014/main" id="{DF205736-1004-43CF-8B54-AB3C266DD7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7241" y="4336241"/>
            <a:ext cx="23431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500" dirty="0">
                <a:solidFill>
                  <a:schemeClr val="tx2"/>
                </a:solidFill>
              </a:rPr>
              <a:t>Model:  Decision Tree</a:t>
            </a:r>
            <a:endParaRPr lang="en-US" altLang="en-US" sz="1500" dirty="0">
              <a:solidFill>
                <a:schemeClr val="bg2"/>
              </a:solidFill>
            </a:endParaRPr>
          </a:p>
        </p:txBody>
      </p:sp>
      <p:sp>
        <p:nvSpPr>
          <p:cNvPr id="41" name="Прямоугольник 40"/>
          <p:cNvSpPr/>
          <p:nvPr/>
        </p:nvSpPr>
        <p:spPr>
          <a:xfrm>
            <a:off x="0" y="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Приклад дерева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рішень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42612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A1571193-677B-465D-9306-B0E032468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Introduction to Data Mining, 2</a:t>
            </a:r>
            <a:r>
              <a:rPr lang="en-US" baseline="30000">
                <a:solidFill>
                  <a:srgbClr val="000000">
                    <a:tint val="75000"/>
                  </a:srgbClr>
                </a:solidFill>
              </a:rPr>
              <a:t>nd</a:t>
            </a:r>
            <a:r>
              <a:rPr lang="en-US">
                <a:solidFill>
                  <a:srgbClr val="000000">
                    <a:tint val="75000"/>
                  </a:srgbClr>
                </a:solidFill>
              </a:rPr>
              <a:t> Edition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13FB714-8A7D-4AC9-9285-3F12BC02F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FB5405-7CE1-4177-9B10-0CA610354D57}" type="slidenum">
              <a:rPr 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16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7878102B-9290-40B9-902F-8D9BF8BF9E1F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>
          <a:xfrm>
            <a:off x="0" y="4767263"/>
            <a:ext cx="2057400" cy="274637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09/21/2020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5" name="Группа 4"/>
          <p:cNvGrpSpPr/>
          <p:nvPr/>
        </p:nvGrpSpPr>
        <p:grpSpPr>
          <a:xfrm>
            <a:off x="4203299" y="1281113"/>
            <a:ext cx="3576245" cy="2020491"/>
            <a:chOff x="4203299" y="1281113"/>
            <a:chExt cx="3576245" cy="2020491"/>
          </a:xfrm>
        </p:grpSpPr>
        <p:sp>
          <p:nvSpPr>
            <p:cNvPr id="12294" name="Line 8">
              <a:extLst>
                <a:ext uri="{FF2B5EF4-FFF2-40B4-BE49-F238E27FC236}">
                  <a16:creationId xmlns="" xmlns:a16="http://schemas.microsoft.com/office/drawing/2014/main" id="{6698DAD6-3D77-467B-9B25-8C319A0B06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47323" y="2622947"/>
              <a:ext cx="182165" cy="3952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defTabSz="685800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1050" b="1" kern="120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295" name="Line 9">
              <a:extLst>
                <a:ext uri="{FF2B5EF4-FFF2-40B4-BE49-F238E27FC236}">
                  <a16:creationId xmlns="" xmlns:a16="http://schemas.microsoft.com/office/drawing/2014/main" id="{4BE82DD1-A94F-4E25-92A5-6965E39D2E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99597" y="2622947"/>
              <a:ext cx="242888" cy="3952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defTabSz="685800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1050" b="1" kern="120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296" name="Line 10">
              <a:extLst>
                <a:ext uri="{FF2B5EF4-FFF2-40B4-BE49-F238E27FC236}">
                  <a16:creationId xmlns="" xmlns:a16="http://schemas.microsoft.com/office/drawing/2014/main" id="{B909B3E2-F753-48A3-ABCD-2CA9A2933A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54266" y="2050256"/>
              <a:ext cx="302419" cy="39647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defTabSz="685800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1050" b="1" kern="120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297" name="Line 11">
              <a:extLst>
                <a:ext uri="{FF2B5EF4-FFF2-40B4-BE49-F238E27FC236}">
                  <a16:creationId xmlns="" xmlns:a16="http://schemas.microsoft.com/office/drawing/2014/main" id="{0DEFA638-F2F5-4DA8-89DA-01B1BDEACF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62713" y="2050256"/>
              <a:ext cx="363141" cy="39647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defTabSz="685800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1050" b="1" kern="120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298" name="Line 12">
              <a:extLst>
                <a:ext uri="{FF2B5EF4-FFF2-40B4-BE49-F238E27FC236}">
                  <a16:creationId xmlns="" xmlns:a16="http://schemas.microsoft.com/office/drawing/2014/main" id="{44CFBC32-A04C-440D-AC60-3ACF98117C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75710" y="1504950"/>
              <a:ext cx="423863" cy="3476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defTabSz="685800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1050" b="1" kern="120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299" name="Line 13">
              <a:extLst>
                <a:ext uri="{FF2B5EF4-FFF2-40B4-BE49-F238E27FC236}">
                  <a16:creationId xmlns="" xmlns:a16="http://schemas.microsoft.com/office/drawing/2014/main" id="{4A84FDFF-8D34-45A9-BBF8-3DF8508B98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45819" y="1504950"/>
              <a:ext cx="423863" cy="3476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defTabSz="685800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1050" b="1" kern="120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300" name="Text Box 14">
              <a:extLst>
                <a:ext uri="{FF2B5EF4-FFF2-40B4-BE49-F238E27FC236}">
                  <a16:creationId xmlns="" xmlns:a16="http://schemas.microsoft.com/office/drawing/2014/main" id="{FA7BE591-E656-46A7-AB21-D8336C0693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3963" y="1307307"/>
              <a:ext cx="702469" cy="276999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>
                <a:spcBef>
                  <a:spcPct val="20000"/>
                </a:spcBef>
                <a:spcAft>
                  <a:spcPct val="0"/>
                </a:spcAft>
                <a:buClr>
                  <a:srgbClr val="00C0C0"/>
                </a:buClr>
                <a:buNone/>
              </a:pPr>
              <a:r>
                <a:rPr lang="en-US" altLang="en-US" sz="1200" b="1" kern="1200">
                  <a:solidFill>
                    <a:srgbClr val="2D1993"/>
                  </a:solidFill>
                  <a:cs typeface="+mn-cs"/>
                </a:rPr>
                <a:t>MarSt</a:t>
              </a:r>
              <a:endParaRPr lang="en-US" altLang="en-US" sz="1200" kern="1200">
                <a:solidFill>
                  <a:srgbClr val="C0C0C0"/>
                </a:solidFill>
                <a:cs typeface="+mn-cs"/>
              </a:endParaRPr>
            </a:p>
          </p:txBody>
        </p:sp>
        <p:sp>
          <p:nvSpPr>
            <p:cNvPr id="12301" name="Text Box 15">
              <a:extLst>
                <a:ext uri="{FF2B5EF4-FFF2-40B4-BE49-F238E27FC236}">
                  <a16:creationId xmlns="" xmlns:a16="http://schemas.microsoft.com/office/drawing/2014/main" id="{0351834D-3E07-4EBA-B7BC-8AD514D0BF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5962" y="1852613"/>
              <a:ext cx="701279" cy="461665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>
                <a:spcBef>
                  <a:spcPct val="20000"/>
                </a:spcBef>
                <a:spcAft>
                  <a:spcPct val="0"/>
                </a:spcAft>
                <a:buClr>
                  <a:srgbClr val="00C0C0"/>
                </a:buClr>
                <a:buNone/>
              </a:pPr>
              <a:r>
                <a:rPr lang="en-US" altLang="en-US" sz="1200" b="1" kern="1200">
                  <a:solidFill>
                    <a:srgbClr val="2D1993"/>
                  </a:solidFill>
                  <a:cs typeface="+mn-cs"/>
                </a:rPr>
                <a:t>Home Owner</a:t>
              </a:r>
              <a:endParaRPr lang="en-US" altLang="en-US" sz="1200" kern="1200">
                <a:solidFill>
                  <a:srgbClr val="C0C0C0"/>
                </a:solidFill>
                <a:cs typeface="+mn-cs"/>
              </a:endParaRPr>
            </a:p>
          </p:txBody>
        </p:sp>
        <p:sp>
          <p:nvSpPr>
            <p:cNvPr id="12302" name="Text Box 16">
              <a:extLst>
                <a:ext uri="{FF2B5EF4-FFF2-40B4-BE49-F238E27FC236}">
                  <a16:creationId xmlns="" xmlns:a16="http://schemas.microsoft.com/office/drawing/2014/main" id="{ED864B38-EA30-4D31-93FE-C30F87CB4D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1763" y="2424113"/>
              <a:ext cx="726281" cy="276999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>
                <a:spcBef>
                  <a:spcPct val="20000"/>
                </a:spcBef>
                <a:spcAft>
                  <a:spcPct val="0"/>
                </a:spcAft>
                <a:buClr>
                  <a:srgbClr val="00C0C0"/>
                </a:buClr>
                <a:buNone/>
              </a:pPr>
              <a:r>
                <a:rPr lang="en-US" altLang="en-US" sz="1200" b="1" kern="1200">
                  <a:solidFill>
                    <a:srgbClr val="2D1993"/>
                  </a:solidFill>
                  <a:cs typeface="+mn-cs"/>
                </a:rPr>
                <a:t>Income</a:t>
              </a:r>
              <a:endParaRPr lang="en-US" altLang="en-US" sz="1200" kern="1200">
                <a:solidFill>
                  <a:srgbClr val="C0C0C0"/>
                </a:solidFill>
                <a:cs typeface="+mn-cs"/>
              </a:endParaRPr>
            </a:p>
          </p:txBody>
        </p:sp>
        <p:sp>
          <p:nvSpPr>
            <p:cNvPr id="12303" name="AutoShape 17">
              <a:extLst>
                <a:ext uri="{FF2B5EF4-FFF2-40B4-BE49-F238E27FC236}">
                  <a16:creationId xmlns="" xmlns:a16="http://schemas.microsoft.com/office/drawing/2014/main" id="{D4A93664-3825-4697-91DB-A563E3CFA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088" y="3015854"/>
              <a:ext cx="470297" cy="275034"/>
            </a:xfrm>
            <a:prstGeom prst="roundRect">
              <a:avLst>
                <a:gd name="adj" fmla="val 16769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l" defTabSz="685800" eaLnBrk="0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050" b="1" kern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2304" name="Text Box 18">
              <a:extLst>
                <a:ext uri="{FF2B5EF4-FFF2-40B4-BE49-F238E27FC236}">
                  <a16:creationId xmlns="" xmlns:a16="http://schemas.microsoft.com/office/drawing/2014/main" id="{813C5F42-E294-446D-BAB8-BA73EF3C61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19938" y="3015854"/>
              <a:ext cx="51435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>
                <a:spcBef>
                  <a:spcPct val="20000"/>
                </a:spcBef>
                <a:spcAft>
                  <a:spcPct val="0"/>
                </a:spcAft>
                <a:buClr>
                  <a:srgbClr val="00C0C0"/>
                </a:buClr>
                <a:buNone/>
              </a:pPr>
              <a:r>
                <a:rPr lang="en-US" altLang="en-US" sz="1200" b="1" kern="1200">
                  <a:solidFill>
                    <a:srgbClr val="800000"/>
                  </a:solidFill>
                  <a:cs typeface="+mn-cs"/>
                </a:rPr>
                <a:t>YES</a:t>
              </a:r>
              <a:endParaRPr lang="en-US" altLang="en-US" sz="1200" kern="1200">
                <a:solidFill>
                  <a:srgbClr val="C0C0C0"/>
                </a:solidFill>
                <a:cs typeface="+mn-cs"/>
              </a:endParaRPr>
            </a:p>
          </p:txBody>
        </p:sp>
        <p:sp>
          <p:nvSpPr>
            <p:cNvPr id="12305" name="AutoShape 19">
              <a:extLst>
                <a:ext uri="{FF2B5EF4-FFF2-40B4-BE49-F238E27FC236}">
                  <a16:creationId xmlns="" xmlns:a16="http://schemas.microsoft.com/office/drawing/2014/main" id="{E001673C-3D0D-4DCB-97C9-F20B1C2774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7900" y="3028950"/>
              <a:ext cx="490538" cy="272654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l" defTabSz="685800" eaLnBrk="0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050" b="1" kern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2306" name="Text Box 20">
              <a:extLst>
                <a:ext uri="{FF2B5EF4-FFF2-40B4-BE49-F238E27FC236}">
                  <a16:creationId xmlns="" xmlns:a16="http://schemas.microsoft.com/office/drawing/2014/main" id="{32FD8B4D-7EAF-43C7-8868-ABB7F8C302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06136" y="3018235"/>
              <a:ext cx="41549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>
                <a:spcBef>
                  <a:spcPct val="20000"/>
                </a:spcBef>
                <a:spcAft>
                  <a:spcPct val="0"/>
                </a:spcAft>
                <a:buClr>
                  <a:srgbClr val="00C0C0"/>
                </a:buClr>
                <a:buNone/>
              </a:pPr>
              <a:r>
                <a:rPr lang="en-US" altLang="en-US" sz="1200" b="1" kern="1200">
                  <a:solidFill>
                    <a:srgbClr val="800000"/>
                  </a:solidFill>
                  <a:cs typeface="+mn-cs"/>
                </a:rPr>
                <a:t>NO</a:t>
              </a:r>
              <a:endParaRPr lang="en-US" altLang="en-US" sz="1200" kern="1200">
                <a:solidFill>
                  <a:srgbClr val="C0C0C0"/>
                </a:solidFill>
                <a:cs typeface="+mn-cs"/>
              </a:endParaRPr>
            </a:p>
          </p:txBody>
        </p:sp>
        <p:sp>
          <p:nvSpPr>
            <p:cNvPr id="12307" name="AutoShape 21">
              <a:extLst>
                <a:ext uri="{FF2B5EF4-FFF2-40B4-BE49-F238E27FC236}">
                  <a16:creationId xmlns="" xmlns:a16="http://schemas.microsoft.com/office/drawing/2014/main" id="{1BA0B396-4C82-4AB2-8E99-F8625E891B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4122" y="1863328"/>
              <a:ext cx="514350" cy="260747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l" defTabSz="685800" eaLnBrk="0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050" b="1" kern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2308" name="Text Box 22">
              <a:extLst>
                <a:ext uri="{FF2B5EF4-FFF2-40B4-BE49-F238E27FC236}">
                  <a16:creationId xmlns="" xmlns:a16="http://schemas.microsoft.com/office/drawing/2014/main" id="{3F642F6A-0ADF-426D-B50A-0C81EB2C4C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1167" y="1852613"/>
              <a:ext cx="41549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>
                <a:spcBef>
                  <a:spcPct val="20000"/>
                </a:spcBef>
                <a:spcAft>
                  <a:spcPct val="0"/>
                </a:spcAft>
                <a:buClr>
                  <a:srgbClr val="00C0C0"/>
                </a:buClr>
                <a:buNone/>
              </a:pPr>
              <a:r>
                <a:rPr lang="en-US" altLang="en-US" sz="1200" b="1" kern="1200">
                  <a:solidFill>
                    <a:srgbClr val="800000"/>
                  </a:solidFill>
                  <a:cs typeface="+mn-cs"/>
                </a:rPr>
                <a:t>NO</a:t>
              </a:r>
              <a:endParaRPr lang="en-US" altLang="en-US" sz="1200" kern="1200">
                <a:solidFill>
                  <a:srgbClr val="00FFFF"/>
                </a:solidFill>
                <a:cs typeface="+mn-cs"/>
              </a:endParaRPr>
            </a:p>
          </p:txBody>
        </p:sp>
        <p:grpSp>
          <p:nvGrpSpPr>
            <p:cNvPr id="12309" name="Group 35">
              <a:extLst>
                <a:ext uri="{FF2B5EF4-FFF2-40B4-BE49-F238E27FC236}">
                  <a16:creationId xmlns="" xmlns:a16="http://schemas.microsoft.com/office/drawing/2014/main" id="{B22A43E7-0F42-4BB2-8EAE-965DAC3711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38763" y="2424113"/>
              <a:ext cx="514350" cy="285750"/>
              <a:chOff x="4927" y="2340"/>
              <a:chExt cx="432" cy="240"/>
            </a:xfrm>
          </p:grpSpPr>
          <p:sp>
            <p:nvSpPr>
              <p:cNvPr id="12321" name="AutoShape 23">
                <a:extLst>
                  <a:ext uri="{FF2B5EF4-FFF2-40B4-BE49-F238E27FC236}">
                    <a16:creationId xmlns="" xmlns:a16="http://schemas.microsoft.com/office/drawing/2014/main" id="{0A9EB9A3-7B80-418D-B376-4D6B9124AA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27" y="2340"/>
                <a:ext cx="432" cy="240"/>
              </a:xfrm>
              <a:prstGeom prst="roundRect">
                <a:avLst>
                  <a:gd name="adj" fmla="val 16667"/>
                </a:avLst>
              </a:pr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-84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l" defTabSz="685800" eaLnBrk="0"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1050" b="1" kern="120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12322" name="Text Box 24">
                <a:extLst>
                  <a:ext uri="{FF2B5EF4-FFF2-40B4-BE49-F238E27FC236}">
                    <a16:creationId xmlns="" xmlns:a16="http://schemas.microsoft.com/office/drawing/2014/main" id="{62F00DFC-95BD-4E87-A989-CCC523B5B7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55" y="2340"/>
                <a:ext cx="34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-84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C0C0"/>
                  </a:buClr>
                  <a:buNone/>
                </a:pPr>
                <a:r>
                  <a:rPr lang="en-US" altLang="en-US" sz="1200" b="1" kern="1200">
                    <a:solidFill>
                      <a:srgbClr val="800000"/>
                    </a:solidFill>
                    <a:cs typeface="+mn-cs"/>
                  </a:rPr>
                  <a:t>NO</a:t>
                </a:r>
                <a:endParaRPr lang="en-US" altLang="en-US" sz="1200" kern="1200">
                  <a:solidFill>
                    <a:srgbClr val="C0C0C0"/>
                  </a:solidFill>
                  <a:cs typeface="+mn-cs"/>
                </a:endParaRPr>
              </a:p>
            </p:txBody>
          </p:sp>
        </p:grpSp>
        <p:sp>
          <p:nvSpPr>
            <p:cNvPr id="12310" name="Text Box 25">
              <a:extLst>
                <a:ext uri="{FF2B5EF4-FFF2-40B4-BE49-F238E27FC236}">
                  <a16:creationId xmlns="" xmlns:a16="http://schemas.microsoft.com/office/drawing/2014/main" id="{40D1C44F-1F9B-4B0E-8B32-64FB3952BE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6607" y="2081213"/>
              <a:ext cx="43505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 defTabSz="685800" eaLnBrk="0" fontAlgn="base">
                <a:spcBef>
                  <a:spcPct val="20000"/>
                </a:spcBef>
                <a:spcAft>
                  <a:spcPct val="0"/>
                </a:spcAft>
                <a:buClr>
                  <a:srgbClr val="00C0C0"/>
                </a:buClr>
                <a:buNone/>
              </a:pPr>
              <a:r>
                <a:rPr lang="en-US" altLang="en-US" sz="1200" kern="1200">
                  <a:solidFill>
                    <a:srgbClr val="000000"/>
                  </a:solidFill>
                  <a:cs typeface="+mn-cs"/>
                </a:rPr>
                <a:t>Yes</a:t>
              </a:r>
              <a:endParaRPr lang="en-US" altLang="en-US" sz="1200" kern="1200">
                <a:solidFill>
                  <a:srgbClr val="C0C0C0"/>
                </a:solidFill>
                <a:cs typeface="+mn-cs"/>
              </a:endParaRPr>
            </a:p>
          </p:txBody>
        </p:sp>
        <p:sp>
          <p:nvSpPr>
            <p:cNvPr id="12311" name="Text Box 26">
              <a:extLst>
                <a:ext uri="{FF2B5EF4-FFF2-40B4-BE49-F238E27FC236}">
                  <a16:creationId xmlns="" xmlns:a16="http://schemas.microsoft.com/office/drawing/2014/main" id="{B8D78E17-DE33-4689-B0BD-63B9D2992C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8015" y="2024063"/>
              <a:ext cx="38023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 defTabSz="685800" eaLnBrk="0" fontAlgn="base">
                <a:spcBef>
                  <a:spcPct val="20000"/>
                </a:spcBef>
                <a:spcAft>
                  <a:spcPct val="0"/>
                </a:spcAft>
                <a:buClr>
                  <a:srgbClr val="00C0C0"/>
                </a:buClr>
                <a:buNone/>
              </a:pPr>
              <a:r>
                <a:rPr lang="en-US" altLang="en-US" sz="1200" kern="1200">
                  <a:solidFill>
                    <a:srgbClr val="000000"/>
                  </a:solidFill>
                  <a:cs typeface="+mn-cs"/>
                </a:rPr>
                <a:t>No</a:t>
              </a:r>
              <a:endParaRPr lang="en-US" altLang="en-US" sz="1200" kern="1200">
                <a:solidFill>
                  <a:srgbClr val="C0C0C0"/>
                </a:solidFill>
                <a:cs typeface="+mn-cs"/>
              </a:endParaRPr>
            </a:p>
          </p:txBody>
        </p:sp>
        <p:sp>
          <p:nvSpPr>
            <p:cNvPr id="12312" name="Text Box 27">
              <a:extLst>
                <a:ext uri="{FF2B5EF4-FFF2-40B4-BE49-F238E27FC236}">
                  <a16:creationId xmlns="" xmlns:a16="http://schemas.microsoft.com/office/drawing/2014/main" id="{1593510F-7176-4511-AFEC-EFC4843FFC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3299" y="1452563"/>
              <a:ext cx="74732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 defTabSz="685800" eaLnBrk="0" fontAlgn="base">
                <a:spcBef>
                  <a:spcPct val="20000"/>
                </a:spcBef>
                <a:spcAft>
                  <a:spcPct val="0"/>
                </a:spcAft>
                <a:buClr>
                  <a:srgbClr val="00C0C0"/>
                </a:buClr>
                <a:buNone/>
              </a:pPr>
              <a:r>
                <a:rPr lang="en-US" altLang="en-US" sz="1200" kern="1200">
                  <a:solidFill>
                    <a:srgbClr val="000000"/>
                  </a:solidFill>
                  <a:cs typeface="+mn-cs"/>
                </a:rPr>
                <a:t>Married</a:t>
              </a:r>
              <a:r>
                <a:rPr lang="en-US" altLang="en-US" sz="1200" kern="1200">
                  <a:solidFill>
                    <a:srgbClr val="C0C0C0"/>
                  </a:solidFill>
                  <a:cs typeface="+mn-cs"/>
                </a:rPr>
                <a:t> </a:t>
              </a:r>
            </a:p>
          </p:txBody>
        </p:sp>
        <p:sp>
          <p:nvSpPr>
            <p:cNvPr id="12313" name="Text Box 28">
              <a:extLst>
                <a:ext uri="{FF2B5EF4-FFF2-40B4-BE49-F238E27FC236}">
                  <a16:creationId xmlns="" xmlns:a16="http://schemas.microsoft.com/office/drawing/2014/main" id="{88158606-A214-4401-8606-A6E72D8C90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53063" y="1281113"/>
              <a:ext cx="1048941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 defTabSz="685800" eaLnBrk="0" fontAlgn="base">
                <a:spcBef>
                  <a:spcPct val="20000"/>
                </a:spcBef>
                <a:spcAft>
                  <a:spcPct val="0"/>
                </a:spcAft>
                <a:buClr>
                  <a:srgbClr val="00C0C0"/>
                </a:buClr>
                <a:buNone/>
              </a:pPr>
              <a:r>
                <a:rPr lang="en-US" altLang="en-US" sz="1200" kern="1200">
                  <a:solidFill>
                    <a:srgbClr val="000000"/>
                  </a:solidFill>
                  <a:cs typeface="+mn-cs"/>
                </a:rPr>
                <a:t>Single, Divorced</a:t>
              </a:r>
              <a:endParaRPr lang="en-US" altLang="en-US" sz="1200" kern="1200">
                <a:solidFill>
                  <a:srgbClr val="C0C0C0"/>
                </a:solidFill>
                <a:cs typeface="+mn-cs"/>
              </a:endParaRPr>
            </a:p>
          </p:txBody>
        </p:sp>
        <p:sp>
          <p:nvSpPr>
            <p:cNvPr id="12314" name="Text Box 29">
              <a:extLst>
                <a:ext uri="{FF2B5EF4-FFF2-40B4-BE49-F238E27FC236}">
                  <a16:creationId xmlns="" xmlns:a16="http://schemas.microsoft.com/office/drawing/2014/main" id="{BA678096-4A0D-4AA2-87F4-0E63B4360B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8200" y="2671763"/>
              <a:ext cx="59022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 defTabSz="685800" eaLnBrk="0" fontAlgn="base">
                <a:spcBef>
                  <a:spcPct val="20000"/>
                </a:spcBef>
                <a:spcAft>
                  <a:spcPct val="0"/>
                </a:spcAft>
                <a:buClr>
                  <a:srgbClr val="00C0C0"/>
                </a:buClr>
                <a:buNone/>
              </a:pPr>
              <a:r>
                <a:rPr lang="en-US" altLang="en-US" sz="1200" kern="1200">
                  <a:solidFill>
                    <a:srgbClr val="000000"/>
                  </a:solidFill>
                  <a:cs typeface="+mn-cs"/>
                </a:rPr>
                <a:t>&lt; 80K</a:t>
              </a:r>
              <a:endParaRPr lang="en-US" altLang="en-US" sz="1200" kern="1200">
                <a:solidFill>
                  <a:srgbClr val="C0C0C0"/>
                </a:solidFill>
                <a:cs typeface="+mn-cs"/>
              </a:endParaRPr>
            </a:p>
          </p:txBody>
        </p:sp>
        <p:sp>
          <p:nvSpPr>
            <p:cNvPr id="12315" name="Text Box 30">
              <a:extLst>
                <a:ext uri="{FF2B5EF4-FFF2-40B4-BE49-F238E27FC236}">
                  <a16:creationId xmlns="" xmlns:a16="http://schemas.microsoft.com/office/drawing/2014/main" id="{097B3FA1-172C-466A-AD3E-F367AA04C5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9318" y="2671763"/>
              <a:ext cx="59022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 defTabSz="685800" eaLnBrk="0" fontAlgn="base">
                <a:spcBef>
                  <a:spcPct val="20000"/>
                </a:spcBef>
                <a:spcAft>
                  <a:spcPct val="0"/>
                </a:spcAft>
                <a:buClr>
                  <a:srgbClr val="00C0C0"/>
                </a:buClr>
                <a:buNone/>
              </a:pPr>
              <a:r>
                <a:rPr lang="en-US" altLang="en-US" sz="1200" kern="1200">
                  <a:solidFill>
                    <a:srgbClr val="000000"/>
                  </a:solidFill>
                  <a:cs typeface="+mn-cs"/>
                </a:rPr>
                <a:t>&gt; 80K</a:t>
              </a:r>
              <a:endParaRPr lang="en-US" altLang="en-US" sz="1200" kern="1200">
                <a:solidFill>
                  <a:srgbClr val="C0C0C0"/>
                </a:solidFill>
                <a:cs typeface="+mn-cs"/>
              </a:endParaRPr>
            </a:p>
          </p:txBody>
        </p:sp>
      </p:grpSp>
      <p:sp>
        <p:nvSpPr>
          <p:cNvPr id="12316" name="Text Box 37">
            <a:extLst>
              <a:ext uri="{FF2B5EF4-FFF2-40B4-BE49-F238E27FC236}">
                <a16:creationId xmlns="" xmlns:a16="http://schemas.microsoft.com/office/drawing/2014/main" id="{08AB6E6A-117C-4F9C-9E92-0814338887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170" y="3874078"/>
            <a:ext cx="50448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ru-RU" altLang="en-US" sz="1350" b="1" kern="1200" dirty="0" err="1">
                <a:solidFill>
                  <a:srgbClr val="CC3300"/>
                </a:solidFill>
                <a:cs typeface="+mn-cs"/>
              </a:rPr>
              <a:t>Може</a:t>
            </a:r>
            <a:r>
              <a:rPr lang="ru-RU" altLang="en-US" sz="1350" b="1" kern="1200" dirty="0">
                <a:solidFill>
                  <a:srgbClr val="CC3300"/>
                </a:solidFill>
                <a:cs typeface="+mn-cs"/>
              </a:rPr>
              <a:t> бути </a:t>
            </a:r>
            <a:r>
              <a:rPr lang="ru-RU" altLang="en-US" sz="1350" b="1" kern="1200" dirty="0" err="1">
                <a:solidFill>
                  <a:srgbClr val="CC3300"/>
                </a:solidFill>
                <a:cs typeface="+mn-cs"/>
              </a:rPr>
              <a:t>більше</a:t>
            </a:r>
            <a:r>
              <a:rPr lang="ru-RU" altLang="en-US" sz="1350" b="1" kern="1200" dirty="0">
                <a:solidFill>
                  <a:srgbClr val="CC3300"/>
                </a:solidFill>
                <a:cs typeface="+mn-cs"/>
              </a:rPr>
              <a:t> одного дерева, яке </a:t>
            </a:r>
            <a:r>
              <a:rPr lang="ru-RU" altLang="en-US" sz="1350" b="1" kern="1200" dirty="0" err="1">
                <a:solidFill>
                  <a:srgbClr val="CC3300"/>
                </a:solidFill>
                <a:cs typeface="+mn-cs"/>
              </a:rPr>
              <a:t>відповідає</a:t>
            </a:r>
            <a:r>
              <a:rPr lang="ru-RU" altLang="en-US" sz="1350" b="1" kern="1200" dirty="0">
                <a:solidFill>
                  <a:srgbClr val="CC3300"/>
                </a:solidFill>
                <a:cs typeface="+mn-cs"/>
              </a:rPr>
              <a:t> одним і </a:t>
            </a:r>
            <a:r>
              <a:rPr lang="ru-RU" altLang="en-US" sz="1350" b="1" kern="1200" dirty="0" err="1">
                <a:solidFill>
                  <a:srgbClr val="CC3300"/>
                </a:solidFill>
                <a:cs typeface="+mn-cs"/>
              </a:rPr>
              <a:t>тим</a:t>
            </a:r>
            <a:r>
              <a:rPr lang="ru-RU" altLang="en-US" sz="1350" b="1" kern="1200" dirty="0">
                <a:solidFill>
                  <a:srgbClr val="CC3300"/>
                </a:solidFill>
                <a:cs typeface="+mn-cs"/>
              </a:rPr>
              <a:t> </a:t>
            </a:r>
            <a:r>
              <a:rPr lang="ru-RU" altLang="en-US" sz="1350" b="1" kern="1200" dirty="0" smtClean="0">
                <a:solidFill>
                  <a:srgbClr val="CC3300"/>
                </a:solidFill>
                <a:cs typeface="+mn-cs"/>
              </a:rPr>
              <a:t>самим </a:t>
            </a:r>
            <a:r>
              <a:rPr lang="ru-RU" altLang="en-US" sz="1350" b="1" kern="1200" dirty="0" err="1" smtClean="0">
                <a:solidFill>
                  <a:srgbClr val="CC3300"/>
                </a:solidFill>
                <a:cs typeface="+mn-cs"/>
              </a:rPr>
              <a:t>даним</a:t>
            </a:r>
            <a:r>
              <a:rPr lang="ru-RU" altLang="en-US" sz="1350" b="1" kern="1200" dirty="0">
                <a:solidFill>
                  <a:srgbClr val="CC3300"/>
                </a:solidFill>
                <a:cs typeface="+mn-cs"/>
              </a:rPr>
              <a:t>!</a:t>
            </a:r>
            <a:endParaRPr lang="en-US" altLang="en-US" sz="1350" b="1" kern="1200" dirty="0">
              <a:solidFill>
                <a:srgbClr val="CC3300"/>
              </a:solidFill>
              <a:cs typeface="+mn-cs"/>
            </a:endParaRPr>
          </a:p>
        </p:txBody>
      </p:sp>
      <p:sp>
        <p:nvSpPr>
          <p:cNvPr id="36" name="Прямоугольник 35"/>
          <p:cNvSpPr/>
          <p:nvPr/>
        </p:nvSpPr>
        <p:spPr>
          <a:xfrm>
            <a:off x="0" y="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Приклад дерева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рішень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37" name="Группа 36"/>
          <p:cNvGrpSpPr/>
          <p:nvPr/>
        </p:nvGrpSpPr>
        <p:grpSpPr>
          <a:xfrm>
            <a:off x="538163" y="1017357"/>
            <a:ext cx="2857500" cy="3308811"/>
            <a:chOff x="1668961" y="1153924"/>
            <a:chExt cx="2857500" cy="3308811"/>
          </a:xfrm>
        </p:grpSpPr>
        <p:graphicFrame>
          <p:nvGraphicFramePr>
            <p:cNvPr id="38" name="Object 4">
              <a:extLst>
                <a:ext uri="{FF2B5EF4-FFF2-40B4-BE49-F238E27FC236}">
                  <a16:creationId xmlns="" xmlns:a16="http://schemas.microsoft.com/office/drawing/2014/main" id="{AAF733EE-AC48-417C-A650-8AA95D1D3A6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19903312"/>
                </p:ext>
              </p:extLst>
            </p:nvPr>
          </p:nvGraphicFramePr>
          <p:xfrm>
            <a:off x="1668961" y="1635001"/>
            <a:ext cx="2857500" cy="28277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4" name="Document" r:id="rId3" imgW="5854700" imgH="5778500" progId="Word.Document.8">
                    <p:embed/>
                  </p:oleObj>
                </mc:Choice>
                <mc:Fallback>
                  <p:oleObj name="Document" r:id="rId3" imgW="5854700" imgH="5778500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8961" y="1635001"/>
                          <a:ext cx="2857500" cy="28277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" name="Text Box 5">
              <a:extLst>
                <a:ext uri="{FF2B5EF4-FFF2-40B4-BE49-F238E27FC236}">
                  <a16:creationId xmlns="" xmlns:a16="http://schemas.microsoft.com/office/drawing/2014/main" id="{3621E2A5-F664-437B-AE78-7D73B7C096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183191">
              <a:off x="2213186" y="1153924"/>
              <a:ext cx="92525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 dirty="0">
                  <a:solidFill>
                    <a:srgbClr val="006600"/>
                  </a:solidFill>
                </a:rPr>
                <a:t>categorical</a:t>
              </a:r>
              <a:endParaRPr lang="en-US" altLang="en-US" sz="1200" dirty="0">
                <a:solidFill>
                  <a:schemeClr val="bg2"/>
                </a:solidFill>
              </a:endParaRPr>
            </a:p>
          </p:txBody>
        </p:sp>
        <p:sp>
          <p:nvSpPr>
            <p:cNvPr id="40" name="Text Box 6">
              <a:extLst>
                <a:ext uri="{FF2B5EF4-FFF2-40B4-BE49-F238E27FC236}">
                  <a16:creationId xmlns="" xmlns:a16="http://schemas.microsoft.com/office/drawing/2014/main" id="{12F31BB3-3622-408D-93AE-1E2B768392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183191">
              <a:off x="2727536" y="1153924"/>
              <a:ext cx="92525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 dirty="0">
                  <a:solidFill>
                    <a:srgbClr val="006600"/>
                  </a:solidFill>
                </a:rPr>
                <a:t>categorical</a:t>
              </a:r>
              <a:endParaRPr lang="en-US" altLang="en-US" sz="1200" dirty="0">
                <a:solidFill>
                  <a:schemeClr val="bg2"/>
                </a:solidFill>
              </a:endParaRPr>
            </a:p>
          </p:txBody>
        </p:sp>
        <p:sp>
          <p:nvSpPr>
            <p:cNvPr id="41" name="Text Box 7">
              <a:extLst>
                <a:ext uri="{FF2B5EF4-FFF2-40B4-BE49-F238E27FC236}">
                  <a16:creationId xmlns="" xmlns:a16="http://schemas.microsoft.com/office/drawing/2014/main" id="{CEF1E55E-15F9-4FB1-9AD2-4096F05313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183191">
              <a:off x="3363926" y="1153924"/>
              <a:ext cx="92525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 dirty="0">
                  <a:solidFill>
                    <a:srgbClr val="006600"/>
                  </a:solidFill>
                </a:rPr>
                <a:t>continuous</a:t>
              </a:r>
              <a:endParaRPr lang="en-US" altLang="en-US" sz="1200" dirty="0">
                <a:solidFill>
                  <a:schemeClr val="bg2"/>
                </a:solidFill>
              </a:endParaRPr>
            </a:p>
          </p:txBody>
        </p:sp>
        <p:sp>
          <p:nvSpPr>
            <p:cNvPr id="42" name="Text Box 8">
              <a:extLst>
                <a:ext uri="{FF2B5EF4-FFF2-40B4-BE49-F238E27FC236}">
                  <a16:creationId xmlns="" xmlns:a16="http://schemas.microsoft.com/office/drawing/2014/main" id="{00F11CDF-7A5F-4A25-A27F-5E19BE37B1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183191">
              <a:off x="3911321" y="1268224"/>
              <a:ext cx="53412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 dirty="0">
                  <a:solidFill>
                    <a:srgbClr val="006600"/>
                  </a:solidFill>
                </a:rPr>
                <a:t>class</a:t>
              </a:r>
              <a:endParaRPr lang="en-US" altLang="en-US" sz="1200" dirty="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9888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14300"/>
            <a:ext cx="9144000" cy="4000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ru-RU" sz="3200" b="1" dirty="0" smtClean="0">
                <a:solidFill>
                  <a:schemeClr val="bg1"/>
                </a:solidFill>
                <a:latin typeface="+mn-lt"/>
              </a:rPr>
              <a:t>Зада</a:t>
            </a:r>
            <a:r>
              <a:rPr lang="uk-UA" sz="3200" b="1" dirty="0" err="1" smtClean="0">
                <a:solidFill>
                  <a:schemeClr val="bg1"/>
                </a:solidFill>
                <a:latin typeface="+mn-lt"/>
              </a:rPr>
              <a:t>ча</a:t>
            </a:r>
            <a:r>
              <a:rPr lang="ru-RU" sz="32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200" b="1" dirty="0" err="1">
                <a:solidFill>
                  <a:schemeClr val="bg1"/>
                </a:solidFill>
                <a:latin typeface="+mn-lt"/>
              </a:rPr>
              <a:t>класифікації</a:t>
            </a:r>
            <a:r>
              <a:rPr lang="ru-RU" sz="3200" b="1" dirty="0">
                <a:solidFill>
                  <a:schemeClr val="bg1"/>
                </a:solidFill>
                <a:latin typeface="+mn-lt"/>
              </a:rPr>
              <a:t> дерева </a:t>
            </a:r>
            <a:r>
              <a:rPr lang="ru-RU" sz="3200" b="1" dirty="0" err="1">
                <a:solidFill>
                  <a:schemeClr val="bg1"/>
                </a:solidFill>
                <a:latin typeface="+mn-lt"/>
              </a:rPr>
              <a:t>рішень</a:t>
            </a:r>
            <a:endParaRPr lang="en-US" sz="3200" b="1" dirty="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921603" name="Object 3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158612380"/>
              </p:ext>
            </p:extLst>
          </p:nvPr>
        </p:nvGraphicFramePr>
        <p:xfrm>
          <a:off x="1130157" y="902200"/>
          <a:ext cx="6185043" cy="388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8" name="Visio" r:id="rId3" imgW="8424875" imgH="6279741" progId="Visio.Drawing.11">
                  <p:embed/>
                </p:oleObj>
              </mc:Choice>
              <mc:Fallback>
                <p:oleObj name="Visio" r:id="rId3" imgW="8424875" imgH="6279741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0157" y="902200"/>
                        <a:ext cx="6185043" cy="388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04" name="Line 4"/>
          <p:cNvSpPr>
            <a:spLocks noChangeShapeType="1"/>
          </p:cNvSpPr>
          <p:nvPr/>
        </p:nvSpPr>
        <p:spPr bwMode="auto">
          <a:xfrm flipH="1" flipV="1">
            <a:off x="5277706" y="3578872"/>
            <a:ext cx="0" cy="51435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425"/>
          </a:p>
        </p:txBody>
      </p:sp>
      <p:sp>
        <p:nvSpPr>
          <p:cNvPr id="921605" name="Text Box 5"/>
          <p:cNvSpPr txBox="1">
            <a:spLocks noChangeArrowheads="1"/>
          </p:cNvSpPr>
          <p:nvPr/>
        </p:nvSpPr>
        <p:spPr bwMode="auto">
          <a:xfrm>
            <a:off x="6400800" y="3313415"/>
            <a:ext cx="914400" cy="530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uk-UA" sz="1425" dirty="0" smtClean="0"/>
              <a:t>Дерево рішень</a:t>
            </a:r>
            <a:endParaRPr lang="en-US" sz="1425" dirty="0"/>
          </a:p>
        </p:txBody>
      </p:sp>
    </p:spTree>
    <p:extLst>
      <p:ext uri="{BB962C8B-B14F-4D97-AF65-F5344CB8AC3E}">
        <p14:creationId xmlns:p14="http://schemas.microsoft.com/office/powerpoint/2010/main" val="294443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E7253184-1496-48BB-825B-EAAE9CEA8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F934FAB-6B65-4DFD-A800-237D12D35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BC085E-F244-4C19-A8BC-465573CB4ECB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095A981C-5DEE-425C-BDF5-8C2167962DC6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>
          <a:xfrm>
            <a:off x="0" y="4767263"/>
            <a:ext cx="2057400" cy="274637"/>
          </a:xfrm>
        </p:spPr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graphicFrame>
        <p:nvGraphicFramePr>
          <p:cNvPr id="13337" name="Object 27">
            <a:extLst>
              <a:ext uri="{FF2B5EF4-FFF2-40B4-BE49-F238E27FC236}">
                <a16:creationId xmlns="" xmlns:a16="http://schemas.microsoft.com/office/drawing/2014/main" id="{390683B0-1366-48D5-BB95-E00CDC45E6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857683"/>
              </p:ext>
            </p:extLst>
          </p:nvPr>
        </p:nvGraphicFramePr>
        <p:xfrm>
          <a:off x="5844431" y="1492066"/>
          <a:ext cx="2689622" cy="822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9" name="Document" r:id="rId3" imgW="5092700" imgH="1562100" progId="Word.Document.8">
                  <p:embed/>
                </p:oleObj>
              </mc:Choice>
              <mc:Fallback>
                <p:oleObj name="Document" r:id="rId3" imgW="5092700" imgH="15621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4431" y="1492066"/>
                        <a:ext cx="2689622" cy="8227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8" name="Text Box 28">
            <a:extLst>
              <a:ext uri="{FF2B5EF4-FFF2-40B4-BE49-F238E27FC236}">
                <a16:creationId xmlns="" xmlns:a16="http://schemas.microsoft.com/office/drawing/2014/main" id="{22EB3426-7C8C-4EFB-80E3-387660545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1558" y="947772"/>
            <a:ext cx="208298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uk-UA" altLang="en-US" sz="1500" dirty="0" smtClean="0"/>
              <a:t>Тестові дані</a:t>
            </a:r>
            <a:endParaRPr lang="en-US" altLang="en-US" sz="1500" dirty="0"/>
          </a:p>
        </p:txBody>
      </p:sp>
      <p:sp>
        <p:nvSpPr>
          <p:cNvPr id="13339" name="Text Box 29">
            <a:extLst>
              <a:ext uri="{FF2B5EF4-FFF2-40B4-BE49-F238E27FC236}">
                <a16:creationId xmlns="" xmlns:a16="http://schemas.microsoft.com/office/drawing/2014/main" id="{4838A494-6BD8-4485-B9F4-C8CF3D0BF1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5077" y="1023967"/>
            <a:ext cx="25717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None/>
            </a:pPr>
            <a:r>
              <a:rPr lang="ru-RU" altLang="en-US" sz="1500" dirty="0" err="1" smtClean="0"/>
              <a:t>Поч</a:t>
            </a:r>
            <a:r>
              <a:rPr lang="uk-UA" altLang="en-US" sz="1500" dirty="0" err="1" smtClean="0"/>
              <a:t>аток</a:t>
            </a:r>
            <a:r>
              <a:rPr lang="ru-RU" altLang="en-US" sz="1500" dirty="0" smtClean="0"/>
              <a:t> </a:t>
            </a:r>
            <a:r>
              <a:rPr lang="ru-RU" altLang="en-US" sz="1500" dirty="0"/>
              <a:t>з </a:t>
            </a:r>
            <a:r>
              <a:rPr lang="ru-RU" altLang="en-US" sz="1500" dirty="0" err="1"/>
              <a:t>кореня</a:t>
            </a:r>
            <a:r>
              <a:rPr lang="ru-RU" altLang="en-US" sz="1500" dirty="0"/>
              <a:t> дерева</a:t>
            </a:r>
            <a:endParaRPr lang="en-US" altLang="en-US" sz="1500" dirty="0"/>
          </a:p>
        </p:txBody>
      </p:sp>
      <p:grpSp>
        <p:nvGrpSpPr>
          <p:cNvPr id="5" name="Группа 4"/>
          <p:cNvGrpSpPr/>
          <p:nvPr/>
        </p:nvGrpSpPr>
        <p:grpSpPr>
          <a:xfrm>
            <a:off x="1657351" y="1371600"/>
            <a:ext cx="3200399" cy="2874169"/>
            <a:chOff x="1657351" y="1371600"/>
            <a:chExt cx="3200399" cy="2874169"/>
          </a:xfrm>
        </p:grpSpPr>
        <p:sp>
          <p:nvSpPr>
            <p:cNvPr id="13314" name="Line 4">
              <a:extLst>
                <a:ext uri="{FF2B5EF4-FFF2-40B4-BE49-F238E27FC236}">
                  <a16:creationId xmlns="" xmlns:a16="http://schemas.microsoft.com/office/drawing/2014/main" id="{CFC0DAF7-E76C-4164-A894-8C2200D7EF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7081" y="3413522"/>
              <a:ext cx="200025" cy="48458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25"/>
            </a:p>
          </p:txBody>
        </p:sp>
        <p:sp>
          <p:nvSpPr>
            <p:cNvPr id="13315" name="Line 5">
              <a:extLst>
                <a:ext uri="{FF2B5EF4-FFF2-40B4-BE49-F238E27FC236}">
                  <a16:creationId xmlns="" xmlns:a16="http://schemas.microsoft.com/office/drawing/2014/main" id="{1B5551FD-831B-4051-B976-C0188C3479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87204" y="3413522"/>
              <a:ext cx="266700" cy="48458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25"/>
            </a:p>
          </p:txBody>
        </p:sp>
        <p:sp>
          <p:nvSpPr>
            <p:cNvPr id="13316" name="Line 6">
              <a:extLst>
                <a:ext uri="{FF2B5EF4-FFF2-40B4-BE49-F238E27FC236}">
                  <a16:creationId xmlns="" xmlns:a16="http://schemas.microsoft.com/office/drawing/2014/main" id="{9A677CE6-2592-42D4-A961-C0B5CD7A50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18222" y="2682479"/>
              <a:ext cx="332184" cy="48696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25"/>
            </a:p>
          </p:txBody>
        </p:sp>
        <p:sp>
          <p:nvSpPr>
            <p:cNvPr id="13317" name="Line 7">
              <a:extLst>
                <a:ext uri="{FF2B5EF4-FFF2-40B4-BE49-F238E27FC236}">
                  <a16:creationId xmlns="" xmlns:a16="http://schemas.microsoft.com/office/drawing/2014/main" id="{48D37305-03FC-4BD1-825A-70DF78884D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4775" y="2682479"/>
              <a:ext cx="398860" cy="48696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25"/>
            </a:p>
          </p:txBody>
        </p:sp>
        <p:sp>
          <p:nvSpPr>
            <p:cNvPr id="13318" name="Line 8">
              <a:extLst>
                <a:ext uri="{FF2B5EF4-FFF2-40B4-BE49-F238E27FC236}">
                  <a16:creationId xmlns="" xmlns:a16="http://schemas.microsoft.com/office/drawing/2014/main" id="{50A242D3-4622-4F29-B478-5C1B4AABC6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1572" y="2014538"/>
              <a:ext cx="465534" cy="4262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25"/>
            </a:p>
          </p:txBody>
        </p:sp>
        <p:sp>
          <p:nvSpPr>
            <p:cNvPr id="13319" name="Line 9">
              <a:extLst>
                <a:ext uri="{FF2B5EF4-FFF2-40B4-BE49-F238E27FC236}">
                  <a16:creationId xmlns="" xmlns:a16="http://schemas.microsoft.com/office/drawing/2014/main" id="{722DF2CF-AB55-4719-9627-F4173FB509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2860" y="2014538"/>
              <a:ext cx="464344" cy="4262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25"/>
            </a:p>
          </p:txBody>
        </p:sp>
        <p:sp>
          <p:nvSpPr>
            <p:cNvPr id="13320" name="Text Box 10">
              <a:extLst>
                <a:ext uri="{FF2B5EF4-FFF2-40B4-BE49-F238E27FC236}">
                  <a16:creationId xmlns="" xmlns:a16="http://schemas.microsoft.com/office/drawing/2014/main" id="{E40FFE86-B022-4A6D-A22F-D83931FDA8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7913" y="1771650"/>
              <a:ext cx="770335" cy="461665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>
                  <a:solidFill>
                    <a:srgbClr val="2D1993"/>
                  </a:solidFill>
                </a:rPr>
                <a:t>Home Owner</a:t>
              </a:r>
              <a:endParaRPr lang="en-US" altLang="en-US" sz="1200">
                <a:solidFill>
                  <a:schemeClr val="bg2"/>
                </a:solidFill>
              </a:endParaRPr>
            </a:p>
          </p:txBody>
        </p:sp>
        <p:sp>
          <p:nvSpPr>
            <p:cNvPr id="13321" name="Text Box 11">
              <a:extLst>
                <a:ext uri="{FF2B5EF4-FFF2-40B4-BE49-F238E27FC236}">
                  <a16:creationId xmlns="" xmlns:a16="http://schemas.microsoft.com/office/drawing/2014/main" id="{19C6115C-3279-47CD-9F07-F1801EE01C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3732" y="2440782"/>
              <a:ext cx="769144" cy="276999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>
                  <a:solidFill>
                    <a:srgbClr val="2D1993"/>
                  </a:solidFill>
                </a:rPr>
                <a:t>MarSt</a:t>
              </a:r>
              <a:endParaRPr lang="en-US" altLang="en-US" sz="1200">
                <a:solidFill>
                  <a:schemeClr val="bg2"/>
                </a:solidFill>
              </a:endParaRPr>
            </a:p>
          </p:txBody>
        </p:sp>
        <p:sp>
          <p:nvSpPr>
            <p:cNvPr id="13322" name="Text Box 12">
              <a:extLst>
                <a:ext uri="{FF2B5EF4-FFF2-40B4-BE49-F238E27FC236}">
                  <a16:creationId xmlns="" xmlns:a16="http://schemas.microsoft.com/office/drawing/2014/main" id="{C2A590CE-1DF4-44AA-B236-D5AD95A8C2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7229" y="3169444"/>
              <a:ext cx="796528" cy="276999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>
                  <a:solidFill>
                    <a:srgbClr val="2D1993"/>
                  </a:solidFill>
                </a:rPr>
                <a:t>Income</a:t>
              </a:r>
              <a:endParaRPr lang="en-US" altLang="en-US" sz="1200">
                <a:solidFill>
                  <a:schemeClr val="bg2"/>
                </a:solidFill>
              </a:endParaRPr>
            </a:p>
          </p:txBody>
        </p:sp>
        <p:sp>
          <p:nvSpPr>
            <p:cNvPr id="13323" name="AutoShape 13">
              <a:extLst>
                <a:ext uri="{FF2B5EF4-FFF2-40B4-BE49-F238E27FC236}">
                  <a16:creationId xmlns="" xmlns:a16="http://schemas.microsoft.com/office/drawing/2014/main" id="{F55B3DDD-8639-4610-AA1D-2CB767D5F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9229" y="3895726"/>
              <a:ext cx="516731" cy="336947"/>
            </a:xfrm>
            <a:prstGeom prst="roundRect">
              <a:avLst>
                <a:gd name="adj" fmla="val 16769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050"/>
            </a:p>
          </p:txBody>
        </p:sp>
        <p:sp>
          <p:nvSpPr>
            <p:cNvPr id="13324" name="Text Box 14">
              <a:extLst>
                <a:ext uri="{FF2B5EF4-FFF2-40B4-BE49-F238E27FC236}">
                  <a16:creationId xmlns="" xmlns:a16="http://schemas.microsoft.com/office/drawing/2014/main" id="{AAC0AFE7-0E5C-4AB6-B383-2C06153142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7317" y="3895726"/>
              <a:ext cx="56316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>
                  <a:solidFill>
                    <a:srgbClr val="800000"/>
                  </a:solidFill>
                </a:rPr>
                <a:t>YES</a:t>
              </a:r>
              <a:endParaRPr lang="en-US" altLang="en-US" sz="1200">
                <a:solidFill>
                  <a:schemeClr val="bg2"/>
                </a:solidFill>
              </a:endParaRPr>
            </a:p>
          </p:txBody>
        </p:sp>
        <p:sp>
          <p:nvSpPr>
            <p:cNvPr id="13325" name="AutoShape 15">
              <a:extLst>
                <a:ext uri="{FF2B5EF4-FFF2-40B4-BE49-F238E27FC236}">
                  <a16:creationId xmlns="" xmlns:a16="http://schemas.microsoft.com/office/drawing/2014/main" id="{1B9D66AF-CABC-4572-A16C-774CE7ABCB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1694" y="3911204"/>
              <a:ext cx="538163" cy="334565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050"/>
            </a:p>
          </p:txBody>
        </p:sp>
        <p:sp>
          <p:nvSpPr>
            <p:cNvPr id="13326" name="Text Box 16">
              <a:extLst>
                <a:ext uri="{FF2B5EF4-FFF2-40B4-BE49-F238E27FC236}">
                  <a16:creationId xmlns="" xmlns:a16="http://schemas.microsoft.com/office/drawing/2014/main" id="{BB77729D-AFD5-4809-908B-6A802807CD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4932" y="3898107"/>
              <a:ext cx="41549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>
                  <a:solidFill>
                    <a:srgbClr val="800000"/>
                  </a:solidFill>
                </a:rPr>
                <a:t>NO</a:t>
              </a:r>
              <a:endParaRPr lang="en-US" altLang="en-US" sz="1200">
                <a:solidFill>
                  <a:schemeClr val="bg2"/>
                </a:solidFill>
              </a:endParaRPr>
            </a:p>
          </p:txBody>
        </p:sp>
        <p:sp>
          <p:nvSpPr>
            <p:cNvPr id="13327" name="AutoShape 17">
              <a:extLst>
                <a:ext uri="{FF2B5EF4-FFF2-40B4-BE49-F238E27FC236}">
                  <a16:creationId xmlns="" xmlns:a16="http://schemas.microsoft.com/office/drawing/2014/main" id="{F0191F06-4203-4D45-B4BB-6DC436BDD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7351" y="2453879"/>
              <a:ext cx="564356" cy="320278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050"/>
            </a:p>
          </p:txBody>
        </p:sp>
        <p:sp>
          <p:nvSpPr>
            <p:cNvPr id="13328" name="Text Box 18">
              <a:extLst>
                <a:ext uri="{FF2B5EF4-FFF2-40B4-BE49-F238E27FC236}">
                  <a16:creationId xmlns="" xmlns:a16="http://schemas.microsoft.com/office/drawing/2014/main" id="{239E30DB-07DB-4185-84D3-11CFE62AC9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9398" y="2440782"/>
              <a:ext cx="41549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>
                  <a:solidFill>
                    <a:srgbClr val="800000"/>
                  </a:solidFill>
                </a:rPr>
                <a:t>NO</a:t>
              </a:r>
              <a:endParaRPr lang="en-US" altLang="en-US" sz="1200">
                <a:solidFill>
                  <a:srgbClr val="00FFFF"/>
                </a:solidFill>
              </a:endParaRPr>
            </a:p>
          </p:txBody>
        </p:sp>
        <p:sp>
          <p:nvSpPr>
            <p:cNvPr id="13329" name="AutoShape 19">
              <a:extLst>
                <a:ext uri="{FF2B5EF4-FFF2-40B4-BE49-F238E27FC236}">
                  <a16:creationId xmlns="" xmlns:a16="http://schemas.microsoft.com/office/drawing/2014/main" id="{08C2382E-94DD-4EC0-AD4F-D3A899D1C4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601" y="3194448"/>
              <a:ext cx="564356" cy="350044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050"/>
            </a:p>
          </p:txBody>
        </p:sp>
        <p:sp>
          <p:nvSpPr>
            <p:cNvPr id="13330" name="Text Box 20">
              <a:extLst>
                <a:ext uri="{FF2B5EF4-FFF2-40B4-BE49-F238E27FC236}">
                  <a16:creationId xmlns="" xmlns:a16="http://schemas.microsoft.com/office/drawing/2014/main" id="{A3DDA5F8-878E-4097-9812-2723A5863B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5765" y="3194448"/>
              <a:ext cx="41549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>
                  <a:solidFill>
                    <a:srgbClr val="800000"/>
                  </a:solidFill>
                </a:rPr>
                <a:t>NO</a:t>
              </a:r>
              <a:endParaRPr lang="en-US" altLang="en-US" sz="1200">
                <a:solidFill>
                  <a:schemeClr val="bg2"/>
                </a:solidFill>
              </a:endParaRPr>
            </a:p>
          </p:txBody>
        </p:sp>
        <p:sp>
          <p:nvSpPr>
            <p:cNvPr id="13331" name="Text Box 21">
              <a:extLst>
                <a:ext uri="{FF2B5EF4-FFF2-40B4-BE49-F238E27FC236}">
                  <a16:creationId xmlns="" xmlns:a16="http://schemas.microsoft.com/office/drawing/2014/main" id="{B54E08F5-7FC2-4D95-BCA4-3A35A3E6EE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9207" y="2014538"/>
              <a:ext cx="44916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/>
                <a:t>Yes</a:t>
              </a:r>
              <a:endParaRPr lang="en-US" altLang="en-US" sz="1200">
                <a:solidFill>
                  <a:schemeClr val="bg2"/>
                </a:solidFill>
              </a:endParaRPr>
            </a:p>
          </p:txBody>
        </p:sp>
        <p:sp>
          <p:nvSpPr>
            <p:cNvPr id="13332" name="Text Box 22">
              <a:extLst>
                <a:ext uri="{FF2B5EF4-FFF2-40B4-BE49-F238E27FC236}">
                  <a16:creationId xmlns="" xmlns:a16="http://schemas.microsoft.com/office/drawing/2014/main" id="{9F560FD4-62BF-4CB3-9EEF-FB4E379CE7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7843" y="2014538"/>
              <a:ext cx="38023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/>
                <a:t>No</a:t>
              </a:r>
              <a:endParaRPr lang="en-US" altLang="en-US" sz="1200">
                <a:solidFill>
                  <a:schemeClr val="bg2"/>
                </a:solidFill>
              </a:endParaRPr>
            </a:p>
          </p:txBody>
        </p:sp>
        <p:sp>
          <p:nvSpPr>
            <p:cNvPr id="13333" name="Text Box 23">
              <a:extLst>
                <a:ext uri="{FF2B5EF4-FFF2-40B4-BE49-F238E27FC236}">
                  <a16:creationId xmlns="" xmlns:a16="http://schemas.microsoft.com/office/drawing/2014/main" id="{63C2302F-E2CA-46A9-9309-D0BE62879C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0430" y="2718198"/>
              <a:ext cx="74732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/>
                <a:t>Married</a:t>
              </a:r>
              <a:r>
                <a:rPr lang="en-US" altLang="en-US" sz="1200">
                  <a:solidFill>
                    <a:schemeClr val="bg2"/>
                  </a:solidFill>
                </a:rPr>
                <a:t> </a:t>
              </a:r>
            </a:p>
          </p:txBody>
        </p:sp>
        <p:sp>
          <p:nvSpPr>
            <p:cNvPr id="13334" name="Text Box 24">
              <a:extLst>
                <a:ext uri="{FF2B5EF4-FFF2-40B4-BE49-F238E27FC236}">
                  <a16:creationId xmlns="" xmlns:a16="http://schemas.microsoft.com/office/drawing/2014/main" id="{382E0DD5-9B29-4715-8D61-DFD0959DE0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4622" y="2744392"/>
              <a:ext cx="1300357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/>
                <a:t>Single, Divorced</a:t>
              </a:r>
              <a:endParaRPr lang="en-US" altLang="en-US" sz="1200">
                <a:solidFill>
                  <a:schemeClr val="bg2"/>
                </a:solidFill>
              </a:endParaRPr>
            </a:p>
          </p:txBody>
        </p:sp>
        <p:sp>
          <p:nvSpPr>
            <p:cNvPr id="13335" name="Text Box 25">
              <a:extLst>
                <a:ext uri="{FF2B5EF4-FFF2-40B4-BE49-F238E27FC236}">
                  <a16:creationId xmlns="" xmlns:a16="http://schemas.microsoft.com/office/drawing/2014/main" id="{BF0B5846-FFB1-496B-8B3E-C3E94539DF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0093" y="3473054"/>
              <a:ext cx="59022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/>
                <a:t>&lt; 80K</a:t>
              </a:r>
              <a:endParaRPr lang="en-US" altLang="en-US" sz="1200">
                <a:solidFill>
                  <a:schemeClr val="bg2"/>
                </a:solidFill>
              </a:endParaRPr>
            </a:p>
          </p:txBody>
        </p:sp>
        <p:sp>
          <p:nvSpPr>
            <p:cNvPr id="13336" name="Text Box 26">
              <a:extLst>
                <a:ext uri="{FF2B5EF4-FFF2-40B4-BE49-F238E27FC236}">
                  <a16:creationId xmlns="" xmlns:a16="http://schemas.microsoft.com/office/drawing/2014/main" id="{8A906DD0-E22C-4E65-A9D3-069F2433F6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9800" y="3473054"/>
              <a:ext cx="59022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/>
                <a:t>&gt; 80K</a:t>
              </a:r>
              <a:endParaRPr lang="en-US" altLang="en-US" sz="1200">
                <a:solidFill>
                  <a:schemeClr val="bg2"/>
                </a:solidFill>
              </a:endParaRPr>
            </a:p>
          </p:txBody>
        </p:sp>
        <p:sp>
          <p:nvSpPr>
            <p:cNvPr id="13340" name="Line 30">
              <a:extLst>
                <a:ext uri="{FF2B5EF4-FFF2-40B4-BE49-F238E27FC236}">
                  <a16:creationId xmlns="" xmlns:a16="http://schemas.microsoft.com/office/drawing/2014/main" id="{34A5AE84-2733-4E41-8F86-DB7E5F43BB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3200" y="1371600"/>
              <a:ext cx="0" cy="34290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25"/>
            </a:p>
          </p:txBody>
        </p:sp>
      </p:grpSp>
      <p:sp>
        <p:nvSpPr>
          <p:cNvPr id="33" name="Прямоугольник 32"/>
          <p:cNvSpPr/>
          <p:nvPr/>
        </p:nvSpPr>
        <p:spPr>
          <a:xfrm>
            <a:off x="0" y="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Застосування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моделі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до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даних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тесту</a:t>
            </a:r>
          </a:p>
        </p:txBody>
      </p:sp>
    </p:spTree>
    <p:extLst>
      <p:ext uri="{BB962C8B-B14F-4D97-AF65-F5344CB8AC3E}">
        <p14:creationId xmlns:p14="http://schemas.microsoft.com/office/powerpoint/2010/main" val="8880209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E2B5426D-612B-431A-AE31-090551F87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C0CAA1E-D0BD-43F8-8EB9-B6E0BA7C8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601D1-C8A5-48CA-9034-94D7F4C0A899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615EB539-80C1-4112-B74F-9A76F3E5A1E0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>
          <a:xfrm>
            <a:off x="0" y="4767263"/>
            <a:ext cx="2057400" cy="274637"/>
          </a:xfrm>
        </p:spPr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graphicFrame>
        <p:nvGraphicFramePr>
          <p:cNvPr id="14360" name="Object 27">
            <a:extLst>
              <a:ext uri="{FF2B5EF4-FFF2-40B4-BE49-F238E27FC236}">
                <a16:creationId xmlns="" xmlns:a16="http://schemas.microsoft.com/office/drawing/2014/main" id="{18E844DE-1304-485C-8A4A-F9689CE1E1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7739114"/>
              </p:ext>
            </p:extLst>
          </p:nvPr>
        </p:nvGraphicFramePr>
        <p:xfrm>
          <a:off x="5641744" y="1345170"/>
          <a:ext cx="2758679" cy="822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3" name="Document" r:id="rId3" imgW="5232400" imgH="1562100" progId="Word.Document.8">
                  <p:embed/>
                </p:oleObj>
              </mc:Choice>
              <mc:Fallback>
                <p:oleObj name="Document" r:id="rId3" imgW="5232400" imgH="15621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1744" y="1345170"/>
                        <a:ext cx="2758679" cy="8227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2" name="Line 29">
            <a:extLst>
              <a:ext uri="{FF2B5EF4-FFF2-40B4-BE49-F238E27FC236}">
                <a16:creationId xmlns="" xmlns:a16="http://schemas.microsoft.com/office/drawing/2014/main" id="{39762673-54F9-47FA-AEA7-AEBFEEE684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43250" y="1622406"/>
            <a:ext cx="2498494" cy="263543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425"/>
          </a:p>
        </p:txBody>
      </p:sp>
      <p:grpSp>
        <p:nvGrpSpPr>
          <p:cNvPr id="5" name="Группа 4"/>
          <p:cNvGrpSpPr/>
          <p:nvPr/>
        </p:nvGrpSpPr>
        <p:grpSpPr>
          <a:xfrm>
            <a:off x="1657351" y="1771650"/>
            <a:ext cx="3200399" cy="2474119"/>
            <a:chOff x="1657351" y="1771650"/>
            <a:chExt cx="3200399" cy="2474119"/>
          </a:xfrm>
        </p:grpSpPr>
        <p:sp>
          <p:nvSpPr>
            <p:cNvPr id="14338" name="Line 4">
              <a:extLst>
                <a:ext uri="{FF2B5EF4-FFF2-40B4-BE49-F238E27FC236}">
                  <a16:creationId xmlns="" xmlns:a16="http://schemas.microsoft.com/office/drawing/2014/main" id="{56A8BE6D-1441-43C0-9CC6-9AE0742DAD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7081" y="3413522"/>
              <a:ext cx="200025" cy="48458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25"/>
            </a:p>
          </p:txBody>
        </p:sp>
        <p:sp>
          <p:nvSpPr>
            <p:cNvPr id="14339" name="Line 5">
              <a:extLst>
                <a:ext uri="{FF2B5EF4-FFF2-40B4-BE49-F238E27FC236}">
                  <a16:creationId xmlns="" xmlns:a16="http://schemas.microsoft.com/office/drawing/2014/main" id="{04874380-62CC-4810-8CF6-544ABD241E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87204" y="3413522"/>
              <a:ext cx="266700" cy="48458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25"/>
            </a:p>
          </p:txBody>
        </p:sp>
        <p:sp>
          <p:nvSpPr>
            <p:cNvPr id="14340" name="Line 6">
              <a:extLst>
                <a:ext uri="{FF2B5EF4-FFF2-40B4-BE49-F238E27FC236}">
                  <a16:creationId xmlns="" xmlns:a16="http://schemas.microsoft.com/office/drawing/2014/main" id="{3B10717E-332C-49C2-AA0D-60DAC8A975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18222" y="2682479"/>
              <a:ext cx="332184" cy="48696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25"/>
            </a:p>
          </p:txBody>
        </p:sp>
        <p:sp>
          <p:nvSpPr>
            <p:cNvPr id="14341" name="Line 7">
              <a:extLst>
                <a:ext uri="{FF2B5EF4-FFF2-40B4-BE49-F238E27FC236}">
                  <a16:creationId xmlns="" xmlns:a16="http://schemas.microsoft.com/office/drawing/2014/main" id="{2AFB65CF-282E-4F14-9C97-3156DB88A8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4775" y="2682479"/>
              <a:ext cx="398860" cy="48696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25"/>
            </a:p>
          </p:txBody>
        </p:sp>
        <p:sp>
          <p:nvSpPr>
            <p:cNvPr id="14342" name="Line 8">
              <a:extLst>
                <a:ext uri="{FF2B5EF4-FFF2-40B4-BE49-F238E27FC236}">
                  <a16:creationId xmlns="" xmlns:a16="http://schemas.microsoft.com/office/drawing/2014/main" id="{53702AFC-BB69-4137-BD49-F15777DD20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1572" y="2014538"/>
              <a:ext cx="465534" cy="4262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25"/>
            </a:p>
          </p:txBody>
        </p:sp>
        <p:sp>
          <p:nvSpPr>
            <p:cNvPr id="14343" name="Line 9">
              <a:extLst>
                <a:ext uri="{FF2B5EF4-FFF2-40B4-BE49-F238E27FC236}">
                  <a16:creationId xmlns="" xmlns:a16="http://schemas.microsoft.com/office/drawing/2014/main" id="{A0D9D5A1-9D0E-441D-AC91-6FDAD0F662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2860" y="2014538"/>
              <a:ext cx="464344" cy="4262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25"/>
            </a:p>
          </p:txBody>
        </p:sp>
        <p:sp>
          <p:nvSpPr>
            <p:cNvPr id="14344" name="Text Box 11">
              <a:extLst>
                <a:ext uri="{FF2B5EF4-FFF2-40B4-BE49-F238E27FC236}">
                  <a16:creationId xmlns="" xmlns:a16="http://schemas.microsoft.com/office/drawing/2014/main" id="{CB069314-8DD4-4C46-B617-94C8AF6174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3732" y="2440782"/>
              <a:ext cx="769144" cy="276999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>
                  <a:solidFill>
                    <a:srgbClr val="2D1993"/>
                  </a:solidFill>
                </a:rPr>
                <a:t>MarSt</a:t>
              </a:r>
              <a:endParaRPr lang="en-US" altLang="en-US" sz="1200">
                <a:solidFill>
                  <a:schemeClr val="bg2"/>
                </a:solidFill>
              </a:endParaRPr>
            </a:p>
          </p:txBody>
        </p:sp>
        <p:sp>
          <p:nvSpPr>
            <p:cNvPr id="14345" name="Text Box 12">
              <a:extLst>
                <a:ext uri="{FF2B5EF4-FFF2-40B4-BE49-F238E27FC236}">
                  <a16:creationId xmlns="" xmlns:a16="http://schemas.microsoft.com/office/drawing/2014/main" id="{E7BDDCAE-8841-43D0-9FD8-6E6B93191B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7229" y="3169444"/>
              <a:ext cx="796528" cy="276999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>
                  <a:solidFill>
                    <a:srgbClr val="2D1993"/>
                  </a:solidFill>
                </a:rPr>
                <a:t>Income</a:t>
              </a:r>
              <a:endParaRPr lang="en-US" altLang="en-US" sz="1200">
                <a:solidFill>
                  <a:schemeClr val="bg2"/>
                </a:solidFill>
              </a:endParaRPr>
            </a:p>
          </p:txBody>
        </p:sp>
        <p:sp>
          <p:nvSpPr>
            <p:cNvPr id="14346" name="AutoShape 13">
              <a:extLst>
                <a:ext uri="{FF2B5EF4-FFF2-40B4-BE49-F238E27FC236}">
                  <a16:creationId xmlns="" xmlns:a16="http://schemas.microsoft.com/office/drawing/2014/main" id="{D40F9F0D-16CC-4B4D-AD51-17D354EDC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9229" y="3895726"/>
              <a:ext cx="516731" cy="336947"/>
            </a:xfrm>
            <a:prstGeom prst="roundRect">
              <a:avLst>
                <a:gd name="adj" fmla="val 16769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050"/>
            </a:p>
          </p:txBody>
        </p:sp>
        <p:sp>
          <p:nvSpPr>
            <p:cNvPr id="14347" name="Text Box 14">
              <a:extLst>
                <a:ext uri="{FF2B5EF4-FFF2-40B4-BE49-F238E27FC236}">
                  <a16:creationId xmlns="" xmlns:a16="http://schemas.microsoft.com/office/drawing/2014/main" id="{59BB683C-502A-4654-94D5-71BD7C4AEB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7317" y="3895726"/>
              <a:ext cx="56316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>
                  <a:solidFill>
                    <a:srgbClr val="800000"/>
                  </a:solidFill>
                </a:rPr>
                <a:t>YES</a:t>
              </a:r>
              <a:endParaRPr lang="en-US" altLang="en-US" sz="1200">
                <a:solidFill>
                  <a:schemeClr val="bg2"/>
                </a:solidFill>
              </a:endParaRPr>
            </a:p>
          </p:txBody>
        </p:sp>
        <p:sp>
          <p:nvSpPr>
            <p:cNvPr id="14348" name="AutoShape 15">
              <a:extLst>
                <a:ext uri="{FF2B5EF4-FFF2-40B4-BE49-F238E27FC236}">
                  <a16:creationId xmlns="" xmlns:a16="http://schemas.microsoft.com/office/drawing/2014/main" id="{824C1A17-8512-476D-BBFD-32F34F052D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1694" y="3911204"/>
              <a:ext cx="538163" cy="334565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050"/>
            </a:p>
          </p:txBody>
        </p:sp>
        <p:sp>
          <p:nvSpPr>
            <p:cNvPr id="14349" name="Text Box 16">
              <a:extLst>
                <a:ext uri="{FF2B5EF4-FFF2-40B4-BE49-F238E27FC236}">
                  <a16:creationId xmlns="" xmlns:a16="http://schemas.microsoft.com/office/drawing/2014/main" id="{4ED975EC-D304-410D-8CAA-95F7E69A57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4932" y="3898107"/>
              <a:ext cx="41549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>
                  <a:solidFill>
                    <a:srgbClr val="800000"/>
                  </a:solidFill>
                </a:rPr>
                <a:t>NO</a:t>
              </a:r>
              <a:endParaRPr lang="en-US" altLang="en-US" sz="1200">
                <a:solidFill>
                  <a:schemeClr val="bg2"/>
                </a:solidFill>
              </a:endParaRPr>
            </a:p>
          </p:txBody>
        </p:sp>
        <p:sp>
          <p:nvSpPr>
            <p:cNvPr id="14350" name="AutoShape 17">
              <a:extLst>
                <a:ext uri="{FF2B5EF4-FFF2-40B4-BE49-F238E27FC236}">
                  <a16:creationId xmlns="" xmlns:a16="http://schemas.microsoft.com/office/drawing/2014/main" id="{28A27D12-83EF-4C0A-8F0F-886F45B72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7351" y="2453879"/>
              <a:ext cx="564356" cy="320278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050"/>
            </a:p>
          </p:txBody>
        </p:sp>
        <p:sp>
          <p:nvSpPr>
            <p:cNvPr id="14351" name="Text Box 18">
              <a:extLst>
                <a:ext uri="{FF2B5EF4-FFF2-40B4-BE49-F238E27FC236}">
                  <a16:creationId xmlns="" xmlns:a16="http://schemas.microsoft.com/office/drawing/2014/main" id="{250672FB-002D-4997-8840-C387EBBAC4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9398" y="2440782"/>
              <a:ext cx="41549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>
                  <a:solidFill>
                    <a:srgbClr val="800000"/>
                  </a:solidFill>
                </a:rPr>
                <a:t>NO</a:t>
              </a:r>
              <a:endParaRPr lang="en-US" altLang="en-US" sz="1200">
                <a:solidFill>
                  <a:srgbClr val="00FFFF"/>
                </a:solidFill>
              </a:endParaRPr>
            </a:p>
          </p:txBody>
        </p:sp>
        <p:sp>
          <p:nvSpPr>
            <p:cNvPr id="14352" name="AutoShape 19">
              <a:extLst>
                <a:ext uri="{FF2B5EF4-FFF2-40B4-BE49-F238E27FC236}">
                  <a16:creationId xmlns="" xmlns:a16="http://schemas.microsoft.com/office/drawing/2014/main" id="{8C3AE25B-BF8C-4BF2-82DB-F23ED68A16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601" y="3194448"/>
              <a:ext cx="564356" cy="350044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050"/>
            </a:p>
          </p:txBody>
        </p:sp>
        <p:sp>
          <p:nvSpPr>
            <p:cNvPr id="14353" name="Text Box 20">
              <a:extLst>
                <a:ext uri="{FF2B5EF4-FFF2-40B4-BE49-F238E27FC236}">
                  <a16:creationId xmlns="" xmlns:a16="http://schemas.microsoft.com/office/drawing/2014/main" id="{9FCE4A1D-12AC-47DF-9A80-697ABD195B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5765" y="3194448"/>
              <a:ext cx="41549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>
                  <a:solidFill>
                    <a:srgbClr val="800000"/>
                  </a:solidFill>
                </a:rPr>
                <a:t>NO</a:t>
              </a:r>
              <a:endParaRPr lang="en-US" altLang="en-US" sz="1200">
                <a:solidFill>
                  <a:schemeClr val="bg2"/>
                </a:solidFill>
              </a:endParaRPr>
            </a:p>
          </p:txBody>
        </p:sp>
        <p:sp>
          <p:nvSpPr>
            <p:cNvPr id="14354" name="Text Box 21">
              <a:extLst>
                <a:ext uri="{FF2B5EF4-FFF2-40B4-BE49-F238E27FC236}">
                  <a16:creationId xmlns="" xmlns:a16="http://schemas.microsoft.com/office/drawing/2014/main" id="{322ACB3F-3A0E-4FB4-B51A-41F9B060E9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9207" y="2014538"/>
              <a:ext cx="44916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/>
                <a:t>Yes</a:t>
              </a:r>
              <a:endParaRPr lang="en-US" altLang="en-US" sz="1200">
                <a:solidFill>
                  <a:schemeClr val="bg2"/>
                </a:solidFill>
              </a:endParaRPr>
            </a:p>
          </p:txBody>
        </p:sp>
        <p:sp>
          <p:nvSpPr>
            <p:cNvPr id="14355" name="Text Box 22">
              <a:extLst>
                <a:ext uri="{FF2B5EF4-FFF2-40B4-BE49-F238E27FC236}">
                  <a16:creationId xmlns="" xmlns:a16="http://schemas.microsoft.com/office/drawing/2014/main" id="{D0A523E8-4FD1-4620-B409-B652B111F3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7843" y="2014538"/>
              <a:ext cx="38023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/>
                <a:t>No</a:t>
              </a:r>
              <a:endParaRPr lang="en-US" altLang="en-US" sz="1200">
                <a:solidFill>
                  <a:schemeClr val="bg2"/>
                </a:solidFill>
              </a:endParaRPr>
            </a:p>
          </p:txBody>
        </p:sp>
        <p:sp>
          <p:nvSpPr>
            <p:cNvPr id="14356" name="Text Box 23">
              <a:extLst>
                <a:ext uri="{FF2B5EF4-FFF2-40B4-BE49-F238E27FC236}">
                  <a16:creationId xmlns="" xmlns:a16="http://schemas.microsoft.com/office/drawing/2014/main" id="{2DBC14EE-3135-40AF-B595-F738D30AE0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0430" y="2718198"/>
              <a:ext cx="74732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/>
                <a:t>Married</a:t>
              </a:r>
              <a:r>
                <a:rPr lang="en-US" altLang="en-US" sz="1200">
                  <a:solidFill>
                    <a:schemeClr val="bg2"/>
                  </a:solidFill>
                </a:rPr>
                <a:t> </a:t>
              </a:r>
            </a:p>
          </p:txBody>
        </p:sp>
        <p:sp>
          <p:nvSpPr>
            <p:cNvPr id="14357" name="Text Box 24">
              <a:extLst>
                <a:ext uri="{FF2B5EF4-FFF2-40B4-BE49-F238E27FC236}">
                  <a16:creationId xmlns="" xmlns:a16="http://schemas.microsoft.com/office/drawing/2014/main" id="{6470BC24-4CAE-42B1-BD4F-6E6F8C7C8F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4622" y="2744392"/>
              <a:ext cx="1300357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/>
                <a:t>Single, Divorced</a:t>
              </a:r>
              <a:endParaRPr lang="en-US" altLang="en-US" sz="1200">
                <a:solidFill>
                  <a:schemeClr val="bg2"/>
                </a:solidFill>
              </a:endParaRPr>
            </a:p>
          </p:txBody>
        </p:sp>
        <p:sp>
          <p:nvSpPr>
            <p:cNvPr id="14358" name="Text Box 25">
              <a:extLst>
                <a:ext uri="{FF2B5EF4-FFF2-40B4-BE49-F238E27FC236}">
                  <a16:creationId xmlns="" xmlns:a16="http://schemas.microsoft.com/office/drawing/2014/main" id="{E1D84FFF-B81B-433F-88C5-E025386C4E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0093" y="3473054"/>
              <a:ext cx="59022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/>
                <a:t>&lt; 80K</a:t>
              </a:r>
              <a:endParaRPr lang="en-US" altLang="en-US" sz="1200">
                <a:solidFill>
                  <a:schemeClr val="bg2"/>
                </a:solidFill>
              </a:endParaRPr>
            </a:p>
          </p:txBody>
        </p:sp>
        <p:sp>
          <p:nvSpPr>
            <p:cNvPr id="14359" name="Text Box 26">
              <a:extLst>
                <a:ext uri="{FF2B5EF4-FFF2-40B4-BE49-F238E27FC236}">
                  <a16:creationId xmlns="" xmlns:a16="http://schemas.microsoft.com/office/drawing/2014/main" id="{4F779082-04A8-41C2-B421-C3734C268C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9800" y="3473054"/>
              <a:ext cx="59022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/>
                <a:t>&gt; 80K</a:t>
              </a:r>
              <a:endParaRPr lang="en-US" altLang="en-US" sz="1200">
                <a:solidFill>
                  <a:schemeClr val="bg2"/>
                </a:solidFill>
              </a:endParaRPr>
            </a:p>
          </p:txBody>
        </p:sp>
        <p:sp>
          <p:nvSpPr>
            <p:cNvPr id="14363" name="Text Box 30">
              <a:extLst>
                <a:ext uri="{FF2B5EF4-FFF2-40B4-BE49-F238E27FC236}">
                  <a16:creationId xmlns="" xmlns:a16="http://schemas.microsoft.com/office/drawing/2014/main" id="{AE047BE0-2BA1-43B3-B053-658EBFC155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7913" y="1771650"/>
              <a:ext cx="770335" cy="461665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200">
                  <a:solidFill>
                    <a:srgbClr val="2D1993"/>
                  </a:solidFill>
                </a:rPr>
                <a:t>Home Owner</a:t>
              </a:r>
              <a:endParaRPr lang="en-US" altLang="en-US" sz="1200">
                <a:solidFill>
                  <a:schemeClr val="bg2"/>
                </a:solidFill>
              </a:endParaRPr>
            </a:p>
          </p:txBody>
        </p:sp>
      </p:grpSp>
      <p:sp>
        <p:nvSpPr>
          <p:cNvPr id="32" name="Прямоугольник 31"/>
          <p:cNvSpPr/>
          <p:nvPr/>
        </p:nvSpPr>
        <p:spPr>
          <a:xfrm>
            <a:off x="0" y="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Застосування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моделі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до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даних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тесту</a:t>
            </a:r>
          </a:p>
        </p:txBody>
      </p:sp>
      <p:sp>
        <p:nvSpPr>
          <p:cNvPr id="34" name="Text Box 28">
            <a:extLst>
              <a:ext uri="{FF2B5EF4-FFF2-40B4-BE49-F238E27FC236}">
                <a16:creationId xmlns="" xmlns:a16="http://schemas.microsoft.com/office/drawing/2014/main" id="{22EB3426-7C8C-4EFB-80E3-387660545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1558" y="947772"/>
            <a:ext cx="208298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uk-UA" altLang="en-US" sz="1500" dirty="0" smtClean="0"/>
              <a:t>Тестові дані</a:t>
            </a:r>
            <a:endParaRPr lang="en-US" altLang="en-US" sz="1500" dirty="0"/>
          </a:p>
        </p:txBody>
      </p:sp>
    </p:spTree>
    <p:extLst>
      <p:ext uri="{BB962C8B-B14F-4D97-AF65-F5344CB8AC3E}">
        <p14:creationId xmlns:p14="http://schemas.microsoft.com/office/powerpoint/2010/main" val="587429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B4AAE56F-575B-4B90-8E9A-AFEB91777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D100529-DB81-49F5-90C2-BC901E996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992193-6115-4B4C-A949-FD144E791A6E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E3E9FD10-0A33-4956-BDBE-AB42698458F6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>
          <a:xfrm>
            <a:off x="0" y="4767263"/>
            <a:ext cx="2057400" cy="274637"/>
          </a:xfrm>
        </p:spPr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15362" name="Line 3">
            <a:extLst>
              <a:ext uri="{FF2B5EF4-FFF2-40B4-BE49-F238E27FC236}">
                <a16:creationId xmlns="" xmlns:a16="http://schemas.microsoft.com/office/drawing/2014/main" id="{82A8ADAA-CCDA-4312-9E67-3455102DBB1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7081" y="3413522"/>
            <a:ext cx="200025" cy="48458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425"/>
          </a:p>
        </p:txBody>
      </p:sp>
      <p:sp>
        <p:nvSpPr>
          <p:cNvPr id="15363" name="Line 4">
            <a:extLst>
              <a:ext uri="{FF2B5EF4-FFF2-40B4-BE49-F238E27FC236}">
                <a16:creationId xmlns="" xmlns:a16="http://schemas.microsoft.com/office/drawing/2014/main" id="{4EC4C0D6-BDF2-445C-87F4-1C40D009B8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87204" y="3413522"/>
            <a:ext cx="266700" cy="48458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425"/>
          </a:p>
        </p:txBody>
      </p:sp>
      <p:sp>
        <p:nvSpPr>
          <p:cNvPr id="15364" name="Line 5">
            <a:extLst>
              <a:ext uri="{FF2B5EF4-FFF2-40B4-BE49-F238E27FC236}">
                <a16:creationId xmlns="" xmlns:a16="http://schemas.microsoft.com/office/drawing/2014/main" id="{A42839C7-9CF1-4A02-8FB5-906617682C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18222" y="2682479"/>
            <a:ext cx="332184" cy="48696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425"/>
          </a:p>
        </p:txBody>
      </p:sp>
      <p:sp>
        <p:nvSpPr>
          <p:cNvPr id="15365" name="Line 6">
            <a:extLst>
              <a:ext uri="{FF2B5EF4-FFF2-40B4-BE49-F238E27FC236}">
                <a16:creationId xmlns="" xmlns:a16="http://schemas.microsoft.com/office/drawing/2014/main" id="{52DA3C68-DE02-434B-B10E-89F873817686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4775" y="2682479"/>
            <a:ext cx="398860" cy="48696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425"/>
          </a:p>
        </p:txBody>
      </p:sp>
      <p:sp>
        <p:nvSpPr>
          <p:cNvPr id="15366" name="Line 7">
            <a:extLst>
              <a:ext uri="{FF2B5EF4-FFF2-40B4-BE49-F238E27FC236}">
                <a16:creationId xmlns="" xmlns:a16="http://schemas.microsoft.com/office/drawing/2014/main" id="{6A5CACC0-3644-4FBC-9F83-1D723E133D2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1572" y="2014538"/>
            <a:ext cx="465534" cy="42624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425"/>
          </a:p>
        </p:txBody>
      </p:sp>
      <p:sp>
        <p:nvSpPr>
          <p:cNvPr id="15367" name="Line 8">
            <a:extLst>
              <a:ext uri="{FF2B5EF4-FFF2-40B4-BE49-F238E27FC236}">
                <a16:creationId xmlns="" xmlns:a16="http://schemas.microsoft.com/office/drawing/2014/main" id="{8DA73204-53C6-4A30-B336-60FA1AF723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22860" y="2014538"/>
            <a:ext cx="464344" cy="42624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425"/>
          </a:p>
        </p:txBody>
      </p:sp>
      <p:sp>
        <p:nvSpPr>
          <p:cNvPr id="15368" name="Text Box 10">
            <a:extLst>
              <a:ext uri="{FF2B5EF4-FFF2-40B4-BE49-F238E27FC236}">
                <a16:creationId xmlns="" xmlns:a16="http://schemas.microsoft.com/office/drawing/2014/main" id="{0E64B6E4-17B0-4AD3-91DF-291F8B5BF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3732" y="2440782"/>
            <a:ext cx="769144" cy="276999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>
                <a:solidFill>
                  <a:srgbClr val="2D1993"/>
                </a:solidFill>
              </a:rPr>
              <a:t>MarSt</a:t>
            </a:r>
            <a:endParaRPr lang="en-US" altLang="en-US" sz="1200">
              <a:solidFill>
                <a:schemeClr val="bg2"/>
              </a:solidFill>
            </a:endParaRPr>
          </a:p>
        </p:txBody>
      </p:sp>
      <p:sp>
        <p:nvSpPr>
          <p:cNvPr id="15369" name="Text Box 11">
            <a:extLst>
              <a:ext uri="{FF2B5EF4-FFF2-40B4-BE49-F238E27FC236}">
                <a16:creationId xmlns="" xmlns:a16="http://schemas.microsoft.com/office/drawing/2014/main" id="{39DACC15-A05A-4C39-AA3A-DEDDF011E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7229" y="3169444"/>
            <a:ext cx="796528" cy="276999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>
                <a:solidFill>
                  <a:srgbClr val="2D1993"/>
                </a:solidFill>
              </a:rPr>
              <a:t>Income</a:t>
            </a:r>
            <a:endParaRPr lang="en-US" altLang="en-US" sz="1200">
              <a:solidFill>
                <a:schemeClr val="bg2"/>
              </a:solidFill>
            </a:endParaRPr>
          </a:p>
        </p:txBody>
      </p:sp>
      <p:sp>
        <p:nvSpPr>
          <p:cNvPr id="15370" name="AutoShape 12">
            <a:extLst>
              <a:ext uri="{FF2B5EF4-FFF2-40B4-BE49-F238E27FC236}">
                <a16:creationId xmlns="" xmlns:a16="http://schemas.microsoft.com/office/drawing/2014/main" id="{C7EF50E1-1C39-48C8-95DF-1EF8FA8CE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9229" y="3895726"/>
            <a:ext cx="516731" cy="336947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050"/>
          </a:p>
        </p:txBody>
      </p:sp>
      <p:sp>
        <p:nvSpPr>
          <p:cNvPr id="15371" name="Text Box 13">
            <a:extLst>
              <a:ext uri="{FF2B5EF4-FFF2-40B4-BE49-F238E27FC236}">
                <a16:creationId xmlns="" xmlns:a16="http://schemas.microsoft.com/office/drawing/2014/main" id="{CA80B343-AAD0-4560-A866-299F90A719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317" y="3895726"/>
            <a:ext cx="5631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>
                <a:solidFill>
                  <a:srgbClr val="800000"/>
                </a:solidFill>
              </a:rPr>
              <a:t>YES</a:t>
            </a:r>
            <a:endParaRPr lang="en-US" altLang="en-US" sz="1200">
              <a:solidFill>
                <a:schemeClr val="bg2"/>
              </a:solidFill>
            </a:endParaRPr>
          </a:p>
        </p:txBody>
      </p:sp>
      <p:sp>
        <p:nvSpPr>
          <p:cNvPr id="15372" name="AutoShape 14">
            <a:extLst>
              <a:ext uri="{FF2B5EF4-FFF2-40B4-BE49-F238E27FC236}">
                <a16:creationId xmlns="" xmlns:a16="http://schemas.microsoft.com/office/drawing/2014/main" id="{C8BBC06F-05D5-4849-976E-C7E6D7802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1694" y="3911204"/>
            <a:ext cx="538163" cy="33456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050"/>
          </a:p>
        </p:txBody>
      </p:sp>
      <p:sp>
        <p:nvSpPr>
          <p:cNvPr id="15373" name="Text Box 15">
            <a:extLst>
              <a:ext uri="{FF2B5EF4-FFF2-40B4-BE49-F238E27FC236}">
                <a16:creationId xmlns="" xmlns:a16="http://schemas.microsoft.com/office/drawing/2014/main" id="{30CCC176-FBB9-4FA4-98F9-4D645EF81A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4932" y="3898107"/>
            <a:ext cx="41549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>
                <a:solidFill>
                  <a:srgbClr val="800000"/>
                </a:solidFill>
              </a:rPr>
              <a:t>NO</a:t>
            </a:r>
            <a:endParaRPr lang="en-US" altLang="en-US" sz="1200">
              <a:solidFill>
                <a:schemeClr val="bg2"/>
              </a:solidFill>
            </a:endParaRPr>
          </a:p>
        </p:txBody>
      </p:sp>
      <p:sp>
        <p:nvSpPr>
          <p:cNvPr id="15374" name="AutoShape 16">
            <a:extLst>
              <a:ext uri="{FF2B5EF4-FFF2-40B4-BE49-F238E27FC236}">
                <a16:creationId xmlns="" xmlns:a16="http://schemas.microsoft.com/office/drawing/2014/main" id="{DC143013-C6EB-4F90-BB6E-9CDE718FC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7351" y="2453879"/>
            <a:ext cx="564356" cy="320278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050"/>
          </a:p>
        </p:txBody>
      </p:sp>
      <p:sp>
        <p:nvSpPr>
          <p:cNvPr id="15375" name="Text Box 17">
            <a:extLst>
              <a:ext uri="{FF2B5EF4-FFF2-40B4-BE49-F238E27FC236}">
                <a16:creationId xmlns="" xmlns:a16="http://schemas.microsoft.com/office/drawing/2014/main" id="{5B9032FF-678A-498E-80BD-1480159E6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9398" y="2440782"/>
            <a:ext cx="41549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>
                <a:solidFill>
                  <a:srgbClr val="800000"/>
                </a:solidFill>
              </a:rPr>
              <a:t>NO</a:t>
            </a:r>
            <a:endParaRPr lang="en-US" altLang="en-US" sz="1200">
              <a:solidFill>
                <a:srgbClr val="00FFFF"/>
              </a:solidFill>
            </a:endParaRPr>
          </a:p>
        </p:txBody>
      </p:sp>
      <p:sp>
        <p:nvSpPr>
          <p:cNvPr id="15376" name="AutoShape 18">
            <a:extLst>
              <a:ext uri="{FF2B5EF4-FFF2-40B4-BE49-F238E27FC236}">
                <a16:creationId xmlns="" xmlns:a16="http://schemas.microsoft.com/office/drawing/2014/main" id="{3A744CE6-8BB1-4F67-AE18-36B692D68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1" y="3194448"/>
            <a:ext cx="564356" cy="350044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050"/>
          </a:p>
        </p:txBody>
      </p:sp>
      <p:sp>
        <p:nvSpPr>
          <p:cNvPr id="15377" name="Text Box 19">
            <a:extLst>
              <a:ext uri="{FF2B5EF4-FFF2-40B4-BE49-F238E27FC236}">
                <a16:creationId xmlns="" xmlns:a16="http://schemas.microsoft.com/office/drawing/2014/main" id="{5C64B847-705F-4B1C-9890-A1207D706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65" y="3194448"/>
            <a:ext cx="41549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>
                <a:solidFill>
                  <a:srgbClr val="800000"/>
                </a:solidFill>
              </a:rPr>
              <a:t>NO</a:t>
            </a:r>
            <a:endParaRPr lang="en-US" altLang="en-US" sz="1200">
              <a:solidFill>
                <a:schemeClr val="bg2"/>
              </a:solidFill>
            </a:endParaRPr>
          </a:p>
        </p:txBody>
      </p:sp>
      <p:sp>
        <p:nvSpPr>
          <p:cNvPr id="15378" name="Text Box 20">
            <a:extLst>
              <a:ext uri="{FF2B5EF4-FFF2-40B4-BE49-F238E27FC236}">
                <a16:creationId xmlns="" xmlns:a16="http://schemas.microsoft.com/office/drawing/2014/main" id="{691A2651-5243-4D95-A246-DF3792B55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207" y="2014538"/>
            <a:ext cx="44916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/>
              <a:t>Yes</a:t>
            </a:r>
            <a:endParaRPr lang="en-US" altLang="en-US" sz="1200">
              <a:solidFill>
                <a:schemeClr val="bg2"/>
              </a:solidFill>
            </a:endParaRPr>
          </a:p>
        </p:txBody>
      </p:sp>
      <p:sp>
        <p:nvSpPr>
          <p:cNvPr id="15379" name="Text Box 21">
            <a:extLst>
              <a:ext uri="{FF2B5EF4-FFF2-40B4-BE49-F238E27FC236}">
                <a16:creationId xmlns="" xmlns:a16="http://schemas.microsoft.com/office/drawing/2014/main" id="{D43D4DD6-3792-4914-9435-6A7ABE615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7843" y="2014538"/>
            <a:ext cx="38023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5380" name="Text Box 22">
            <a:extLst>
              <a:ext uri="{FF2B5EF4-FFF2-40B4-BE49-F238E27FC236}">
                <a16:creationId xmlns="" xmlns:a16="http://schemas.microsoft.com/office/drawing/2014/main" id="{18A9BCD1-0990-4A0E-8E08-E636B690B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0430" y="2718198"/>
            <a:ext cx="74732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/>
              <a:t>Married</a:t>
            </a:r>
            <a:r>
              <a:rPr lang="en-US" altLang="en-US" sz="120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15381" name="Text Box 23">
            <a:extLst>
              <a:ext uri="{FF2B5EF4-FFF2-40B4-BE49-F238E27FC236}">
                <a16:creationId xmlns="" xmlns:a16="http://schemas.microsoft.com/office/drawing/2014/main" id="{FA7D88B2-342B-43B6-B21B-1EDC768980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4622" y="2744392"/>
            <a:ext cx="130035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/>
              <a:t>Single, Divorced</a:t>
            </a:r>
            <a:endParaRPr lang="en-US" altLang="en-US" sz="1200">
              <a:solidFill>
                <a:schemeClr val="bg2"/>
              </a:solidFill>
            </a:endParaRPr>
          </a:p>
        </p:txBody>
      </p:sp>
      <p:sp>
        <p:nvSpPr>
          <p:cNvPr id="15382" name="Text Box 24">
            <a:extLst>
              <a:ext uri="{FF2B5EF4-FFF2-40B4-BE49-F238E27FC236}">
                <a16:creationId xmlns="" xmlns:a16="http://schemas.microsoft.com/office/drawing/2014/main" id="{0B10F677-30F4-408E-82D7-9DA7A4F370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0093" y="3473054"/>
            <a:ext cx="5902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/>
              <a:t>&lt; 80K</a:t>
            </a:r>
            <a:endParaRPr lang="en-US" altLang="en-US" sz="1200">
              <a:solidFill>
                <a:schemeClr val="bg2"/>
              </a:solidFill>
            </a:endParaRPr>
          </a:p>
        </p:txBody>
      </p:sp>
      <p:sp>
        <p:nvSpPr>
          <p:cNvPr id="15383" name="Text Box 25">
            <a:extLst>
              <a:ext uri="{FF2B5EF4-FFF2-40B4-BE49-F238E27FC236}">
                <a16:creationId xmlns="" xmlns:a16="http://schemas.microsoft.com/office/drawing/2014/main" id="{112A6B55-8DC1-4C86-8E9F-961BA729C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800" y="3473054"/>
            <a:ext cx="5902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/>
              <a:t>&gt; 80K</a:t>
            </a:r>
            <a:endParaRPr lang="en-US" altLang="en-US" sz="1200">
              <a:solidFill>
                <a:schemeClr val="bg2"/>
              </a:solidFill>
            </a:endParaRPr>
          </a:p>
        </p:txBody>
      </p:sp>
      <p:graphicFrame>
        <p:nvGraphicFramePr>
          <p:cNvPr id="15384" name="Object 26">
            <a:extLst>
              <a:ext uri="{FF2B5EF4-FFF2-40B4-BE49-F238E27FC236}">
                <a16:creationId xmlns="" xmlns:a16="http://schemas.microsoft.com/office/drawing/2014/main" id="{6CBCE12D-0A7E-461B-BAD9-7D9815A203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61323" y="1203722"/>
          <a:ext cx="273962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" name="Document" r:id="rId3" imgW="5143500" imgH="1600200" progId="Word.Document.8">
                  <p:embed/>
                </p:oleObj>
              </mc:Choice>
              <mc:Fallback>
                <p:oleObj name="Document" r:id="rId3" imgW="5143500" imgH="16002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1323" y="1203722"/>
                        <a:ext cx="2739628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5" name="Text Box 27">
            <a:extLst>
              <a:ext uri="{FF2B5EF4-FFF2-40B4-BE49-F238E27FC236}">
                <a16:creationId xmlns="" xmlns:a16="http://schemas.microsoft.com/office/drawing/2014/main" id="{2F709821-A106-4BE4-99B7-AE604DE11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3450" y="857251"/>
            <a:ext cx="12001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500">
                <a:solidFill>
                  <a:schemeClr val="tx2"/>
                </a:solidFill>
              </a:rPr>
              <a:t>Test Data</a:t>
            </a:r>
            <a:endParaRPr lang="en-US" altLang="en-US" sz="1500">
              <a:solidFill>
                <a:schemeClr val="bg2"/>
              </a:solidFill>
            </a:endParaRPr>
          </a:p>
        </p:txBody>
      </p:sp>
      <p:sp>
        <p:nvSpPr>
          <p:cNvPr id="15386" name="Line 28">
            <a:extLst>
              <a:ext uri="{FF2B5EF4-FFF2-40B4-BE49-F238E27FC236}">
                <a16:creationId xmlns="" xmlns:a16="http://schemas.microsoft.com/office/drawing/2014/main" id="{A92EC166-4110-4F14-99E2-A753E98215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1771650"/>
            <a:ext cx="1200150" cy="3429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425"/>
          </a:p>
        </p:txBody>
      </p:sp>
      <p:sp>
        <p:nvSpPr>
          <p:cNvPr id="15387" name="Text Box 33">
            <a:extLst>
              <a:ext uri="{FF2B5EF4-FFF2-40B4-BE49-F238E27FC236}">
                <a16:creationId xmlns="" xmlns:a16="http://schemas.microsoft.com/office/drawing/2014/main" id="{D80BA117-04E5-4D25-8053-C681B78FA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7913" y="1771650"/>
            <a:ext cx="770335" cy="46166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>
                <a:solidFill>
                  <a:srgbClr val="2D1993"/>
                </a:solidFill>
              </a:rPr>
              <a:t>Home Owner</a:t>
            </a:r>
            <a:endParaRPr lang="en-US" altLang="en-US" sz="1200">
              <a:solidFill>
                <a:schemeClr val="bg2"/>
              </a:solidFill>
            </a:endParaRPr>
          </a:p>
        </p:txBody>
      </p:sp>
      <p:sp>
        <p:nvSpPr>
          <p:cNvPr id="32" name="Прямоугольник 31"/>
          <p:cNvSpPr/>
          <p:nvPr/>
        </p:nvSpPr>
        <p:spPr>
          <a:xfrm>
            <a:off x="0" y="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Застосування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моделі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до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даних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тесту</a:t>
            </a:r>
          </a:p>
        </p:txBody>
      </p:sp>
    </p:spTree>
    <p:extLst>
      <p:ext uri="{BB962C8B-B14F-4D97-AF65-F5344CB8AC3E}">
        <p14:creationId xmlns:p14="http://schemas.microsoft.com/office/powerpoint/2010/main" val="23263999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73B1CBD-DABB-4236-9028-F59510458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07227FA-A692-4498-876D-E141937D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680B55-7697-4C7B-89C2-F38D3ACF3205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2F2F8AD1-81E6-466A-A329-F412ABE3CB65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>
          <a:xfrm>
            <a:off x="0" y="4767263"/>
            <a:ext cx="2057400" cy="274637"/>
          </a:xfrm>
        </p:spPr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16386" name="Line 3">
            <a:extLst>
              <a:ext uri="{FF2B5EF4-FFF2-40B4-BE49-F238E27FC236}">
                <a16:creationId xmlns="" xmlns:a16="http://schemas.microsoft.com/office/drawing/2014/main" id="{6654FDA8-72F4-4D9E-B29D-6F727DBFDD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7081" y="3413522"/>
            <a:ext cx="200025" cy="48458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425"/>
          </a:p>
        </p:txBody>
      </p:sp>
      <p:sp>
        <p:nvSpPr>
          <p:cNvPr id="16387" name="Line 4">
            <a:extLst>
              <a:ext uri="{FF2B5EF4-FFF2-40B4-BE49-F238E27FC236}">
                <a16:creationId xmlns="" xmlns:a16="http://schemas.microsoft.com/office/drawing/2014/main" id="{44368EF9-2C0E-455C-A6F3-CCF0895561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87204" y="3413522"/>
            <a:ext cx="266700" cy="48458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425"/>
          </a:p>
        </p:txBody>
      </p:sp>
      <p:sp>
        <p:nvSpPr>
          <p:cNvPr id="16388" name="Line 5">
            <a:extLst>
              <a:ext uri="{FF2B5EF4-FFF2-40B4-BE49-F238E27FC236}">
                <a16:creationId xmlns="" xmlns:a16="http://schemas.microsoft.com/office/drawing/2014/main" id="{C631A44B-603B-4521-8C36-20C85C885C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18222" y="2682479"/>
            <a:ext cx="332184" cy="48696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425"/>
          </a:p>
        </p:txBody>
      </p:sp>
      <p:sp>
        <p:nvSpPr>
          <p:cNvPr id="16389" name="Line 6">
            <a:extLst>
              <a:ext uri="{FF2B5EF4-FFF2-40B4-BE49-F238E27FC236}">
                <a16:creationId xmlns="" xmlns:a16="http://schemas.microsoft.com/office/drawing/2014/main" id="{0DAFE3D3-63CA-44B4-AE2B-82F420AA5856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4775" y="2682479"/>
            <a:ext cx="398860" cy="48696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425"/>
          </a:p>
        </p:txBody>
      </p:sp>
      <p:sp>
        <p:nvSpPr>
          <p:cNvPr id="16390" name="Line 7">
            <a:extLst>
              <a:ext uri="{FF2B5EF4-FFF2-40B4-BE49-F238E27FC236}">
                <a16:creationId xmlns="" xmlns:a16="http://schemas.microsoft.com/office/drawing/2014/main" id="{3F74804A-7A96-4B96-87E2-09A4D26F66B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1572" y="2014538"/>
            <a:ext cx="465534" cy="42624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425"/>
          </a:p>
        </p:txBody>
      </p:sp>
      <p:sp>
        <p:nvSpPr>
          <p:cNvPr id="16391" name="Line 8">
            <a:extLst>
              <a:ext uri="{FF2B5EF4-FFF2-40B4-BE49-F238E27FC236}">
                <a16:creationId xmlns="" xmlns:a16="http://schemas.microsoft.com/office/drawing/2014/main" id="{AC8075D9-C9A2-48B5-BCB4-2D4791F51F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22860" y="2014538"/>
            <a:ext cx="464344" cy="42624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425"/>
          </a:p>
        </p:txBody>
      </p:sp>
      <p:sp>
        <p:nvSpPr>
          <p:cNvPr id="16392" name="Text Box 10">
            <a:extLst>
              <a:ext uri="{FF2B5EF4-FFF2-40B4-BE49-F238E27FC236}">
                <a16:creationId xmlns="" xmlns:a16="http://schemas.microsoft.com/office/drawing/2014/main" id="{FAB0D765-6F13-48B0-B577-41CBA0636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3732" y="2440782"/>
            <a:ext cx="769144" cy="276999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>
                <a:solidFill>
                  <a:srgbClr val="2D1993"/>
                </a:solidFill>
              </a:rPr>
              <a:t>MarSt</a:t>
            </a:r>
            <a:endParaRPr lang="en-US" altLang="en-US" sz="1200">
              <a:solidFill>
                <a:schemeClr val="bg2"/>
              </a:solidFill>
            </a:endParaRPr>
          </a:p>
        </p:txBody>
      </p:sp>
      <p:sp>
        <p:nvSpPr>
          <p:cNvPr id="16393" name="Text Box 11">
            <a:extLst>
              <a:ext uri="{FF2B5EF4-FFF2-40B4-BE49-F238E27FC236}">
                <a16:creationId xmlns="" xmlns:a16="http://schemas.microsoft.com/office/drawing/2014/main" id="{E0C25DCC-6325-43C2-8087-9B8F569C2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7229" y="3169444"/>
            <a:ext cx="796528" cy="276999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>
                <a:solidFill>
                  <a:srgbClr val="2D1993"/>
                </a:solidFill>
              </a:rPr>
              <a:t>Income</a:t>
            </a:r>
            <a:endParaRPr lang="en-US" altLang="en-US" sz="1200">
              <a:solidFill>
                <a:schemeClr val="bg2"/>
              </a:solidFill>
            </a:endParaRPr>
          </a:p>
        </p:txBody>
      </p:sp>
      <p:sp>
        <p:nvSpPr>
          <p:cNvPr id="16394" name="AutoShape 12">
            <a:extLst>
              <a:ext uri="{FF2B5EF4-FFF2-40B4-BE49-F238E27FC236}">
                <a16:creationId xmlns="" xmlns:a16="http://schemas.microsoft.com/office/drawing/2014/main" id="{468DE7B0-FDD7-42CC-ADC9-86D382BAC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9229" y="3895726"/>
            <a:ext cx="516731" cy="336947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050"/>
          </a:p>
        </p:txBody>
      </p:sp>
      <p:sp>
        <p:nvSpPr>
          <p:cNvPr id="16395" name="Text Box 13">
            <a:extLst>
              <a:ext uri="{FF2B5EF4-FFF2-40B4-BE49-F238E27FC236}">
                <a16:creationId xmlns="" xmlns:a16="http://schemas.microsoft.com/office/drawing/2014/main" id="{DABC81D7-2103-4EA9-9306-8BDB3DF0E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317" y="3895726"/>
            <a:ext cx="5631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>
                <a:solidFill>
                  <a:srgbClr val="800000"/>
                </a:solidFill>
              </a:rPr>
              <a:t>YES</a:t>
            </a:r>
            <a:endParaRPr lang="en-US" altLang="en-US" sz="1200">
              <a:solidFill>
                <a:schemeClr val="bg2"/>
              </a:solidFill>
            </a:endParaRPr>
          </a:p>
        </p:txBody>
      </p:sp>
      <p:sp>
        <p:nvSpPr>
          <p:cNvPr id="16396" name="AutoShape 14">
            <a:extLst>
              <a:ext uri="{FF2B5EF4-FFF2-40B4-BE49-F238E27FC236}">
                <a16:creationId xmlns="" xmlns:a16="http://schemas.microsoft.com/office/drawing/2014/main" id="{946D1A10-755F-4542-807A-00A40EE7C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1694" y="3911204"/>
            <a:ext cx="538163" cy="33456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050"/>
          </a:p>
        </p:txBody>
      </p:sp>
      <p:sp>
        <p:nvSpPr>
          <p:cNvPr id="16397" name="Text Box 15">
            <a:extLst>
              <a:ext uri="{FF2B5EF4-FFF2-40B4-BE49-F238E27FC236}">
                <a16:creationId xmlns="" xmlns:a16="http://schemas.microsoft.com/office/drawing/2014/main" id="{3070DA6E-BD1C-450C-99ED-2E2433E8F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4932" y="3898107"/>
            <a:ext cx="41549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>
                <a:solidFill>
                  <a:srgbClr val="800000"/>
                </a:solidFill>
              </a:rPr>
              <a:t>NO</a:t>
            </a:r>
            <a:endParaRPr lang="en-US" altLang="en-US" sz="1200">
              <a:solidFill>
                <a:schemeClr val="bg2"/>
              </a:solidFill>
            </a:endParaRPr>
          </a:p>
        </p:txBody>
      </p:sp>
      <p:sp>
        <p:nvSpPr>
          <p:cNvPr id="16398" name="AutoShape 16">
            <a:extLst>
              <a:ext uri="{FF2B5EF4-FFF2-40B4-BE49-F238E27FC236}">
                <a16:creationId xmlns="" xmlns:a16="http://schemas.microsoft.com/office/drawing/2014/main" id="{7BA13988-E217-467B-BE7D-6D9BB058E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7351" y="2453879"/>
            <a:ext cx="564356" cy="320278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050"/>
          </a:p>
        </p:txBody>
      </p:sp>
      <p:sp>
        <p:nvSpPr>
          <p:cNvPr id="16399" name="Text Box 17">
            <a:extLst>
              <a:ext uri="{FF2B5EF4-FFF2-40B4-BE49-F238E27FC236}">
                <a16:creationId xmlns="" xmlns:a16="http://schemas.microsoft.com/office/drawing/2014/main" id="{88775961-4A12-4FE2-9D8F-C980F1D560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9398" y="2440782"/>
            <a:ext cx="41549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>
                <a:solidFill>
                  <a:srgbClr val="800000"/>
                </a:solidFill>
              </a:rPr>
              <a:t>NO</a:t>
            </a:r>
            <a:endParaRPr lang="en-US" altLang="en-US" sz="1200">
              <a:solidFill>
                <a:srgbClr val="00FFFF"/>
              </a:solidFill>
            </a:endParaRPr>
          </a:p>
        </p:txBody>
      </p:sp>
      <p:sp>
        <p:nvSpPr>
          <p:cNvPr id="16400" name="AutoShape 18">
            <a:extLst>
              <a:ext uri="{FF2B5EF4-FFF2-40B4-BE49-F238E27FC236}">
                <a16:creationId xmlns="" xmlns:a16="http://schemas.microsoft.com/office/drawing/2014/main" id="{7C14FA3E-B966-49C0-9A59-A3B925832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1" y="3194448"/>
            <a:ext cx="564356" cy="350044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050"/>
          </a:p>
        </p:txBody>
      </p:sp>
      <p:sp>
        <p:nvSpPr>
          <p:cNvPr id="16401" name="Text Box 19">
            <a:extLst>
              <a:ext uri="{FF2B5EF4-FFF2-40B4-BE49-F238E27FC236}">
                <a16:creationId xmlns="" xmlns:a16="http://schemas.microsoft.com/office/drawing/2014/main" id="{FE456DF6-A29A-4A91-9FB7-8154021C4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65" y="3194448"/>
            <a:ext cx="41549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>
                <a:solidFill>
                  <a:srgbClr val="800000"/>
                </a:solidFill>
              </a:rPr>
              <a:t>NO</a:t>
            </a:r>
            <a:endParaRPr lang="en-US" altLang="en-US" sz="1200">
              <a:solidFill>
                <a:schemeClr val="bg2"/>
              </a:solidFill>
            </a:endParaRPr>
          </a:p>
        </p:txBody>
      </p:sp>
      <p:sp>
        <p:nvSpPr>
          <p:cNvPr id="16402" name="Text Box 20">
            <a:extLst>
              <a:ext uri="{FF2B5EF4-FFF2-40B4-BE49-F238E27FC236}">
                <a16:creationId xmlns="" xmlns:a16="http://schemas.microsoft.com/office/drawing/2014/main" id="{50D0CB85-8DB9-4236-B5F3-B701D9806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207" y="2014538"/>
            <a:ext cx="44916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/>
              <a:t>Yes</a:t>
            </a:r>
            <a:endParaRPr lang="en-US" altLang="en-US" sz="1200">
              <a:solidFill>
                <a:schemeClr val="bg2"/>
              </a:solidFill>
            </a:endParaRPr>
          </a:p>
        </p:txBody>
      </p:sp>
      <p:sp>
        <p:nvSpPr>
          <p:cNvPr id="16403" name="Text Box 21">
            <a:extLst>
              <a:ext uri="{FF2B5EF4-FFF2-40B4-BE49-F238E27FC236}">
                <a16:creationId xmlns="" xmlns:a16="http://schemas.microsoft.com/office/drawing/2014/main" id="{58324734-18CC-406B-B866-BD7576D55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7843" y="2014538"/>
            <a:ext cx="38023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6404" name="Text Box 22">
            <a:extLst>
              <a:ext uri="{FF2B5EF4-FFF2-40B4-BE49-F238E27FC236}">
                <a16:creationId xmlns="" xmlns:a16="http://schemas.microsoft.com/office/drawing/2014/main" id="{FC071BAD-0D75-4863-8163-D80876FC0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0430" y="2718198"/>
            <a:ext cx="74732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/>
              <a:t>Married</a:t>
            </a:r>
            <a:r>
              <a:rPr lang="en-US" altLang="en-US" sz="120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16405" name="Text Box 23">
            <a:extLst>
              <a:ext uri="{FF2B5EF4-FFF2-40B4-BE49-F238E27FC236}">
                <a16:creationId xmlns="" xmlns:a16="http://schemas.microsoft.com/office/drawing/2014/main" id="{0893316C-21F3-4B37-9942-0700AD30C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4622" y="2744392"/>
            <a:ext cx="130035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/>
              <a:t>Single, Divorced</a:t>
            </a:r>
            <a:endParaRPr lang="en-US" altLang="en-US" sz="1200">
              <a:solidFill>
                <a:schemeClr val="bg2"/>
              </a:solidFill>
            </a:endParaRPr>
          </a:p>
        </p:txBody>
      </p:sp>
      <p:sp>
        <p:nvSpPr>
          <p:cNvPr id="16406" name="Text Box 24">
            <a:extLst>
              <a:ext uri="{FF2B5EF4-FFF2-40B4-BE49-F238E27FC236}">
                <a16:creationId xmlns="" xmlns:a16="http://schemas.microsoft.com/office/drawing/2014/main" id="{0F440198-8C5F-40FD-949F-5DB9B4C78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0093" y="3473054"/>
            <a:ext cx="5902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/>
              <a:t>&lt; 80K</a:t>
            </a:r>
            <a:endParaRPr lang="en-US" altLang="en-US" sz="1200">
              <a:solidFill>
                <a:schemeClr val="bg2"/>
              </a:solidFill>
            </a:endParaRPr>
          </a:p>
        </p:txBody>
      </p:sp>
      <p:sp>
        <p:nvSpPr>
          <p:cNvPr id="16407" name="Text Box 25">
            <a:extLst>
              <a:ext uri="{FF2B5EF4-FFF2-40B4-BE49-F238E27FC236}">
                <a16:creationId xmlns="" xmlns:a16="http://schemas.microsoft.com/office/drawing/2014/main" id="{D3E175E6-83AF-4B08-B14D-6BE5654C3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800" y="3473054"/>
            <a:ext cx="5902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/>
              <a:t>&gt; 80K</a:t>
            </a:r>
            <a:endParaRPr lang="en-US" altLang="en-US" sz="1200">
              <a:solidFill>
                <a:schemeClr val="bg2"/>
              </a:solidFill>
            </a:endParaRPr>
          </a:p>
        </p:txBody>
      </p:sp>
      <p:graphicFrame>
        <p:nvGraphicFramePr>
          <p:cNvPr id="16408" name="Object 26">
            <a:extLst>
              <a:ext uri="{FF2B5EF4-FFF2-40B4-BE49-F238E27FC236}">
                <a16:creationId xmlns="" xmlns:a16="http://schemas.microsoft.com/office/drawing/2014/main" id="{5AD7F2BF-2DD1-44E8-93CE-3F8CD9A91F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61323" y="1203722"/>
          <a:ext cx="268247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0" name="Document" r:id="rId3" imgW="5054600" imgH="1600200" progId="Word.Document.8">
                  <p:embed/>
                </p:oleObj>
              </mc:Choice>
              <mc:Fallback>
                <p:oleObj name="Document" r:id="rId3" imgW="5054600" imgH="16002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1323" y="1203722"/>
                        <a:ext cx="2682478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9" name="Text Box 27">
            <a:extLst>
              <a:ext uri="{FF2B5EF4-FFF2-40B4-BE49-F238E27FC236}">
                <a16:creationId xmlns="" xmlns:a16="http://schemas.microsoft.com/office/drawing/2014/main" id="{5814FC83-E9AA-4A72-923A-B36CA1125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3450" y="857251"/>
            <a:ext cx="12001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500">
                <a:solidFill>
                  <a:schemeClr val="tx2"/>
                </a:solidFill>
              </a:rPr>
              <a:t>Test Data</a:t>
            </a:r>
            <a:endParaRPr lang="en-US" altLang="en-US" sz="1500">
              <a:solidFill>
                <a:schemeClr val="bg2"/>
              </a:solidFill>
            </a:endParaRPr>
          </a:p>
        </p:txBody>
      </p:sp>
      <p:sp>
        <p:nvSpPr>
          <p:cNvPr id="16410" name="Line 28">
            <a:extLst>
              <a:ext uri="{FF2B5EF4-FFF2-40B4-BE49-F238E27FC236}">
                <a16:creationId xmlns="" xmlns:a16="http://schemas.microsoft.com/office/drawing/2014/main" id="{9B60F30B-25F0-4E02-9205-9196E72DB7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00500" y="1543050"/>
            <a:ext cx="1543050" cy="97155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425"/>
          </a:p>
        </p:txBody>
      </p:sp>
      <p:sp>
        <p:nvSpPr>
          <p:cNvPr id="16411" name="Text Box 29">
            <a:extLst>
              <a:ext uri="{FF2B5EF4-FFF2-40B4-BE49-F238E27FC236}">
                <a16:creationId xmlns="" xmlns:a16="http://schemas.microsoft.com/office/drawing/2014/main" id="{782D7552-4A10-49EF-AA4E-FBC4DEE9A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7913" y="1771650"/>
            <a:ext cx="770335" cy="46166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>
                <a:solidFill>
                  <a:srgbClr val="2D1993"/>
                </a:solidFill>
              </a:rPr>
              <a:t>Home Owner</a:t>
            </a:r>
            <a:endParaRPr lang="en-US" altLang="en-US" sz="1200">
              <a:solidFill>
                <a:schemeClr val="bg2"/>
              </a:solidFill>
            </a:endParaRPr>
          </a:p>
        </p:txBody>
      </p:sp>
      <p:sp>
        <p:nvSpPr>
          <p:cNvPr id="32" name="Прямоугольник 31"/>
          <p:cNvSpPr/>
          <p:nvPr/>
        </p:nvSpPr>
        <p:spPr>
          <a:xfrm>
            <a:off x="0" y="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Застосування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моделі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до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даних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тесту</a:t>
            </a:r>
          </a:p>
        </p:txBody>
      </p:sp>
    </p:spTree>
    <p:extLst>
      <p:ext uri="{BB962C8B-B14F-4D97-AF65-F5344CB8AC3E}">
        <p14:creationId xmlns:p14="http://schemas.microsoft.com/office/powerpoint/2010/main" val="14527176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ED250F69-DABC-42AD-A475-F05F80743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0D4B7A5-BE48-456C-9BAB-189A81979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051604-57D2-428E-A2A7-786F957DB7C8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A3896F20-2D52-417B-962D-2AF9AB48E454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>
          <a:xfrm>
            <a:off x="0" y="4767263"/>
            <a:ext cx="2057400" cy="274637"/>
          </a:xfrm>
        </p:spPr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17410" name="Line 3">
            <a:extLst>
              <a:ext uri="{FF2B5EF4-FFF2-40B4-BE49-F238E27FC236}">
                <a16:creationId xmlns="" xmlns:a16="http://schemas.microsoft.com/office/drawing/2014/main" id="{A5C44BA8-84B4-4329-B4FC-AA80BBE1D12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7081" y="3413522"/>
            <a:ext cx="200025" cy="48458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425"/>
          </a:p>
        </p:txBody>
      </p:sp>
      <p:sp>
        <p:nvSpPr>
          <p:cNvPr id="17411" name="Line 4">
            <a:extLst>
              <a:ext uri="{FF2B5EF4-FFF2-40B4-BE49-F238E27FC236}">
                <a16:creationId xmlns="" xmlns:a16="http://schemas.microsoft.com/office/drawing/2014/main" id="{797895E3-BF9E-446D-9E4F-1641D1CBD5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87204" y="3413522"/>
            <a:ext cx="266700" cy="48458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425"/>
          </a:p>
        </p:txBody>
      </p:sp>
      <p:sp>
        <p:nvSpPr>
          <p:cNvPr id="17412" name="Line 5">
            <a:extLst>
              <a:ext uri="{FF2B5EF4-FFF2-40B4-BE49-F238E27FC236}">
                <a16:creationId xmlns="" xmlns:a16="http://schemas.microsoft.com/office/drawing/2014/main" id="{09581D5C-6807-48B8-AC2F-8E48F06FE3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18222" y="2682479"/>
            <a:ext cx="332184" cy="48696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425"/>
          </a:p>
        </p:txBody>
      </p:sp>
      <p:sp>
        <p:nvSpPr>
          <p:cNvPr id="17413" name="Line 6">
            <a:extLst>
              <a:ext uri="{FF2B5EF4-FFF2-40B4-BE49-F238E27FC236}">
                <a16:creationId xmlns="" xmlns:a16="http://schemas.microsoft.com/office/drawing/2014/main" id="{94B25752-DE6D-4333-B1E8-3A66014C17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4775" y="2682479"/>
            <a:ext cx="398860" cy="48696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425"/>
          </a:p>
        </p:txBody>
      </p:sp>
      <p:sp>
        <p:nvSpPr>
          <p:cNvPr id="17414" name="Line 7">
            <a:extLst>
              <a:ext uri="{FF2B5EF4-FFF2-40B4-BE49-F238E27FC236}">
                <a16:creationId xmlns="" xmlns:a16="http://schemas.microsoft.com/office/drawing/2014/main" id="{2FC40FF1-CE46-4E85-B66E-8F5BD7489EF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1572" y="2014538"/>
            <a:ext cx="465534" cy="42624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425"/>
          </a:p>
        </p:txBody>
      </p:sp>
      <p:sp>
        <p:nvSpPr>
          <p:cNvPr id="17415" name="Line 8">
            <a:extLst>
              <a:ext uri="{FF2B5EF4-FFF2-40B4-BE49-F238E27FC236}">
                <a16:creationId xmlns="" xmlns:a16="http://schemas.microsoft.com/office/drawing/2014/main" id="{4E0AC857-653F-4E1C-A81F-4C632F7FE3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22860" y="2014538"/>
            <a:ext cx="464344" cy="42624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425"/>
          </a:p>
        </p:txBody>
      </p:sp>
      <p:sp>
        <p:nvSpPr>
          <p:cNvPr id="17416" name="Text Box 10">
            <a:extLst>
              <a:ext uri="{FF2B5EF4-FFF2-40B4-BE49-F238E27FC236}">
                <a16:creationId xmlns="" xmlns:a16="http://schemas.microsoft.com/office/drawing/2014/main" id="{31A188CD-F3E0-4270-BBA1-15965EB02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3732" y="2440782"/>
            <a:ext cx="769144" cy="276999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>
                <a:solidFill>
                  <a:srgbClr val="2D1993"/>
                </a:solidFill>
              </a:rPr>
              <a:t>MarSt</a:t>
            </a:r>
            <a:endParaRPr lang="en-US" altLang="en-US" sz="1200">
              <a:solidFill>
                <a:schemeClr val="bg2"/>
              </a:solidFill>
            </a:endParaRPr>
          </a:p>
        </p:txBody>
      </p:sp>
      <p:sp>
        <p:nvSpPr>
          <p:cNvPr id="17417" name="Text Box 11">
            <a:extLst>
              <a:ext uri="{FF2B5EF4-FFF2-40B4-BE49-F238E27FC236}">
                <a16:creationId xmlns="" xmlns:a16="http://schemas.microsoft.com/office/drawing/2014/main" id="{B088FB2D-4993-482E-92FF-F12075DE8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7229" y="3169444"/>
            <a:ext cx="796528" cy="276999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>
                <a:solidFill>
                  <a:srgbClr val="2D1993"/>
                </a:solidFill>
              </a:rPr>
              <a:t>Income</a:t>
            </a:r>
            <a:endParaRPr lang="en-US" altLang="en-US" sz="1200">
              <a:solidFill>
                <a:schemeClr val="bg2"/>
              </a:solidFill>
            </a:endParaRPr>
          </a:p>
        </p:txBody>
      </p:sp>
      <p:sp>
        <p:nvSpPr>
          <p:cNvPr id="17418" name="AutoShape 12">
            <a:extLst>
              <a:ext uri="{FF2B5EF4-FFF2-40B4-BE49-F238E27FC236}">
                <a16:creationId xmlns="" xmlns:a16="http://schemas.microsoft.com/office/drawing/2014/main" id="{1F9C1CC1-F565-4255-996C-D3743FE57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9229" y="3895726"/>
            <a:ext cx="516731" cy="336947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050"/>
          </a:p>
        </p:txBody>
      </p:sp>
      <p:sp>
        <p:nvSpPr>
          <p:cNvPr id="17419" name="Text Box 13">
            <a:extLst>
              <a:ext uri="{FF2B5EF4-FFF2-40B4-BE49-F238E27FC236}">
                <a16:creationId xmlns="" xmlns:a16="http://schemas.microsoft.com/office/drawing/2014/main" id="{956999A7-BB5C-470C-92AF-D68F15462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317" y="3895726"/>
            <a:ext cx="5631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>
                <a:solidFill>
                  <a:srgbClr val="800000"/>
                </a:solidFill>
              </a:rPr>
              <a:t>YES</a:t>
            </a:r>
            <a:endParaRPr lang="en-US" altLang="en-US" sz="1200">
              <a:solidFill>
                <a:schemeClr val="bg2"/>
              </a:solidFill>
            </a:endParaRPr>
          </a:p>
        </p:txBody>
      </p:sp>
      <p:sp>
        <p:nvSpPr>
          <p:cNvPr id="17420" name="AutoShape 14">
            <a:extLst>
              <a:ext uri="{FF2B5EF4-FFF2-40B4-BE49-F238E27FC236}">
                <a16:creationId xmlns="" xmlns:a16="http://schemas.microsoft.com/office/drawing/2014/main" id="{1C101A96-F92E-4F68-9D70-DADD2D5D2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1694" y="3911204"/>
            <a:ext cx="538163" cy="33456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050"/>
          </a:p>
        </p:txBody>
      </p:sp>
      <p:sp>
        <p:nvSpPr>
          <p:cNvPr id="17421" name="Text Box 15">
            <a:extLst>
              <a:ext uri="{FF2B5EF4-FFF2-40B4-BE49-F238E27FC236}">
                <a16:creationId xmlns="" xmlns:a16="http://schemas.microsoft.com/office/drawing/2014/main" id="{0376D1BD-C3DD-4253-AEEC-8937457BB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4932" y="3898107"/>
            <a:ext cx="41549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>
                <a:solidFill>
                  <a:srgbClr val="800000"/>
                </a:solidFill>
              </a:rPr>
              <a:t>NO</a:t>
            </a:r>
            <a:endParaRPr lang="en-US" altLang="en-US" sz="1200">
              <a:solidFill>
                <a:schemeClr val="bg2"/>
              </a:solidFill>
            </a:endParaRPr>
          </a:p>
        </p:txBody>
      </p:sp>
      <p:sp>
        <p:nvSpPr>
          <p:cNvPr id="17422" name="AutoShape 16">
            <a:extLst>
              <a:ext uri="{FF2B5EF4-FFF2-40B4-BE49-F238E27FC236}">
                <a16:creationId xmlns="" xmlns:a16="http://schemas.microsoft.com/office/drawing/2014/main" id="{B1823FFB-E289-4C8C-901F-55F3978AD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7351" y="2453879"/>
            <a:ext cx="564356" cy="320278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050"/>
          </a:p>
        </p:txBody>
      </p:sp>
      <p:sp>
        <p:nvSpPr>
          <p:cNvPr id="17423" name="Text Box 17">
            <a:extLst>
              <a:ext uri="{FF2B5EF4-FFF2-40B4-BE49-F238E27FC236}">
                <a16:creationId xmlns="" xmlns:a16="http://schemas.microsoft.com/office/drawing/2014/main" id="{953DB719-85F0-4BBA-B5BA-5D45B6EBE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9398" y="2440782"/>
            <a:ext cx="41549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>
                <a:solidFill>
                  <a:srgbClr val="800000"/>
                </a:solidFill>
              </a:rPr>
              <a:t>NO</a:t>
            </a:r>
            <a:endParaRPr lang="en-US" altLang="en-US" sz="1200">
              <a:solidFill>
                <a:srgbClr val="00FFFF"/>
              </a:solidFill>
            </a:endParaRPr>
          </a:p>
        </p:txBody>
      </p:sp>
      <p:sp>
        <p:nvSpPr>
          <p:cNvPr id="17424" name="AutoShape 18">
            <a:extLst>
              <a:ext uri="{FF2B5EF4-FFF2-40B4-BE49-F238E27FC236}">
                <a16:creationId xmlns="" xmlns:a16="http://schemas.microsoft.com/office/drawing/2014/main" id="{7837243C-859F-4CB3-9D4A-9F92C6781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1" y="3194448"/>
            <a:ext cx="564356" cy="350044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050"/>
          </a:p>
        </p:txBody>
      </p:sp>
      <p:sp>
        <p:nvSpPr>
          <p:cNvPr id="17425" name="Text Box 19">
            <a:extLst>
              <a:ext uri="{FF2B5EF4-FFF2-40B4-BE49-F238E27FC236}">
                <a16:creationId xmlns="" xmlns:a16="http://schemas.microsoft.com/office/drawing/2014/main" id="{ED1B0FE0-BC53-4B69-A5F4-50CC2EDB5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65" y="3194448"/>
            <a:ext cx="41549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>
                <a:solidFill>
                  <a:srgbClr val="800000"/>
                </a:solidFill>
              </a:rPr>
              <a:t>NO</a:t>
            </a:r>
            <a:endParaRPr lang="en-US" altLang="en-US" sz="1200">
              <a:solidFill>
                <a:schemeClr val="bg2"/>
              </a:solidFill>
            </a:endParaRPr>
          </a:p>
        </p:txBody>
      </p:sp>
      <p:sp>
        <p:nvSpPr>
          <p:cNvPr id="17426" name="Text Box 20">
            <a:extLst>
              <a:ext uri="{FF2B5EF4-FFF2-40B4-BE49-F238E27FC236}">
                <a16:creationId xmlns="" xmlns:a16="http://schemas.microsoft.com/office/drawing/2014/main" id="{3B41FB1B-D4C9-4F5D-96D0-968FDC030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207" y="2014538"/>
            <a:ext cx="44916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/>
              <a:t>Yes</a:t>
            </a:r>
            <a:endParaRPr lang="en-US" altLang="en-US" sz="1200">
              <a:solidFill>
                <a:schemeClr val="bg2"/>
              </a:solidFill>
            </a:endParaRPr>
          </a:p>
        </p:txBody>
      </p:sp>
      <p:sp>
        <p:nvSpPr>
          <p:cNvPr id="17427" name="Text Box 21">
            <a:extLst>
              <a:ext uri="{FF2B5EF4-FFF2-40B4-BE49-F238E27FC236}">
                <a16:creationId xmlns="" xmlns:a16="http://schemas.microsoft.com/office/drawing/2014/main" id="{CA9CAFDA-E71A-4A2B-B9CD-37E59FFD2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7843" y="2014538"/>
            <a:ext cx="38023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7428" name="Text Box 22">
            <a:extLst>
              <a:ext uri="{FF2B5EF4-FFF2-40B4-BE49-F238E27FC236}">
                <a16:creationId xmlns="" xmlns:a16="http://schemas.microsoft.com/office/drawing/2014/main" id="{071D0BFD-351B-4C5C-84FD-11F209DC2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0430" y="2718198"/>
            <a:ext cx="74732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>
                <a:solidFill>
                  <a:srgbClr val="FF0000"/>
                </a:solidFill>
              </a:rPr>
              <a:t>Married </a:t>
            </a:r>
          </a:p>
        </p:txBody>
      </p:sp>
      <p:sp>
        <p:nvSpPr>
          <p:cNvPr id="17429" name="Text Box 23">
            <a:extLst>
              <a:ext uri="{FF2B5EF4-FFF2-40B4-BE49-F238E27FC236}">
                <a16:creationId xmlns="" xmlns:a16="http://schemas.microsoft.com/office/drawing/2014/main" id="{770EE8FE-0778-4053-9E39-C40CFA073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4622" y="2744392"/>
            <a:ext cx="130035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/>
              <a:t>Single, Divorced</a:t>
            </a:r>
            <a:endParaRPr lang="en-US" altLang="en-US" sz="1200">
              <a:solidFill>
                <a:schemeClr val="bg2"/>
              </a:solidFill>
            </a:endParaRPr>
          </a:p>
        </p:txBody>
      </p:sp>
      <p:sp>
        <p:nvSpPr>
          <p:cNvPr id="17430" name="Text Box 24">
            <a:extLst>
              <a:ext uri="{FF2B5EF4-FFF2-40B4-BE49-F238E27FC236}">
                <a16:creationId xmlns="" xmlns:a16="http://schemas.microsoft.com/office/drawing/2014/main" id="{D2ABB308-17E1-4414-A45B-197C197ED7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0093" y="3473054"/>
            <a:ext cx="5902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/>
              <a:t>&lt; 80K</a:t>
            </a:r>
            <a:endParaRPr lang="en-US" altLang="en-US" sz="1200">
              <a:solidFill>
                <a:schemeClr val="bg2"/>
              </a:solidFill>
            </a:endParaRPr>
          </a:p>
        </p:txBody>
      </p:sp>
      <p:sp>
        <p:nvSpPr>
          <p:cNvPr id="17431" name="Text Box 25">
            <a:extLst>
              <a:ext uri="{FF2B5EF4-FFF2-40B4-BE49-F238E27FC236}">
                <a16:creationId xmlns="" xmlns:a16="http://schemas.microsoft.com/office/drawing/2014/main" id="{1E12C45D-75EC-4B1A-979F-6C12A5CE2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800" y="3473054"/>
            <a:ext cx="5902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/>
              <a:t>&gt; 80K</a:t>
            </a:r>
            <a:endParaRPr lang="en-US" altLang="en-US" sz="1200">
              <a:solidFill>
                <a:schemeClr val="bg2"/>
              </a:solidFill>
            </a:endParaRPr>
          </a:p>
        </p:txBody>
      </p:sp>
      <p:graphicFrame>
        <p:nvGraphicFramePr>
          <p:cNvPr id="17432" name="Object 26">
            <a:extLst>
              <a:ext uri="{FF2B5EF4-FFF2-40B4-BE49-F238E27FC236}">
                <a16:creationId xmlns="" xmlns:a16="http://schemas.microsoft.com/office/drawing/2014/main" id="{E020D34F-E07B-40D6-9CDD-CF254E2644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61322" y="1203722"/>
          <a:ext cx="2789634" cy="822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5" name="Document" r:id="rId3" imgW="5270500" imgH="1562100" progId="Word.Document.8">
                  <p:embed/>
                </p:oleObj>
              </mc:Choice>
              <mc:Fallback>
                <p:oleObj name="Document" r:id="rId3" imgW="5270500" imgH="15621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1322" y="1203722"/>
                        <a:ext cx="2789634" cy="8227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3" name="Text Box 27">
            <a:extLst>
              <a:ext uri="{FF2B5EF4-FFF2-40B4-BE49-F238E27FC236}">
                <a16:creationId xmlns="" xmlns:a16="http://schemas.microsoft.com/office/drawing/2014/main" id="{99F29EE8-4751-46EC-8D7E-1F20D65196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3450" y="857251"/>
            <a:ext cx="12001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500">
                <a:solidFill>
                  <a:schemeClr val="tx2"/>
                </a:solidFill>
              </a:rPr>
              <a:t>Test Data</a:t>
            </a:r>
            <a:endParaRPr lang="en-US" altLang="en-US" sz="1500">
              <a:solidFill>
                <a:schemeClr val="bg2"/>
              </a:solidFill>
            </a:endParaRPr>
          </a:p>
        </p:txBody>
      </p:sp>
      <p:sp>
        <p:nvSpPr>
          <p:cNvPr id="17434" name="Line 28">
            <a:extLst>
              <a:ext uri="{FF2B5EF4-FFF2-40B4-BE49-F238E27FC236}">
                <a16:creationId xmlns="" xmlns:a16="http://schemas.microsoft.com/office/drawing/2014/main" id="{A44AE565-601F-42D4-8DC6-15A8D7B207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29150" y="1943100"/>
            <a:ext cx="971550" cy="74295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425"/>
          </a:p>
        </p:txBody>
      </p:sp>
      <p:sp>
        <p:nvSpPr>
          <p:cNvPr id="17435" name="Text Box 29">
            <a:extLst>
              <a:ext uri="{FF2B5EF4-FFF2-40B4-BE49-F238E27FC236}">
                <a16:creationId xmlns="" xmlns:a16="http://schemas.microsoft.com/office/drawing/2014/main" id="{BCB815D9-B2C1-478F-9E33-19EA73F1C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7913" y="1771650"/>
            <a:ext cx="770335" cy="46166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200">
                <a:solidFill>
                  <a:srgbClr val="2D1993"/>
                </a:solidFill>
              </a:rPr>
              <a:t>Home Owner</a:t>
            </a:r>
            <a:endParaRPr lang="en-US" altLang="en-US" sz="1200">
              <a:solidFill>
                <a:schemeClr val="bg2"/>
              </a:solidFill>
            </a:endParaRPr>
          </a:p>
        </p:txBody>
      </p:sp>
      <p:sp>
        <p:nvSpPr>
          <p:cNvPr id="32" name="Прямоугольник 31"/>
          <p:cNvSpPr/>
          <p:nvPr/>
        </p:nvSpPr>
        <p:spPr>
          <a:xfrm>
            <a:off x="0" y="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Застосування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моделі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до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даних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тесту</a:t>
            </a:r>
          </a:p>
        </p:txBody>
      </p:sp>
    </p:spTree>
    <p:extLst>
      <p:ext uri="{BB962C8B-B14F-4D97-AF65-F5344CB8AC3E}">
        <p14:creationId xmlns:p14="http://schemas.microsoft.com/office/powerpoint/2010/main" val="2057590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5D6333F7-16EE-41B7-9E81-67BCD0E63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Introduction to Data Mining, 2</a:t>
            </a:r>
            <a:r>
              <a:rPr lang="en-US" baseline="30000">
                <a:solidFill>
                  <a:srgbClr val="000000">
                    <a:tint val="75000"/>
                  </a:srgbClr>
                </a:solidFill>
              </a:rPr>
              <a:t>nd</a:t>
            </a:r>
            <a:r>
              <a:rPr lang="en-US">
                <a:solidFill>
                  <a:srgbClr val="000000">
                    <a:tint val="75000"/>
                  </a:srgbClr>
                </a:solidFill>
              </a:rPr>
              <a:t> Edition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A5C2A98-03E9-466F-B5F5-FA160B54B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72E9FB-D088-443F-98CA-C22614E314EC}" type="slidenum">
              <a:rPr 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23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9D2D87E7-DF44-467E-B58D-798AAF2680DB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>
          <a:xfrm>
            <a:off x="0" y="4767263"/>
            <a:ext cx="2057400" cy="274637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09/21/2020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8434" name="Line 3">
            <a:extLst>
              <a:ext uri="{FF2B5EF4-FFF2-40B4-BE49-F238E27FC236}">
                <a16:creationId xmlns="" xmlns:a16="http://schemas.microsoft.com/office/drawing/2014/main" id="{399E9645-00A4-4D7C-B515-111A12ED86B8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7081" y="3413522"/>
            <a:ext cx="200025" cy="48458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defTabSz="685800" eaLnBrk="0" fontAlgn="base">
              <a:spcBef>
                <a:spcPct val="0"/>
              </a:spcBef>
              <a:spcAft>
                <a:spcPct val="0"/>
              </a:spcAft>
            </a:pPr>
            <a:endParaRPr lang="en-US" sz="1050" b="1" kern="1200"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435" name="Line 4">
            <a:extLst>
              <a:ext uri="{FF2B5EF4-FFF2-40B4-BE49-F238E27FC236}">
                <a16:creationId xmlns="" xmlns:a16="http://schemas.microsoft.com/office/drawing/2014/main" id="{C7E01FEE-3176-4252-B438-78753CA6BE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87204" y="3413522"/>
            <a:ext cx="266700" cy="48458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defTabSz="685800" eaLnBrk="0" fontAlgn="base">
              <a:spcBef>
                <a:spcPct val="0"/>
              </a:spcBef>
              <a:spcAft>
                <a:spcPct val="0"/>
              </a:spcAft>
            </a:pPr>
            <a:endParaRPr lang="en-US" sz="1050" b="1" kern="1200"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436" name="Line 5">
            <a:extLst>
              <a:ext uri="{FF2B5EF4-FFF2-40B4-BE49-F238E27FC236}">
                <a16:creationId xmlns="" xmlns:a16="http://schemas.microsoft.com/office/drawing/2014/main" id="{71C82E23-8BA5-44A8-B2EB-01CCAC0BA5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18222" y="2682479"/>
            <a:ext cx="332184" cy="48696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defTabSz="685800" eaLnBrk="0" fontAlgn="base">
              <a:spcBef>
                <a:spcPct val="0"/>
              </a:spcBef>
              <a:spcAft>
                <a:spcPct val="0"/>
              </a:spcAft>
            </a:pPr>
            <a:endParaRPr lang="en-US" sz="1050" b="1" kern="1200"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437" name="Line 6">
            <a:extLst>
              <a:ext uri="{FF2B5EF4-FFF2-40B4-BE49-F238E27FC236}">
                <a16:creationId xmlns="" xmlns:a16="http://schemas.microsoft.com/office/drawing/2014/main" id="{D2D8FE7A-F89D-4917-A3C8-EB087058A11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4775" y="2682479"/>
            <a:ext cx="398860" cy="48696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defTabSz="685800" eaLnBrk="0" fontAlgn="base">
              <a:spcBef>
                <a:spcPct val="0"/>
              </a:spcBef>
              <a:spcAft>
                <a:spcPct val="0"/>
              </a:spcAft>
            </a:pPr>
            <a:endParaRPr lang="en-US" sz="1050" b="1" kern="1200"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438" name="Line 7">
            <a:extLst>
              <a:ext uri="{FF2B5EF4-FFF2-40B4-BE49-F238E27FC236}">
                <a16:creationId xmlns="" xmlns:a16="http://schemas.microsoft.com/office/drawing/2014/main" id="{CB301687-71A5-482B-BF68-968E7B8981A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1572" y="2014538"/>
            <a:ext cx="465534" cy="42624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defTabSz="685800" eaLnBrk="0" fontAlgn="base">
              <a:spcBef>
                <a:spcPct val="0"/>
              </a:spcBef>
              <a:spcAft>
                <a:spcPct val="0"/>
              </a:spcAft>
            </a:pPr>
            <a:endParaRPr lang="en-US" sz="1050" b="1" kern="1200"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439" name="Line 8">
            <a:extLst>
              <a:ext uri="{FF2B5EF4-FFF2-40B4-BE49-F238E27FC236}">
                <a16:creationId xmlns="" xmlns:a16="http://schemas.microsoft.com/office/drawing/2014/main" id="{ED00308B-5029-45D5-A6C1-95ADCD1800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22860" y="2014538"/>
            <a:ext cx="464344" cy="42624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defTabSz="685800" eaLnBrk="0" fontAlgn="base">
              <a:spcBef>
                <a:spcPct val="0"/>
              </a:spcBef>
              <a:spcAft>
                <a:spcPct val="0"/>
              </a:spcAft>
            </a:pPr>
            <a:endParaRPr lang="en-US" sz="1050" b="1" kern="1200"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440" name="Text Box 10">
            <a:extLst>
              <a:ext uri="{FF2B5EF4-FFF2-40B4-BE49-F238E27FC236}">
                <a16:creationId xmlns="" xmlns:a16="http://schemas.microsoft.com/office/drawing/2014/main" id="{04C790B7-6159-47D9-956D-24FBD8D5B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3732" y="2440782"/>
            <a:ext cx="769144" cy="276999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>
              <a:spcBef>
                <a:spcPct val="20000"/>
              </a:spcBef>
              <a:spcAft>
                <a:spcPct val="0"/>
              </a:spcAft>
              <a:buClr>
                <a:srgbClr val="00C0C0"/>
              </a:buClr>
              <a:buNone/>
            </a:pPr>
            <a:r>
              <a:rPr lang="en-US" altLang="en-US" sz="1200" b="1" kern="1200">
                <a:solidFill>
                  <a:srgbClr val="2D1993"/>
                </a:solidFill>
                <a:cs typeface="+mn-cs"/>
              </a:rPr>
              <a:t>MarSt</a:t>
            </a:r>
            <a:endParaRPr lang="en-US" altLang="en-US" sz="1200" kern="1200">
              <a:solidFill>
                <a:srgbClr val="C0C0C0"/>
              </a:solidFill>
              <a:cs typeface="+mn-cs"/>
            </a:endParaRPr>
          </a:p>
        </p:txBody>
      </p:sp>
      <p:sp>
        <p:nvSpPr>
          <p:cNvPr id="18441" name="Text Box 11">
            <a:extLst>
              <a:ext uri="{FF2B5EF4-FFF2-40B4-BE49-F238E27FC236}">
                <a16:creationId xmlns="" xmlns:a16="http://schemas.microsoft.com/office/drawing/2014/main" id="{E1CD48A7-0889-4527-8882-82C342A89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7229" y="3169444"/>
            <a:ext cx="796528" cy="276999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>
              <a:spcBef>
                <a:spcPct val="20000"/>
              </a:spcBef>
              <a:spcAft>
                <a:spcPct val="0"/>
              </a:spcAft>
              <a:buClr>
                <a:srgbClr val="00C0C0"/>
              </a:buClr>
              <a:buNone/>
            </a:pPr>
            <a:r>
              <a:rPr lang="en-US" altLang="en-US" sz="1200" b="1" kern="1200">
                <a:solidFill>
                  <a:srgbClr val="2D1993"/>
                </a:solidFill>
                <a:cs typeface="+mn-cs"/>
              </a:rPr>
              <a:t>Income</a:t>
            </a:r>
            <a:endParaRPr lang="en-US" altLang="en-US" sz="1200" kern="1200">
              <a:solidFill>
                <a:srgbClr val="C0C0C0"/>
              </a:solidFill>
              <a:cs typeface="+mn-cs"/>
            </a:endParaRPr>
          </a:p>
        </p:txBody>
      </p:sp>
      <p:sp>
        <p:nvSpPr>
          <p:cNvPr id="18442" name="AutoShape 12">
            <a:extLst>
              <a:ext uri="{FF2B5EF4-FFF2-40B4-BE49-F238E27FC236}">
                <a16:creationId xmlns="" xmlns:a16="http://schemas.microsoft.com/office/drawing/2014/main" id="{7B042607-BD97-4D38-AC64-720FAD0A9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9229" y="3895726"/>
            <a:ext cx="516731" cy="336947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050" b="1" kern="1200">
              <a:solidFill>
                <a:srgbClr val="000000"/>
              </a:solidFill>
              <a:cs typeface="+mn-cs"/>
            </a:endParaRPr>
          </a:p>
        </p:txBody>
      </p:sp>
      <p:sp>
        <p:nvSpPr>
          <p:cNvPr id="18443" name="Text Box 13">
            <a:extLst>
              <a:ext uri="{FF2B5EF4-FFF2-40B4-BE49-F238E27FC236}">
                <a16:creationId xmlns="" xmlns:a16="http://schemas.microsoft.com/office/drawing/2014/main" id="{042CF95A-82ED-4DCE-BB58-65892E88B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317" y="3895726"/>
            <a:ext cx="5631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>
              <a:spcBef>
                <a:spcPct val="20000"/>
              </a:spcBef>
              <a:spcAft>
                <a:spcPct val="0"/>
              </a:spcAft>
              <a:buClr>
                <a:srgbClr val="00C0C0"/>
              </a:buClr>
              <a:buNone/>
            </a:pPr>
            <a:r>
              <a:rPr lang="en-US" altLang="en-US" sz="1200" b="1" kern="1200">
                <a:solidFill>
                  <a:srgbClr val="800000"/>
                </a:solidFill>
                <a:cs typeface="+mn-cs"/>
              </a:rPr>
              <a:t>YES</a:t>
            </a:r>
            <a:endParaRPr lang="en-US" altLang="en-US" sz="1200" kern="1200">
              <a:solidFill>
                <a:srgbClr val="C0C0C0"/>
              </a:solidFill>
              <a:cs typeface="+mn-cs"/>
            </a:endParaRPr>
          </a:p>
        </p:txBody>
      </p:sp>
      <p:sp>
        <p:nvSpPr>
          <p:cNvPr id="18444" name="AutoShape 14">
            <a:extLst>
              <a:ext uri="{FF2B5EF4-FFF2-40B4-BE49-F238E27FC236}">
                <a16:creationId xmlns="" xmlns:a16="http://schemas.microsoft.com/office/drawing/2014/main" id="{51C8C9CC-D1E7-4DC0-B900-B5BD33B2E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1694" y="3911204"/>
            <a:ext cx="538163" cy="33456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050" b="1" kern="1200">
              <a:solidFill>
                <a:srgbClr val="000000"/>
              </a:solidFill>
              <a:cs typeface="+mn-cs"/>
            </a:endParaRPr>
          </a:p>
        </p:txBody>
      </p:sp>
      <p:sp>
        <p:nvSpPr>
          <p:cNvPr id="18445" name="Text Box 15">
            <a:extLst>
              <a:ext uri="{FF2B5EF4-FFF2-40B4-BE49-F238E27FC236}">
                <a16:creationId xmlns="" xmlns:a16="http://schemas.microsoft.com/office/drawing/2014/main" id="{E358D76E-CD35-4981-BBB2-B927D44D1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4932" y="3898107"/>
            <a:ext cx="41549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>
              <a:spcBef>
                <a:spcPct val="20000"/>
              </a:spcBef>
              <a:spcAft>
                <a:spcPct val="0"/>
              </a:spcAft>
              <a:buClr>
                <a:srgbClr val="00C0C0"/>
              </a:buClr>
              <a:buNone/>
            </a:pPr>
            <a:r>
              <a:rPr lang="en-US" altLang="en-US" sz="1200" b="1" kern="1200">
                <a:solidFill>
                  <a:srgbClr val="800000"/>
                </a:solidFill>
                <a:cs typeface="+mn-cs"/>
              </a:rPr>
              <a:t>NO</a:t>
            </a:r>
            <a:endParaRPr lang="en-US" altLang="en-US" sz="1200" kern="1200">
              <a:solidFill>
                <a:srgbClr val="C0C0C0"/>
              </a:solidFill>
              <a:cs typeface="+mn-cs"/>
            </a:endParaRPr>
          </a:p>
        </p:txBody>
      </p:sp>
      <p:sp>
        <p:nvSpPr>
          <p:cNvPr id="18446" name="AutoShape 16">
            <a:extLst>
              <a:ext uri="{FF2B5EF4-FFF2-40B4-BE49-F238E27FC236}">
                <a16:creationId xmlns="" xmlns:a16="http://schemas.microsoft.com/office/drawing/2014/main" id="{0EBBB9E0-0579-4083-BDC3-0ABEA6A55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7351" y="2453879"/>
            <a:ext cx="564356" cy="320278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050" b="1" kern="1200">
              <a:solidFill>
                <a:srgbClr val="000000"/>
              </a:solidFill>
              <a:cs typeface="+mn-cs"/>
            </a:endParaRPr>
          </a:p>
        </p:txBody>
      </p:sp>
      <p:sp>
        <p:nvSpPr>
          <p:cNvPr id="18447" name="Text Box 17">
            <a:extLst>
              <a:ext uri="{FF2B5EF4-FFF2-40B4-BE49-F238E27FC236}">
                <a16:creationId xmlns="" xmlns:a16="http://schemas.microsoft.com/office/drawing/2014/main" id="{DF7435AE-F972-41DA-8230-09E7AE62C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9398" y="2440782"/>
            <a:ext cx="41549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>
              <a:spcBef>
                <a:spcPct val="20000"/>
              </a:spcBef>
              <a:spcAft>
                <a:spcPct val="0"/>
              </a:spcAft>
              <a:buClr>
                <a:srgbClr val="00C0C0"/>
              </a:buClr>
              <a:buNone/>
            </a:pPr>
            <a:r>
              <a:rPr lang="en-US" altLang="en-US" sz="1200" b="1" kern="1200">
                <a:solidFill>
                  <a:srgbClr val="800000"/>
                </a:solidFill>
                <a:cs typeface="+mn-cs"/>
              </a:rPr>
              <a:t>NO</a:t>
            </a:r>
            <a:endParaRPr lang="en-US" altLang="en-US" sz="1200" kern="1200">
              <a:solidFill>
                <a:srgbClr val="00FFFF"/>
              </a:solidFill>
              <a:cs typeface="+mn-cs"/>
            </a:endParaRPr>
          </a:p>
        </p:txBody>
      </p:sp>
      <p:sp>
        <p:nvSpPr>
          <p:cNvPr id="18448" name="AutoShape 18">
            <a:extLst>
              <a:ext uri="{FF2B5EF4-FFF2-40B4-BE49-F238E27FC236}">
                <a16:creationId xmlns="" xmlns:a16="http://schemas.microsoft.com/office/drawing/2014/main" id="{54DC5B1A-1D8C-42A1-BEA2-82FB2892A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1" y="3194448"/>
            <a:ext cx="564356" cy="350044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050" b="1" kern="1200">
              <a:solidFill>
                <a:srgbClr val="000000"/>
              </a:solidFill>
              <a:cs typeface="+mn-cs"/>
            </a:endParaRPr>
          </a:p>
        </p:txBody>
      </p:sp>
      <p:sp>
        <p:nvSpPr>
          <p:cNvPr id="18449" name="Text Box 19">
            <a:extLst>
              <a:ext uri="{FF2B5EF4-FFF2-40B4-BE49-F238E27FC236}">
                <a16:creationId xmlns="" xmlns:a16="http://schemas.microsoft.com/office/drawing/2014/main" id="{2446B3D7-94C1-4A2D-BEB4-53AA4CCC9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65" y="3194448"/>
            <a:ext cx="41549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>
              <a:spcBef>
                <a:spcPct val="20000"/>
              </a:spcBef>
              <a:spcAft>
                <a:spcPct val="0"/>
              </a:spcAft>
              <a:buClr>
                <a:srgbClr val="00C0C0"/>
              </a:buClr>
              <a:buNone/>
            </a:pPr>
            <a:r>
              <a:rPr lang="en-US" altLang="en-US" sz="1200" b="1" kern="1200">
                <a:solidFill>
                  <a:srgbClr val="800000"/>
                </a:solidFill>
                <a:cs typeface="+mn-cs"/>
              </a:rPr>
              <a:t>NO</a:t>
            </a:r>
            <a:endParaRPr lang="en-US" altLang="en-US" sz="1200" kern="1200">
              <a:solidFill>
                <a:srgbClr val="C0C0C0"/>
              </a:solidFill>
              <a:cs typeface="+mn-cs"/>
            </a:endParaRPr>
          </a:p>
        </p:txBody>
      </p:sp>
      <p:sp>
        <p:nvSpPr>
          <p:cNvPr id="18450" name="Text Box 20">
            <a:extLst>
              <a:ext uri="{FF2B5EF4-FFF2-40B4-BE49-F238E27FC236}">
                <a16:creationId xmlns="" xmlns:a16="http://schemas.microsoft.com/office/drawing/2014/main" id="{C9F0E219-2699-4F54-90F2-790CA879E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3313" y="2014538"/>
            <a:ext cx="43505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defTabSz="685800" eaLnBrk="0" fontAlgn="base">
              <a:spcBef>
                <a:spcPct val="20000"/>
              </a:spcBef>
              <a:spcAft>
                <a:spcPct val="0"/>
              </a:spcAft>
              <a:buClr>
                <a:srgbClr val="00C0C0"/>
              </a:buClr>
              <a:buNone/>
            </a:pPr>
            <a:r>
              <a:rPr lang="en-US" altLang="en-US" sz="1200" kern="1200">
                <a:solidFill>
                  <a:srgbClr val="000000"/>
                </a:solidFill>
                <a:cs typeface="+mn-cs"/>
              </a:rPr>
              <a:t>Yes</a:t>
            </a:r>
            <a:endParaRPr lang="en-US" altLang="en-US" sz="1200" kern="1200">
              <a:solidFill>
                <a:srgbClr val="C0C0C0"/>
              </a:solidFill>
              <a:cs typeface="+mn-cs"/>
            </a:endParaRPr>
          </a:p>
        </p:txBody>
      </p:sp>
      <p:sp>
        <p:nvSpPr>
          <p:cNvPr id="18451" name="Text Box 21">
            <a:extLst>
              <a:ext uri="{FF2B5EF4-FFF2-40B4-BE49-F238E27FC236}">
                <a16:creationId xmlns="" xmlns:a16="http://schemas.microsoft.com/office/drawing/2014/main" id="{0AA7AFE8-9E06-4ACA-9B00-45165F13F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7843" y="2014538"/>
            <a:ext cx="38023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defTabSz="685800" eaLnBrk="0" fontAlgn="base">
              <a:spcBef>
                <a:spcPct val="20000"/>
              </a:spcBef>
              <a:spcAft>
                <a:spcPct val="0"/>
              </a:spcAft>
              <a:buClr>
                <a:srgbClr val="00C0C0"/>
              </a:buClr>
              <a:buNone/>
            </a:pPr>
            <a:r>
              <a:rPr lang="en-US" altLang="en-US" sz="1200" kern="1200">
                <a:solidFill>
                  <a:srgbClr val="FF0000"/>
                </a:solidFill>
                <a:cs typeface="+mn-cs"/>
              </a:rPr>
              <a:t>No</a:t>
            </a:r>
          </a:p>
        </p:txBody>
      </p:sp>
      <p:sp>
        <p:nvSpPr>
          <p:cNvPr id="18452" name="Text Box 22">
            <a:extLst>
              <a:ext uri="{FF2B5EF4-FFF2-40B4-BE49-F238E27FC236}">
                <a16:creationId xmlns="" xmlns:a16="http://schemas.microsoft.com/office/drawing/2014/main" id="{D476EC57-B797-4925-B872-F2D238CF4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0430" y="2718198"/>
            <a:ext cx="74732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defTabSz="685800" eaLnBrk="0" fontAlgn="base">
              <a:spcBef>
                <a:spcPct val="20000"/>
              </a:spcBef>
              <a:spcAft>
                <a:spcPct val="0"/>
              </a:spcAft>
              <a:buClr>
                <a:srgbClr val="00C0C0"/>
              </a:buClr>
              <a:buNone/>
            </a:pPr>
            <a:r>
              <a:rPr lang="en-US" altLang="en-US" sz="1200" kern="1200">
                <a:solidFill>
                  <a:srgbClr val="FF0000"/>
                </a:solidFill>
                <a:cs typeface="+mn-cs"/>
              </a:rPr>
              <a:t>Married </a:t>
            </a:r>
          </a:p>
        </p:txBody>
      </p:sp>
      <p:sp>
        <p:nvSpPr>
          <p:cNvPr id="18453" name="Text Box 23">
            <a:extLst>
              <a:ext uri="{FF2B5EF4-FFF2-40B4-BE49-F238E27FC236}">
                <a16:creationId xmlns="" xmlns:a16="http://schemas.microsoft.com/office/drawing/2014/main" id="{F80673C3-33A9-402B-99BC-8590762BD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4622" y="2744392"/>
            <a:ext cx="130035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defTabSz="685800" eaLnBrk="0" fontAlgn="base">
              <a:spcBef>
                <a:spcPct val="20000"/>
              </a:spcBef>
              <a:spcAft>
                <a:spcPct val="0"/>
              </a:spcAft>
              <a:buClr>
                <a:srgbClr val="00C0C0"/>
              </a:buClr>
              <a:buNone/>
            </a:pPr>
            <a:r>
              <a:rPr lang="en-US" altLang="en-US" sz="1200" kern="1200">
                <a:solidFill>
                  <a:srgbClr val="000000"/>
                </a:solidFill>
                <a:cs typeface="+mn-cs"/>
              </a:rPr>
              <a:t>Single, Divorced</a:t>
            </a:r>
            <a:endParaRPr lang="en-US" altLang="en-US" sz="1200" kern="1200">
              <a:solidFill>
                <a:srgbClr val="C0C0C0"/>
              </a:solidFill>
              <a:cs typeface="+mn-cs"/>
            </a:endParaRPr>
          </a:p>
        </p:txBody>
      </p:sp>
      <p:sp>
        <p:nvSpPr>
          <p:cNvPr id="18454" name="Text Box 24">
            <a:extLst>
              <a:ext uri="{FF2B5EF4-FFF2-40B4-BE49-F238E27FC236}">
                <a16:creationId xmlns="" xmlns:a16="http://schemas.microsoft.com/office/drawing/2014/main" id="{91118D36-64EA-4224-9A3A-FE735EB42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0093" y="3473054"/>
            <a:ext cx="5902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defTabSz="685800" eaLnBrk="0" fontAlgn="base">
              <a:spcBef>
                <a:spcPct val="20000"/>
              </a:spcBef>
              <a:spcAft>
                <a:spcPct val="0"/>
              </a:spcAft>
              <a:buClr>
                <a:srgbClr val="00C0C0"/>
              </a:buClr>
              <a:buNone/>
            </a:pPr>
            <a:r>
              <a:rPr lang="en-US" altLang="en-US" sz="1200" kern="1200">
                <a:solidFill>
                  <a:srgbClr val="000000"/>
                </a:solidFill>
                <a:cs typeface="+mn-cs"/>
              </a:rPr>
              <a:t>&lt; 80K</a:t>
            </a:r>
            <a:endParaRPr lang="en-US" altLang="en-US" sz="1200" kern="1200">
              <a:solidFill>
                <a:srgbClr val="C0C0C0"/>
              </a:solidFill>
              <a:cs typeface="+mn-cs"/>
            </a:endParaRPr>
          </a:p>
        </p:txBody>
      </p:sp>
      <p:sp>
        <p:nvSpPr>
          <p:cNvPr id="18455" name="Text Box 25">
            <a:extLst>
              <a:ext uri="{FF2B5EF4-FFF2-40B4-BE49-F238E27FC236}">
                <a16:creationId xmlns="" xmlns:a16="http://schemas.microsoft.com/office/drawing/2014/main" id="{A93F7C38-7B33-469E-BFF9-7B31347CA5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800" y="3473054"/>
            <a:ext cx="5902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defTabSz="685800" eaLnBrk="0" fontAlgn="base">
              <a:spcBef>
                <a:spcPct val="20000"/>
              </a:spcBef>
              <a:spcAft>
                <a:spcPct val="0"/>
              </a:spcAft>
              <a:buClr>
                <a:srgbClr val="00C0C0"/>
              </a:buClr>
              <a:buNone/>
            </a:pPr>
            <a:r>
              <a:rPr lang="en-US" altLang="en-US" sz="1200" kern="1200">
                <a:solidFill>
                  <a:srgbClr val="000000"/>
                </a:solidFill>
                <a:cs typeface="+mn-cs"/>
              </a:rPr>
              <a:t>&gt; 80K</a:t>
            </a:r>
            <a:endParaRPr lang="en-US" altLang="en-US" sz="1200" kern="1200">
              <a:solidFill>
                <a:srgbClr val="C0C0C0"/>
              </a:solidFill>
              <a:cs typeface="+mn-cs"/>
            </a:endParaRPr>
          </a:p>
        </p:txBody>
      </p:sp>
      <p:graphicFrame>
        <p:nvGraphicFramePr>
          <p:cNvPr id="18456" name="Object 26">
            <a:extLst>
              <a:ext uri="{FF2B5EF4-FFF2-40B4-BE49-F238E27FC236}">
                <a16:creationId xmlns="" xmlns:a16="http://schemas.microsoft.com/office/drawing/2014/main" id="{D0CA5208-FBE8-4E4B-A361-169649B9B6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61322" y="1203723"/>
          <a:ext cx="2743200" cy="831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2" name="Document" r:id="rId3" imgW="5168900" imgH="1562100" progId="Word.Document.8">
                  <p:embed/>
                </p:oleObj>
              </mc:Choice>
              <mc:Fallback>
                <p:oleObj name="Document" r:id="rId3" imgW="5168900" imgH="15621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1322" y="1203723"/>
                        <a:ext cx="2743200" cy="8310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7" name="Text Box 27">
            <a:extLst>
              <a:ext uri="{FF2B5EF4-FFF2-40B4-BE49-F238E27FC236}">
                <a16:creationId xmlns="" xmlns:a16="http://schemas.microsoft.com/office/drawing/2014/main" id="{76816771-711F-4BC4-918C-2184680F5A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3450" y="857251"/>
            <a:ext cx="12001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C0C0"/>
              </a:buClr>
              <a:buNone/>
            </a:pPr>
            <a:r>
              <a:rPr lang="en-US" altLang="en-US" sz="1500" b="1" kern="1200">
                <a:solidFill>
                  <a:srgbClr val="006B61"/>
                </a:solidFill>
                <a:cs typeface="+mn-cs"/>
              </a:rPr>
              <a:t>Test Data</a:t>
            </a:r>
            <a:endParaRPr lang="en-US" altLang="en-US" sz="1500" kern="1200">
              <a:solidFill>
                <a:srgbClr val="C0C0C0"/>
              </a:solidFill>
              <a:cs typeface="+mn-cs"/>
            </a:endParaRPr>
          </a:p>
        </p:txBody>
      </p:sp>
      <p:sp>
        <p:nvSpPr>
          <p:cNvPr id="18458" name="Line 28">
            <a:extLst>
              <a:ext uri="{FF2B5EF4-FFF2-40B4-BE49-F238E27FC236}">
                <a16:creationId xmlns="" xmlns:a16="http://schemas.microsoft.com/office/drawing/2014/main" id="{F25AA361-4357-47CF-BE8B-B1EEC10BD5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14850" y="1943100"/>
            <a:ext cx="2343150" cy="13716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defTabSz="685800" eaLnBrk="0" fontAlgn="base">
              <a:spcBef>
                <a:spcPct val="0"/>
              </a:spcBef>
              <a:spcAft>
                <a:spcPct val="0"/>
              </a:spcAft>
            </a:pPr>
            <a:endParaRPr lang="en-US" sz="1050" b="1" kern="1200"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459" name="Text Box 29">
            <a:extLst>
              <a:ext uri="{FF2B5EF4-FFF2-40B4-BE49-F238E27FC236}">
                <a16:creationId xmlns="" xmlns:a16="http://schemas.microsoft.com/office/drawing/2014/main" id="{4AEE59DA-1B0D-4F50-8002-E0118DEEC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0701" y="2911629"/>
            <a:ext cx="339368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ts val="0"/>
              </a:spcBef>
              <a:spcAft>
                <a:spcPct val="0"/>
              </a:spcAft>
              <a:buClr>
                <a:srgbClr val="00C0C0"/>
              </a:buClr>
              <a:buNone/>
            </a:pPr>
            <a:r>
              <a:rPr lang="ru-RU" altLang="en-US" sz="1500" kern="1200" dirty="0" err="1">
                <a:solidFill>
                  <a:srgbClr val="000000"/>
                </a:solidFill>
                <a:cs typeface="+mn-cs"/>
              </a:rPr>
              <a:t>Присвоїти</a:t>
            </a:r>
            <a:r>
              <a:rPr lang="ru-RU" altLang="en-US" sz="1500" kern="1200" dirty="0">
                <a:solidFill>
                  <a:srgbClr val="000000"/>
                </a:solidFill>
                <a:cs typeface="+mn-cs"/>
              </a:rPr>
              <a:t> </a:t>
            </a:r>
            <a:r>
              <a:rPr lang="ru-RU" altLang="en-US" sz="1500" kern="1200" dirty="0" err="1">
                <a:solidFill>
                  <a:srgbClr val="000000"/>
                </a:solidFill>
                <a:cs typeface="+mn-cs"/>
              </a:rPr>
              <a:t>значення</a:t>
            </a:r>
            <a:r>
              <a:rPr lang="ru-RU" altLang="en-US" sz="1500" kern="1200" dirty="0">
                <a:solidFill>
                  <a:srgbClr val="000000"/>
                </a:solidFill>
                <a:cs typeface="+mn-cs"/>
              </a:rPr>
              <a:t> за </a:t>
            </a:r>
            <a:r>
              <a:rPr lang="ru-RU" altLang="en-US" sz="1500" kern="1200" dirty="0" err="1">
                <a:solidFill>
                  <a:srgbClr val="000000"/>
                </a:solidFill>
                <a:cs typeface="+mn-cs"/>
              </a:rPr>
              <a:t>замовчуванням</a:t>
            </a:r>
            <a:r>
              <a:rPr lang="ru-RU" altLang="en-US" sz="1500" kern="1200" dirty="0">
                <a:solidFill>
                  <a:srgbClr val="000000"/>
                </a:solidFill>
                <a:cs typeface="+mn-cs"/>
              </a:rPr>
              <a:t> </a:t>
            </a:r>
            <a:r>
              <a:rPr lang="ru-RU" altLang="en-US" sz="1500" kern="1200" dirty="0" smtClean="0">
                <a:solidFill>
                  <a:srgbClr val="000000"/>
                </a:solidFill>
                <a:cs typeface="+mn-cs"/>
              </a:rPr>
              <a:t>“</a:t>
            </a:r>
            <a:r>
              <a:rPr lang="en-US" altLang="en-US" sz="1500" kern="1200" dirty="0" smtClean="0">
                <a:solidFill>
                  <a:srgbClr val="000000"/>
                </a:solidFill>
                <a:cs typeface="+mn-cs"/>
              </a:rPr>
              <a:t>No</a:t>
            </a:r>
            <a:r>
              <a:rPr lang="ru-RU" altLang="en-US" sz="1500" kern="1200" dirty="0" smtClean="0">
                <a:solidFill>
                  <a:srgbClr val="000000"/>
                </a:solidFill>
                <a:cs typeface="+mn-cs"/>
              </a:rPr>
              <a:t>"</a:t>
            </a:r>
            <a:endParaRPr lang="en-US" altLang="en-US" sz="1500" kern="1200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18460" name="Text Box 30">
            <a:extLst>
              <a:ext uri="{FF2B5EF4-FFF2-40B4-BE49-F238E27FC236}">
                <a16:creationId xmlns="" xmlns:a16="http://schemas.microsoft.com/office/drawing/2014/main" id="{E907DFBA-BB46-4A6E-A242-2552E64E3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7913" y="1771650"/>
            <a:ext cx="770335" cy="46166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>
              <a:spcBef>
                <a:spcPct val="20000"/>
              </a:spcBef>
              <a:spcAft>
                <a:spcPct val="0"/>
              </a:spcAft>
              <a:buClr>
                <a:srgbClr val="00C0C0"/>
              </a:buClr>
              <a:buNone/>
            </a:pPr>
            <a:r>
              <a:rPr lang="en-US" altLang="en-US" sz="1200" b="1" kern="1200">
                <a:solidFill>
                  <a:srgbClr val="2D1993"/>
                </a:solidFill>
                <a:cs typeface="+mn-cs"/>
              </a:rPr>
              <a:t>Home Owner</a:t>
            </a:r>
            <a:endParaRPr lang="en-US" altLang="en-US" sz="1200" kern="1200">
              <a:solidFill>
                <a:srgbClr val="C0C0C0"/>
              </a:solidFill>
              <a:cs typeface="+mn-cs"/>
            </a:endParaRPr>
          </a:p>
        </p:txBody>
      </p:sp>
      <p:sp>
        <p:nvSpPr>
          <p:cNvPr id="33" name="Прямоугольник 32"/>
          <p:cNvSpPr/>
          <p:nvPr/>
        </p:nvSpPr>
        <p:spPr>
          <a:xfrm>
            <a:off x="0" y="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Застосування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моделі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до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даних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тесту</a:t>
            </a:r>
          </a:p>
        </p:txBody>
      </p:sp>
    </p:spTree>
    <p:extLst>
      <p:ext uri="{BB962C8B-B14F-4D97-AF65-F5344CB8AC3E}">
        <p14:creationId xmlns:p14="http://schemas.microsoft.com/office/powerpoint/2010/main" val="7433173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Індукція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дерева </a:t>
            </a:r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рішень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33564" y="896655"/>
            <a:ext cx="9010436" cy="3893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dirty="0" smtClean="0">
                <a:latin typeface="+mn-lt"/>
              </a:rPr>
              <a:t>Задача </a:t>
            </a:r>
            <a:r>
              <a:rPr lang="ru-RU" dirty="0" err="1" smtClean="0">
                <a:latin typeface="+mn-lt"/>
              </a:rPr>
              <a:t>пошуку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найкращого</a:t>
            </a:r>
            <a:r>
              <a:rPr lang="ru-RU" dirty="0" smtClean="0">
                <a:latin typeface="+mn-lt"/>
              </a:rPr>
              <a:t> дерево </a:t>
            </a:r>
            <a:r>
              <a:rPr lang="ru-RU" dirty="0" err="1">
                <a:latin typeface="+mn-lt"/>
              </a:rPr>
              <a:t>рішень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відноситься</a:t>
            </a:r>
            <a:r>
              <a:rPr lang="ru-RU" dirty="0" smtClean="0">
                <a:latin typeface="+mn-lt"/>
              </a:rPr>
              <a:t> до </a:t>
            </a:r>
            <a:r>
              <a:rPr lang="ru-RU" dirty="0" err="1" smtClean="0">
                <a:latin typeface="+mn-lt"/>
              </a:rPr>
              <a:t>важкорозв</a:t>
            </a:r>
            <a:r>
              <a:rPr lang="en-US" dirty="0" smtClean="0">
                <a:latin typeface="+mn-lt"/>
              </a:rPr>
              <a:t>’</a:t>
            </a:r>
            <a:r>
              <a:rPr lang="uk-UA" dirty="0" err="1" smtClean="0">
                <a:latin typeface="+mn-lt"/>
              </a:rPr>
              <a:t>язуваних</a:t>
            </a:r>
            <a:r>
              <a:rPr lang="uk-UA" dirty="0" smtClean="0">
                <a:latin typeface="+mn-lt"/>
              </a:rPr>
              <a:t> </a:t>
            </a:r>
            <a:r>
              <a:rPr lang="en-GB" dirty="0" smtClean="0">
                <a:latin typeface="+mn-lt"/>
              </a:rPr>
              <a:t>NP</a:t>
            </a:r>
            <a:r>
              <a:rPr lang="uk-UA" dirty="0" smtClean="0">
                <a:latin typeface="+mn-lt"/>
              </a:rPr>
              <a:t> задач</a:t>
            </a:r>
            <a:endParaRPr lang="en-GB" dirty="0">
              <a:latin typeface="+mn-lt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GB" dirty="0">
              <a:latin typeface="+mn-lt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dirty="0" err="1" smtClean="0">
                <a:latin typeface="+mn-lt"/>
              </a:rPr>
              <a:t>Застосовується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жадібна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стратегія</a:t>
            </a:r>
            <a:r>
              <a:rPr lang="ru-RU" dirty="0" smtClean="0">
                <a:latin typeface="+mn-lt"/>
              </a:rPr>
              <a:t>:</a:t>
            </a:r>
            <a:endParaRPr lang="ru-RU" dirty="0">
              <a:latin typeface="+mn-lt"/>
            </a:endParaRPr>
          </a:p>
          <a:p>
            <a:pPr marL="893763" indent="-358775" algn="l">
              <a:buFont typeface="Wingdings" panose="05000000000000000000" pitchFamily="2" charset="2"/>
              <a:buChar char="Ø"/>
              <a:tabLst>
                <a:tab pos="801688" algn="l"/>
                <a:tab pos="893763" algn="l"/>
              </a:tabLst>
            </a:pPr>
            <a:r>
              <a:rPr lang="ru-RU" dirty="0" smtClean="0">
                <a:latin typeface="+mn-lt"/>
              </a:rPr>
              <a:t>Суть - </a:t>
            </a:r>
            <a:r>
              <a:rPr lang="ru-RU" dirty="0" err="1" smtClean="0">
                <a:latin typeface="+mn-lt"/>
              </a:rPr>
              <a:t>поділ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записів</a:t>
            </a:r>
            <a:r>
              <a:rPr lang="ru-RU" dirty="0" smtClean="0">
                <a:latin typeface="+mn-lt"/>
              </a:rPr>
              <a:t> </a:t>
            </a:r>
            <a:r>
              <a:rPr lang="ru-RU" dirty="0">
                <a:latin typeface="+mn-lt"/>
              </a:rPr>
              <a:t>на </a:t>
            </a:r>
            <a:r>
              <a:rPr lang="ru-RU" dirty="0" err="1">
                <a:latin typeface="+mn-lt"/>
              </a:rPr>
              <a:t>основі</a:t>
            </a:r>
            <a:r>
              <a:rPr lang="ru-RU" dirty="0">
                <a:latin typeface="+mn-lt"/>
              </a:rPr>
              <a:t> тесту </a:t>
            </a:r>
            <a:r>
              <a:rPr lang="ru-RU" dirty="0" err="1">
                <a:latin typeface="+mn-lt"/>
              </a:rPr>
              <a:t>атрибутів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який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оптимізує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певний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критерій</a:t>
            </a:r>
            <a:r>
              <a:rPr lang="ru-RU" dirty="0">
                <a:latin typeface="+mn-lt"/>
              </a:rPr>
              <a:t>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ru-RU" dirty="0">
              <a:latin typeface="+mn-lt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dirty="0" err="1">
                <a:latin typeface="+mn-lt"/>
              </a:rPr>
              <a:t>Багато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алгоритмів</a:t>
            </a:r>
            <a:r>
              <a:rPr lang="ru-RU" dirty="0">
                <a:latin typeface="+mn-lt"/>
              </a:rPr>
              <a:t>:</a:t>
            </a:r>
          </a:p>
          <a:p>
            <a:pPr marL="893763" indent="-358775" algn="l">
              <a:buFont typeface="Wingdings" panose="05000000000000000000" pitchFamily="2" charset="2"/>
              <a:buChar char="Ø"/>
            </a:pPr>
            <a:r>
              <a:rPr lang="ru-RU" dirty="0">
                <a:solidFill>
                  <a:srgbClr val="0000CC"/>
                </a:solidFill>
                <a:latin typeface="+mn-lt"/>
              </a:rPr>
              <a:t>Алгоритм Ханта </a:t>
            </a:r>
            <a:endParaRPr lang="ru-RU" dirty="0" smtClean="0">
              <a:solidFill>
                <a:srgbClr val="0000CC"/>
              </a:solidFill>
              <a:latin typeface="+mn-lt"/>
            </a:endParaRPr>
          </a:p>
          <a:p>
            <a:pPr marL="893763" lvl="1" indent="-342900" algn="l"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rgbClr val="0000CC"/>
                </a:solidFill>
                <a:latin typeface="+mn-lt"/>
                <a:ea typeface="ＭＳ Ｐゴシック" panose="020B0600070205080204" pitchFamily="34" charset="-128"/>
              </a:rPr>
              <a:t>CART</a:t>
            </a:r>
          </a:p>
          <a:p>
            <a:pPr marL="893763" lvl="1" indent="-342900" algn="l"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rgbClr val="0000CC"/>
                </a:solidFill>
                <a:latin typeface="+mn-lt"/>
                <a:ea typeface="ＭＳ Ｐゴシック" panose="020B0600070205080204" pitchFamily="34" charset="-128"/>
              </a:rPr>
              <a:t>ID3, C4.5</a:t>
            </a:r>
          </a:p>
          <a:p>
            <a:pPr marL="893763" lvl="1" indent="-342900" algn="l"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rgbClr val="0000CC"/>
                </a:solidFill>
                <a:latin typeface="+mn-lt"/>
                <a:ea typeface="ＭＳ Ｐゴシック" panose="020B0600070205080204" pitchFamily="34" charset="-128"/>
              </a:rPr>
              <a:t>SLIQ</a:t>
            </a:r>
            <a:r>
              <a:rPr lang="en-US" altLang="en-US" dirty="0" smtClean="0">
                <a:solidFill>
                  <a:srgbClr val="0000CC"/>
                </a:solidFill>
                <a:latin typeface="+mn-lt"/>
                <a:ea typeface="ＭＳ Ｐゴシック" panose="020B0600070205080204" pitchFamily="34" charset="-128"/>
              </a:rPr>
              <a:t>,</a:t>
            </a:r>
            <a:endParaRPr lang="uk-UA" altLang="en-US" dirty="0" smtClean="0">
              <a:solidFill>
                <a:srgbClr val="0000CC"/>
              </a:solidFill>
              <a:latin typeface="+mn-lt"/>
              <a:ea typeface="ＭＳ Ｐゴシック" panose="020B0600070205080204" pitchFamily="34" charset="-128"/>
            </a:endParaRPr>
          </a:p>
          <a:p>
            <a:pPr marL="893763" lvl="1" indent="-342900" algn="l">
              <a:buFont typeface="Wingdings" panose="05000000000000000000" pitchFamily="2" charset="2"/>
              <a:buChar char="Ø"/>
            </a:pPr>
            <a:r>
              <a:rPr lang="en-US" altLang="en-US" dirty="0" smtClean="0">
                <a:solidFill>
                  <a:srgbClr val="0000CC"/>
                </a:solidFill>
                <a:latin typeface="+mn-lt"/>
                <a:ea typeface="ＭＳ Ｐゴシック" panose="020B0600070205080204" pitchFamily="34" charset="-128"/>
              </a:rPr>
              <a:t>SPRINT</a:t>
            </a:r>
            <a:endParaRPr lang="en-US" altLang="en-US" dirty="0">
              <a:solidFill>
                <a:srgbClr val="0000CC"/>
              </a:solidFill>
              <a:latin typeface="+mn-lt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92297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58512" y="16333"/>
            <a:ext cx="74831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Загальна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структура алгоритму Ханта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0" y="708516"/>
            <a:ext cx="6583497" cy="397031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lang="ru-RU" dirty="0">
                <a:latin typeface="+mn-lt"/>
              </a:rPr>
              <a:t>Нехай </a:t>
            </a:r>
            <a:r>
              <a:rPr lang="en-GB" dirty="0">
                <a:solidFill>
                  <a:srgbClr val="0000CC"/>
                </a:solidFill>
                <a:latin typeface="+mn-lt"/>
              </a:rPr>
              <a:t>D</a:t>
            </a:r>
            <a:r>
              <a:rPr lang="en-GB" baseline="-25000" dirty="0">
                <a:solidFill>
                  <a:srgbClr val="0000CC"/>
                </a:solidFill>
                <a:latin typeface="+mn-lt"/>
              </a:rPr>
              <a:t>t</a:t>
            </a:r>
            <a:r>
              <a:rPr lang="en-GB" dirty="0">
                <a:solidFill>
                  <a:srgbClr val="0000CC"/>
                </a:solidFill>
                <a:latin typeface="+mn-lt"/>
              </a:rPr>
              <a:t> </a:t>
            </a:r>
            <a:r>
              <a:rPr lang="en-GB" dirty="0">
                <a:latin typeface="+mn-lt"/>
              </a:rPr>
              <a:t>- </a:t>
            </a:r>
            <a:r>
              <a:rPr lang="ru-RU" dirty="0" err="1">
                <a:latin typeface="+mn-lt"/>
              </a:rPr>
              <a:t>набір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навчальних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записів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які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досягають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вузла</a:t>
            </a:r>
            <a:r>
              <a:rPr lang="ru-RU" dirty="0">
                <a:latin typeface="+mn-lt"/>
              </a:rPr>
              <a:t> </a:t>
            </a:r>
            <a:r>
              <a:rPr lang="en-GB" dirty="0">
                <a:solidFill>
                  <a:srgbClr val="0000CC"/>
                </a:solidFill>
                <a:latin typeface="+mn-lt"/>
              </a:rPr>
              <a:t>t</a:t>
            </a:r>
          </a:p>
          <a:p>
            <a:pPr>
              <a:spcBef>
                <a:spcPts val="600"/>
              </a:spcBef>
            </a:pPr>
            <a:r>
              <a:rPr lang="ru-RU" b="1" dirty="0" err="1" smtClean="0">
                <a:solidFill>
                  <a:srgbClr val="800080"/>
                </a:solidFill>
                <a:latin typeface="+mn-lt"/>
              </a:rPr>
              <a:t>Загальна</a:t>
            </a:r>
            <a:r>
              <a:rPr lang="ru-RU" b="1" dirty="0" smtClean="0">
                <a:solidFill>
                  <a:srgbClr val="800080"/>
                </a:solidFill>
                <a:latin typeface="+mn-lt"/>
              </a:rPr>
              <a:t> </a:t>
            </a:r>
            <a:r>
              <a:rPr lang="ru-RU" b="1" dirty="0">
                <a:solidFill>
                  <a:srgbClr val="800080"/>
                </a:solidFill>
                <a:latin typeface="+mn-lt"/>
              </a:rPr>
              <a:t>процедура</a:t>
            </a:r>
            <a:r>
              <a:rPr lang="ru-RU" b="1" dirty="0">
                <a:solidFill>
                  <a:srgbClr val="0000CC"/>
                </a:solidFill>
                <a:latin typeface="+mn-lt"/>
              </a:rPr>
              <a:t>: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dirty="0" err="1">
                <a:latin typeface="+mn-lt"/>
              </a:rPr>
              <a:t>Якщо</a:t>
            </a:r>
            <a:r>
              <a:rPr lang="ru-RU" dirty="0">
                <a:latin typeface="+mn-lt"/>
              </a:rPr>
              <a:t> </a:t>
            </a:r>
            <a:r>
              <a:rPr lang="en-GB" dirty="0">
                <a:solidFill>
                  <a:srgbClr val="0000CC"/>
                </a:solidFill>
                <a:latin typeface="+mn-lt"/>
              </a:rPr>
              <a:t>Dt</a:t>
            </a:r>
            <a:r>
              <a:rPr lang="en-GB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містить</a:t>
            </a:r>
            <a:r>
              <a:rPr lang="ru-RU" dirty="0">
                <a:latin typeface="+mn-lt"/>
              </a:rPr>
              <a:t> записи, </a:t>
            </a:r>
            <a:r>
              <a:rPr lang="ru-RU" dirty="0" err="1">
                <a:latin typeface="+mn-lt"/>
              </a:rPr>
              <a:t>що</a:t>
            </a:r>
            <a:r>
              <a:rPr lang="ru-RU" dirty="0">
                <a:latin typeface="+mn-lt"/>
              </a:rPr>
              <a:t> належать до одного </a:t>
            </a:r>
            <a:r>
              <a:rPr lang="ru-RU" dirty="0" err="1">
                <a:latin typeface="+mn-lt"/>
              </a:rPr>
              <a:t>класу</a:t>
            </a:r>
            <a:r>
              <a:rPr lang="ru-RU" dirty="0">
                <a:latin typeface="+mn-lt"/>
              </a:rPr>
              <a:t> </a:t>
            </a:r>
            <a:r>
              <a:rPr lang="en-GB" dirty="0" err="1">
                <a:solidFill>
                  <a:srgbClr val="0000CC"/>
                </a:solidFill>
                <a:latin typeface="+mn-lt"/>
              </a:rPr>
              <a:t>y</a:t>
            </a:r>
            <a:r>
              <a:rPr lang="en-GB" baseline="-25000" dirty="0" err="1">
                <a:solidFill>
                  <a:srgbClr val="0000CC"/>
                </a:solidFill>
                <a:latin typeface="+mn-lt"/>
              </a:rPr>
              <a:t>t</a:t>
            </a:r>
            <a:r>
              <a:rPr lang="en-GB" dirty="0">
                <a:solidFill>
                  <a:srgbClr val="0000CC"/>
                </a:solidFill>
                <a:latin typeface="+mn-lt"/>
              </a:rPr>
              <a:t>, </a:t>
            </a:r>
            <a:r>
              <a:rPr lang="ru-RU" dirty="0">
                <a:latin typeface="+mn-lt"/>
              </a:rPr>
              <a:t>то </a:t>
            </a:r>
            <a:r>
              <a:rPr lang="en-GB" dirty="0">
                <a:solidFill>
                  <a:srgbClr val="0000CC"/>
                </a:solidFill>
                <a:latin typeface="+mn-lt"/>
              </a:rPr>
              <a:t>t </a:t>
            </a:r>
            <a:r>
              <a:rPr lang="en-GB" dirty="0">
                <a:latin typeface="+mn-lt"/>
              </a:rPr>
              <a:t>- </a:t>
            </a:r>
            <a:r>
              <a:rPr lang="ru-RU" dirty="0" err="1">
                <a:latin typeface="+mn-lt"/>
              </a:rPr>
              <a:t>це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вузол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позначений</a:t>
            </a:r>
            <a:r>
              <a:rPr lang="ru-RU" dirty="0">
                <a:latin typeface="+mn-lt"/>
              </a:rPr>
              <a:t> як </a:t>
            </a:r>
            <a:r>
              <a:rPr lang="en-GB" dirty="0" err="1">
                <a:solidFill>
                  <a:srgbClr val="0000CC"/>
                </a:solidFill>
                <a:latin typeface="+mn-lt"/>
              </a:rPr>
              <a:t>y</a:t>
            </a:r>
            <a:r>
              <a:rPr lang="en-GB" baseline="-25000" dirty="0" err="1">
                <a:solidFill>
                  <a:srgbClr val="0000CC"/>
                </a:solidFill>
                <a:latin typeface="+mn-lt"/>
              </a:rPr>
              <a:t>t</a:t>
            </a:r>
            <a:endParaRPr lang="en-GB" baseline="-25000" dirty="0">
              <a:solidFill>
                <a:srgbClr val="0000CC"/>
              </a:solidFill>
              <a:latin typeface="+mn-lt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ru-RU" dirty="0" err="1">
                <a:latin typeface="+mn-lt"/>
              </a:rPr>
              <a:t>Якщо</a:t>
            </a:r>
            <a:r>
              <a:rPr lang="ru-RU" dirty="0">
                <a:latin typeface="+mn-lt"/>
              </a:rPr>
              <a:t> </a:t>
            </a:r>
            <a:r>
              <a:rPr lang="en-GB" dirty="0">
                <a:solidFill>
                  <a:srgbClr val="0000CC"/>
                </a:solidFill>
                <a:latin typeface="+mn-lt"/>
              </a:rPr>
              <a:t>Dt</a:t>
            </a:r>
            <a:r>
              <a:rPr lang="en-GB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містить</a:t>
            </a:r>
            <a:r>
              <a:rPr lang="ru-RU" dirty="0">
                <a:latin typeface="+mn-lt"/>
              </a:rPr>
              <a:t> записи з </a:t>
            </a:r>
            <a:r>
              <a:rPr lang="ru-RU" dirty="0" err="1">
                <a:latin typeface="+mn-lt"/>
              </a:rPr>
              <a:t>однаковими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значеннями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атрибутів</a:t>
            </a:r>
            <a:r>
              <a:rPr lang="ru-RU" dirty="0">
                <a:latin typeface="+mn-lt"/>
              </a:rPr>
              <a:t>, то </a:t>
            </a:r>
            <a:r>
              <a:rPr lang="en-GB" dirty="0">
                <a:solidFill>
                  <a:srgbClr val="0000CC"/>
                </a:solidFill>
                <a:latin typeface="+mn-lt"/>
              </a:rPr>
              <a:t>t </a:t>
            </a:r>
            <a:r>
              <a:rPr lang="en-GB" dirty="0">
                <a:latin typeface="+mn-lt"/>
              </a:rPr>
              <a:t>- </a:t>
            </a:r>
            <a:r>
              <a:rPr lang="ru-RU" dirty="0" err="1">
                <a:latin typeface="+mn-lt"/>
              </a:rPr>
              <a:t>це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вузол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позначений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класом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більшості</a:t>
            </a:r>
            <a:r>
              <a:rPr lang="ru-RU" dirty="0">
                <a:latin typeface="+mn-lt"/>
              </a:rPr>
              <a:t> </a:t>
            </a:r>
            <a:r>
              <a:rPr lang="en-GB" dirty="0" err="1">
                <a:solidFill>
                  <a:srgbClr val="0000CC"/>
                </a:solidFill>
              </a:rPr>
              <a:t>y</a:t>
            </a:r>
            <a:r>
              <a:rPr lang="en-GB" baseline="-25000" dirty="0" err="1">
                <a:solidFill>
                  <a:srgbClr val="0000CC"/>
                </a:solidFill>
              </a:rPr>
              <a:t>t</a:t>
            </a:r>
            <a:endParaRPr lang="en-GB" baseline="-25000" dirty="0">
              <a:solidFill>
                <a:srgbClr val="0000CC"/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ru-RU" dirty="0" err="1" smtClean="0">
                <a:latin typeface="+mn-lt"/>
              </a:rPr>
              <a:t>Якщо</a:t>
            </a:r>
            <a:r>
              <a:rPr lang="ru-RU" dirty="0" smtClean="0">
                <a:latin typeface="+mn-lt"/>
              </a:rPr>
              <a:t> </a:t>
            </a:r>
            <a:r>
              <a:rPr lang="en-GB" dirty="0">
                <a:solidFill>
                  <a:srgbClr val="0000CC"/>
                </a:solidFill>
                <a:latin typeface="+mn-lt"/>
              </a:rPr>
              <a:t>Dt</a:t>
            </a:r>
            <a:r>
              <a:rPr lang="en-GB" dirty="0">
                <a:latin typeface="+mn-lt"/>
              </a:rPr>
              <a:t> - </a:t>
            </a:r>
            <a:r>
              <a:rPr lang="ru-RU" dirty="0" err="1">
                <a:latin typeface="+mn-lt"/>
              </a:rPr>
              <a:t>порожній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набір</a:t>
            </a:r>
            <a:r>
              <a:rPr lang="ru-RU" dirty="0">
                <a:latin typeface="+mn-lt"/>
              </a:rPr>
              <a:t>, то </a:t>
            </a:r>
            <a:r>
              <a:rPr lang="en-GB" dirty="0">
                <a:solidFill>
                  <a:srgbClr val="0000CC"/>
                </a:solidFill>
                <a:latin typeface="+mn-lt"/>
              </a:rPr>
              <a:t>t</a:t>
            </a:r>
            <a:r>
              <a:rPr lang="en-GB" dirty="0">
                <a:latin typeface="+mn-lt"/>
              </a:rPr>
              <a:t> - </a:t>
            </a:r>
            <a:r>
              <a:rPr lang="ru-RU" dirty="0" err="1">
                <a:latin typeface="+mn-lt"/>
              </a:rPr>
              <a:t>вузол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позначений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класом</a:t>
            </a:r>
            <a:r>
              <a:rPr lang="ru-RU" dirty="0">
                <a:latin typeface="+mn-lt"/>
              </a:rPr>
              <a:t> за </a:t>
            </a:r>
            <a:r>
              <a:rPr lang="ru-RU" dirty="0" err="1">
                <a:latin typeface="+mn-lt"/>
              </a:rPr>
              <a:t>замовчуванням</a:t>
            </a:r>
            <a:r>
              <a:rPr lang="ru-RU" dirty="0">
                <a:latin typeface="+mn-lt"/>
              </a:rPr>
              <a:t>, </a:t>
            </a:r>
            <a:r>
              <a:rPr lang="en-GB" dirty="0" err="1">
                <a:solidFill>
                  <a:srgbClr val="0000CC"/>
                </a:solidFill>
                <a:latin typeface="+mn-lt"/>
              </a:rPr>
              <a:t>y</a:t>
            </a:r>
            <a:r>
              <a:rPr lang="en-GB" baseline="-25000" dirty="0" err="1">
                <a:solidFill>
                  <a:srgbClr val="0000CC"/>
                </a:solidFill>
                <a:latin typeface="+mn-lt"/>
              </a:rPr>
              <a:t>d</a:t>
            </a:r>
            <a:endParaRPr lang="en-GB" baseline="-25000" dirty="0">
              <a:solidFill>
                <a:srgbClr val="0000CC"/>
              </a:solidFill>
              <a:latin typeface="+mn-lt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ru-RU" dirty="0" err="1">
                <a:latin typeface="+mn-lt"/>
              </a:rPr>
              <a:t>Якщо</a:t>
            </a:r>
            <a:r>
              <a:rPr lang="ru-RU" dirty="0">
                <a:latin typeface="+mn-lt"/>
              </a:rPr>
              <a:t> </a:t>
            </a:r>
            <a:r>
              <a:rPr lang="en-GB" dirty="0">
                <a:solidFill>
                  <a:srgbClr val="0000CC"/>
                </a:solidFill>
                <a:latin typeface="+mn-lt"/>
              </a:rPr>
              <a:t>Dt</a:t>
            </a:r>
            <a:r>
              <a:rPr lang="en-GB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містить</a:t>
            </a:r>
            <a:r>
              <a:rPr lang="ru-RU" dirty="0">
                <a:latin typeface="+mn-lt"/>
              </a:rPr>
              <a:t> записи, </a:t>
            </a:r>
            <a:r>
              <a:rPr lang="ru-RU" dirty="0" err="1">
                <a:latin typeface="+mn-lt"/>
              </a:rPr>
              <a:t>що</a:t>
            </a:r>
            <a:r>
              <a:rPr lang="ru-RU" dirty="0">
                <a:latin typeface="+mn-lt"/>
              </a:rPr>
              <a:t> належать до </a:t>
            </a:r>
            <a:r>
              <a:rPr lang="ru-RU" dirty="0" err="1">
                <a:latin typeface="+mn-lt"/>
              </a:rPr>
              <a:t>кількох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класів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використовуйте</a:t>
            </a:r>
            <a:r>
              <a:rPr lang="ru-RU" dirty="0">
                <a:latin typeface="+mn-lt"/>
              </a:rPr>
              <a:t> тест </a:t>
            </a:r>
            <a:r>
              <a:rPr lang="ru-RU" dirty="0" err="1">
                <a:latin typeface="+mn-lt"/>
              </a:rPr>
              <a:t>атрибутів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щоб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розділити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дані</a:t>
            </a:r>
            <a:r>
              <a:rPr lang="ru-RU" dirty="0">
                <a:latin typeface="+mn-lt"/>
              </a:rPr>
              <a:t> на </a:t>
            </a:r>
            <a:r>
              <a:rPr lang="ru-RU" dirty="0" err="1">
                <a:latin typeface="+mn-lt"/>
              </a:rPr>
              <a:t>менші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підмножини</a:t>
            </a:r>
            <a:r>
              <a:rPr lang="ru-RU" dirty="0">
                <a:latin typeface="+mn-lt"/>
              </a:rPr>
              <a:t>.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dirty="0">
                <a:latin typeface="+mn-lt"/>
              </a:rPr>
              <a:t>Рекурсивно </a:t>
            </a:r>
            <a:r>
              <a:rPr lang="ru-RU" dirty="0" err="1">
                <a:latin typeface="+mn-lt"/>
              </a:rPr>
              <a:t>застосовувати</a:t>
            </a:r>
            <a:r>
              <a:rPr lang="ru-RU" dirty="0">
                <a:latin typeface="+mn-lt"/>
              </a:rPr>
              <a:t> процедуру до </a:t>
            </a:r>
            <a:r>
              <a:rPr lang="ru-RU" dirty="0" err="1">
                <a:latin typeface="+mn-lt"/>
              </a:rPr>
              <a:t>кожної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підмножини</a:t>
            </a:r>
            <a:r>
              <a:rPr lang="ru-RU" dirty="0" smtClean="0">
                <a:latin typeface="+mn-lt"/>
              </a:rPr>
              <a:t>.</a:t>
            </a:r>
            <a:endParaRPr lang="ru-RU" dirty="0">
              <a:latin typeface="+mn-lt"/>
            </a:endParaRPr>
          </a:p>
        </p:txBody>
      </p:sp>
      <p:grpSp>
        <p:nvGrpSpPr>
          <p:cNvPr id="8" name="Группа 7"/>
          <p:cNvGrpSpPr/>
          <p:nvPr/>
        </p:nvGrpSpPr>
        <p:grpSpPr>
          <a:xfrm>
            <a:off x="6583498" y="878058"/>
            <a:ext cx="2594140" cy="3854965"/>
            <a:chOff x="6200539" y="878058"/>
            <a:chExt cx="2594140" cy="3854965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00539" y="878058"/>
              <a:ext cx="2594140" cy="3854965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7024710" y="3739793"/>
              <a:ext cx="3241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uk-UA" sz="2400" b="1" dirty="0"/>
                <a:t>?</a:t>
              </a:r>
              <a:endParaRPr lang="ru-RU" sz="2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756962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739739"/>
            <a:ext cx="9089379" cy="453970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sz="1700" dirty="0">
                <a:latin typeface="+mn-lt"/>
              </a:rPr>
              <a:t>Нехай </a:t>
            </a:r>
            <a:r>
              <a:rPr lang="ru-RU" sz="1700" dirty="0" smtClean="0">
                <a:latin typeface="+mn-lt"/>
              </a:rPr>
              <a:t>задано </a:t>
            </a:r>
            <a:r>
              <a:rPr lang="ru-RU" sz="1700" dirty="0" err="1" smtClean="0">
                <a:latin typeface="+mn-lt"/>
              </a:rPr>
              <a:t>деяку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навчальну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множину</a:t>
            </a:r>
            <a:r>
              <a:rPr lang="ru-RU" sz="1700" dirty="0">
                <a:latin typeface="+mn-lt"/>
              </a:rPr>
              <a:t> </a:t>
            </a:r>
            <a:r>
              <a:rPr lang="ru-RU" sz="1700" b="1" i="1" dirty="0">
                <a:solidFill>
                  <a:srgbClr val="0000CC"/>
                </a:solidFill>
                <a:latin typeface="+mn-lt"/>
              </a:rPr>
              <a:t>T</a:t>
            </a:r>
            <a:r>
              <a:rPr lang="ru-RU" sz="1700" dirty="0">
                <a:latin typeface="+mn-lt"/>
              </a:rPr>
              <a:t>, </a:t>
            </a:r>
            <a:r>
              <a:rPr lang="ru-RU" sz="1700" dirty="0" err="1">
                <a:latin typeface="+mn-lt"/>
              </a:rPr>
              <a:t>що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містить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об'єкти</a:t>
            </a:r>
            <a:r>
              <a:rPr lang="ru-RU" sz="1700" dirty="0">
                <a:latin typeface="+mn-lt"/>
              </a:rPr>
              <a:t> (</a:t>
            </a:r>
            <a:r>
              <a:rPr lang="ru-RU" sz="1700" dirty="0" err="1">
                <a:latin typeface="+mn-lt"/>
              </a:rPr>
              <a:t>приклади</a:t>
            </a:r>
            <a:r>
              <a:rPr lang="ru-RU" sz="1700" dirty="0" smtClean="0">
                <a:latin typeface="+mn-lt"/>
              </a:rPr>
              <a:t>), </a:t>
            </a:r>
            <a:r>
              <a:rPr lang="ru-RU" sz="1700" dirty="0" err="1" smtClean="0">
                <a:latin typeface="+mn-lt"/>
              </a:rPr>
              <a:t>кожен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>
                <a:latin typeface="+mn-lt"/>
              </a:rPr>
              <a:t>з </a:t>
            </a:r>
            <a:r>
              <a:rPr lang="ru-RU" sz="1700" dirty="0" err="1">
                <a:latin typeface="+mn-lt"/>
              </a:rPr>
              <a:t>яких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характеризується</a:t>
            </a:r>
            <a:r>
              <a:rPr lang="ru-RU" sz="1700" dirty="0">
                <a:latin typeface="+mn-lt"/>
              </a:rPr>
              <a:t> </a:t>
            </a:r>
            <a:r>
              <a:rPr lang="ru-RU" sz="1700" b="1" i="1" dirty="0">
                <a:solidFill>
                  <a:srgbClr val="0000CC"/>
                </a:solidFill>
                <a:latin typeface="+mn-lt"/>
              </a:rPr>
              <a:t>m</a:t>
            </a:r>
            <a:r>
              <a:rPr lang="ru-RU" sz="1700" dirty="0">
                <a:latin typeface="+mn-lt"/>
              </a:rPr>
              <a:t> атрибутами (атрибутами), </a:t>
            </a:r>
            <a:r>
              <a:rPr lang="ru-RU" sz="1700" dirty="0" err="1">
                <a:latin typeface="+mn-lt"/>
              </a:rPr>
              <a:t>причому</a:t>
            </a:r>
            <a:r>
              <a:rPr lang="ru-RU" sz="1700" dirty="0">
                <a:latin typeface="+mn-lt"/>
              </a:rPr>
              <a:t> один з </a:t>
            </a:r>
            <a:r>
              <a:rPr lang="ru-RU" sz="1700" dirty="0" smtClean="0">
                <a:latin typeface="+mn-lt"/>
              </a:rPr>
              <a:t>них </a:t>
            </a:r>
            <a:r>
              <a:rPr lang="ru-RU" sz="1700" dirty="0" err="1" smtClean="0">
                <a:latin typeface="+mn-lt"/>
              </a:rPr>
              <a:t>вказує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>
                <a:latin typeface="+mn-lt"/>
              </a:rPr>
              <a:t>на </a:t>
            </a:r>
            <a:r>
              <a:rPr lang="ru-RU" sz="1700" dirty="0" err="1">
                <a:latin typeface="+mn-lt"/>
              </a:rPr>
              <a:t>приналежність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об'єкта</a:t>
            </a:r>
            <a:r>
              <a:rPr lang="ru-RU" sz="1700" dirty="0">
                <a:latin typeface="+mn-lt"/>
              </a:rPr>
              <a:t> до </a:t>
            </a:r>
            <a:r>
              <a:rPr lang="ru-RU" sz="1700" dirty="0" err="1">
                <a:latin typeface="+mn-lt"/>
              </a:rPr>
              <a:t>певного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класу</a:t>
            </a:r>
            <a:r>
              <a:rPr lang="ru-RU" sz="1700" dirty="0" smtClean="0">
                <a:latin typeface="+mn-lt"/>
              </a:rPr>
              <a:t>.</a:t>
            </a:r>
            <a:endParaRPr lang="ru-RU" sz="1700" dirty="0">
              <a:latin typeface="+mn-lt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sz="1700" dirty="0" smtClean="0">
                <a:latin typeface="+mn-lt"/>
              </a:rPr>
              <a:t>Нехай </a:t>
            </a:r>
            <a:r>
              <a:rPr lang="ru-RU" sz="1700" dirty="0">
                <a:latin typeface="+mn-lt"/>
              </a:rPr>
              <a:t>через </a:t>
            </a:r>
            <a:r>
              <a:rPr lang="ru-RU" sz="1700" b="1" dirty="0">
                <a:solidFill>
                  <a:srgbClr val="0000CC"/>
                </a:solidFill>
                <a:latin typeface="+mn-lt"/>
              </a:rPr>
              <a:t>{</a:t>
            </a:r>
            <a:r>
              <a:rPr lang="en-GB" sz="1700" b="1" i="1" dirty="0">
                <a:solidFill>
                  <a:srgbClr val="0000CC"/>
                </a:solidFill>
                <a:latin typeface="+mn-lt"/>
              </a:rPr>
              <a:t>C1, C2, ... </a:t>
            </a:r>
            <a:r>
              <a:rPr lang="en-GB" sz="1700" b="1" i="1" dirty="0" err="1">
                <a:solidFill>
                  <a:srgbClr val="0000CC"/>
                </a:solidFill>
                <a:latin typeface="+mn-lt"/>
              </a:rPr>
              <a:t>Ck</a:t>
            </a:r>
            <a:r>
              <a:rPr lang="en-GB" sz="1700" b="1" dirty="0">
                <a:solidFill>
                  <a:srgbClr val="0000CC"/>
                </a:solidFill>
                <a:latin typeface="+mn-lt"/>
              </a:rPr>
              <a:t>} </a:t>
            </a:r>
            <a:r>
              <a:rPr lang="ru-RU" sz="1700" dirty="0" err="1">
                <a:latin typeface="+mn-lt"/>
              </a:rPr>
              <a:t>позначені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класи</a:t>
            </a:r>
            <a:r>
              <a:rPr lang="ru-RU" sz="1700" dirty="0">
                <a:latin typeface="+mn-lt"/>
              </a:rPr>
              <a:t> (</a:t>
            </a:r>
            <a:r>
              <a:rPr lang="ru-RU" sz="1700" dirty="0" err="1">
                <a:latin typeface="+mn-lt"/>
              </a:rPr>
              <a:t>значення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мітки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класу</a:t>
            </a:r>
            <a:r>
              <a:rPr lang="ru-RU" sz="1700" dirty="0">
                <a:latin typeface="+mn-lt"/>
              </a:rPr>
              <a:t>), </a:t>
            </a:r>
            <a:r>
              <a:rPr lang="ru-RU" sz="1700" dirty="0" err="1">
                <a:latin typeface="+mn-lt"/>
              </a:rPr>
              <a:t>тоді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існують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smtClean="0">
                <a:latin typeface="+mn-lt"/>
              </a:rPr>
              <a:t>3 </a:t>
            </a:r>
            <a:r>
              <a:rPr lang="ru-RU" sz="1700" dirty="0" err="1" smtClean="0">
                <a:latin typeface="+mn-lt"/>
              </a:rPr>
              <a:t>ситуації</a:t>
            </a:r>
            <a:r>
              <a:rPr lang="ru-RU" sz="1700" dirty="0" smtClean="0">
                <a:latin typeface="+mn-lt"/>
              </a:rPr>
              <a:t> :</a:t>
            </a:r>
            <a:endParaRPr lang="ru-RU" sz="1700" dirty="0">
              <a:latin typeface="+mn-lt"/>
            </a:endParaRPr>
          </a:p>
          <a:p>
            <a:pPr marL="627063" lvl="2" indent="-266700" algn="l"/>
            <a:r>
              <a:rPr lang="ru-RU" sz="1700" dirty="0" smtClean="0">
                <a:latin typeface="+mn-lt"/>
              </a:rPr>
              <a:t>1. </a:t>
            </a:r>
            <a:r>
              <a:rPr lang="ru-RU" sz="1700" dirty="0" err="1" smtClean="0">
                <a:latin typeface="+mn-lt"/>
              </a:rPr>
              <a:t>Множина</a:t>
            </a:r>
            <a:r>
              <a:rPr lang="ru-RU" sz="1700" dirty="0" smtClean="0">
                <a:latin typeface="+mn-lt"/>
              </a:rPr>
              <a:t> </a:t>
            </a:r>
            <a:r>
              <a:rPr lang="en-GB" sz="1700" b="1" i="1" dirty="0">
                <a:solidFill>
                  <a:srgbClr val="0000CC"/>
                </a:solidFill>
                <a:latin typeface="+mn-lt"/>
              </a:rPr>
              <a:t>T</a:t>
            </a:r>
            <a:r>
              <a:rPr lang="en-GB" sz="1700" dirty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містить</a:t>
            </a:r>
            <a:r>
              <a:rPr lang="ru-RU" sz="1700" dirty="0">
                <a:latin typeface="+mn-lt"/>
              </a:rPr>
              <a:t> один </a:t>
            </a:r>
            <a:r>
              <a:rPr lang="ru-RU" sz="1700" dirty="0" err="1">
                <a:latin typeface="+mn-lt"/>
              </a:rPr>
              <a:t>або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більше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прикладів</a:t>
            </a:r>
            <a:r>
              <a:rPr lang="ru-RU" sz="1700" dirty="0">
                <a:latin typeface="+mn-lt"/>
              </a:rPr>
              <a:t>, </a:t>
            </a:r>
            <a:r>
              <a:rPr lang="ru-RU" sz="1700" dirty="0" err="1">
                <a:latin typeface="+mn-lt"/>
              </a:rPr>
              <a:t>що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відносяться</a:t>
            </a:r>
            <a:r>
              <a:rPr lang="ru-RU" sz="1700" dirty="0">
                <a:latin typeface="+mn-lt"/>
              </a:rPr>
              <a:t> до одного </a:t>
            </a:r>
            <a:r>
              <a:rPr lang="ru-RU" sz="1700" dirty="0" err="1">
                <a:latin typeface="+mn-lt"/>
              </a:rPr>
              <a:t>класу</a:t>
            </a:r>
            <a:r>
              <a:rPr lang="ru-RU" sz="1700" dirty="0">
                <a:latin typeface="+mn-lt"/>
              </a:rPr>
              <a:t> </a:t>
            </a:r>
            <a:r>
              <a:rPr lang="en-GB" sz="1700" b="1" i="1" dirty="0" smtClean="0">
                <a:solidFill>
                  <a:srgbClr val="0000CC"/>
                </a:solidFill>
                <a:latin typeface="+mn-lt"/>
              </a:rPr>
              <a:t>Ck</a:t>
            </a:r>
            <a:r>
              <a:rPr lang="en-GB" sz="1700" dirty="0" smtClean="0">
                <a:latin typeface="+mn-lt"/>
              </a:rPr>
              <a:t>.</a:t>
            </a:r>
            <a:r>
              <a:rPr lang="uk-UA" sz="1700" dirty="0" smtClean="0"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Тоді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>
                <a:latin typeface="+mn-lt"/>
              </a:rPr>
              <a:t>дерево </a:t>
            </a:r>
            <a:r>
              <a:rPr lang="ru-RU" sz="1700" dirty="0" err="1">
                <a:latin typeface="+mn-lt"/>
              </a:rPr>
              <a:t>рішень</a:t>
            </a:r>
            <a:r>
              <a:rPr lang="ru-RU" sz="1700" dirty="0">
                <a:latin typeface="+mn-lt"/>
              </a:rPr>
              <a:t> для </a:t>
            </a:r>
            <a:r>
              <a:rPr lang="ru-RU" sz="1700" b="1" dirty="0">
                <a:solidFill>
                  <a:srgbClr val="0000CC"/>
                </a:solidFill>
                <a:latin typeface="+mn-lt"/>
              </a:rPr>
              <a:t>Т </a:t>
            </a:r>
            <a:r>
              <a:rPr lang="ru-RU" sz="1700" dirty="0">
                <a:latin typeface="+mn-lt"/>
              </a:rPr>
              <a:t>- </a:t>
            </a:r>
            <a:r>
              <a:rPr lang="ru-RU" sz="1700" dirty="0" err="1">
                <a:latin typeface="+mn-lt"/>
              </a:rPr>
              <a:t>це</a:t>
            </a:r>
            <a:r>
              <a:rPr lang="ru-RU" sz="1700" dirty="0">
                <a:latin typeface="+mn-lt"/>
              </a:rPr>
              <a:t> лист, </a:t>
            </a:r>
            <a:r>
              <a:rPr lang="ru-RU" sz="1700" dirty="0" err="1">
                <a:latin typeface="+mn-lt"/>
              </a:rPr>
              <a:t>який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визначає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клас</a:t>
            </a:r>
            <a:r>
              <a:rPr lang="ru-RU" sz="1700" b="1" dirty="0">
                <a:solidFill>
                  <a:srgbClr val="0000CC"/>
                </a:solidFill>
                <a:latin typeface="+mn-lt"/>
              </a:rPr>
              <a:t> </a:t>
            </a:r>
            <a:r>
              <a:rPr lang="en-GB" sz="1700" b="1" dirty="0" err="1">
                <a:solidFill>
                  <a:srgbClr val="0000CC"/>
                </a:solidFill>
                <a:latin typeface="+mn-lt"/>
              </a:rPr>
              <a:t>Ck</a:t>
            </a:r>
            <a:r>
              <a:rPr lang="en-GB" sz="1700" b="1" dirty="0">
                <a:solidFill>
                  <a:srgbClr val="0000CC"/>
                </a:solidFill>
                <a:latin typeface="+mn-lt"/>
              </a:rPr>
              <a:t> </a:t>
            </a:r>
            <a:r>
              <a:rPr lang="en-GB" sz="1700" dirty="0" smtClean="0">
                <a:latin typeface="+mn-lt"/>
              </a:rPr>
              <a:t>;</a:t>
            </a:r>
            <a:endParaRPr lang="en-GB" sz="1700" dirty="0">
              <a:latin typeface="+mn-lt"/>
            </a:endParaRPr>
          </a:p>
          <a:p>
            <a:pPr marL="627063" lvl="2" indent="-266700" algn="l"/>
            <a:r>
              <a:rPr lang="en-GB" sz="1700" dirty="0" smtClean="0">
                <a:latin typeface="+mn-lt"/>
              </a:rPr>
              <a:t>2. </a:t>
            </a:r>
            <a:r>
              <a:rPr lang="ru-RU" sz="1700" dirty="0" err="1">
                <a:latin typeface="+mn-lt"/>
              </a:rPr>
              <a:t>Множина</a:t>
            </a:r>
            <a:r>
              <a:rPr lang="ru-RU" sz="1700" dirty="0">
                <a:latin typeface="+mn-lt"/>
              </a:rPr>
              <a:t> </a:t>
            </a:r>
            <a:r>
              <a:rPr lang="en-GB" sz="1700" b="1" dirty="0" smtClean="0">
                <a:solidFill>
                  <a:srgbClr val="0000CC"/>
                </a:solidFill>
                <a:latin typeface="+mn-lt"/>
              </a:rPr>
              <a:t>T</a:t>
            </a:r>
            <a:r>
              <a:rPr lang="en-GB" sz="1700" dirty="0" smtClean="0">
                <a:latin typeface="+mn-lt"/>
              </a:rPr>
              <a:t> </a:t>
            </a:r>
            <a:r>
              <a:rPr lang="ru-RU" sz="1700" dirty="0">
                <a:latin typeface="+mn-lt"/>
              </a:rPr>
              <a:t>не </a:t>
            </a:r>
            <a:r>
              <a:rPr lang="ru-RU" sz="1700" dirty="0" err="1">
                <a:latin typeface="+mn-lt"/>
              </a:rPr>
              <a:t>містить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жодного</a:t>
            </a:r>
            <a:r>
              <a:rPr lang="ru-RU" sz="1700" dirty="0">
                <a:latin typeface="+mn-lt"/>
              </a:rPr>
              <a:t> прикладу, </a:t>
            </a:r>
            <a:r>
              <a:rPr lang="ru-RU" sz="1700" dirty="0" err="1">
                <a:latin typeface="+mn-lt"/>
              </a:rPr>
              <a:t>тобто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порожня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множина</a:t>
            </a:r>
            <a:r>
              <a:rPr lang="ru-RU" sz="1700" dirty="0">
                <a:latin typeface="+mn-lt"/>
              </a:rPr>
              <a:t>. </a:t>
            </a:r>
            <a:r>
              <a:rPr lang="ru-RU" sz="1700" dirty="0" err="1">
                <a:latin typeface="+mn-lt"/>
              </a:rPr>
              <a:t>тоді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це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знову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>
                <a:latin typeface="+mn-lt"/>
              </a:rPr>
              <a:t>лист, і </a:t>
            </a:r>
            <a:r>
              <a:rPr lang="ru-RU" sz="1700" dirty="0" err="1">
                <a:latin typeface="+mn-lt"/>
              </a:rPr>
              <a:t>клас</a:t>
            </a:r>
            <a:r>
              <a:rPr lang="ru-RU" sz="1700" dirty="0">
                <a:latin typeface="+mn-lt"/>
              </a:rPr>
              <a:t>, </a:t>
            </a:r>
            <a:r>
              <a:rPr lang="ru-RU" sz="1700" dirty="0" err="1">
                <a:latin typeface="+mn-lt"/>
              </a:rPr>
              <a:t>асоційований</a:t>
            </a:r>
            <a:r>
              <a:rPr lang="ru-RU" sz="1700" dirty="0">
                <a:latin typeface="+mn-lt"/>
              </a:rPr>
              <a:t> з листом, </a:t>
            </a:r>
            <a:r>
              <a:rPr lang="ru-RU" sz="1700" dirty="0" err="1">
                <a:latin typeface="+mn-lt"/>
              </a:rPr>
              <a:t>вибирається</a:t>
            </a:r>
            <a:r>
              <a:rPr lang="ru-RU" sz="1700" dirty="0">
                <a:latin typeface="+mn-lt"/>
              </a:rPr>
              <a:t> з </a:t>
            </a:r>
            <a:r>
              <a:rPr lang="ru-RU" sz="1700" dirty="0" err="1" smtClean="0">
                <a:latin typeface="+mn-lt"/>
              </a:rPr>
              <a:t>іншої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множини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відмінного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від</a:t>
            </a:r>
            <a:r>
              <a:rPr lang="ru-RU" sz="1700" dirty="0">
                <a:latin typeface="+mn-lt"/>
              </a:rPr>
              <a:t> </a:t>
            </a:r>
            <a:r>
              <a:rPr lang="en-GB" sz="1700" b="1" dirty="0">
                <a:solidFill>
                  <a:srgbClr val="0000CC"/>
                </a:solidFill>
                <a:latin typeface="+mn-lt"/>
              </a:rPr>
              <a:t>T</a:t>
            </a:r>
            <a:r>
              <a:rPr lang="en-GB" sz="1700" dirty="0">
                <a:latin typeface="+mn-lt"/>
              </a:rPr>
              <a:t>, </a:t>
            </a:r>
            <a:r>
              <a:rPr lang="ru-RU" sz="1700" dirty="0" err="1">
                <a:latin typeface="+mn-lt"/>
              </a:rPr>
              <a:t>скажімо</a:t>
            </a:r>
            <a:r>
              <a:rPr lang="ru-RU" sz="1700" dirty="0">
                <a:latin typeface="+mn-lt"/>
              </a:rPr>
              <a:t>, з </a:t>
            </a:r>
            <a:r>
              <a:rPr lang="ru-RU" sz="1700" dirty="0" err="1" smtClean="0">
                <a:latin typeface="+mn-lt"/>
              </a:rPr>
              <a:t>множини</a:t>
            </a:r>
            <a:r>
              <a:rPr lang="ru-RU" sz="1700" dirty="0" smtClean="0">
                <a:latin typeface="+mn-lt"/>
              </a:rPr>
              <a:t>, </a:t>
            </a:r>
            <a:r>
              <a:rPr lang="ru-RU" sz="1700" dirty="0" err="1">
                <a:latin typeface="+mn-lt"/>
              </a:rPr>
              <a:t>асоційованого</a:t>
            </a:r>
            <a:r>
              <a:rPr lang="ru-RU" sz="1700" dirty="0">
                <a:latin typeface="+mn-lt"/>
              </a:rPr>
              <a:t> з </a:t>
            </a:r>
            <a:r>
              <a:rPr lang="ru-RU" sz="1700" dirty="0" err="1">
                <a:latin typeface="+mn-lt"/>
              </a:rPr>
              <a:t>батьком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smtClean="0">
                <a:latin typeface="+mn-lt"/>
              </a:rPr>
              <a:t>;</a:t>
            </a:r>
            <a:endParaRPr lang="ru-RU" sz="1700" dirty="0">
              <a:latin typeface="+mn-lt"/>
            </a:endParaRPr>
          </a:p>
          <a:p>
            <a:pPr marL="627063" lvl="2" indent="-266700" algn="l"/>
            <a:r>
              <a:rPr lang="ru-RU" sz="1700" dirty="0" smtClean="0">
                <a:latin typeface="+mn-lt"/>
              </a:rPr>
              <a:t>3. </a:t>
            </a:r>
            <a:r>
              <a:rPr lang="ru-RU" sz="1700" dirty="0" err="1" smtClean="0">
                <a:latin typeface="+mn-lt"/>
              </a:rPr>
              <a:t>Множина</a:t>
            </a:r>
            <a:r>
              <a:rPr lang="ru-RU" sz="1700" dirty="0" smtClean="0">
                <a:latin typeface="+mn-lt"/>
              </a:rPr>
              <a:t> </a:t>
            </a:r>
            <a:r>
              <a:rPr lang="en-GB" sz="1700" b="1" dirty="0" smtClean="0">
                <a:solidFill>
                  <a:srgbClr val="0000CC"/>
                </a:solidFill>
                <a:latin typeface="+mn-lt"/>
              </a:rPr>
              <a:t>T</a:t>
            </a:r>
            <a:r>
              <a:rPr lang="en-GB" sz="1700" dirty="0" smtClean="0">
                <a:solidFill>
                  <a:srgbClr val="0000CC"/>
                </a:solidFill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містить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приклади</a:t>
            </a:r>
            <a:r>
              <a:rPr lang="ru-RU" sz="1700" dirty="0" smtClean="0">
                <a:latin typeface="+mn-lt"/>
              </a:rPr>
              <a:t>, </a:t>
            </a:r>
            <a:r>
              <a:rPr lang="ru-RU" sz="1700" dirty="0" err="1" smtClean="0">
                <a:latin typeface="+mn-lt"/>
              </a:rPr>
              <a:t>що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відносяться</a:t>
            </a:r>
            <a:r>
              <a:rPr lang="ru-RU" sz="1700" dirty="0" smtClean="0">
                <a:latin typeface="+mn-lt"/>
              </a:rPr>
              <a:t> до </a:t>
            </a:r>
            <a:r>
              <a:rPr lang="ru-RU" sz="1700" dirty="0" err="1" smtClean="0">
                <a:latin typeface="+mn-lt"/>
              </a:rPr>
              <a:t>різних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класів</a:t>
            </a:r>
            <a:r>
              <a:rPr lang="ru-RU" sz="1700" dirty="0" smtClean="0">
                <a:latin typeface="+mn-lt"/>
              </a:rPr>
              <a:t>. В </a:t>
            </a:r>
            <a:r>
              <a:rPr lang="ru-RU" sz="1700" dirty="0" err="1" smtClean="0">
                <a:latin typeface="+mn-lt"/>
              </a:rPr>
              <a:t>цьому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випадку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слід</a:t>
            </a:r>
            <a:r>
              <a:rPr lang="ru-RU" sz="1700" dirty="0" smtClean="0">
                <a:latin typeface="+mn-lt"/>
              </a:rPr>
              <a:t> розбити </a:t>
            </a:r>
            <a:r>
              <a:rPr lang="ru-RU" sz="1700" dirty="0" err="1" smtClean="0">
                <a:latin typeface="+mn-lt"/>
              </a:rPr>
              <a:t>множину</a:t>
            </a:r>
            <a:r>
              <a:rPr lang="ru-RU" sz="1700" dirty="0" smtClean="0">
                <a:latin typeface="+mn-lt"/>
              </a:rPr>
              <a:t> </a:t>
            </a:r>
            <a:r>
              <a:rPr lang="en-GB" sz="1700" b="1" dirty="0" smtClean="0">
                <a:solidFill>
                  <a:srgbClr val="0000CC"/>
                </a:solidFill>
                <a:latin typeface="+mn-lt"/>
              </a:rPr>
              <a:t>T</a:t>
            </a:r>
            <a:r>
              <a:rPr lang="en-GB" sz="1700" dirty="0" smtClean="0">
                <a:latin typeface="+mn-lt"/>
              </a:rPr>
              <a:t> </a:t>
            </a:r>
            <a:r>
              <a:rPr lang="ru-RU" sz="1700" dirty="0" smtClean="0">
                <a:latin typeface="+mn-lt"/>
              </a:rPr>
              <a:t>на </a:t>
            </a:r>
            <a:r>
              <a:rPr lang="ru-RU" sz="1700" dirty="0" err="1" smtClean="0">
                <a:latin typeface="+mn-lt"/>
              </a:rPr>
              <a:t>деякі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підмножини</a:t>
            </a:r>
            <a:r>
              <a:rPr lang="ru-RU" sz="1700" dirty="0" smtClean="0">
                <a:latin typeface="+mn-lt"/>
              </a:rPr>
              <a:t>. </a:t>
            </a:r>
          </a:p>
          <a:p>
            <a:pPr marL="627063" lvl="2" indent="-266700" algn="l"/>
            <a:r>
              <a:rPr lang="ru-RU" sz="1700" dirty="0" smtClean="0">
                <a:latin typeface="+mn-lt"/>
              </a:rPr>
              <a:t>3.1 Для </a:t>
            </a:r>
            <a:r>
              <a:rPr lang="ru-RU" sz="1700" dirty="0" err="1" smtClean="0">
                <a:latin typeface="+mn-lt"/>
              </a:rPr>
              <a:t>цього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вибирається</a:t>
            </a:r>
            <a:r>
              <a:rPr lang="ru-RU" sz="1700" dirty="0" smtClean="0">
                <a:latin typeface="+mn-lt"/>
              </a:rPr>
              <a:t> одна з </a:t>
            </a:r>
            <a:r>
              <a:rPr lang="ru-RU" sz="1700" dirty="0" err="1" smtClean="0">
                <a:latin typeface="+mn-lt"/>
              </a:rPr>
              <a:t>ознак</a:t>
            </a:r>
            <a:r>
              <a:rPr lang="ru-RU" sz="1700" dirty="0" smtClean="0">
                <a:latin typeface="+mn-lt"/>
              </a:rPr>
              <a:t>, </a:t>
            </a:r>
            <a:r>
              <a:rPr lang="ru-RU" sz="1700" dirty="0" err="1" smtClean="0">
                <a:latin typeface="+mn-lt"/>
              </a:rPr>
              <a:t>що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має</a:t>
            </a:r>
            <a:r>
              <a:rPr lang="ru-RU" sz="1700" dirty="0" smtClean="0">
                <a:latin typeface="+mn-lt"/>
              </a:rPr>
              <a:t> два і </a:t>
            </a:r>
            <a:r>
              <a:rPr lang="ru-RU" sz="1700" dirty="0" err="1" smtClean="0">
                <a:latin typeface="+mn-lt"/>
              </a:rPr>
              <a:t>більше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відмінних</a:t>
            </a:r>
            <a:r>
              <a:rPr lang="ru-RU" sz="1700" dirty="0" smtClean="0">
                <a:latin typeface="+mn-lt"/>
              </a:rPr>
              <a:t> один </a:t>
            </a:r>
            <a:r>
              <a:rPr lang="ru-RU" sz="1700" dirty="0" err="1" smtClean="0">
                <a:latin typeface="+mn-lt"/>
              </a:rPr>
              <a:t>від</a:t>
            </a:r>
            <a:r>
              <a:rPr lang="ru-RU" sz="1700" dirty="0" smtClean="0">
                <a:latin typeface="+mn-lt"/>
              </a:rPr>
              <a:t> одного </a:t>
            </a:r>
            <a:r>
              <a:rPr lang="ru-RU" sz="1700" dirty="0" err="1" smtClean="0">
                <a:latin typeface="+mn-lt"/>
              </a:rPr>
              <a:t>значень</a:t>
            </a:r>
            <a:r>
              <a:rPr lang="ru-RU" sz="1700" dirty="0" smtClean="0">
                <a:latin typeface="+mn-lt"/>
              </a:rPr>
              <a:t> </a:t>
            </a:r>
            <a:r>
              <a:rPr lang="en-GB" sz="1700" b="1" dirty="0" smtClean="0">
                <a:solidFill>
                  <a:srgbClr val="0000CC"/>
                </a:solidFill>
                <a:latin typeface="+mn-lt"/>
              </a:rPr>
              <a:t>O1,</a:t>
            </a:r>
            <a:r>
              <a:rPr lang="uk-UA" sz="1700" b="1" dirty="0" smtClean="0">
                <a:solidFill>
                  <a:srgbClr val="0000CC"/>
                </a:solidFill>
                <a:latin typeface="+mn-lt"/>
              </a:rPr>
              <a:t> </a:t>
            </a:r>
            <a:r>
              <a:rPr lang="en-GB" sz="1700" b="1" dirty="0" smtClean="0">
                <a:solidFill>
                  <a:srgbClr val="0000CC"/>
                </a:solidFill>
                <a:latin typeface="+mn-lt"/>
              </a:rPr>
              <a:t>O2, ... On</a:t>
            </a:r>
            <a:r>
              <a:rPr lang="en-GB" sz="1700" dirty="0" smtClean="0">
                <a:latin typeface="+mn-lt"/>
              </a:rPr>
              <a:t>. </a:t>
            </a:r>
            <a:endParaRPr lang="uk-UA" sz="1700" dirty="0" smtClean="0">
              <a:latin typeface="+mn-lt"/>
            </a:endParaRPr>
          </a:p>
          <a:p>
            <a:pPr marL="627063" lvl="2" indent="-266700" algn="l"/>
            <a:r>
              <a:rPr lang="uk-UA" sz="1700" dirty="0" smtClean="0">
                <a:solidFill>
                  <a:schemeClr val="tx1"/>
                </a:solidFill>
                <a:latin typeface="+mn-lt"/>
              </a:rPr>
              <a:t>3.2 Множина </a:t>
            </a:r>
            <a:r>
              <a:rPr lang="en-GB" sz="1700" b="1" dirty="0" smtClean="0">
                <a:solidFill>
                  <a:srgbClr val="0000CC"/>
                </a:solidFill>
                <a:latin typeface="+mn-lt"/>
              </a:rPr>
              <a:t>T</a:t>
            </a:r>
            <a:r>
              <a:rPr lang="en-GB" sz="1700" dirty="0" smtClean="0"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розбивається</a:t>
            </a:r>
            <a:r>
              <a:rPr lang="ru-RU" sz="1700" dirty="0" smtClean="0">
                <a:latin typeface="+mn-lt"/>
              </a:rPr>
              <a:t> на </a:t>
            </a:r>
            <a:r>
              <a:rPr lang="ru-RU" sz="1700" dirty="0" err="1" smtClean="0">
                <a:latin typeface="+mn-lt"/>
              </a:rPr>
              <a:t>підмножини</a:t>
            </a:r>
            <a:r>
              <a:rPr lang="ru-RU" sz="1700" dirty="0" smtClean="0">
                <a:latin typeface="+mn-lt"/>
              </a:rPr>
              <a:t> </a:t>
            </a:r>
            <a:r>
              <a:rPr lang="en-GB" sz="1700" b="1" dirty="0" smtClean="0">
                <a:solidFill>
                  <a:srgbClr val="0000CC"/>
                </a:solidFill>
                <a:latin typeface="+mn-lt"/>
              </a:rPr>
              <a:t>T1, T2, ... </a:t>
            </a:r>
            <a:r>
              <a:rPr lang="en-GB" sz="1700" b="1" dirty="0" err="1" smtClean="0">
                <a:solidFill>
                  <a:srgbClr val="0000CC"/>
                </a:solidFill>
                <a:latin typeface="+mn-lt"/>
              </a:rPr>
              <a:t>Tn</a:t>
            </a:r>
            <a:r>
              <a:rPr lang="en-GB" sz="1700" dirty="0" smtClean="0">
                <a:latin typeface="+mn-lt"/>
              </a:rPr>
              <a:t>, </a:t>
            </a:r>
            <a:r>
              <a:rPr lang="ru-RU" sz="1700" dirty="0" smtClean="0">
                <a:latin typeface="+mn-lt"/>
              </a:rPr>
              <a:t>де </a:t>
            </a:r>
            <a:r>
              <a:rPr lang="ru-RU" sz="1700" dirty="0" err="1" smtClean="0">
                <a:latin typeface="+mn-lt"/>
              </a:rPr>
              <a:t>кожна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підмножина</a:t>
            </a:r>
            <a:r>
              <a:rPr lang="ru-RU" sz="1700" dirty="0" smtClean="0">
                <a:latin typeface="+mn-lt"/>
              </a:rPr>
              <a:t> </a:t>
            </a:r>
            <a:r>
              <a:rPr lang="en-GB" sz="1700" b="1" dirty="0" smtClean="0">
                <a:solidFill>
                  <a:srgbClr val="0000CC"/>
                </a:solidFill>
                <a:latin typeface="+mn-lt"/>
              </a:rPr>
              <a:t>Ti</a:t>
            </a:r>
            <a:r>
              <a:rPr lang="uk-UA" sz="1700" b="1" dirty="0" smtClean="0">
                <a:solidFill>
                  <a:srgbClr val="0000CC"/>
                </a:solidFill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містить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всі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приклади</a:t>
            </a:r>
            <a:r>
              <a:rPr lang="ru-RU" sz="1700" dirty="0" smtClean="0">
                <a:latin typeface="+mn-lt"/>
              </a:rPr>
              <a:t>, </a:t>
            </a:r>
            <a:r>
              <a:rPr lang="ru-RU" sz="1700" dirty="0" err="1" smtClean="0">
                <a:latin typeface="+mn-lt"/>
              </a:rPr>
              <a:t>що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мають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значення</a:t>
            </a:r>
            <a:r>
              <a:rPr lang="ru-RU" sz="1700" dirty="0" smtClean="0">
                <a:latin typeface="+mn-lt"/>
              </a:rPr>
              <a:t> </a:t>
            </a:r>
            <a:r>
              <a:rPr lang="en-GB" sz="1700" b="1" dirty="0" err="1" smtClean="0">
                <a:solidFill>
                  <a:srgbClr val="0000CC"/>
                </a:solidFill>
                <a:latin typeface="+mn-lt"/>
              </a:rPr>
              <a:t>Oi</a:t>
            </a:r>
            <a:r>
              <a:rPr lang="en-GB" sz="1700" b="1" dirty="0" smtClean="0">
                <a:solidFill>
                  <a:srgbClr val="0000CC"/>
                </a:solidFill>
                <a:latin typeface="+mn-lt"/>
              </a:rPr>
              <a:t> </a:t>
            </a:r>
            <a:r>
              <a:rPr lang="ru-RU" sz="1700" dirty="0" smtClean="0">
                <a:latin typeface="+mn-lt"/>
              </a:rPr>
              <a:t>для </a:t>
            </a:r>
            <a:r>
              <a:rPr lang="ru-RU" sz="1700" dirty="0" err="1" smtClean="0">
                <a:latin typeface="+mn-lt"/>
              </a:rPr>
              <a:t>вибраної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ознаки</a:t>
            </a:r>
            <a:r>
              <a:rPr lang="ru-RU" sz="1700" dirty="0" smtClean="0">
                <a:latin typeface="+mn-lt"/>
              </a:rPr>
              <a:t>. </a:t>
            </a:r>
          </a:p>
          <a:p>
            <a:pPr marL="627063" lvl="2" indent="-266700" algn="l"/>
            <a:r>
              <a:rPr lang="ru-RU" sz="1700" dirty="0" smtClean="0">
                <a:latin typeface="+mn-lt"/>
              </a:rPr>
              <a:t>3.3. </a:t>
            </a:r>
            <a:r>
              <a:rPr lang="ru-RU" sz="1700" dirty="0" err="1" smtClean="0">
                <a:latin typeface="+mn-lt"/>
              </a:rPr>
              <a:t>Ця</a:t>
            </a:r>
            <a:r>
              <a:rPr lang="ru-RU" sz="1700" dirty="0" smtClean="0">
                <a:latin typeface="+mn-lt"/>
              </a:rPr>
              <a:t> процедура рекурсивно </a:t>
            </a:r>
            <a:r>
              <a:rPr lang="ru-RU" sz="1700" dirty="0" err="1" smtClean="0">
                <a:latin typeface="+mn-lt"/>
              </a:rPr>
              <a:t>триватиме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>
                <a:latin typeface="+mn-lt"/>
              </a:rPr>
              <a:t>до тих </a:t>
            </a:r>
            <a:r>
              <a:rPr lang="ru-RU" sz="1700" dirty="0" err="1">
                <a:latin typeface="+mn-lt"/>
              </a:rPr>
              <a:t>пір</a:t>
            </a:r>
            <a:r>
              <a:rPr lang="ru-RU" sz="1700" dirty="0">
                <a:latin typeface="+mn-lt"/>
              </a:rPr>
              <a:t>, </a:t>
            </a:r>
            <a:r>
              <a:rPr lang="ru-RU" sz="1700" dirty="0" err="1">
                <a:latin typeface="+mn-lt"/>
              </a:rPr>
              <a:t>поки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кінцева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множина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smtClean="0">
                <a:latin typeface="+mn-lt"/>
              </a:rPr>
              <a:t>не </a:t>
            </a:r>
            <a:r>
              <a:rPr lang="ru-RU" sz="1700" dirty="0" err="1" smtClean="0">
                <a:latin typeface="+mn-lt"/>
              </a:rPr>
              <a:t>складатиметься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із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прикладів</a:t>
            </a:r>
            <a:r>
              <a:rPr lang="ru-RU" sz="1700" dirty="0">
                <a:latin typeface="+mn-lt"/>
              </a:rPr>
              <a:t>, </a:t>
            </a:r>
            <a:r>
              <a:rPr lang="ru-RU" sz="1700" dirty="0" err="1">
                <a:latin typeface="+mn-lt"/>
              </a:rPr>
              <a:t>що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відносяться</a:t>
            </a:r>
            <a:r>
              <a:rPr lang="ru-RU" sz="1700" dirty="0">
                <a:latin typeface="+mn-lt"/>
              </a:rPr>
              <a:t> до одного і того </a:t>
            </a:r>
            <a:r>
              <a:rPr lang="ru-RU" sz="1700" dirty="0" smtClean="0">
                <a:latin typeface="+mn-lt"/>
              </a:rPr>
              <a:t>самого </a:t>
            </a:r>
            <a:r>
              <a:rPr lang="ru-RU" sz="1700" dirty="0" err="1">
                <a:latin typeface="+mn-lt"/>
              </a:rPr>
              <a:t>класу</a:t>
            </a:r>
            <a:r>
              <a:rPr lang="ru-RU" sz="1700" dirty="0" smtClean="0">
                <a:latin typeface="+mn-lt"/>
              </a:rPr>
              <a:t>.</a:t>
            </a:r>
            <a:endParaRPr lang="ru-RU" sz="1700" dirty="0"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69901" y="6060"/>
            <a:ext cx="72699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Алгоритм </a:t>
            </a:r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побудови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дерева </a:t>
            </a:r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рішень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52045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69901" y="6060"/>
            <a:ext cx="72699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Алгоритм </a:t>
            </a:r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побудови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дерева </a:t>
            </a:r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рішень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69524" y="806791"/>
            <a:ext cx="8974476" cy="2139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dirty="0" err="1">
                <a:latin typeface="+mn-lt"/>
              </a:rPr>
              <a:t>Алгоритми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конструювання</a:t>
            </a:r>
            <a:r>
              <a:rPr lang="ru-RU" dirty="0">
                <a:latin typeface="+mn-lt"/>
              </a:rPr>
              <a:t> дерев </a:t>
            </a:r>
            <a:r>
              <a:rPr lang="ru-RU" dirty="0" err="1">
                <a:latin typeface="+mn-lt"/>
              </a:rPr>
              <a:t>рішень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складаються</a:t>
            </a:r>
            <a:r>
              <a:rPr lang="ru-RU" dirty="0">
                <a:latin typeface="+mn-lt"/>
              </a:rPr>
              <a:t> з </a:t>
            </a:r>
            <a:r>
              <a:rPr lang="ru-RU" dirty="0" err="1">
                <a:latin typeface="+mn-lt"/>
              </a:rPr>
              <a:t>етапів</a:t>
            </a:r>
            <a:r>
              <a:rPr lang="ru-RU" dirty="0">
                <a:latin typeface="+mn-lt"/>
              </a:rPr>
              <a:t> 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"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побудова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"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або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"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створення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" дерева (</a:t>
            </a:r>
            <a:r>
              <a:rPr lang="en-GB" dirty="0">
                <a:solidFill>
                  <a:srgbClr val="0000CC"/>
                </a:solidFill>
                <a:latin typeface="+mn-lt"/>
              </a:rPr>
              <a:t>tree building) 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і "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скорочення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" дерева (</a:t>
            </a:r>
            <a:r>
              <a:rPr lang="en-GB" dirty="0">
                <a:solidFill>
                  <a:srgbClr val="0000CC"/>
                </a:solidFill>
                <a:latin typeface="+mn-lt"/>
              </a:rPr>
              <a:t>tree pruning</a:t>
            </a:r>
            <a:r>
              <a:rPr lang="en-GB" dirty="0">
                <a:latin typeface="+mn-lt"/>
              </a:rPr>
              <a:t>). </a:t>
            </a:r>
            <a:endParaRPr lang="uk-UA" dirty="0" smtClean="0">
              <a:latin typeface="+mn-lt"/>
            </a:endParaRPr>
          </a:p>
          <a:p>
            <a:pPr algn="l"/>
            <a:r>
              <a:rPr lang="ru-RU" dirty="0" smtClean="0">
                <a:latin typeface="+mn-lt"/>
              </a:rPr>
              <a:t>У </a:t>
            </a:r>
            <a:r>
              <a:rPr lang="ru-RU" dirty="0" err="1">
                <a:latin typeface="+mn-lt"/>
              </a:rPr>
              <a:t>ході</a:t>
            </a:r>
            <a:r>
              <a:rPr lang="ru-RU" dirty="0">
                <a:latin typeface="+mn-lt"/>
              </a:rPr>
              <a:t> </a:t>
            </a:r>
            <a:r>
              <a:rPr lang="ru-RU" b="1" dirty="0" err="1">
                <a:latin typeface="+mn-lt"/>
              </a:rPr>
              <a:t>створення</a:t>
            </a:r>
            <a:r>
              <a:rPr lang="ru-RU" b="1" dirty="0">
                <a:latin typeface="+mn-lt"/>
              </a:rPr>
              <a:t> дерева </a:t>
            </a:r>
            <a:r>
              <a:rPr lang="ru-RU" dirty="0" err="1">
                <a:latin typeface="+mn-lt"/>
              </a:rPr>
              <a:t>вирішуються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питання</a:t>
            </a:r>
            <a:r>
              <a:rPr lang="ru-RU" dirty="0">
                <a:latin typeface="+mn-lt"/>
              </a:rPr>
              <a:t> </a:t>
            </a:r>
            <a:endParaRPr lang="ru-RU" dirty="0" smtClean="0">
              <a:latin typeface="+mn-lt"/>
            </a:endParaRPr>
          </a:p>
          <a:p>
            <a:pPr marL="1062038" lvl="2" indent="-342900" algn="l">
              <a:buFont typeface="Wingdings" panose="05000000000000000000" pitchFamily="2" charset="2"/>
              <a:buChar char="Ø"/>
            </a:pPr>
            <a:r>
              <a:rPr lang="ru-RU" dirty="0" err="1" smtClean="0">
                <a:latin typeface="+mn-lt"/>
              </a:rPr>
              <a:t>вибору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критерію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розгалуження</a:t>
            </a:r>
            <a:r>
              <a:rPr lang="ru-RU" dirty="0">
                <a:latin typeface="+mn-lt"/>
              </a:rPr>
              <a:t> </a:t>
            </a:r>
            <a:endParaRPr lang="ru-RU" dirty="0" smtClean="0">
              <a:latin typeface="+mn-lt"/>
            </a:endParaRPr>
          </a:p>
          <a:p>
            <a:pPr marL="1062038" lvl="2" indent="-342900" algn="l">
              <a:buFont typeface="Wingdings" panose="05000000000000000000" pitchFamily="2" charset="2"/>
              <a:buChar char="Ø"/>
            </a:pPr>
            <a:r>
              <a:rPr lang="ru-RU" dirty="0" err="1" smtClean="0">
                <a:latin typeface="+mn-lt"/>
              </a:rPr>
              <a:t>зупинки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навчання</a:t>
            </a:r>
            <a:r>
              <a:rPr lang="ru-RU" dirty="0">
                <a:latin typeface="+mn-lt"/>
              </a:rPr>
              <a:t> (</a:t>
            </a:r>
            <a:r>
              <a:rPr lang="ru-RU" dirty="0" err="1">
                <a:latin typeface="+mn-lt"/>
              </a:rPr>
              <a:t>якщо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це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передбачено</a:t>
            </a:r>
            <a:r>
              <a:rPr lang="ru-RU" dirty="0">
                <a:latin typeface="+mn-lt"/>
              </a:rPr>
              <a:t> алгоритмом). </a:t>
            </a:r>
            <a:endParaRPr lang="ru-RU" dirty="0" smtClean="0">
              <a:latin typeface="+mn-lt"/>
            </a:endParaRPr>
          </a:p>
          <a:p>
            <a:pPr algn="l"/>
            <a:r>
              <a:rPr lang="ru-RU" dirty="0" smtClean="0">
                <a:latin typeface="+mn-lt"/>
              </a:rPr>
              <a:t>В </a:t>
            </a:r>
            <a:r>
              <a:rPr lang="ru-RU" dirty="0" err="1">
                <a:latin typeface="+mn-lt"/>
              </a:rPr>
              <a:t>ході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етапу</a:t>
            </a:r>
            <a:r>
              <a:rPr lang="ru-RU" dirty="0">
                <a:latin typeface="+mn-lt"/>
              </a:rPr>
              <a:t> </a:t>
            </a:r>
            <a:r>
              <a:rPr lang="ru-RU" b="1" dirty="0" err="1">
                <a:latin typeface="+mn-lt"/>
              </a:rPr>
              <a:t>скорочення</a:t>
            </a:r>
            <a:r>
              <a:rPr lang="ru-RU" b="1" dirty="0">
                <a:latin typeface="+mn-lt"/>
              </a:rPr>
              <a:t> дерева </a:t>
            </a:r>
            <a:r>
              <a:rPr lang="ru-RU" dirty="0" err="1">
                <a:latin typeface="+mn-lt"/>
              </a:rPr>
              <a:t>вирішується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питання</a:t>
            </a:r>
            <a:r>
              <a:rPr lang="ru-RU" dirty="0">
                <a:latin typeface="+mn-lt"/>
              </a:rPr>
              <a:t> </a:t>
            </a:r>
            <a:endParaRPr lang="ru-RU" dirty="0" smtClean="0">
              <a:latin typeface="+mn-lt"/>
            </a:endParaRPr>
          </a:p>
          <a:p>
            <a:pPr marL="1079500" indent="-342900" algn="l">
              <a:buFont typeface="Wingdings" panose="05000000000000000000" pitchFamily="2" charset="2"/>
              <a:buChar char="Ø"/>
            </a:pPr>
            <a:r>
              <a:rPr lang="ru-RU" dirty="0" err="1" smtClean="0">
                <a:latin typeface="+mn-lt"/>
              </a:rPr>
              <a:t>відсікання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деяких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його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гілок</a:t>
            </a:r>
            <a:r>
              <a:rPr lang="ru-RU" dirty="0"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8513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69901" y="6060"/>
            <a:ext cx="72699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Алгоритм </a:t>
            </a:r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побудови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дерева </a:t>
            </a:r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рішень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69524" y="806791"/>
            <a:ext cx="8974476" cy="330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uk-UA" dirty="0">
                <a:latin typeface="+mn-lt"/>
              </a:rPr>
              <a:t>Процес створення дерева відбувається зверху </a:t>
            </a:r>
            <a:r>
              <a:rPr lang="uk-UA" dirty="0" smtClean="0">
                <a:latin typeface="+mn-lt"/>
              </a:rPr>
              <a:t>вниз. 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uk-UA" dirty="0" smtClean="0">
                <a:latin typeface="+mn-lt"/>
              </a:rPr>
              <a:t>В </a:t>
            </a:r>
            <a:r>
              <a:rPr lang="uk-UA" dirty="0">
                <a:latin typeface="+mn-lt"/>
              </a:rPr>
              <a:t>ході процесу алгоритм повинен знайти такий </a:t>
            </a:r>
            <a:r>
              <a:rPr lang="uk-UA" b="1" dirty="0">
                <a:solidFill>
                  <a:srgbClr val="0000CC"/>
                </a:solidFill>
                <a:latin typeface="+mn-lt"/>
              </a:rPr>
              <a:t>критерій розгалуження </a:t>
            </a:r>
            <a:r>
              <a:rPr lang="uk-UA" dirty="0">
                <a:latin typeface="+mn-lt"/>
              </a:rPr>
              <a:t>(критерій розбиття), щоб розбити множину на підмножини, які б асоціювалися з даним вузлом перевірки. </a:t>
            </a:r>
            <a:endParaRPr lang="uk-UA" dirty="0" smtClean="0">
              <a:latin typeface="+mn-lt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uk-UA" dirty="0" smtClean="0">
                <a:latin typeface="+mn-lt"/>
              </a:rPr>
              <a:t>Кожен </a:t>
            </a:r>
            <a:r>
              <a:rPr lang="uk-UA" dirty="0">
                <a:latin typeface="+mn-lt"/>
              </a:rPr>
              <a:t>вузол перевірки повинен бути позначений певним атрибутом. </a:t>
            </a:r>
            <a:endParaRPr lang="uk-UA" dirty="0" smtClean="0">
              <a:latin typeface="+mn-lt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uk-UA" dirty="0" smtClean="0">
                <a:latin typeface="+mn-lt"/>
              </a:rPr>
              <a:t>Існує </a:t>
            </a:r>
            <a:r>
              <a:rPr lang="uk-UA" b="1" dirty="0">
                <a:solidFill>
                  <a:srgbClr val="0000CC"/>
                </a:solidFill>
                <a:latin typeface="+mn-lt"/>
              </a:rPr>
              <a:t>правило вибору атрибута</a:t>
            </a:r>
            <a:r>
              <a:rPr lang="uk-UA" dirty="0">
                <a:latin typeface="+mn-lt"/>
              </a:rPr>
              <a:t>: він повинен розбивати вихідну множину даних таким чином, щоб об'єкти підмножин, які утворилися у результаті цього розбиття, були представниками одного класу або ж були максимально наближені до такого розбиття. </a:t>
            </a:r>
            <a:endParaRPr lang="uk-UA" dirty="0" smtClean="0">
              <a:latin typeface="+mn-lt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uk-UA" dirty="0" smtClean="0">
                <a:latin typeface="+mn-lt"/>
              </a:rPr>
              <a:t>Кількість </a:t>
            </a:r>
            <a:r>
              <a:rPr lang="uk-UA" dirty="0">
                <a:latin typeface="+mn-lt"/>
              </a:rPr>
              <a:t>об'єктів з інших класів, так званих "</a:t>
            </a:r>
            <a:r>
              <a:rPr lang="uk-UA" dirty="0" err="1">
                <a:latin typeface="+mn-lt"/>
              </a:rPr>
              <a:t>домішків</a:t>
            </a:r>
            <a:r>
              <a:rPr lang="uk-UA" dirty="0">
                <a:latin typeface="+mn-lt"/>
              </a:rPr>
              <a:t>", в кожному класі повинно прагнути до мінімуму.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99183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03088" y="779784"/>
            <a:ext cx="45720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</a:pPr>
            <a:r>
              <a:rPr lang="uk-UA" sz="1800" dirty="0" smtClean="0"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Існують </a:t>
            </a:r>
            <a:r>
              <a:rPr lang="uk-UA" sz="1800" dirty="0"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різні критерії розгалуження. Найбільш відомі - </a:t>
            </a:r>
            <a:r>
              <a:rPr lang="uk-UA" sz="1800" dirty="0">
                <a:solidFill>
                  <a:srgbClr val="0000CC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міра ентропії і індекс </a:t>
            </a:r>
            <a:r>
              <a:rPr lang="uk-UA" sz="1800" dirty="0" err="1">
                <a:solidFill>
                  <a:srgbClr val="0000CC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Gini</a:t>
            </a:r>
            <a:r>
              <a:rPr lang="uk-UA" sz="1800" dirty="0"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898022" y="101106"/>
            <a:ext cx="489589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600" b="1" dirty="0" smtClean="0">
                <a:solidFill>
                  <a:schemeClr val="bg1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Критерії  </a:t>
            </a:r>
            <a:r>
              <a:rPr lang="uk-UA" sz="3600" b="1" dirty="0">
                <a:solidFill>
                  <a:schemeClr val="bg1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розгалуження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77" y="2211369"/>
            <a:ext cx="3855535" cy="48308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466" y="2032048"/>
            <a:ext cx="3702644" cy="991112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287677" y="1467537"/>
            <a:ext cx="87844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800" dirty="0">
                <a:latin typeface="+mn-lt"/>
              </a:rPr>
              <a:t>Для выбора </a:t>
            </a:r>
            <a:r>
              <a:rPr lang="ru-RU" sz="1800" dirty="0" err="1" smtClean="0">
                <a:latin typeface="+mn-lt"/>
              </a:rPr>
              <a:t>найбільш</a:t>
            </a:r>
            <a:r>
              <a:rPr lang="ru-RU" sz="1800" dirty="0" smtClean="0">
                <a:latin typeface="+mn-lt"/>
              </a:rPr>
              <a:t> </a:t>
            </a:r>
            <a:r>
              <a:rPr lang="ru-RU" sz="1800" dirty="0" err="1" smtClean="0">
                <a:latin typeface="+mn-lt"/>
              </a:rPr>
              <a:t>підходящого</a:t>
            </a:r>
            <a:r>
              <a:rPr lang="ru-RU" sz="1800" dirty="0" smtClean="0">
                <a:latin typeface="+mn-lt"/>
              </a:rPr>
              <a:t> атрибута</a:t>
            </a:r>
            <a:r>
              <a:rPr lang="ru-RU" sz="1800" dirty="0">
                <a:latin typeface="+mn-lt"/>
              </a:rPr>
              <a:t>, </a:t>
            </a:r>
            <a:r>
              <a:rPr lang="ru-RU" sz="1800" dirty="0" err="1" smtClean="0">
                <a:latin typeface="+mn-lt"/>
              </a:rPr>
              <a:t>використовують</a:t>
            </a:r>
            <a:r>
              <a:rPr lang="ru-RU" sz="1800" dirty="0" smtClean="0">
                <a:latin typeface="+mn-lt"/>
              </a:rPr>
              <a:t> </a:t>
            </a:r>
            <a:r>
              <a:rPr lang="ru-RU" sz="1800" b="1" dirty="0" smtClean="0">
                <a:solidFill>
                  <a:srgbClr val="C00000"/>
                </a:solidFill>
                <a:latin typeface="+mn-lt"/>
              </a:rPr>
              <a:t>теоретико-</a:t>
            </a:r>
            <a:r>
              <a:rPr lang="ru-RU" sz="1800" b="1" dirty="0" err="1" smtClean="0">
                <a:solidFill>
                  <a:srgbClr val="C00000"/>
                </a:solidFill>
                <a:latin typeface="+mn-lt"/>
              </a:rPr>
              <a:t>інформаційний</a:t>
            </a:r>
            <a:r>
              <a:rPr lang="ru-RU" sz="1800" b="1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ru-RU" sz="1800" b="1" dirty="0" err="1" smtClean="0">
                <a:solidFill>
                  <a:srgbClr val="C00000"/>
                </a:solidFill>
                <a:latin typeface="+mn-lt"/>
              </a:rPr>
              <a:t>критерій</a:t>
            </a:r>
            <a:r>
              <a:rPr lang="ru-RU" sz="1800" dirty="0" smtClean="0">
                <a:latin typeface="+mn-lt"/>
              </a:rPr>
              <a:t>:</a:t>
            </a:r>
            <a:endParaRPr lang="ru-RU" sz="1800" dirty="0">
              <a:latin typeface="+mn-lt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215444" y="2751329"/>
            <a:ext cx="37730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dirty="0" err="1" smtClean="0">
                <a:latin typeface="+mn-lt"/>
              </a:rPr>
              <a:t>Info</a:t>
            </a:r>
            <a:r>
              <a:rPr lang="ru-RU" sz="1800" dirty="0" smtClean="0">
                <a:latin typeface="+mn-lt"/>
              </a:rPr>
              <a:t>(T</a:t>
            </a:r>
            <a:r>
              <a:rPr lang="ru-RU" sz="1800" dirty="0">
                <a:latin typeface="+mn-lt"/>
              </a:rPr>
              <a:t>) – </a:t>
            </a:r>
            <a:r>
              <a:rPr lang="ru-RU" sz="1800" dirty="0" err="1" smtClean="0">
                <a:latin typeface="+mn-lt"/>
              </a:rPr>
              <a:t>ентропія</a:t>
            </a:r>
            <a:r>
              <a:rPr lang="ru-RU" sz="1800" dirty="0" smtClean="0">
                <a:latin typeface="+mn-lt"/>
              </a:rPr>
              <a:t> </a:t>
            </a:r>
            <a:r>
              <a:rPr lang="ru-RU" sz="1800" dirty="0" err="1" smtClean="0">
                <a:latin typeface="+mn-lt"/>
              </a:rPr>
              <a:t>множини</a:t>
            </a:r>
            <a:r>
              <a:rPr lang="ru-RU" sz="1800" dirty="0" smtClean="0">
                <a:latin typeface="+mn-lt"/>
              </a:rPr>
              <a:t> </a:t>
            </a:r>
            <a:r>
              <a:rPr lang="ru-RU" sz="1800" dirty="0">
                <a:latin typeface="+mn-lt"/>
              </a:rPr>
              <a:t>T, 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287677" y="3213651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ru-RU" sz="1800" b="1" dirty="0" err="1" smtClean="0">
                <a:solidFill>
                  <a:srgbClr val="C00000"/>
                </a:solidFill>
                <a:latin typeface="+mn-lt"/>
              </a:rPr>
              <a:t>Статистичний</a:t>
            </a:r>
            <a:r>
              <a:rPr lang="ru-RU" sz="1800" b="1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ru-RU" sz="1800" b="1" dirty="0" err="1" smtClean="0">
                <a:solidFill>
                  <a:srgbClr val="C00000"/>
                </a:solidFill>
                <a:latin typeface="+mn-lt"/>
              </a:rPr>
              <a:t>критерій</a:t>
            </a:r>
            <a:endParaRPr lang="ru-RU" sz="1800" b="1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477" y="3639862"/>
            <a:ext cx="2152371" cy="753251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2922997" y="3668809"/>
            <a:ext cx="60463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800" dirty="0">
                <a:latin typeface="+mn-lt"/>
              </a:rPr>
              <a:t>c – </a:t>
            </a:r>
            <a:r>
              <a:rPr lang="ru-RU" sz="1800" dirty="0" err="1" smtClean="0">
                <a:latin typeface="+mn-lt"/>
              </a:rPr>
              <a:t>поточний</a:t>
            </a:r>
            <a:r>
              <a:rPr lang="ru-RU" sz="1800" dirty="0" smtClean="0">
                <a:latin typeface="+mn-lt"/>
              </a:rPr>
              <a:t> </a:t>
            </a:r>
            <a:r>
              <a:rPr lang="ru-RU" sz="1800" dirty="0" err="1" smtClean="0">
                <a:latin typeface="+mn-lt"/>
              </a:rPr>
              <a:t>вузол</a:t>
            </a:r>
            <a:r>
              <a:rPr lang="ru-RU" sz="1800" dirty="0">
                <a:latin typeface="+mn-lt"/>
              </a:rPr>
              <a:t>, </a:t>
            </a:r>
            <a:r>
              <a:rPr lang="ru-RU" sz="1800" dirty="0" smtClean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p</a:t>
            </a:r>
            <a:r>
              <a:rPr lang="ru-RU" sz="1800" baseline="-25000" dirty="0" err="1">
                <a:latin typeface="+mn-lt"/>
              </a:rPr>
              <a:t>j</a:t>
            </a:r>
            <a:r>
              <a:rPr lang="ru-RU" sz="1800" dirty="0">
                <a:latin typeface="+mn-lt"/>
              </a:rPr>
              <a:t> – </a:t>
            </a:r>
            <a:r>
              <a:rPr lang="ru-RU" sz="1800" dirty="0" err="1" smtClean="0">
                <a:latin typeface="+mn-lt"/>
              </a:rPr>
              <a:t>ймовірність</a:t>
            </a:r>
            <a:r>
              <a:rPr lang="ru-RU" sz="1800" dirty="0" smtClean="0">
                <a:latin typeface="+mn-lt"/>
              </a:rPr>
              <a:t> </a:t>
            </a:r>
            <a:r>
              <a:rPr lang="ru-RU" sz="1800" dirty="0" err="1" smtClean="0">
                <a:latin typeface="+mn-lt"/>
              </a:rPr>
              <a:t>класу</a:t>
            </a:r>
            <a:r>
              <a:rPr lang="ru-RU" sz="1800" dirty="0" smtClean="0">
                <a:latin typeface="+mn-lt"/>
              </a:rPr>
              <a:t>  </a:t>
            </a:r>
            <a:r>
              <a:rPr lang="ru-RU" sz="1800" dirty="0">
                <a:latin typeface="+mn-lt"/>
              </a:rPr>
              <a:t>j </a:t>
            </a:r>
            <a:r>
              <a:rPr lang="ru-RU" sz="1800" dirty="0" smtClean="0">
                <a:latin typeface="+mn-lt"/>
              </a:rPr>
              <a:t> </a:t>
            </a:r>
            <a:r>
              <a:rPr lang="ru-RU" sz="1800" dirty="0" err="1" smtClean="0">
                <a:latin typeface="+mn-lt"/>
              </a:rPr>
              <a:t>вузла</a:t>
            </a:r>
            <a:r>
              <a:rPr lang="ru-RU" sz="1800" dirty="0" smtClean="0">
                <a:latin typeface="+mn-lt"/>
              </a:rPr>
              <a:t> </a:t>
            </a:r>
            <a:r>
              <a:rPr lang="ru-RU" sz="1800" dirty="0">
                <a:latin typeface="+mn-lt"/>
              </a:rPr>
              <a:t>c.</a:t>
            </a:r>
          </a:p>
        </p:txBody>
      </p:sp>
    </p:spTree>
    <p:extLst>
      <p:ext uri="{BB962C8B-B14F-4D97-AF65-F5344CB8AC3E}">
        <p14:creationId xmlns:p14="http://schemas.microsoft.com/office/powerpoint/2010/main" val="1562189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717178" y="29187"/>
            <a:ext cx="544251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uk-UA" sz="3600" b="1" dirty="0">
                <a:solidFill>
                  <a:schemeClr val="bg1"/>
                </a:solidFill>
                <a:latin typeface="+mn-lt"/>
              </a:rPr>
              <a:t>Зупинка побудови дерева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59248" y="896655"/>
            <a:ext cx="8758719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b="1" dirty="0" err="1">
                <a:solidFill>
                  <a:srgbClr val="0000CC"/>
                </a:solidFill>
                <a:latin typeface="+mn-lt"/>
              </a:rPr>
              <a:t>Зупинка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dirty="0">
                <a:latin typeface="+mn-lt"/>
              </a:rPr>
              <a:t>- </a:t>
            </a:r>
            <a:r>
              <a:rPr lang="ru-RU" dirty="0" err="1">
                <a:latin typeface="+mn-lt"/>
              </a:rPr>
              <a:t>це</a:t>
            </a:r>
            <a:r>
              <a:rPr lang="ru-RU" dirty="0">
                <a:latin typeface="+mn-lt"/>
              </a:rPr>
              <a:t> момент у </a:t>
            </a:r>
            <a:r>
              <a:rPr lang="ru-RU" dirty="0" err="1">
                <a:latin typeface="+mn-lt"/>
              </a:rPr>
              <a:t>процесі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побудови</a:t>
            </a:r>
            <a:r>
              <a:rPr lang="ru-RU" dirty="0">
                <a:latin typeface="+mn-lt"/>
              </a:rPr>
              <a:t> дерева, коли </a:t>
            </a:r>
            <a:r>
              <a:rPr lang="ru-RU" dirty="0" err="1">
                <a:latin typeface="+mn-lt"/>
              </a:rPr>
              <a:t>слід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припинити</a:t>
            </a:r>
            <a:r>
              <a:rPr lang="ru-RU" dirty="0">
                <a:latin typeface="+mn-lt"/>
              </a:rPr>
              <a:t> подальше </a:t>
            </a:r>
            <a:r>
              <a:rPr lang="ru-RU" dirty="0" err="1">
                <a:latin typeface="+mn-lt"/>
              </a:rPr>
              <a:t>розгалуження</a:t>
            </a:r>
            <a:r>
              <a:rPr lang="ru-RU" dirty="0" smtClean="0">
                <a:latin typeface="+mn-lt"/>
              </a:rPr>
              <a:t>.</a:t>
            </a:r>
          </a:p>
          <a:p>
            <a:pPr marL="457200" indent="-457200" algn="l">
              <a:buFont typeface="+mj-lt"/>
              <a:buAutoNum type="arabicPeriod"/>
            </a:pPr>
            <a:r>
              <a:rPr lang="uk-UA" dirty="0">
                <a:latin typeface="+mn-lt"/>
              </a:rPr>
              <a:t>Один з варіантів правил зупинки - </a:t>
            </a:r>
            <a:r>
              <a:rPr lang="uk-UA" b="1" dirty="0">
                <a:solidFill>
                  <a:srgbClr val="0000CC"/>
                </a:solidFill>
                <a:latin typeface="+mn-lt"/>
              </a:rPr>
              <a:t>"рання зупинка" (</a:t>
            </a:r>
            <a:r>
              <a:rPr lang="uk-UA" b="1" i="1" dirty="0" err="1">
                <a:solidFill>
                  <a:srgbClr val="0000CC"/>
                </a:solidFill>
                <a:latin typeface="+mn-lt"/>
              </a:rPr>
              <a:t>prepruning</a:t>
            </a:r>
            <a:r>
              <a:rPr lang="uk-UA" b="1" dirty="0">
                <a:solidFill>
                  <a:srgbClr val="0000CC"/>
                </a:solidFill>
                <a:latin typeface="+mn-lt"/>
              </a:rPr>
              <a:t>), </a:t>
            </a:r>
            <a:r>
              <a:rPr lang="uk-UA" dirty="0">
                <a:latin typeface="+mn-lt"/>
              </a:rPr>
              <a:t>вона визначає доцільність розбиття вузла. </a:t>
            </a:r>
            <a:r>
              <a:rPr lang="uk-UA" b="1" dirty="0">
                <a:latin typeface="+mn-lt"/>
              </a:rPr>
              <a:t>Перевага</a:t>
            </a:r>
            <a:r>
              <a:rPr lang="uk-UA" dirty="0">
                <a:latin typeface="+mn-lt"/>
              </a:rPr>
              <a:t> використання такого варіанту - зменшення часу на навчання моделі. </a:t>
            </a:r>
            <a:r>
              <a:rPr lang="uk-UA" dirty="0" smtClean="0">
                <a:latin typeface="+mn-lt"/>
              </a:rPr>
              <a:t>Недолік - </a:t>
            </a:r>
            <a:r>
              <a:rPr lang="uk-UA" dirty="0">
                <a:latin typeface="+mn-lt"/>
              </a:rPr>
              <a:t>ризик зниження точності класифікації. Тому рекомендується "замість зупинки використовувати відсікання".</a:t>
            </a:r>
            <a:endParaRPr lang="ru-RU" dirty="0">
              <a:latin typeface="+mn-lt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uk-UA" dirty="0">
                <a:latin typeface="+mn-lt"/>
              </a:rPr>
              <a:t>Другий варіант зупинки навчання - </a:t>
            </a:r>
            <a:r>
              <a:rPr lang="uk-UA" b="1" dirty="0">
                <a:solidFill>
                  <a:srgbClr val="0000CC"/>
                </a:solidFill>
                <a:latin typeface="+mn-lt"/>
              </a:rPr>
              <a:t>обмеження глибини дерева</a:t>
            </a:r>
            <a:r>
              <a:rPr lang="uk-UA" dirty="0">
                <a:latin typeface="+mn-lt"/>
              </a:rPr>
              <a:t>. У цьому випадку побудова закінчується, якщо досягнуто задану глибину.</a:t>
            </a:r>
            <a:endParaRPr lang="ru-RU" dirty="0">
              <a:latin typeface="+mn-lt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uk-UA" dirty="0" smtClean="0">
                <a:latin typeface="+mn-lt"/>
              </a:rPr>
              <a:t>Третій варіант </a:t>
            </a:r>
            <a:r>
              <a:rPr lang="uk-UA" dirty="0">
                <a:latin typeface="+mn-lt"/>
              </a:rPr>
              <a:t>зупинки - завдання </a:t>
            </a:r>
            <a:r>
              <a:rPr lang="uk-UA" b="1" dirty="0">
                <a:solidFill>
                  <a:srgbClr val="0000CC"/>
                </a:solidFill>
                <a:latin typeface="+mn-lt"/>
              </a:rPr>
              <a:t>мінімальної кількості прикладів</a:t>
            </a:r>
            <a:r>
              <a:rPr lang="uk-UA" dirty="0">
                <a:latin typeface="+mn-lt"/>
              </a:rPr>
              <a:t>, які будуть міститися в кінцевих вузлах дерева. </a:t>
            </a:r>
            <a:r>
              <a:rPr lang="uk-UA" dirty="0" smtClean="0">
                <a:latin typeface="+mn-lt"/>
              </a:rPr>
              <a:t>Розгалуження </a:t>
            </a:r>
            <a:r>
              <a:rPr lang="uk-UA" dirty="0">
                <a:latin typeface="+mn-lt"/>
              </a:rPr>
              <a:t>тривають до того моменту, поки всі кінцеві вузли дерева не будуть чистими або будуть містити не більше ніж задане число об'єктів.</a:t>
            </a:r>
            <a:endParaRPr lang="ru-RU" dirty="0">
              <a:latin typeface="+mn-lt"/>
            </a:endParaRPr>
          </a:p>
          <a:p>
            <a:pPr algn="l"/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51180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63839" y="0"/>
            <a:ext cx="827021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Скорочення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дерева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або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відсікання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гілок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789425"/>
            <a:ext cx="914400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dirty="0" err="1">
                <a:latin typeface="+mn-lt"/>
              </a:rPr>
              <a:t>Відсікання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гілок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або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заміна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деяких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гілок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піддеревом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слід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проводити</a:t>
            </a:r>
            <a:r>
              <a:rPr lang="ru-RU" dirty="0">
                <a:latin typeface="+mn-lt"/>
              </a:rPr>
              <a:t> там, де </a:t>
            </a:r>
            <a:r>
              <a:rPr lang="ru-RU" dirty="0" err="1">
                <a:latin typeface="+mn-lt"/>
              </a:rPr>
              <a:t>ця</a:t>
            </a:r>
            <a:r>
              <a:rPr lang="ru-RU" dirty="0">
                <a:latin typeface="+mn-lt"/>
              </a:rPr>
              <a:t> процедура не </a:t>
            </a:r>
            <a:r>
              <a:rPr lang="ru-RU" dirty="0" err="1">
                <a:latin typeface="+mn-lt"/>
              </a:rPr>
              <a:t>призводить</a:t>
            </a:r>
            <a:r>
              <a:rPr lang="ru-RU" dirty="0">
                <a:latin typeface="+mn-lt"/>
              </a:rPr>
              <a:t> до </a:t>
            </a:r>
            <a:r>
              <a:rPr lang="ru-RU" dirty="0" err="1">
                <a:latin typeface="+mn-lt"/>
              </a:rPr>
              <a:t>зростання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помилки</a:t>
            </a:r>
            <a:r>
              <a:rPr lang="ru-RU" dirty="0">
                <a:latin typeface="+mn-lt"/>
              </a:rPr>
              <a:t>. </a:t>
            </a:r>
            <a:endParaRPr lang="ru-RU" dirty="0" smtClean="0">
              <a:latin typeface="+mn-lt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dirty="0" err="1" smtClean="0">
                <a:latin typeface="+mn-lt"/>
              </a:rPr>
              <a:t>Процес</a:t>
            </a:r>
            <a:r>
              <a:rPr lang="ru-RU" dirty="0" smtClean="0">
                <a:latin typeface="+mn-lt"/>
              </a:rPr>
              <a:t> </a:t>
            </a:r>
            <a:r>
              <a:rPr lang="ru-RU" dirty="0">
                <a:latin typeface="+mn-lt"/>
              </a:rPr>
              <a:t>проходить </a:t>
            </a:r>
            <a:r>
              <a:rPr lang="ru-RU" b="1" dirty="0" err="1">
                <a:solidFill>
                  <a:srgbClr val="0000CC"/>
                </a:solidFill>
                <a:latin typeface="+mn-lt"/>
              </a:rPr>
              <a:t>знизу</a:t>
            </a:r>
            <a:r>
              <a:rPr lang="ru-RU" b="1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b="1" dirty="0" err="1">
                <a:solidFill>
                  <a:srgbClr val="0000CC"/>
                </a:solidFill>
                <a:latin typeface="+mn-lt"/>
              </a:rPr>
              <a:t>вгору</a:t>
            </a:r>
            <a:r>
              <a:rPr lang="ru-RU" b="1" dirty="0">
                <a:solidFill>
                  <a:srgbClr val="0000CC"/>
                </a:solidFill>
                <a:latin typeface="+mn-lt"/>
              </a:rPr>
              <a:t>, </a:t>
            </a:r>
            <a:r>
              <a:rPr lang="ru-RU" b="1" dirty="0" err="1">
                <a:solidFill>
                  <a:srgbClr val="0000CC"/>
                </a:solidFill>
                <a:latin typeface="+mn-lt"/>
              </a:rPr>
              <a:t>тобто</a:t>
            </a:r>
            <a:r>
              <a:rPr lang="ru-RU" b="1" dirty="0">
                <a:solidFill>
                  <a:srgbClr val="0000CC"/>
                </a:solidFill>
                <a:latin typeface="+mn-lt"/>
              </a:rPr>
              <a:t> є </a:t>
            </a:r>
            <a:r>
              <a:rPr lang="ru-RU" b="1" dirty="0" err="1">
                <a:solidFill>
                  <a:srgbClr val="0000CC"/>
                </a:solidFill>
                <a:latin typeface="+mn-lt"/>
              </a:rPr>
              <a:t>висхідним</a:t>
            </a:r>
            <a:r>
              <a:rPr lang="ru-RU" dirty="0">
                <a:latin typeface="+mn-lt"/>
              </a:rPr>
              <a:t>. </a:t>
            </a:r>
            <a:endParaRPr lang="ru-RU" dirty="0" smtClean="0">
              <a:latin typeface="+mn-lt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dirty="0" smtClean="0">
                <a:latin typeface="+mn-lt"/>
              </a:rPr>
              <a:t>Дерева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одержувані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після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відсікання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деяких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гілок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називають</a:t>
            </a:r>
            <a:r>
              <a:rPr lang="ru-RU" dirty="0">
                <a:latin typeface="+mn-lt"/>
              </a:rPr>
              <a:t> </a:t>
            </a:r>
            <a:r>
              <a:rPr lang="ru-RU" b="1" dirty="0" err="1">
                <a:solidFill>
                  <a:srgbClr val="0000CC"/>
                </a:solidFill>
                <a:latin typeface="+mn-lt"/>
              </a:rPr>
              <a:t>усіченими</a:t>
            </a:r>
            <a:r>
              <a:rPr lang="ru-RU" dirty="0">
                <a:latin typeface="+mn-lt"/>
              </a:rPr>
              <a:t>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dirty="0" err="1">
                <a:latin typeface="+mn-lt"/>
              </a:rPr>
              <a:t>Якщо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таке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усічене</a:t>
            </a:r>
            <a:r>
              <a:rPr lang="ru-RU" dirty="0">
                <a:latin typeface="+mn-lt"/>
              </a:rPr>
              <a:t> дерево буде не </a:t>
            </a:r>
            <a:r>
              <a:rPr lang="ru-RU" dirty="0" err="1">
                <a:latin typeface="+mn-lt"/>
              </a:rPr>
              <a:t>інтуїтивним</a:t>
            </a:r>
            <a:r>
              <a:rPr lang="ru-RU" dirty="0">
                <a:latin typeface="+mn-lt"/>
              </a:rPr>
              <a:t> і </a:t>
            </a:r>
            <a:r>
              <a:rPr lang="ru-RU" dirty="0" err="1">
                <a:latin typeface="+mn-lt"/>
              </a:rPr>
              <a:t>складним</a:t>
            </a:r>
            <a:r>
              <a:rPr lang="ru-RU" dirty="0">
                <a:latin typeface="+mn-lt"/>
              </a:rPr>
              <a:t> для </a:t>
            </a:r>
            <a:r>
              <a:rPr lang="ru-RU" dirty="0" err="1">
                <a:latin typeface="+mn-lt"/>
              </a:rPr>
              <a:t>розуміння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використовують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формування</a:t>
            </a:r>
            <a:r>
              <a:rPr lang="ru-RU" dirty="0">
                <a:latin typeface="+mn-lt"/>
              </a:rPr>
              <a:t> правил, </a:t>
            </a:r>
            <a:r>
              <a:rPr lang="ru-RU" dirty="0" err="1">
                <a:latin typeface="+mn-lt"/>
              </a:rPr>
              <a:t>які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об'єднують</a:t>
            </a:r>
            <a:r>
              <a:rPr lang="ru-RU" dirty="0">
                <a:latin typeface="+mn-lt"/>
              </a:rPr>
              <a:t> в </a:t>
            </a:r>
            <a:r>
              <a:rPr lang="ru-RU" dirty="0" err="1">
                <a:latin typeface="+mn-lt"/>
              </a:rPr>
              <a:t>набори</a:t>
            </a:r>
            <a:r>
              <a:rPr lang="ru-RU" dirty="0">
                <a:latin typeface="+mn-lt"/>
              </a:rPr>
              <a:t> для </a:t>
            </a:r>
            <a:r>
              <a:rPr lang="ru-RU" dirty="0" err="1">
                <a:latin typeface="+mn-lt"/>
              </a:rPr>
              <a:t>опису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класів</a:t>
            </a:r>
            <a:r>
              <a:rPr lang="ru-RU" dirty="0" smtClean="0">
                <a:latin typeface="+mn-lt"/>
              </a:rPr>
              <a:t>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Кожен</a:t>
            </a:r>
            <a:r>
              <a:rPr lang="ru-RU" dirty="0">
                <a:latin typeface="+mn-lt"/>
              </a:rPr>
              <a:t> шлях </a:t>
            </a:r>
            <a:r>
              <a:rPr lang="ru-RU" dirty="0" err="1">
                <a:latin typeface="+mn-lt"/>
              </a:rPr>
              <a:t>від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кореня</a:t>
            </a:r>
            <a:r>
              <a:rPr lang="ru-RU" dirty="0">
                <a:latin typeface="+mn-lt"/>
              </a:rPr>
              <a:t> дерева до </a:t>
            </a:r>
            <a:r>
              <a:rPr lang="ru-RU" dirty="0" err="1">
                <a:latin typeface="+mn-lt"/>
              </a:rPr>
              <a:t>його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вершини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або</a:t>
            </a:r>
            <a:r>
              <a:rPr lang="ru-RU" dirty="0">
                <a:latin typeface="+mn-lt"/>
              </a:rPr>
              <a:t> листа </a:t>
            </a:r>
            <a:r>
              <a:rPr lang="ru-RU" dirty="0" err="1">
                <a:latin typeface="+mn-lt"/>
              </a:rPr>
              <a:t>дає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одне</a:t>
            </a:r>
            <a:r>
              <a:rPr lang="ru-RU" dirty="0">
                <a:latin typeface="+mn-lt"/>
              </a:rPr>
              <a:t> правило. </a:t>
            </a:r>
            <a:endParaRPr lang="ru-RU" dirty="0" smtClean="0">
              <a:latin typeface="+mn-lt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dirty="0" err="1" smtClean="0">
                <a:latin typeface="+mn-lt"/>
              </a:rPr>
              <a:t>Умовами</a:t>
            </a:r>
            <a:r>
              <a:rPr lang="ru-RU" dirty="0" smtClean="0">
                <a:latin typeface="+mn-lt"/>
              </a:rPr>
              <a:t> </a:t>
            </a:r>
            <a:r>
              <a:rPr lang="ru-RU" dirty="0">
                <a:latin typeface="+mn-lt"/>
              </a:rPr>
              <a:t>правила є </a:t>
            </a:r>
            <a:r>
              <a:rPr lang="ru-RU" dirty="0" err="1">
                <a:latin typeface="+mn-lt"/>
              </a:rPr>
              <a:t>перевірки</a:t>
            </a:r>
            <a:r>
              <a:rPr lang="ru-RU" dirty="0">
                <a:latin typeface="+mn-lt"/>
              </a:rPr>
              <a:t> на </a:t>
            </a:r>
            <a:r>
              <a:rPr lang="ru-RU" dirty="0" err="1">
                <a:latin typeface="+mn-lt"/>
              </a:rPr>
              <a:t>внутрішніх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вузлах</a:t>
            </a:r>
            <a:r>
              <a:rPr lang="ru-RU" dirty="0">
                <a:latin typeface="+mn-lt"/>
              </a:rPr>
              <a:t> дерева.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3303929"/>
            <a:ext cx="9144000" cy="184665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lang="ru-RU" b="1" dirty="0" err="1">
                <a:solidFill>
                  <a:srgbClr val="0000CC"/>
                </a:solidFill>
                <a:latin typeface="+mn-lt"/>
              </a:rPr>
              <a:t>Точність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класифікації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розраховується</a:t>
            </a:r>
            <a:r>
              <a:rPr lang="ru-RU" dirty="0" smtClean="0">
                <a:latin typeface="+mn-lt"/>
              </a:rPr>
              <a:t> </a:t>
            </a:r>
            <a:r>
              <a:rPr lang="ru-RU" dirty="0">
                <a:latin typeface="+mn-lt"/>
              </a:rPr>
              <a:t>як </a:t>
            </a:r>
            <a:r>
              <a:rPr lang="ru-RU" dirty="0" err="1">
                <a:latin typeface="+mn-lt"/>
              </a:rPr>
              <a:t>відношення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об'єктів</a:t>
            </a:r>
            <a:r>
              <a:rPr lang="ru-RU" dirty="0">
                <a:latin typeface="+mn-lt"/>
              </a:rPr>
              <a:t>, правильно </a:t>
            </a:r>
            <a:r>
              <a:rPr lang="ru-RU" dirty="0" err="1">
                <a:latin typeface="+mn-lt"/>
              </a:rPr>
              <a:t>класифікованих</a:t>
            </a:r>
            <a:r>
              <a:rPr lang="ru-RU" dirty="0">
                <a:latin typeface="+mn-lt"/>
              </a:rPr>
              <a:t> в </a:t>
            </a:r>
            <a:r>
              <a:rPr lang="ru-RU" dirty="0" err="1">
                <a:latin typeface="+mn-lt"/>
              </a:rPr>
              <a:t>процесі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навчання</a:t>
            </a:r>
            <a:r>
              <a:rPr lang="ru-RU" dirty="0">
                <a:latin typeface="+mn-lt"/>
              </a:rPr>
              <a:t>, до </a:t>
            </a:r>
            <a:r>
              <a:rPr lang="ru-RU" dirty="0" err="1">
                <a:latin typeface="+mn-lt"/>
              </a:rPr>
              <a:t>загальної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кількості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об'єктів</a:t>
            </a:r>
            <a:r>
              <a:rPr lang="ru-RU" dirty="0">
                <a:latin typeface="+mn-lt"/>
              </a:rPr>
              <a:t> набору </a:t>
            </a:r>
            <a:r>
              <a:rPr lang="ru-RU" dirty="0" err="1">
                <a:latin typeface="+mn-lt"/>
              </a:rPr>
              <a:t>даних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які</a:t>
            </a:r>
            <a:r>
              <a:rPr lang="ru-RU" dirty="0">
                <a:latin typeface="+mn-lt"/>
              </a:rPr>
              <a:t> брали участь у </a:t>
            </a:r>
            <a:r>
              <a:rPr lang="ru-RU" dirty="0" err="1">
                <a:latin typeface="+mn-lt"/>
              </a:rPr>
              <a:t>навчанні</a:t>
            </a:r>
            <a:r>
              <a:rPr lang="ru-RU" dirty="0">
                <a:latin typeface="+mn-lt"/>
              </a:rPr>
              <a:t>.</a:t>
            </a:r>
          </a:p>
          <a:p>
            <a:pPr algn="l"/>
            <a:r>
              <a:rPr lang="ru-RU" b="1" dirty="0" err="1">
                <a:solidFill>
                  <a:srgbClr val="0000CC"/>
                </a:solidFill>
                <a:latin typeface="+mn-lt"/>
              </a:rPr>
              <a:t>Помилка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dirty="0" err="1">
                <a:latin typeface="+mn-lt"/>
              </a:rPr>
              <a:t>розраховується</a:t>
            </a:r>
            <a:r>
              <a:rPr lang="ru-RU" dirty="0">
                <a:latin typeface="+mn-lt"/>
              </a:rPr>
              <a:t> як </a:t>
            </a:r>
            <a:r>
              <a:rPr lang="ru-RU" dirty="0" err="1">
                <a:latin typeface="+mn-lt"/>
              </a:rPr>
              <a:t>відношення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об'єктів</a:t>
            </a:r>
            <a:r>
              <a:rPr lang="ru-RU" dirty="0">
                <a:latin typeface="+mn-lt"/>
              </a:rPr>
              <a:t>, неправильно </a:t>
            </a:r>
            <a:r>
              <a:rPr lang="ru-RU" dirty="0" err="1">
                <a:latin typeface="+mn-lt"/>
              </a:rPr>
              <a:t>класифікованих</a:t>
            </a:r>
            <a:r>
              <a:rPr lang="ru-RU" dirty="0">
                <a:latin typeface="+mn-lt"/>
              </a:rPr>
              <a:t> в </a:t>
            </a:r>
            <a:r>
              <a:rPr lang="ru-RU" dirty="0" err="1">
                <a:latin typeface="+mn-lt"/>
              </a:rPr>
              <a:t>процесі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навчання</a:t>
            </a:r>
            <a:r>
              <a:rPr lang="ru-RU" dirty="0">
                <a:latin typeface="+mn-lt"/>
              </a:rPr>
              <a:t>, до </a:t>
            </a:r>
            <a:r>
              <a:rPr lang="ru-RU" dirty="0" err="1">
                <a:latin typeface="+mn-lt"/>
              </a:rPr>
              <a:t>загальної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кількості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об'єктів</a:t>
            </a:r>
            <a:r>
              <a:rPr lang="ru-RU" dirty="0">
                <a:latin typeface="+mn-lt"/>
              </a:rPr>
              <a:t> набору </a:t>
            </a:r>
            <a:r>
              <a:rPr lang="ru-RU" dirty="0" err="1">
                <a:latin typeface="+mn-lt"/>
              </a:rPr>
              <a:t>даних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які</a:t>
            </a:r>
            <a:r>
              <a:rPr lang="ru-RU" dirty="0">
                <a:latin typeface="+mn-lt"/>
              </a:rPr>
              <a:t> брали участь у </a:t>
            </a:r>
            <a:r>
              <a:rPr lang="ru-RU" dirty="0" err="1">
                <a:latin typeface="+mn-lt"/>
              </a:rPr>
              <a:t>навчанні</a:t>
            </a:r>
            <a:r>
              <a:rPr lang="ru-RU" dirty="0"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6832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99" name="Rectangle 3"/>
          <p:cNvSpPr>
            <a:spLocks noChangeArrowheads="1"/>
          </p:cNvSpPr>
          <p:nvPr/>
        </p:nvSpPr>
        <p:spPr bwMode="auto">
          <a:xfrm>
            <a:off x="757656" y="1006316"/>
            <a:ext cx="767084" cy="449750"/>
          </a:xfrm>
          <a:prstGeom prst="rect">
            <a:avLst/>
          </a:prstGeom>
          <a:solidFill>
            <a:srgbClr val="FFFFFF"/>
          </a:solidFill>
          <a:ln w="25400">
            <a:solidFill>
              <a:srgbClr val="33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25" dirty="0">
                <a:latin typeface="Times New Roman" charset="0"/>
              </a:rPr>
              <a:t>Don’t </a:t>
            </a:r>
          </a:p>
          <a:p>
            <a:pPr algn="ctr"/>
            <a:r>
              <a:rPr lang="en-US" sz="1425" dirty="0">
                <a:latin typeface="Times New Roman" charset="0"/>
              </a:rPr>
              <a:t>Cheat</a:t>
            </a:r>
            <a:endParaRPr lang="en-US" sz="1800" dirty="0">
              <a:latin typeface="Times New Roman" charset="0"/>
            </a:endParaRPr>
          </a:p>
        </p:txBody>
      </p:sp>
      <p:grpSp>
        <p:nvGrpSpPr>
          <p:cNvPr id="900100" name="Group 4"/>
          <p:cNvGrpSpPr>
            <a:grpSpLocks/>
          </p:cNvGrpSpPr>
          <p:nvPr/>
        </p:nvGrpSpPr>
        <p:grpSpPr bwMode="auto">
          <a:xfrm>
            <a:off x="1931881" y="853082"/>
            <a:ext cx="1758553" cy="1071563"/>
            <a:chOff x="624" y="720"/>
            <a:chExt cx="1477" cy="900"/>
          </a:xfrm>
        </p:grpSpPr>
        <p:grpSp>
          <p:nvGrpSpPr>
            <p:cNvPr id="900101" name="Group 5"/>
            <p:cNvGrpSpPr>
              <a:grpSpLocks/>
            </p:cNvGrpSpPr>
            <p:nvPr/>
          </p:nvGrpSpPr>
          <p:grpSpPr bwMode="auto">
            <a:xfrm>
              <a:off x="864" y="720"/>
              <a:ext cx="1237" cy="900"/>
              <a:chOff x="480" y="2640"/>
              <a:chExt cx="1237" cy="900"/>
            </a:xfrm>
          </p:grpSpPr>
          <p:sp>
            <p:nvSpPr>
              <p:cNvPr id="900102" name="Oval 6"/>
              <p:cNvSpPr>
                <a:spLocks noChangeArrowheads="1"/>
              </p:cNvSpPr>
              <p:nvPr/>
            </p:nvSpPr>
            <p:spPr bwMode="auto">
              <a:xfrm>
                <a:off x="807" y="2640"/>
                <a:ext cx="436" cy="272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1200">
                    <a:solidFill>
                      <a:srgbClr val="0033CC"/>
                    </a:solidFill>
                    <a:latin typeface="Times New Roman" charset="0"/>
                  </a:rPr>
                  <a:t>Refund</a:t>
                </a:r>
                <a:endParaRPr lang="en-US" sz="1200">
                  <a:latin typeface="Times New Roman" charset="0"/>
                </a:endParaRPr>
              </a:p>
            </p:txBody>
          </p:sp>
          <p:sp>
            <p:nvSpPr>
              <p:cNvPr id="900103" name="Line 7"/>
              <p:cNvSpPr>
                <a:spLocks noChangeShapeType="1"/>
              </p:cNvSpPr>
              <p:nvPr/>
            </p:nvSpPr>
            <p:spPr bwMode="auto">
              <a:xfrm flipH="1">
                <a:off x="661" y="2912"/>
                <a:ext cx="364" cy="224"/>
              </a:xfrm>
              <a:prstGeom prst="line">
                <a:avLst/>
              </a:prstGeom>
              <a:noFill/>
              <a:ln w="254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25"/>
              </a:p>
            </p:txBody>
          </p:sp>
          <p:sp>
            <p:nvSpPr>
              <p:cNvPr id="900104" name="Line 8"/>
              <p:cNvSpPr>
                <a:spLocks noChangeShapeType="1"/>
              </p:cNvSpPr>
              <p:nvPr/>
            </p:nvSpPr>
            <p:spPr bwMode="auto">
              <a:xfrm>
                <a:off x="1025" y="2912"/>
                <a:ext cx="363" cy="224"/>
              </a:xfrm>
              <a:prstGeom prst="line">
                <a:avLst/>
              </a:prstGeom>
              <a:noFill/>
              <a:ln w="254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25"/>
              </a:p>
            </p:txBody>
          </p:sp>
          <p:sp>
            <p:nvSpPr>
              <p:cNvPr id="900105" name="Rectangle 9"/>
              <p:cNvSpPr>
                <a:spLocks noChangeArrowheads="1"/>
              </p:cNvSpPr>
              <p:nvPr/>
            </p:nvSpPr>
            <p:spPr bwMode="auto">
              <a:xfrm>
                <a:off x="480" y="3136"/>
                <a:ext cx="529" cy="404"/>
              </a:xfrm>
              <a:prstGeom prst="rect">
                <a:avLst/>
              </a:prstGeom>
              <a:solidFill>
                <a:srgbClr val="FFFFFF"/>
              </a:solidFill>
              <a:ln w="50800" cmpd="thickThin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1425" dirty="0">
                    <a:latin typeface="Times New Roman" charset="0"/>
                  </a:rPr>
                  <a:t>Don’t </a:t>
                </a:r>
              </a:p>
              <a:p>
                <a:pPr algn="ctr"/>
                <a:r>
                  <a:rPr lang="en-US" sz="1425" dirty="0">
                    <a:latin typeface="Times New Roman" charset="0"/>
                  </a:rPr>
                  <a:t>Cheat</a:t>
                </a:r>
                <a:endParaRPr lang="en-US" sz="1350" dirty="0">
                  <a:latin typeface="Times New Roman" charset="0"/>
                </a:endParaRPr>
              </a:p>
            </p:txBody>
          </p:sp>
          <p:sp>
            <p:nvSpPr>
              <p:cNvPr id="900106" name="Rectangle 10"/>
              <p:cNvSpPr>
                <a:spLocks noChangeArrowheads="1"/>
              </p:cNvSpPr>
              <p:nvPr/>
            </p:nvSpPr>
            <p:spPr bwMode="auto">
              <a:xfrm>
                <a:off x="1243" y="3136"/>
                <a:ext cx="474" cy="362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3366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1425" dirty="0">
                    <a:latin typeface="Times New Roman" charset="0"/>
                  </a:rPr>
                  <a:t>Don’t </a:t>
                </a:r>
              </a:p>
              <a:p>
                <a:pPr algn="ctr"/>
                <a:r>
                  <a:rPr lang="en-US" sz="1425" dirty="0">
                    <a:latin typeface="Times New Roman" charset="0"/>
                  </a:rPr>
                  <a:t>Cheat</a:t>
                </a:r>
                <a:endParaRPr lang="en-US" sz="1800" dirty="0">
                  <a:latin typeface="Times New Roman" charset="0"/>
                </a:endParaRPr>
              </a:p>
            </p:txBody>
          </p:sp>
          <p:sp>
            <p:nvSpPr>
              <p:cNvPr id="900107" name="Text Box 11"/>
              <p:cNvSpPr txBox="1">
                <a:spLocks noChangeArrowheads="1"/>
              </p:cNvSpPr>
              <p:nvPr/>
            </p:nvSpPr>
            <p:spPr bwMode="auto">
              <a:xfrm>
                <a:off x="545" y="2834"/>
                <a:ext cx="361" cy="2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sz="1425">
                    <a:solidFill>
                      <a:srgbClr val="0066FF"/>
                    </a:solidFill>
                  </a:rPr>
                  <a:t>Yes</a:t>
                </a:r>
                <a:endParaRPr lang="en-US" sz="1350">
                  <a:latin typeface="Times New Roman" charset="0"/>
                </a:endParaRPr>
              </a:p>
            </p:txBody>
          </p:sp>
          <p:sp>
            <p:nvSpPr>
              <p:cNvPr id="900108" name="Text Box 12"/>
              <p:cNvSpPr txBox="1">
                <a:spLocks noChangeArrowheads="1"/>
              </p:cNvSpPr>
              <p:nvPr/>
            </p:nvSpPr>
            <p:spPr bwMode="auto">
              <a:xfrm>
                <a:off x="1227" y="2834"/>
                <a:ext cx="333" cy="2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sz="1425">
                    <a:solidFill>
                      <a:srgbClr val="0066FF"/>
                    </a:solidFill>
                  </a:rPr>
                  <a:t>No</a:t>
                </a:r>
                <a:endParaRPr lang="en-US" sz="1800">
                  <a:latin typeface="Times New Roman" charset="0"/>
                </a:endParaRPr>
              </a:p>
            </p:txBody>
          </p:sp>
        </p:grpSp>
        <p:sp>
          <p:nvSpPr>
            <p:cNvPr id="900109" name="Line 13"/>
            <p:cNvSpPr>
              <a:spLocks noChangeShapeType="1"/>
            </p:cNvSpPr>
            <p:nvPr/>
          </p:nvSpPr>
          <p:spPr bwMode="auto">
            <a:xfrm flipV="1">
              <a:off x="624" y="1056"/>
              <a:ext cx="240" cy="0"/>
            </a:xfrm>
            <a:prstGeom prst="line">
              <a:avLst/>
            </a:prstGeom>
            <a:noFill/>
            <a:ln w="76200" cmpd="tri">
              <a:solidFill>
                <a:srgbClr val="CC3300"/>
              </a:solidFill>
              <a:round/>
              <a:headEnd/>
              <a:tailEnd type="arrow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25"/>
            </a:p>
          </p:txBody>
        </p:sp>
      </p:grpSp>
      <p:grpSp>
        <p:nvGrpSpPr>
          <p:cNvPr id="900110" name="Group 14"/>
          <p:cNvGrpSpPr>
            <a:grpSpLocks/>
          </p:cNvGrpSpPr>
          <p:nvPr/>
        </p:nvGrpSpPr>
        <p:grpSpPr bwMode="auto">
          <a:xfrm>
            <a:off x="3359290" y="1922263"/>
            <a:ext cx="2572941" cy="2852225"/>
            <a:chOff x="1536" y="1920"/>
            <a:chExt cx="2161" cy="2075"/>
          </a:xfrm>
        </p:grpSpPr>
        <p:grpSp>
          <p:nvGrpSpPr>
            <p:cNvPr id="900111" name="Group 15"/>
            <p:cNvGrpSpPr>
              <a:grpSpLocks/>
            </p:cNvGrpSpPr>
            <p:nvPr/>
          </p:nvGrpSpPr>
          <p:grpSpPr bwMode="auto">
            <a:xfrm>
              <a:off x="1657" y="1920"/>
              <a:ext cx="2040" cy="2075"/>
              <a:chOff x="3673" y="1824"/>
              <a:chExt cx="2040" cy="2075"/>
            </a:xfrm>
          </p:grpSpPr>
          <p:sp>
            <p:nvSpPr>
              <p:cNvPr id="900112" name="Oval 16"/>
              <p:cNvSpPr>
                <a:spLocks noChangeArrowheads="1"/>
              </p:cNvSpPr>
              <p:nvPr/>
            </p:nvSpPr>
            <p:spPr bwMode="auto">
              <a:xfrm>
                <a:off x="4311" y="1824"/>
                <a:ext cx="437" cy="283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1200">
                    <a:latin typeface="Times New Roman" charset="0"/>
                  </a:rPr>
                  <a:t>Refund</a:t>
                </a:r>
                <a:endParaRPr lang="en-US" sz="1425">
                  <a:latin typeface="Times New Roman" charset="0"/>
                </a:endParaRPr>
              </a:p>
            </p:txBody>
          </p:sp>
          <p:sp>
            <p:nvSpPr>
              <p:cNvPr id="900113" name="Line 17"/>
              <p:cNvSpPr>
                <a:spLocks noChangeShapeType="1"/>
              </p:cNvSpPr>
              <p:nvPr/>
            </p:nvSpPr>
            <p:spPr bwMode="auto">
              <a:xfrm flipH="1">
                <a:off x="4166" y="2107"/>
                <a:ext cx="364" cy="2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25"/>
              </a:p>
            </p:txBody>
          </p:sp>
          <p:sp>
            <p:nvSpPr>
              <p:cNvPr id="900114" name="Line 18"/>
              <p:cNvSpPr>
                <a:spLocks noChangeShapeType="1"/>
              </p:cNvSpPr>
              <p:nvPr/>
            </p:nvSpPr>
            <p:spPr bwMode="auto">
              <a:xfrm>
                <a:off x="4530" y="2107"/>
                <a:ext cx="363" cy="2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25"/>
              </a:p>
            </p:txBody>
          </p:sp>
          <p:sp>
            <p:nvSpPr>
              <p:cNvPr id="900115" name="Rectangle 19"/>
              <p:cNvSpPr>
                <a:spLocks noChangeArrowheads="1"/>
              </p:cNvSpPr>
              <p:nvPr/>
            </p:nvSpPr>
            <p:spPr bwMode="auto">
              <a:xfrm>
                <a:off x="3838" y="2331"/>
                <a:ext cx="510" cy="353"/>
              </a:xfrm>
              <a:prstGeom prst="rect">
                <a:avLst/>
              </a:prstGeom>
              <a:solidFill>
                <a:srgbClr val="FFFFFF"/>
              </a:solidFill>
              <a:ln w="50800" cmpd="thickThin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1425" dirty="0">
                    <a:latin typeface="Times New Roman" charset="0"/>
                  </a:rPr>
                  <a:t>Don’t </a:t>
                </a:r>
              </a:p>
              <a:p>
                <a:pPr algn="ctr"/>
                <a:r>
                  <a:rPr lang="en-US" sz="1425" dirty="0">
                    <a:latin typeface="Times New Roman" charset="0"/>
                  </a:rPr>
                  <a:t>Cheat</a:t>
                </a:r>
                <a:endParaRPr lang="en-US" sz="1800" dirty="0">
                  <a:latin typeface="Times New Roman" charset="0"/>
                </a:endParaRPr>
              </a:p>
            </p:txBody>
          </p:sp>
          <p:sp>
            <p:nvSpPr>
              <p:cNvPr id="900116" name="Text Box 20"/>
              <p:cNvSpPr txBox="1">
                <a:spLocks noChangeArrowheads="1"/>
              </p:cNvSpPr>
              <p:nvPr/>
            </p:nvSpPr>
            <p:spPr bwMode="auto">
              <a:xfrm>
                <a:off x="4049" y="2027"/>
                <a:ext cx="361" cy="2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sz="1425"/>
                  <a:t>Yes</a:t>
                </a:r>
                <a:endParaRPr lang="en-US" sz="1800">
                  <a:latin typeface="Times New Roman" charset="0"/>
                </a:endParaRPr>
              </a:p>
            </p:txBody>
          </p:sp>
          <p:sp>
            <p:nvSpPr>
              <p:cNvPr id="900117" name="Text Box 21"/>
              <p:cNvSpPr txBox="1">
                <a:spLocks noChangeArrowheads="1"/>
              </p:cNvSpPr>
              <p:nvPr/>
            </p:nvSpPr>
            <p:spPr bwMode="auto">
              <a:xfrm>
                <a:off x="4732" y="2027"/>
                <a:ext cx="333" cy="2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sz="1425"/>
                  <a:t>No</a:t>
                </a:r>
                <a:endParaRPr lang="en-US" sz="1800">
                  <a:latin typeface="Times New Roman" charset="0"/>
                </a:endParaRPr>
              </a:p>
            </p:txBody>
          </p:sp>
          <p:sp>
            <p:nvSpPr>
              <p:cNvPr id="900118" name="Oval 22"/>
              <p:cNvSpPr>
                <a:spLocks noChangeArrowheads="1"/>
              </p:cNvSpPr>
              <p:nvPr/>
            </p:nvSpPr>
            <p:spPr bwMode="auto">
              <a:xfrm>
                <a:off x="4639" y="2331"/>
                <a:ext cx="545" cy="373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1200">
                    <a:latin typeface="Times New Roman" charset="0"/>
                  </a:rPr>
                  <a:t>Marital</a:t>
                </a:r>
              </a:p>
              <a:p>
                <a:pPr algn="ctr"/>
                <a:r>
                  <a:rPr lang="en-US" sz="1200">
                    <a:latin typeface="Times New Roman" charset="0"/>
                  </a:rPr>
                  <a:t>Status</a:t>
                </a:r>
                <a:endParaRPr lang="en-US" sz="1350">
                  <a:latin typeface="Times New Roman" charset="0"/>
                </a:endParaRPr>
              </a:p>
            </p:txBody>
          </p:sp>
          <p:sp>
            <p:nvSpPr>
              <p:cNvPr id="900119" name="Line 23"/>
              <p:cNvSpPr>
                <a:spLocks noChangeShapeType="1"/>
              </p:cNvSpPr>
              <p:nvPr/>
            </p:nvSpPr>
            <p:spPr bwMode="auto">
              <a:xfrm flipH="1">
                <a:off x="4464" y="2704"/>
                <a:ext cx="465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25"/>
              </a:p>
            </p:txBody>
          </p:sp>
          <p:sp>
            <p:nvSpPr>
              <p:cNvPr id="900120" name="Line 24"/>
              <p:cNvSpPr>
                <a:spLocks noChangeShapeType="1"/>
              </p:cNvSpPr>
              <p:nvPr/>
            </p:nvSpPr>
            <p:spPr bwMode="auto">
              <a:xfrm>
                <a:off x="4929" y="2704"/>
                <a:ext cx="400" cy="26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25"/>
              </a:p>
            </p:txBody>
          </p:sp>
          <p:sp>
            <p:nvSpPr>
              <p:cNvPr id="900121" name="Rectangle 25"/>
              <p:cNvSpPr>
                <a:spLocks noChangeArrowheads="1"/>
              </p:cNvSpPr>
              <p:nvPr/>
            </p:nvSpPr>
            <p:spPr bwMode="auto">
              <a:xfrm>
                <a:off x="5148" y="2965"/>
                <a:ext cx="565" cy="421"/>
              </a:xfrm>
              <a:prstGeom prst="rect">
                <a:avLst/>
              </a:prstGeom>
              <a:solidFill>
                <a:srgbClr val="FFFFFF"/>
              </a:solidFill>
              <a:ln w="50800" cmpd="thickThin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1425" dirty="0">
                    <a:latin typeface="Times New Roman" charset="0"/>
                  </a:rPr>
                  <a:t>Don’t </a:t>
                </a:r>
              </a:p>
              <a:p>
                <a:pPr algn="ctr"/>
                <a:r>
                  <a:rPr lang="en-US" sz="1425" dirty="0">
                    <a:latin typeface="Times New Roman" charset="0"/>
                  </a:rPr>
                  <a:t>Cheat</a:t>
                </a:r>
                <a:endParaRPr lang="en-US" sz="1800" dirty="0">
                  <a:latin typeface="Times New Roman" charset="0"/>
                </a:endParaRPr>
              </a:p>
            </p:txBody>
          </p:sp>
          <p:sp>
            <p:nvSpPr>
              <p:cNvPr id="900122" name="Rectangle 26"/>
              <p:cNvSpPr>
                <a:spLocks noChangeArrowheads="1"/>
              </p:cNvSpPr>
              <p:nvPr/>
            </p:nvSpPr>
            <p:spPr bwMode="auto">
              <a:xfrm>
                <a:off x="4704" y="3600"/>
                <a:ext cx="364" cy="262"/>
              </a:xfrm>
              <a:prstGeom prst="rect">
                <a:avLst/>
              </a:prstGeom>
              <a:solidFill>
                <a:srgbClr val="FFFFFF"/>
              </a:solidFill>
              <a:ln w="50800" cmpd="thickThin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1200">
                    <a:latin typeface="Times New Roman" charset="0"/>
                  </a:rPr>
                  <a:t>Cheat</a:t>
                </a:r>
                <a:endParaRPr lang="en-US" sz="1800">
                  <a:latin typeface="Times New Roman" charset="0"/>
                </a:endParaRPr>
              </a:p>
            </p:txBody>
          </p:sp>
          <p:sp>
            <p:nvSpPr>
              <p:cNvPr id="900123" name="Text Box 27"/>
              <p:cNvSpPr txBox="1">
                <a:spLocks noChangeArrowheads="1"/>
              </p:cNvSpPr>
              <p:nvPr/>
            </p:nvSpPr>
            <p:spPr bwMode="auto">
              <a:xfrm>
                <a:off x="4016" y="2608"/>
                <a:ext cx="700" cy="4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sz="1425" dirty="0"/>
                  <a:t>Single,</a:t>
                </a:r>
              </a:p>
              <a:p>
                <a:pPr algn="ctr"/>
                <a:r>
                  <a:rPr lang="en-US" sz="1425" dirty="0"/>
                  <a:t>Divorced</a:t>
                </a:r>
                <a:endParaRPr lang="en-US" sz="1350" dirty="0"/>
              </a:p>
            </p:txBody>
          </p:sp>
          <p:sp>
            <p:nvSpPr>
              <p:cNvPr id="900124" name="Text Box 28"/>
              <p:cNvSpPr txBox="1">
                <a:spLocks noChangeArrowheads="1"/>
              </p:cNvSpPr>
              <p:nvPr/>
            </p:nvSpPr>
            <p:spPr bwMode="auto">
              <a:xfrm>
                <a:off x="5062" y="2653"/>
                <a:ext cx="651" cy="2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sz="1425"/>
                  <a:t>Married</a:t>
                </a:r>
                <a:endParaRPr lang="en-US" sz="1350"/>
              </a:p>
            </p:txBody>
          </p:sp>
          <p:sp>
            <p:nvSpPr>
              <p:cNvPr id="900125" name="Oval 29"/>
              <p:cNvSpPr>
                <a:spLocks noChangeArrowheads="1"/>
              </p:cNvSpPr>
              <p:nvPr/>
            </p:nvSpPr>
            <p:spPr bwMode="auto">
              <a:xfrm>
                <a:off x="4080" y="2976"/>
                <a:ext cx="768" cy="384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1200">
                    <a:solidFill>
                      <a:srgbClr val="0033CC"/>
                    </a:solidFill>
                    <a:latin typeface="Times New Roman" charset="0"/>
                  </a:rPr>
                  <a:t>Taxable</a:t>
                </a:r>
              </a:p>
              <a:p>
                <a:pPr algn="ctr"/>
                <a:r>
                  <a:rPr lang="en-US" sz="1200">
                    <a:solidFill>
                      <a:srgbClr val="0033CC"/>
                    </a:solidFill>
                    <a:latin typeface="Times New Roman" charset="0"/>
                  </a:rPr>
                  <a:t>Income</a:t>
                </a:r>
                <a:endParaRPr lang="en-US" sz="1800">
                  <a:latin typeface="Times New Roman" charset="0"/>
                </a:endParaRPr>
              </a:p>
            </p:txBody>
          </p:sp>
          <p:sp>
            <p:nvSpPr>
              <p:cNvPr id="900126" name="Rectangle 30"/>
              <p:cNvSpPr>
                <a:spLocks noChangeArrowheads="1"/>
              </p:cNvSpPr>
              <p:nvPr/>
            </p:nvSpPr>
            <p:spPr bwMode="auto">
              <a:xfrm>
                <a:off x="3673" y="3600"/>
                <a:ext cx="530" cy="299"/>
              </a:xfrm>
              <a:prstGeom prst="rect">
                <a:avLst/>
              </a:prstGeom>
              <a:solidFill>
                <a:srgbClr val="FFFFFF"/>
              </a:solidFill>
              <a:ln w="50800" cmpd="thickThin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1425" dirty="0">
                    <a:latin typeface="Times New Roman" charset="0"/>
                  </a:rPr>
                  <a:t>Don’t </a:t>
                </a:r>
              </a:p>
              <a:p>
                <a:pPr algn="ctr"/>
                <a:r>
                  <a:rPr lang="en-US" sz="1425" dirty="0">
                    <a:latin typeface="Times New Roman" charset="0"/>
                  </a:rPr>
                  <a:t>Cheat</a:t>
                </a:r>
                <a:endParaRPr lang="en-US" sz="1800" dirty="0">
                  <a:latin typeface="Times New Roman" charset="0"/>
                </a:endParaRPr>
              </a:p>
            </p:txBody>
          </p:sp>
          <p:sp>
            <p:nvSpPr>
              <p:cNvPr id="900127" name="Line 31"/>
              <p:cNvSpPr>
                <a:spLocks noChangeShapeType="1"/>
              </p:cNvSpPr>
              <p:nvPr/>
            </p:nvSpPr>
            <p:spPr bwMode="auto">
              <a:xfrm flipH="1">
                <a:off x="4032" y="3360"/>
                <a:ext cx="432" cy="240"/>
              </a:xfrm>
              <a:prstGeom prst="line">
                <a:avLst/>
              </a:prstGeom>
              <a:noFill/>
              <a:ln w="254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25"/>
              </a:p>
            </p:txBody>
          </p:sp>
          <p:sp>
            <p:nvSpPr>
              <p:cNvPr id="900128" name="Line 32"/>
              <p:cNvSpPr>
                <a:spLocks noChangeShapeType="1"/>
              </p:cNvSpPr>
              <p:nvPr/>
            </p:nvSpPr>
            <p:spPr bwMode="auto">
              <a:xfrm>
                <a:off x="4464" y="3360"/>
                <a:ext cx="432" cy="240"/>
              </a:xfrm>
              <a:prstGeom prst="line">
                <a:avLst/>
              </a:prstGeom>
              <a:noFill/>
              <a:ln w="254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25"/>
              </a:p>
            </p:txBody>
          </p:sp>
          <p:sp>
            <p:nvSpPr>
              <p:cNvPr id="900129" name="Text Box 33"/>
              <p:cNvSpPr txBox="1">
                <a:spLocks noChangeArrowheads="1"/>
              </p:cNvSpPr>
              <p:nvPr/>
            </p:nvSpPr>
            <p:spPr bwMode="auto">
              <a:xfrm>
                <a:off x="3798" y="3325"/>
                <a:ext cx="501" cy="2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sz="1425">
                    <a:solidFill>
                      <a:srgbClr val="0066FF"/>
                    </a:solidFill>
                  </a:rPr>
                  <a:t>&lt; 80K</a:t>
                </a:r>
                <a:endParaRPr lang="en-US" sz="1350"/>
              </a:p>
            </p:txBody>
          </p:sp>
          <p:sp>
            <p:nvSpPr>
              <p:cNvPr id="900130" name="Text Box 34"/>
              <p:cNvSpPr txBox="1">
                <a:spLocks noChangeArrowheads="1"/>
              </p:cNvSpPr>
              <p:nvPr/>
            </p:nvSpPr>
            <p:spPr bwMode="auto">
              <a:xfrm>
                <a:off x="4656" y="3325"/>
                <a:ext cx="578" cy="2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sz="1425">
                    <a:solidFill>
                      <a:srgbClr val="0066FF"/>
                    </a:solidFill>
                  </a:rPr>
                  <a:t>&gt;= 80K</a:t>
                </a:r>
                <a:endParaRPr lang="en-US" sz="1350">
                  <a:solidFill>
                    <a:srgbClr val="0066FF"/>
                  </a:solidFill>
                </a:endParaRPr>
              </a:p>
            </p:txBody>
          </p:sp>
        </p:grpSp>
        <p:sp>
          <p:nvSpPr>
            <p:cNvPr id="900131" name="Line 35"/>
            <p:cNvSpPr>
              <a:spLocks noChangeShapeType="1"/>
            </p:cNvSpPr>
            <p:nvPr/>
          </p:nvSpPr>
          <p:spPr bwMode="auto">
            <a:xfrm rot="-2664477">
              <a:off x="1536" y="2400"/>
              <a:ext cx="192" cy="192"/>
            </a:xfrm>
            <a:prstGeom prst="line">
              <a:avLst/>
            </a:prstGeom>
            <a:noFill/>
            <a:ln w="76200" cmpd="tri">
              <a:solidFill>
                <a:srgbClr val="CC3300"/>
              </a:solidFill>
              <a:round/>
              <a:headEnd/>
              <a:tailEnd type="arrow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25"/>
            </a:p>
          </p:txBody>
        </p:sp>
      </p:grpSp>
      <p:grpSp>
        <p:nvGrpSpPr>
          <p:cNvPr id="900132" name="Group 36"/>
          <p:cNvGrpSpPr>
            <a:grpSpLocks/>
          </p:cNvGrpSpPr>
          <p:nvPr/>
        </p:nvGrpSpPr>
        <p:grpSpPr bwMode="auto">
          <a:xfrm>
            <a:off x="309564" y="2201537"/>
            <a:ext cx="2425303" cy="2053828"/>
            <a:chOff x="-251" y="1757"/>
            <a:chExt cx="2037" cy="1725"/>
          </a:xfrm>
        </p:grpSpPr>
        <p:grpSp>
          <p:nvGrpSpPr>
            <p:cNvPr id="900133" name="Group 37"/>
            <p:cNvGrpSpPr>
              <a:grpSpLocks/>
            </p:cNvGrpSpPr>
            <p:nvPr/>
          </p:nvGrpSpPr>
          <p:grpSpPr bwMode="auto">
            <a:xfrm>
              <a:off x="-251" y="1968"/>
              <a:ext cx="2037" cy="1514"/>
              <a:chOff x="1717" y="1824"/>
              <a:chExt cx="2037" cy="1514"/>
            </a:xfrm>
          </p:grpSpPr>
          <p:grpSp>
            <p:nvGrpSpPr>
              <p:cNvPr id="900134" name="Group 38"/>
              <p:cNvGrpSpPr>
                <a:grpSpLocks/>
              </p:cNvGrpSpPr>
              <p:nvPr/>
            </p:nvGrpSpPr>
            <p:grpSpPr bwMode="auto">
              <a:xfrm>
                <a:off x="1717" y="1824"/>
                <a:ext cx="2001" cy="1514"/>
                <a:chOff x="1717" y="1968"/>
                <a:chExt cx="2001" cy="1514"/>
              </a:xfrm>
            </p:grpSpPr>
            <p:sp>
              <p:nvSpPr>
                <p:cNvPr id="900135" name="Oval 39"/>
                <p:cNvSpPr>
                  <a:spLocks noChangeArrowheads="1"/>
                </p:cNvSpPr>
                <p:nvPr/>
              </p:nvSpPr>
              <p:spPr bwMode="auto">
                <a:xfrm>
                  <a:off x="2343" y="1968"/>
                  <a:ext cx="437" cy="283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sz="1200" dirty="0">
                      <a:latin typeface="Times New Roman" charset="0"/>
                    </a:rPr>
                    <a:t>Refund</a:t>
                  </a:r>
                  <a:endParaRPr lang="en-US" sz="1425" dirty="0">
                    <a:latin typeface="Times New Roman" charset="0"/>
                  </a:endParaRPr>
                </a:p>
              </p:txBody>
            </p:sp>
            <p:sp>
              <p:nvSpPr>
                <p:cNvPr id="900136" name="Line 40"/>
                <p:cNvSpPr>
                  <a:spLocks noChangeShapeType="1"/>
                </p:cNvSpPr>
                <p:nvPr/>
              </p:nvSpPr>
              <p:spPr bwMode="auto">
                <a:xfrm flipH="1">
                  <a:off x="2198" y="2251"/>
                  <a:ext cx="364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425"/>
                </a:p>
              </p:txBody>
            </p:sp>
            <p:sp>
              <p:nvSpPr>
                <p:cNvPr id="900137" name="Line 41"/>
                <p:cNvSpPr>
                  <a:spLocks noChangeShapeType="1"/>
                </p:cNvSpPr>
                <p:nvPr/>
              </p:nvSpPr>
              <p:spPr bwMode="auto">
                <a:xfrm>
                  <a:off x="2562" y="2251"/>
                  <a:ext cx="363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425"/>
                </a:p>
              </p:txBody>
            </p:sp>
            <p:sp>
              <p:nvSpPr>
                <p:cNvPr id="900138" name="Rectangle 42"/>
                <p:cNvSpPr>
                  <a:spLocks noChangeArrowheads="1"/>
                </p:cNvSpPr>
                <p:nvPr/>
              </p:nvSpPr>
              <p:spPr bwMode="auto">
                <a:xfrm>
                  <a:off x="1717" y="2475"/>
                  <a:ext cx="663" cy="325"/>
                </a:xfrm>
                <a:prstGeom prst="rect">
                  <a:avLst/>
                </a:prstGeom>
                <a:solidFill>
                  <a:srgbClr val="FFFFFF"/>
                </a:solidFill>
                <a:ln w="50800" cmpd="thickThin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sz="1425" dirty="0">
                      <a:latin typeface="Times New Roman" charset="0"/>
                    </a:rPr>
                    <a:t>Don’t </a:t>
                  </a:r>
                </a:p>
                <a:p>
                  <a:pPr algn="ctr"/>
                  <a:r>
                    <a:rPr lang="en-US" sz="1425" dirty="0">
                      <a:latin typeface="Times New Roman" charset="0"/>
                    </a:rPr>
                    <a:t>Cheat</a:t>
                  </a:r>
                  <a:endParaRPr lang="en-US" sz="1800" dirty="0">
                    <a:latin typeface="Times New Roman" charset="0"/>
                  </a:endParaRPr>
                </a:p>
              </p:txBody>
            </p:sp>
            <p:sp>
              <p:nvSpPr>
                <p:cNvPr id="900139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2081" y="2171"/>
                  <a:ext cx="361" cy="2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sz="1425"/>
                    <a:t>Yes</a:t>
                  </a:r>
                  <a:endParaRPr lang="en-US" sz="1800">
                    <a:latin typeface="Times New Roman" charset="0"/>
                  </a:endParaRPr>
                </a:p>
              </p:txBody>
            </p:sp>
            <p:sp>
              <p:nvSpPr>
                <p:cNvPr id="900140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2764" y="2171"/>
                  <a:ext cx="333" cy="2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sz="1425"/>
                    <a:t>No</a:t>
                  </a:r>
                  <a:endParaRPr lang="en-US" sz="1800">
                    <a:latin typeface="Times New Roman" charset="0"/>
                  </a:endParaRPr>
                </a:p>
              </p:txBody>
            </p:sp>
            <p:sp>
              <p:nvSpPr>
                <p:cNvPr id="900141" name="Oval 45"/>
                <p:cNvSpPr>
                  <a:spLocks noChangeArrowheads="1"/>
                </p:cNvSpPr>
                <p:nvPr/>
              </p:nvSpPr>
              <p:spPr bwMode="auto">
                <a:xfrm>
                  <a:off x="2671" y="2475"/>
                  <a:ext cx="545" cy="373"/>
                </a:xfrm>
                <a:prstGeom prst="ellipse">
                  <a:avLst/>
                </a:prstGeom>
                <a:solidFill>
                  <a:srgbClr val="FFFFFF"/>
                </a:solidFill>
                <a:ln w="25400">
                  <a:solidFill>
                    <a:srgbClr val="3366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sz="1200">
                      <a:solidFill>
                        <a:srgbClr val="0033CC"/>
                      </a:solidFill>
                      <a:latin typeface="Times New Roman" charset="0"/>
                    </a:rPr>
                    <a:t>Marital</a:t>
                  </a:r>
                </a:p>
                <a:p>
                  <a:pPr algn="ctr"/>
                  <a:r>
                    <a:rPr lang="en-US" sz="1200">
                      <a:solidFill>
                        <a:srgbClr val="0033CC"/>
                      </a:solidFill>
                      <a:latin typeface="Times New Roman" charset="0"/>
                    </a:rPr>
                    <a:t>Status</a:t>
                  </a:r>
                  <a:endParaRPr lang="en-US" sz="1350">
                    <a:latin typeface="Times New Roman" charset="0"/>
                  </a:endParaRPr>
                </a:p>
              </p:txBody>
            </p:sp>
            <p:sp>
              <p:nvSpPr>
                <p:cNvPr id="900142" name="Line 46"/>
                <p:cNvSpPr>
                  <a:spLocks noChangeShapeType="1"/>
                </p:cNvSpPr>
                <p:nvPr/>
              </p:nvSpPr>
              <p:spPr bwMode="auto">
                <a:xfrm flipH="1">
                  <a:off x="2525" y="2848"/>
                  <a:ext cx="436" cy="261"/>
                </a:xfrm>
                <a:prstGeom prst="line">
                  <a:avLst/>
                </a:prstGeom>
                <a:noFill/>
                <a:ln w="25400">
                  <a:solidFill>
                    <a:srgbClr val="3366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425"/>
                </a:p>
              </p:txBody>
            </p:sp>
            <p:sp>
              <p:nvSpPr>
                <p:cNvPr id="900143" name="Line 47"/>
                <p:cNvSpPr>
                  <a:spLocks noChangeShapeType="1"/>
                </p:cNvSpPr>
                <p:nvPr/>
              </p:nvSpPr>
              <p:spPr bwMode="auto">
                <a:xfrm>
                  <a:off x="2961" y="2848"/>
                  <a:ext cx="400" cy="261"/>
                </a:xfrm>
                <a:prstGeom prst="line">
                  <a:avLst/>
                </a:prstGeom>
                <a:noFill/>
                <a:ln w="25400">
                  <a:solidFill>
                    <a:srgbClr val="3366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425"/>
                </a:p>
              </p:txBody>
            </p:sp>
            <p:sp>
              <p:nvSpPr>
                <p:cNvPr id="900144" name="Rectangle 48"/>
                <p:cNvSpPr>
                  <a:spLocks noChangeArrowheads="1"/>
                </p:cNvSpPr>
                <p:nvPr/>
              </p:nvSpPr>
              <p:spPr bwMode="auto">
                <a:xfrm>
                  <a:off x="3180" y="3109"/>
                  <a:ext cx="538" cy="373"/>
                </a:xfrm>
                <a:prstGeom prst="rect">
                  <a:avLst/>
                </a:prstGeom>
                <a:solidFill>
                  <a:srgbClr val="FFFFFF"/>
                </a:solidFill>
                <a:ln w="50800" cmpd="thickThin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sz="1425" dirty="0">
                      <a:latin typeface="Times New Roman" charset="0"/>
                    </a:rPr>
                    <a:t>Don’t </a:t>
                  </a:r>
                </a:p>
                <a:p>
                  <a:pPr algn="ctr"/>
                  <a:r>
                    <a:rPr lang="en-US" sz="1425" dirty="0">
                      <a:latin typeface="Times New Roman" charset="0"/>
                    </a:rPr>
                    <a:t>Cheat</a:t>
                  </a:r>
                  <a:endParaRPr lang="en-US" sz="1800" dirty="0">
                    <a:latin typeface="Times New Roman" charset="0"/>
                  </a:endParaRPr>
                </a:p>
              </p:txBody>
            </p:sp>
            <p:sp>
              <p:nvSpPr>
                <p:cNvPr id="900145" name="Rectangle 49"/>
                <p:cNvSpPr>
                  <a:spLocks noChangeArrowheads="1"/>
                </p:cNvSpPr>
                <p:nvPr/>
              </p:nvSpPr>
              <p:spPr bwMode="auto">
                <a:xfrm>
                  <a:off x="2343" y="3151"/>
                  <a:ext cx="364" cy="32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sz="1200" dirty="0">
                      <a:latin typeface="Times New Roman" charset="0"/>
                    </a:rPr>
                    <a:t>Cheat</a:t>
                  </a:r>
                  <a:endParaRPr lang="en-US" sz="1800" dirty="0">
                    <a:latin typeface="Times New Roman" charset="0"/>
                  </a:endParaRPr>
                </a:p>
              </p:txBody>
            </p:sp>
            <p:sp>
              <p:nvSpPr>
                <p:cNvPr id="900146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2239" y="2740"/>
                  <a:ext cx="700" cy="4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sz="1425" dirty="0">
                      <a:solidFill>
                        <a:srgbClr val="0066FF"/>
                      </a:solidFill>
                    </a:rPr>
                    <a:t>Single,</a:t>
                  </a:r>
                </a:p>
                <a:p>
                  <a:pPr algn="ctr"/>
                  <a:r>
                    <a:rPr lang="en-US" sz="1425" dirty="0">
                      <a:solidFill>
                        <a:srgbClr val="0066FF"/>
                      </a:solidFill>
                    </a:rPr>
                    <a:t>Divorced</a:t>
                  </a:r>
                  <a:endParaRPr lang="en-US" sz="1350" dirty="0"/>
                </a:p>
              </p:txBody>
            </p:sp>
          </p:grpSp>
          <p:sp>
            <p:nvSpPr>
              <p:cNvPr id="900147" name="Text Box 51"/>
              <p:cNvSpPr txBox="1">
                <a:spLocks noChangeArrowheads="1"/>
              </p:cNvSpPr>
              <p:nvPr/>
            </p:nvSpPr>
            <p:spPr bwMode="auto">
              <a:xfrm>
                <a:off x="3103" y="2653"/>
                <a:ext cx="651" cy="2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sz="1425">
                    <a:solidFill>
                      <a:srgbClr val="0066FF"/>
                    </a:solidFill>
                  </a:rPr>
                  <a:t>Married</a:t>
                </a:r>
                <a:endParaRPr lang="en-US" sz="1350">
                  <a:solidFill>
                    <a:srgbClr val="0066FF"/>
                  </a:solidFill>
                </a:endParaRPr>
              </a:p>
            </p:txBody>
          </p:sp>
        </p:grpSp>
        <p:sp>
          <p:nvSpPr>
            <p:cNvPr id="900148" name="Line 52"/>
            <p:cNvSpPr>
              <a:spLocks noChangeShapeType="1"/>
            </p:cNvSpPr>
            <p:nvPr/>
          </p:nvSpPr>
          <p:spPr bwMode="auto">
            <a:xfrm rot="-2664477" flipH="1" flipV="1">
              <a:off x="727" y="1757"/>
              <a:ext cx="402" cy="26"/>
            </a:xfrm>
            <a:prstGeom prst="line">
              <a:avLst/>
            </a:prstGeom>
            <a:noFill/>
            <a:ln w="76200" cmpd="tri">
              <a:solidFill>
                <a:srgbClr val="CC3300"/>
              </a:solidFill>
              <a:round/>
              <a:headEnd/>
              <a:tailEnd type="arrow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25"/>
            </a:p>
          </p:txBody>
        </p:sp>
      </p:grpSp>
      <p:graphicFrame>
        <p:nvGraphicFramePr>
          <p:cNvPr id="900149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3727105"/>
              </p:ext>
            </p:extLst>
          </p:nvPr>
        </p:nvGraphicFramePr>
        <p:xfrm>
          <a:off x="6044836" y="901276"/>
          <a:ext cx="2559844" cy="27658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6" name="Document" r:id="rId4" imgW="5405040" imgH="5781600" progId="Word.Document.8">
                  <p:embed/>
                </p:oleObj>
              </mc:Choice>
              <mc:Fallback>
                <p:oleObj name="Document" r:id="rId4" imgW="5405040" imgH="57816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4274"/>
                      <a:stretch>
                        <a:fillRect/>
                      </a:stretch>
                    </p:blipFill>
                    <p:spPr bwMode="auto">
                      <a:xfrm>
                        <a:off x="6044836" y="901276"/>
                        <a:ext cx="2559844" cy="27658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0587291"/>
              </p:ext>
            </p:extLst>
          </p:nvPr>
        </p:nvGraphicFramePr>
        <p:xfrm>
          <a:off x="6078331" y="897704"/>
          <a:ext cx="2540794" cy="27729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7" name="Document" r:id="rId7" imgW="5407281" imgH="5772509" progId="Word.Document.8">
                  <p:embed/>
                </p:oleObj>
              </mc:Choice>
              <mc:Fallback>
                <p:oleObj name="Document" r:id="rId7" imgW="5407281" imgH="577250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4274"/>
                      <a:stretch>
                        <a:fillRect/>
                      </a:stretch>
                    </p:blipFill>
                    <p:spPr bwMode="auto">
                      <a:xfrm>
                        <a:off x="6078331" y="897704"/>
                        <a:ext cx="2540794" cy="27729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7010906"/>
              </p:ext>
            </p:extLst>
          </p:nvPr>
        </p:nvGraphicFramePr>
        <p:xfrm>
          <a:off x="6050109" y="928888"/>
          <a:ext cx="2597239" cy="2782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8" name="Document" r:id="rId10" imgW="5407281" imgH="5772509" progId="Word.Document.8">
                  <p:embed/>
                </p:oleObj>
              </mc:Choice>
              <mc:Fallback>
                <p:oleObj name="Document" r:id="rId10" imgW="5407281" imgH="577250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 r="4274"/>
                      <a:stretch>
                        <a:fillRect/>
                      </a:stretch>
                    </p:blipFill>
                    <p:spPr bwMode="auto">
                      <a:xfrm>
                        <a:off x="6050109" y="928888"/>
                        <a:ext cx="2597239" cy="27824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Прямоугольник 55"/>
          <p:cNvSpPr/>
          <p:nvPr/>
        </p:nvSpPr>
        <p:spPr>
          <a:xfrm>
            <a:off x="1259455" y="16333"/>
            <a:ext cx="64812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Демонстрація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алгоритма 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Ханта</a:t>
            </a:r>
          </a:p>
        </p:txBody>
      </p:sp>
    </p:spTree>
    <p:extLst>
      <p:ext uri="{BB962C8B-B14F-4D97-AF65-F5344CB8AC3E}">
        <p14:creationId xmlns:p14="http://schemas.microsoft.com/office/powerpoint/2010/main" val="23675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0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0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0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0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0099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15757" y="837344"/>
            <a:ext cx="8681663" cy="3952982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pPr marL="400050" indent="-400050">
              <a:lnSpc>
                <a:spcPct val="95000"/>
              </a:lnSpc>
              <a:buNone/>
              <a:defRPr/>
            </a:pPr>
            <a:r>
              <a:rPr lang="en-US" sz="1600" b="1" dirty="0" err="1">
                <a:solidFill>
                  <a:srgbClr val="0070C0"/>
                </a:solidFill>
              </a:rPr>
              <a:t>GenDecTree</a:t>
            </a:r>
            <a:r>
              <a:rPr lang="en-US" sz="1600" dirty="0"/>
              <a:t>(Sample </a:t>
            </a:r>
            <a:r>
              <a:rPr lang="en-US" sz="1600" b="1" dirty="0">
                <a:solidFill>
                  <a:schemeClr val="accent2"/>
                </a:solidFill>
              </a:rPr>
              <a:t>S</a:t>
            </a:r>
            <a:r>
              <a:rPr lang="en-US" sz="1600" dirty="0"/>
              <a:t>, Features </a:t>
            </a:r>
            <a:r>
              <a:rPr lang="en-US" sz="1600" b="1" dirty="0">
                <a:solidFill>
                  <a:schemeClr val="accent2"/>
                </a:solidFill>
              </a:rPr>
              <a:t>F</a:t>
            </a:r>
            <a:r>
              <a:rPr lang="en-US" sz="1600" dirty="0"/>
              <a:t>)</a:t>
            </a:r>
          </a:p>
          <a:p>
            <a:pPr marL="400050" indent="-400050">
              <a:lnSpc>
                <a:spcPct val="95000"/>
              </a:lnSpc>
              <a:buFont typeface="Wingdings" pitchFamily="2" charset="2"/>
              <a:buAutoNum type="arabicPeriod"/>
              <a:defRPr/>
            </a:pPr>
            <a:r>
              <a:rPr lang="en-US" sz="1600" b="1" dirty="0"/>
              <a:t>If </a:t>
            </a:r>
            <a:r>
              <a:rPr lang="en-US" sz="1600" b="1" dirty="0" err="1">
                <a:solidFill>
                  <a:srgbClr val="FF0000"/>
                </a:solidFill>
              </a:rPr>
              <a:t>stopping_condition</a:t>
            </a:r>
            <a:r>
              <a:rPr lang="en-US" sz="1600" b="1" dirty="0"/>
              <a:t>(</a:t>
            </a:r>
            <a:r>
              <a:rPr lang="en-US" sz="1600" b="1" dirty="0">
                <a:solidFill>
                  <a:schemeClr val="accent2"/>
                </a:solidFill>
              </a:rPr>
              <a:t>S,F</a:t>
            </a:r>
            <a:r>
              <a:rPr lang="en-US" sz="1600" b="1" dirty="0"/>
              <a:t>) </a:t>
            </a:r>
            <a:r>
              <a:rPr lang="en-US" sz="1600" dirty="0"/>
              <a:t>= true </a:t>
            </a:r>
            <a:r>
              <a:rPr lang="en-US" sz="1600" b="1" dirty="0"/>
              <a:t>then</a:t>
            </a:r>
          </a:p>
          <a:p>
            <a:pPr marL="685800" lvl="1" indent="-342900">
              <a:lnSpc>
                <a:spcPct val="95000"/>
              </a:lnSpc>
              <a:buFont typeface="Wingdings" pitchFamily="2" charset="2"/>
              <a:buAutoNum type="alphaLcPeriod"/>
              <a:defRPr/>
            </a:pPr>
            <a:r>
              <a:rPr lang="en-US" sz="1600" b="1" dirty="0">
                <a:sym typeface="Symbol" pitchFamily="18" charset="2"/>
              </a:rPr>
              <a:t>leaf </a:t>
            </a:r>
            <a:r>
              <a:rPr lang="en-US" sz="1600" b="1" dirty="0">
                <a:solidFill>
                  <a:schemeClr val="accent2"/>
                </a:solidFill>
                <a:sym typeface="Symbol" pitchFamily="18" charset="2"/>
              </a:rPr>
              <a:t>= </a:t>
            </a:r>
            <a:r>
              <a:rPr lang="en-US" sz="1600" b="1" dirty="0" err="1">
                <a:solidFill>
                  <a:srgbClr val="0070C0"/>
                </a:solidFill>
                <a:sym typeface="Symbol" pitchFamily="18" charset="2"/>
              </a:rPr>
              <a:t>createNode</a:t>
            </a:r>
            <a:r>
              <a:rPr lang="en-US" sz="1600" b="1" dirty="0">
                <a:solidFill>
                  <a:srgbClr val="0070C0"/>
                </a:solidFill>
                <a:sym typeface="Symbol" pitchFamily="18" charset="2"/>
              </a:rPr>
              <a:t>()</a:t>
            </a:r>
            <a:endParaRPr lang="en-US" sz="1600" dirty="0">
              <a:solidFill>
                <a:srgbClr val="0070C0"/>
              </a:solidFill>
              <a:sym typeface="Symbol" pitchFamily="18" charset="2"/>
            </a:endParaRPr>
          </a:p>
          <a:p>
            <a:pPr marL="685800" lvl="1" indent="-342900">
              <a:lnSpc>
                <a:spcPct val="95000"/>
              </a:lnSpc>
              <a:buFont typeface="Wingdings" pitchFamily="2" charset="2"/>
              <a:buAutoNum type="alphaLcPeriod"/>
              <a:defRPr/>
            </a:pPr>
            <a:r>
              <a:rPr lang="en-US" sz="1600" b="1" dirty="0" err="1">
                <a:sym typeface="Symbol" pitchFamily="18" charset="2"/>
              </a:rPr>
              <a:t>leaf.label</a:t>
            </a:r>
            <a:r>
              <a:rPr lang="en-US" sz="1600" b="1" dirty="0">
                <a:sym typeface="Symbol" pitchFamily="18" charset="2"/>
              </a:rPr>
              <a:t>= </a:t>
            </a:r>
            <a:r>
              <a:rPr lang="en-US" sz="1600" b="1" dirty="0">
                <a:solidFill>
                  <a:srgbClr val="FF0000"/>
                </a:solidFill>
                <a:sym typeface="Symbol" pitchFamily="18" charset="2"/>
              </a:rPr>
              <a:t>Classify</a:t>
            </a:r>
            <a:r>
              <a:rPr lang="en-US" sz="1600" b="1" dirty="0">
                <a:sym typeface="Symbol" pitchFamily="18" charset="2"/>
              </a:rPr>
              <a:t>(</a:t>
            </a:r>
            <a:r>
              <a:rPr lang="en-US" sz="1600" b="1" dirty="0">
                <a:solidFill>
                  <a:schemeClr val="accent2"/>
                </a:solidFill>
                <a:sym typeface="Symbol" pitchFamily="18" charset="2"/>
              </a:rPr>
              <a:t>S)</a:t>
            </a:r>
            <a:endParaRPr lang="en-US" sz="1600" dirty="0">
              <a:sym typeface="Symbol" pitchFamily="18" charset="2"/>
            </a:endParaRPr>
          </a:p>
          <a:p>
            <a:pPr marL="685800" lvl="1" indent="-342900">
              <a:lnSpc>
                <a:spcPct val="95000"/>
              </a:lnSpc>
              <a:buFont typeface="Wingdings" pitchFamily="2" charset="2"/>
              <a:buAutoNum type="alphaLcPeriod"/>
              <a:defRPr/>
            </a:pPr>
            <a:r>
              <a:rPr lang="en-US" sz="1600" b="1" dirty="0">
                <a:sym typeface="Symbol" pitchFamily="18" charset="2"/>
              </a:rPr>
              <a:t>return leaf</a:t>
            </a:r>
            <a:r>
              <a:rPr lang="en-US" sz="1600" dirty="0">
                <a:sym typeface="Symbol" pitchFamily="18" charset="2"/>
              </a:rPr>
              <a:t> </a:t>
            </a:r>
            <a:r>
              <a:rPr lang="en-US" sz="1600" b="1" dirty="0">
                <a:sym typeface="Wingdings" pitchFamily="2" charset="2"/>
              </a:rPr>
              <a:t> </a:t>
            </a:r>
            <a:r>
              <a:rPr lang="en-US" sz="1600" b="1" dirty="0"/>
              <a:t> </a:t>
            </a:r>
          </a:p>
          <a:p>
            <a:pPr marL="400050" indent="-400050">
              <a:lnSpc>
                <a:spcPct val="95000"/>
              </a:lnSpc>
              <a:buFont typeface="Wingdings" pitchFamily="2" charset="2"/>
              <a:buAutoNum type="arabicPeriod"/>
              <a:defRPr/>
            </a:pPr>
            <a:r>
              <a:rPr lang="en-US" sz="1600" b="1" dirty="0"/>
              <a:t>root =</a:t>
            </a:r>
            <a:r>
              <a:rPr lang="en-US" sz="1600" dirty="0"/>
              <a:t> </a:t>
            </a:r>
            <a:r>
              <a:rPr lang="en-US" sz="1600" b="1" dirty="0" err="1">
                <a:solidFill>
                  <a:srgbClr val="0070C0"/>
                </a:solidFill>
              </a:rPr>
              <a:t>createNode</a:t>
            </a:r>
            <a:r>
              <a:rPr lang="en-US" sz="1600" b="1" dirty="0">
                <a:solidFill>
                  <a:srgbClr val="0070C0"/>
                </a:solidFill>
              </a:rPr>
              <a:t>()</a:t>
            </a:r>
          </a:p>
          <a:p>
            <a:pPr marL="400050" indent="-400050">
              <a:lnSpc>
                <a:spcPct val="95000"/>
              </a:lnSpc>
              <a:buFont typeface="Wingdings" pitchFamily="2" charset="2"/>
              <a:buAutoNum type="arabicPeriod"/>
              <a:defRPr/>
            </a:pPr>
            <a:r>
              <a:rPr lang="en-US" sz="1600" b="1" dirty="0" err="1"/>
              <a:t>root.test_condition</a:t>
            </a:r>
            <a:r>
              <a:rPr lang="en-US" sz="1600" b="1" dirty="0"/>
              <a:t> = </a:t>
            </a:r>
            <a:r>
              <a:rPr lang="en-US" sz="1600" b="1" dirty="0" err="1">
                <a:solidFill>
                  <a:srgbClr val="FF0000"/>
                </a:solidFill>
              </a:rPr>
              <a:t>findBestSplit</a:t>
            </a:r>
            <a:r>
              <a:rPr lang="en-US" sz="1600" b="1" dirty="0">
                <a:solidFill>
                  <a:srgbClr val="FF0000"/>
                </a:solidFill>
              </a:rPr>
              <a:t>(</a:t>
            </a:r>
            <a:r>
              <a:rPr lang="en-US" sz="1600" b="1" dirty="0">
                <a:solidFill>
                  <a:schemeClr val="accent2"/>
                </a:solidFill>
              </a:rPr>
              <a:t>S,F</a:t>
            </a:r>
            <a:r>
              <a:rPr lang="en-US" sz="1600" b="1" dirty="0">
                <a:solidFill>
                  <a:srgbClr val="FF0000"/>
                </a:solidFill>
              </a:rPr>
              <a:t>)</a:t>
            </a:r>
          </a:p>
          <a:p>
            <a:pPr marL="400050" indent="-400050">
              <a:lnSpc>
                <a:spcPct val="95000"/>
              </a:lnSpc>
              <a:buFont typeface="Wingdings" pitchFamily="2" charset="2"/>
              <a:buAutoNum type="arabicPeriod"/>
              <a:defRPr/>
            </a:pPr>
            <a:r>
              <a:rPr lang="en-US" sz="1600" b="1" dirty="0">
                <a:solidFill>
                  <a:schemeClr val="accent2"/>
                </a:solidFill>
              </a:rPr>
              <a:t>V = {v| v a </a:t>
            </a:r>
            <a:r>
              <a:rPr lang="en-US" sz="1600" dirty="0"/>
              <a:t>possible outcome of </a:t>
            </a:r>
            <a:r>
              <a:rPr lang="en-US" sz="1600" b="1" dirty="0" err="1"/>
              <a:t>root.test_condition</a:t>
            </a:r>
            <a:r>
              <a:rPr lang="en-US" sz="1600" b="1" dirty="0">
                <a:solidFill>
                  <a:schemeClr val="accent2"/>
                </a:solidFill>
              </a:rPr>
              <a:t>}</a:t>
            </a:r>
          </a:p>
          <a:p>
            <a:pPr marL="400050" indent="-400050">
              <a:lnSpc>
                <a:spcPct val="95000"/>
              </a:lnSpc>
              <a:buFont typeface="Wingdings" pitchFamily="2" charset="2"/>
              <a:buAutoNum type="arabicPeriod"/>
              <a:defRPr/>
            </a:pPr>
            <a:r>
              <a:rPr lang="en-US" sz="1600" b="1" dirty="0">
                <a:sym typeface="Symbol" pitchFamily="18" charset="2"/>
              </a:rPr>
              <a:t>for</a:t>
            </a:r>
            <a:r>
              <a:rPr lang="en-US" sz="1600" dirty="0">
                <a:sym typeface="Symbol" pitchFamily="18" charset="2"/>
              </a:rPr>
              <a:t> </a:t>
            </a:r>
            <a:r>
              <a:rPr lang="en-US" sz="1600" b="1" i="1" dirty="0">
                <a:sym typeface="Symbol" pitchFamily="18" charset="2"/>
              </a:rPr>
              <a:t>each</a:t>
            </a:r>
            <a:r>
              <a:rPr lang="en-US" sz="1600" dirty="0">
                <a:sym typeface="Symbol" pitchFamily="18" charset="2"/>
              </a:rPr>
              <a:t> value </a:t>
            </a:r>
            <a:r>
              <a:rPr lang="en-US" sz="1600" b="1" dirty="0">
                <a:solidFill>
                  <a:schemeClr val="accent2"/>
                </a:solidFill>
                <a:sym typeface="Symbol" pitchFamily="18" charset="2"/>
              </a:rPr>
              <a:t>v</a:t>
            </a:r>
            <a:r>
              <a:rPr lang="az-Cyrl-AZ" sz="1600" b="1" dirty="0">
                <a:solidFill>
                  <a:schemeClr val="accent2"/>
                </a:solidFill>
                <a:sym typeface="Symbol" pitchFamily="18" charset="2"/>
              </a:rPr>
              <a:t>є</a:t>
            </a:r>
            <a:r>
              <a:rPr lang="en-US" sz="1600" b="1" dirty="0">
                <a:solidFill>
                  <a:schemeClr val="accent2"/>
                </a:solidFill>
                <a:sym typeface="Symbol" pitchFamily="18" charset="2"/>
              </a:rPr>
              <a:t>V</a:t>
            </a:r>
            <a:r>
              <a:rPr lang="en-US" sz="1600" dirty="0">
                <a:sym typeface="Symbol" pitchFamily="18" charset="2"/>
              </a:rPr>
              <a:t>:</a:t>
            </a:r>
          </a:p>
          <a:p>
            <a:pPr marL="685800" lvl="1" indent="-342900">
              <a:lnSpc>
                <a:spcPct val="95000"/>
              </a:lnSpc>
              <a:buFont typeface="Wingdings" pitchFamily="2" charset="2"/>
              <a:buAutoNum type="alphaLcPeriod"/>
              <a:defRPr/>
            </a:pPr>
            <a:r>
              <a:rPr lang="en-US" sz="1600" b="1" dirty="0" err="1">
                <a:solidFill>
                  <a:schemeClr val="accent2"/>
                </a:solidFill>
                <a:sym typeface="Symbol" pitchFamily="18" charset="2"/>
              </a:rPr>
              <a:t>S</a:t>
            </a:r>
            <a:r>
              <a:rPr lang="en-US" sz="1600" b="1" baseline="-25000" dirty="0" err="1">
                <a:solidFill>
                  <a:schemeClr val="accent2"/>
                </a:solidFill>
                <a:sym typeface="Symbol" pitchFamily="18" charset="2"/>
              </a:rPr>
              <a:t>v</a:t>
            </a:r>
            <a:r>
              <a:rPr lang="en-US" sz="1600" b="1" dirty="0">
                <a:solidFill>
                  <a:schemeClr val="accent2"/>
                </a:solidFill>
                <a:sym typeface="Symbol" pitchFamily="18" charset="2"/>
              </a:rPr>
              <a:t>: = {s | </a:t>
            </a:r>
            <a:r>
              <a:rPr lang="en-US" sz="1600" b="1" dirty="0" err="1">
                <a:sym typeface="Symbol" pitchFamily="18" charset="2"/>
              </a:rPr>
              <a:t>root.test_condition</a:t>
            </a:r>
            <a:r>
              <a:rPr lang="en-US" sz="1600" b="1" dirty="0">
                <a:sym typeface="Symbol" pitchFamily="18" charset="2"/>
              </a:rPr>
              <a:t>(</a:t>
            </a:r>
            <a:r>
              <a:rPr lang="en-US" sz="1600" b="1" dirty="0">
                <a:solidFill>
                  <a:schemeClr val="accent2"/>
                </a:solidFill>
                <a:sym typeface="Symbol" pitchFamily="18" charset="2"/>
              </a:rPr>
              <a:t>s</a:t>
            </a:r>
            <a:r>
              <a:rPr lang="en-US" sz="1600" b="1" dirty="0">
                <a:sym typeface="Symbol" pitchFamily="18" charset="2"/>
              </a:rPr>
              <a:t>)</a:t>
            </a:r>
            <a:r>
              <a:rPr lang="en-US" sz="1600" dirty="0">
                <a:sym typeface="Symbol" pitchFamily="18" charset="2"/>
              </a:rPr>
              <a:t> = </a:t>
            </a:r>
            <a:r>
              <a:rPr lang="en-US" sz="1600" b="1" dirty="0">
                <a:solidFill>
                  <a:schemeClr val="accent2"/>
                </a:solidFill>
                <a:sym typeface="Symbol" pitchFamily="18" charset="2"/>
              </a:rPr>
              <a:t>v</a:t>
            </a:r>
            <a:r>
              <a:rPr lang="en-US" sz="1600" dirty="0">
                <a:sym typeface="Symbol" pitchFamily="18" charset="2"/>
              </a:rPr>
              <a:t> and </a:t>
            </a:r>
            <a:r>
              <a:rPr lang="en-US" sz="1600" b="1" dirty="0">
                <a:solidFill>
                  <a:schemeClr val="accent2"/>
                </a:solidFill>
                <a:sym typeface="Symbol" pitchFamily="18" charset="2"/>
              </a:rPr>
              <a:t>s </a:t>
            </a:r>
            <a:r>
              <a:rPr lang="az-Cyrl-AZ" sz="1600" b="1" dirty="0">
                <a:solidFill>
                  <a:schemeClr val="accent2"/>
                </a:solidFill>
                <a:sym typeface="Symbol" pitchFamily="18" charset="2"/>
              </a:rPr>
              <a:t>є</a:t>
            </a:r>
            <a:r>
              <a:rPr lang="en-US" sz="1600" b="1" dirty="0">
                <a:solidFill>
                  <a:schemeClr val="accent2"/>
                </a:solidFill>
                <a:sym typeface="Symbol" pitchFamily="18" charset="2"/>
              </a:rPr>
              <a:t> S}</a:t>
            </a:r>
            <a:r>
              <a:rPr lang="en-US" sz="1600" dirty="0">
                <a:sym typeface="Symbol" pitchFamily="18" charset="2"/>
              </a:rPr>
              <a:t>;</a:t>
            </a:r>
          </a:p>
          <a:p>
            <a:pPr marL="685800" lvl="1" indent="-342900">
              <a:lnSpc>
                <a:spcPct val="95000"/>
              </a:lnSpc>
              <a:buFont typeface="Wingdings" pitchFamily="2" charset="2"/>
              <a:buAutoNum type="alphaLcPeriod"/>
              <a:defRPr/>
            </a:pPr>
            <a:r>
              <a:rPr lang="en-US" sz="1600" b="1" dirty="0">
                <a:sym typeface="Symbol" pitchFamily="18" charset="2"/>
              </a:rPr>
              <a:t>child = </a:t>
            </a:r>
            <a:r>
              <a:rPr lang="en-US" sz="1600" b="1" dirty="0" err="1">
                <a:solidFill>
                  <a:srgbClr val="0070C0"/>
                </a:solidFill>
              </a:rPr>
              <a:t>GenDecTree</a:t>
            </a:r>
            <a:r>
              <a:rPr lang="en-US" sz="1600" b="1" dirty="0">
                <a:sym typeface="Symbol" pitchFamily="18" charset="2"/>
              </a:rPr>
              <a:t>(</a:t>
            </a:r>
            <a:r>
              <a:rPr lang="en-US" sz="1600" b="1" dirty="0" err="1">
                <a:solidFill>
                  <a:schemeClr val="accent2"/>
                </a:solidFill>
                <a:sym typeface="Symbol" pitchFamily="18" charset="2"/>
              </a:rPr>
              <a:t>S</a:t>
            </a:r>
            <a:r>
              <a:rPr lang="en-US" sz="1600" b="1" baseline="-25000" dirty="0" err="1">
                <a:solidFill>
                  <a:schemeClr val="accent2"/>
                </a:solidFill>
                <a:sym typeface="Symbol" pitchFamily="18" charset="2"/>
              </a:rPr>
              <a:t>v</a:t>
            </a:r>
            <a:r>
              <a:rPr lang="en-US" sz="1600" b="1" dirty="0">
                <a:solidFill>
                  <a:schemeClr val="accent2"/>
                </a:solidFill>
                <a:sym typeface="Symbol" pitchFamily="18" charset="2"/>
              </a:rPr>
              <a:t> ,F</a:t>
            </a:r>
            <a:r>
              <a:rPr lang="en-US" sz="1600" dirty="0">
                <a:sym typeface="Symbol" pitchFamily="18" charset="2"/>
              </a:rPr>
              <a:t>) ;</a:t>
            </a:r>
          </a:p>
          <a:p>
            <a:pPr marL="685800" lvl="1" indent="-342900">
              <a:lnSpc>
                <a:spcPct val="95000"/>
              </a:lnSpc>
              <a:buFont typeface="Wingdings" pitchFamily="2" charset="2"/>
              <a:buAutoNum type="alphaLcPeriod"/>
              <a:defRPr/>
            </a:pPr>
            <a:r>
              <a:rPr lang="en-US" sz="1600" dirty="0">
                <a:sym typeface="Symbol" pitchFamily="18" charset="2"/>
              </a:rPr>
              <a:t>Add</a:t>
            </a:r>
            <a:r>
              <a:rPr lang="en-US" sz="1600" b="1" dirty="0">
                <a:sym typeface="Symbol" pitchFamily="18" charset="2"/>
              </a:rPr>
              <a:t> child </a:t>
            </a:r>
            <a:r>
              <a:rPr lang="en-US" sz="1600" dirty="0">
                <a:sym typeface="Symbol" pitchFamily="18" charset="2"/>
              </a:rPr>
              <a:t>as a descent of </a:t>
            </a:r>
            <a:r>
              <a:rPr lang="en-US" sz="1600" b="1" dirty="0">
                <a:sym typeface="Symbol" pitchFamily="18" charset="2"/>
              </a:rPr>
              <a:t>root </a:t>
            </a:r>
            <a:r>
              <a:rPr lang="en-US" sz="1600" dirty="0">
                <a:sym typeface="Symbol" pitchFamily="18" charset="2"/>
              </a:rPr>
              <a:t>and label the edge </a:t>
            </a:r>
            <a:r>
              <a:rPr lang="en-US" sz="1600" b="1" dirty="0">
                <a:sym typeface="Symbol" pitchFamily="18" charset="2"/>
              </a:rPr>
              <a:t>(</a:t>
            </a:r>
            <a:r>
              <a:rPr lang="en-US" sz="1600" b="1" dirty="0" err="1">
                <a:sym typeface="Symbol" pitchFamily="18" charset="2"/>
              </a:rPr>
              <a:t>root</a:t>
            </a:r>
            <a:r>
              <a:rPr lang="en-US" sz="1600" b="1" dirty="0" err="1">
                <a:sym typeface="Wingdings" pitchFamily="2" charset="2"/>
              </a:rPr>
              <a:t>child</a:t>
            </a:r>
            <a:r>
              <a:rPr lang="en-US" sz="1600" b="1" dirty="0">
                <a:sym typeface="Wingdings" pitchFamily="2" charset="2"/>
              </a:rPr>
              <a:t>) as </a:t>
            </a:r>
            <a:r>
              <a:rPr lang="en-US" sz="1600" b="1" dirty="0">
                <a:solidFill>
                  <a:schemeClr val="accent2"/>
                </a:solidFill>
                <a:sym typeface="Wingdings" pitchFamily="2" charset="2"/>
              </a:rPr>
              <a:t>v</a:t>
            </a:r>
            <a:r>
              <a:rPr lang="en-US" sz="1600" b="1" dirty="0">
                <a:sym typeface="Wingdings" pitchFamily="2" charset="2"/>
              </a:rPr>
              <a:t> </a:t>
            </a:r>
          </a:p>
          <a:p>
            <a:pPr marL="385763" indent="-342900">
              <a:lnSpc>
                <a:spcPct val="95000"/>
              </a:lnSpc>
              <a:buFont typeface="Wingdings" pitchFamily="2" charset="2"/>
              <a:buAutoNum type="arabicPeriod"/>
              <a:defRPr/>
            </a:pPr>
            <a:r>
              <a:rPr lang="en-US" sz="1600" b="1" dirty="0">
                <a:sym typeface="Wingdings" pitchFamily="2" charset="2"/>
              </a:rPr>
              <a:t>return root</a:t>
            </a:r>
            <a:endParaRPr lang="en-US" sz="16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85674" y="36882"/>
            <a:ext cx="756168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Побудова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дерев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рішень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(псевдокод)</a:t>
            </a:r>
          </a:p>
        </p:txBody>
      </p:sp>
    </p:spTree>
    <p:extLst>
      <p:ext uri="{BB962C8B-B14F-4D97-AF65-F5344CB8AC3E}">
        <p14:creationId xmlns:p14="http://schemas.microsoft.com/office/powerpoint/2010/main" val="7917202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82885" y="28575"/>
            <a:ext cx="8229600" cy="7429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uk-UA" sz="3600" b="1" dirty="0" smtClean="0">
                <a:solidFill>
                  <a:schemeClr val="bg1"/>
                </a:solidFill>
                <a:latin typeface="+mn-lt"/>
              </a:rPr>
              <a:t>Індукція дерева</a:t>
            </a:r>
            <a:endParaRPr lang="en-US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482886" y="868436"/>
            <a:ext cx="8774130" cy="272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b="1" dirty="0" err="1">
                <a:solidFill>
                  <a:srgbClr val="FF0000"/>
                </a:solidFill>
                <a:latin typeface="+mn-lt"/>
              </a:rPr>
              <a:t>Проблеми</a:t>
            </a:r>
            <a:endParaRPr lang="ru-RU" b="1" dirty="0">
              <a:solidFill>
                <a:srgbClr val="FF0000"/>
              </a:solidFill>
              <a:latin typeface="+mn-lt"/>
            </a:endParaRPr>
          </a:p>
          <a:p>
            <a:pPr marL="609600" lvl="1" indent="-342900" algn="l">
              <a:buFont typeface="Wingdings" panose="05000000000000000000" pitchFamily="2" charset="2"/>
              <a:buChar char="q"/>
            </a:pPr>
            <a:r>
              <a:rPr lang="ru-RU" dirty="0">
                <a:solidFill>
                  <a:srgbClr val="0000CC"/>
                </a:solidFill>
                <a:latin typeface="+mn-lt"/>
              </a:rPr>
              <a:t>Як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класифікувати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листовий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вузол</a:t>
            </a:r>
            <a:endParaRPr lang="ru-RU" dirty="0">
              <a:solidFill>
                <a:srgbClr val="0000CC"/>
              </a:solidFill>
              <a:latin typeface="+mn-lt"/>
            </a:endParaRPr>
          </a:p>
          <a:p>
            <a:pPr marL="1144588" indent="-342900" algn="l">
              <a:buFont typeface="Wingdings" panose="05000000000000000000" pitchFamily="2" charset="2"/>
              <a:buChar char="Ø"/>
            </a:pPr>
            <a:r>
              <a:rPr lang="ru-RU" dirty="0" err="1" smtClean="0">
                <a:latin typeface="+mn-lt"/>
              </a:rPr>
              <a:t>Призначити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клас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більшості</a:t>
            </a:r>
            <a:endParaRPr lang="ru-RU" dirty="0">
              <a:latin typeface="+mn-lt"/>
            </a:endParaRPr>
          </a:p>
          <a:p>
            <a:pPr marL="1144588" indent="-342900" algn="l">
              <a:buFont typeface="Wingdings" panose="05000000000000000000" pitchFamily="2" charset="2"/>
              <a:buChar char="Ø"/>
            </a:pPr>
            <a:r>
              <a:rPr lang="ru-RU" dirty="0" err="1">
                <a:latin typeface="+mn-lt"/>
              </a:rPr>
              <a:t>Якщо</a:t>
            </a:r>
            <a:r>
              <a:rPr lang="ru-RU" dirty="0">
                <a:latin typeface="+mn-lt"/>
              </a:rPr>
              <a:t> лист </a:t>
            </a:r>
            <a:r>
              <a:rPr lang="ru-RU" dirty="0" err="1">
                <a:latin typeface="+mn-lt"/>
              </a:rPr>
              <a:t>порожній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призначте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клас</a:t>
            </a:r>
            <a:r>
              <a:rPr lang="ru-RU" dirty="0">
                <a:latin typeface="+mn-lt"/>
              </a:rPr>
              <a:t> за </a:t>
            </a:r>
            <a:r>
              <a:rPr lang="ru-RU" dirty="0" err="1">
                <a:latin typeface="+mn-lt"/>
              </a:rPr>
              <a:t>замовчуванням</a:t>
            </a:r>
            <a:r>
              <a:rPr lang="ru-RU" dirty="0">
                <a:latin typeface="+mn-lt"/>
              </a:rPr>
              <a:t> - </a:t>
            </a:r>
            <a:r>
              <a:rPr lang="ru-RU" dirty="0" err="1">
                <a:latin typeface="+mn-lt"/>
              </a:rPr>
              <a:t>клас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який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має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найвищу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популярність</a:t>
            </a:r>
            <a:r>
              <a:rPr lang="ru-RU" dirty="0">
                <a:latin typeface="+mn-lt"/>
              </a:rPr>
              <a:t>.</a:t>
            </a:r>
          </a:p>
          <a:p>
            <a:pPr marL="609600" indent="-342900" algn="l">
              <a:buFont typeface="Wingdings" panose="05000000000000000000" pitchFamily="2" charset="2"/>
              <a:buChar char="q"/>
            </a:pPr>
            <a:r>
              <a:rPr lang="ru-RU" dirty="0" err="1" smtClean="0">
                <a:solidFill>
                  <a:srgbClr val="0000CC"/>
                </a:solidFill>
                <a:latin typeface="+mn-lt"/>
              </a:rPr>
              <a:t>Визначити</a:t>
            </a:r>
            <a:r>
              <a:rPr lang="ru-RU" dirty="0" smtClean="0">
                <a:solidFill>
                  <a:srgbClr val="0000CC"/>
                </a:solidFill>
                <a:latin typeface="+mn-lt"/>
              </a:rPr>
              <a:t>, 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як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розділити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записи</a:t>
            </a:r>
          </a:p>
          <a:p>
            <a:pPr marL="1144588" indent="-342900" algn="l">
              <a:buFont typeface="Wingdings" panose="05000000000000000000" pitchFamily="2" charset="2"/>
              <a:buChar char="Ø"/>
            </a:pPr>
            <a:r>
              <a:rPr lang="ru-RU" dirty="0">
                <a:latin typeface="+mn-lt"/>
              </a:rPr>
              <a:t>Як </a:t>
            </a:r>
            <a:r>
              <a:rPr lang="ru-RU" dirty="0" err="1">
                <a:latin typeface="+mn-lt"/>
              </a:rPr>
              <a:t>вказати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умову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перевірки</a:t>
            </a:r>
            <a:r>
              <a:rPr lang="ru-RU" dirty="0">
                <a:latin typeface="+mn-lt"/>
              </a:rPr>
              <a:t> атрибута?</a:t>
            </a:r>
          </a:p>
          <a:p>
            <a:pPr marL="1144588" indent="-342900" algn="l">
              <a:buFont typeface="Wingdings" panose="05000000000000000000" pitchFamily="2" charset="2"/>
              <a:buChar char="Ø"/>
            </a:pPr>
            <a:r>
              <a:rPr lang="ru-RU" dirty="0">
                <a:latin typeface="+mn-lt"/>
              </a:rPr>
              <a:t>Як </a:t>
            </a:r>
            <a:r>
              <a:rPr lang="ru-RU" dirty="0" err="1">
                <a:latin typeface="+mn-lt"/>
              </a:rPr>
              <a:t>визначити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найкраще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розгалуження</a:t>
            </a:r>
            <a:r>
              <a:rPr lang="ru-RU" dirty="0" smtClean="0">
                <a:latin typeface="+mn-lt"/>
              </a:rPr>
              <a:t>?</a:t>
            </a:r>
            <a:endParaRPr lang="ru-RU" dirty="0">
              <a:latin typeface="+mn-lt"/>
            </a:endParaRPr>
          </a:p>
          <a:p>
            <a:pPr marL="609600" indent="-342900" algn="l">
              <a:buFont typeface="Wingdings" panose="05000000000000000000" pitchFamily="2" charset="2"/>
              <a:buChar char="q"/>
            </a:pPr>
            <a:r>
              <a:rPr lang="ru-RU" dirty="0" err="1" smtClean="0">
                <a:solidFill>
                  <a:srgbClr val="0000CC"/>
                </a:solidFill>
                <a:latin typeface="+mn-lt"/>
              </a:rPr>
              <a:t>Визначити</a:t>
            </a:r>
            <a:r>
              <a:rPr lang="ru-RU" dirty="0" smtClean="0">
                <a:solidFill>
                  <a:srgbClr val="0000CC"/>
                </a:solidFill>
                <a:latin typeface="+mn-lt"/>
              </a:rPr>
              <a:t>, 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коли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припинити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dirty="0" err="1" smtClean="0">
                <a:solidFill>
                  <a:srgbClr val="0000CC"/>
                </a:solidFill>
                <a:latin typeface="+mn-lt"/>
              </a:rPr>
              <a:t>розгалуження</a:t>
            </a:r>
            <a:endParaRPr lang="ru-RU" dirty="0">
              <a:solidFill>
                <a:srgbClr val="0000CC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7673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1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3016" y="994666"/>
            <a:ext cx="8229600" cy="3657600"/>
          </a:xfrm>
          <a:prstGeom prst="rect">
            <a:avLst/>
          </a:prstGeo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ru-RU" dirty="0" smtClean="0"/>
              <a:t> </a:t>
            </a:r>
            <a:r>
              <a:rPr lang="ru-RU" dirty="0" err="1" smtClean="0"/>
              <a:t>Залежить</a:t>
            </a:r>
            <a:r>
              <a:rPr lang="ru-RU" dirty="0" smtClean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типів</a:t>
            </a:r>
            <a:r>
              <a:rPr lang="ru-RU" dirty="0"/>
              <a:t> </a:t>
            </a:r>
            <a:r>
              <a:rPr lang="ru-RU" dirty="0" err="1"/>
              <a:t>атрибутів</a:t>
            </a:r>
            <a:endParaRPr lang="ru-RU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ru-RU" sz="2000" dirty="0" err="1" smtClean="0"/>
              <a:t>Двійковий</a:t>
            </a:r>
            <a:endParaRPr lang="ru-RU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ru-RU" sz="2000" dirty="0" err="1" smtClean="0"/>
              <a:t>Номінальний</a:t>
            </a:r>
            <a:endParaRPr lang="ru-RU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ru-RU" sz="2000" dirty="0" err="1"/>
              <a:t>Порядковий</a:t>
            </a:r>
            <a:endParaRPr lang="ru-RU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ru-RU" sz="2000" dirty="0" err="1"/>
              <a:t>Безперервний</a:t>
            </a:r>
            <a:endParaRPr lang="ru-RU" sz="2000" dirty="0"/>
          </a:p>
          <a:p>
            <a:pPr marL="0" indent="0">
              <a:buNone/>
            </a:pPr>
            <a:endParaRPr lang="ru-RU" dirty="0"/>
          </a:p>
          <a:p>
            <a:pPr>
              <a:buFont typeface="Wingdings" panose="05000000000000000000" pitchFamily="2" charset="2"/>
              <a:buChar char="q"/>
            </a:pPr>
            <a:r>
              <a:rPr lang="ru-RU" dirty="0" smtClean="0"/>
              <a:t> </a:t>
            </a:r>
            <a:r>
              <a:rPr lang="ru-RU" dirty="0" err="1" smtClean="0"/>
              <a:t>Залежить</a:t>
            </a:r>
            <a:r>
              <a:rPr lang="ru-RU" dirty="0" smtClean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кількості</a:t>
            </a:r>
            <a:r>
              <a:rPr lang="ru-RU" dirty="0"/>
              <a:t> </a:t>
            </a:r>
            <a:r>
              <a:rPr lang="ru-RU" dirty="0" err="1"/>
              <a:t>способів</a:t>
            </a:r>
            <a:r>
              <a:rPr lang="ru-RU" dirty="0"/>
              <a:t> </a:t>
            </a:r>
            <a:r>
              <a:rPr lang="ru-RU" dirty="0" err="1" smtClean="0"/>
              <a:t>розгалуження</a:t>
            </a:r>
            <a:endParaRPr lang="ru-RU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ru-RU" sz="2000" dirty="0" err="1" smtClean="0"/>
              <a:t>Двостороннє</a:t>
            </a:r>
            <a:r>
              <a:rPr lang="ru-RU" sz="2000" dirty="0" smtClean="0"/>
              <a:t> </a:t>
            </a:r>
            <a:r>
              <a:rPr lang="ru-RU" sz="2000" dirty="0" err="1" smtClean="0"/>
              <a:t>розгалуження</a:t>
            </a:r>
            <a:endParaRPr lang="ru-RU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ru-RU" sz="2000" dirty="0" err="1"/>
              <a:t>Багатосторонній</a:t>
            </a:r>
            <a:r>
              <a:rPr lang="ru-RU" sz="2000" dirty="0"/>
              <a:t> </a:t>
            </a:r>
            <a:r>
              <a:rPr lang="ru-RU" sz="2000" dirty="0" err="1" smtClean="0"/>
              <a:t>розгалуження</a:t>
            </a:r>
            <a:endParaRPr lang="en-US" sz="20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300472" y="119075"/>
            <a:ext cx="63786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Методи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вираження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умов 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тесту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05534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0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5208" y="120253"/>
            <a:ext cx="8948791" cy="5715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ru-RU" b="1" dirty="0" err="1" smtClean="0">
                <a:solidFill>
                  <a:schemeClr val="bg1"/>
                </a:solidFill>
                <a:latin typeface="+mn-lt"/>
              </a:rPr>
              <a:t>Розгалуження</a:t>
            </a:r>
            <a:r>
              <a:rPr lang="ru-RU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b="1" dirty="0">
                <a:solidFill>
                  <a:schemeClr val="bg1"/>
                </a:solidFill>
                <a:latin typeface="+mn-lt"/>
              </a:rPr>
              <a:t>на </a:t>
            </a:r>
            <a:r>
              <a:rPr lang="ru-RU" b="1" dirty="0" err="1">
                <a:solidFill>
                  <a:schemeClr val="bg1"/>
                </a:solidFill>
                <a:latin typeface="+mn-lt"/>
              </a:rPr>
              <a:t>основі</a:t>
            </a:r>
            <a:r>
              <a:rPr lang="ru-RU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b="1" dirty="0" err="1">
                <a:solidFill>
                  <a:schemeClr val="bg1"/>
                </a:solidFill>
                <a:latin typeface="+mn-lt"/>
              </a:rPr>
              <a:t>номінальних</a:t>
            </a:r>
            <a:r>
              <a:rPr lang="ru-RU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b="1" dirty="0" err="1">
                <a:solidFill>
                  <a:schemeClr val="bg1"/>
                </a:solidFill>
                <a:latin typeface="+mn-lt"/>
              </a:rPr>
              <a:t>атрибутів</a:t>
            </a:r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130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5208" y="1028700"/>
            <a:ext cx="8948792" cy="2800350"/>
          </a:xfrm>
          <a:prstGeom prst="rect">
            <a:avLst/>
          </a:prstGeom>
        </p:spPr>
        <p:txBody>
          <a:bodyPr/>
          <a:lstStyle/>
          <a:p>
            <a:pPr marL="257175" indent="-257175"/>
            <a:r>
              <a:rPr lang="ru-RU" dirty="0" err="1" smtClean="0">
                <a:solidFill>
                  <a:srgbClr val="FF0000"/>
                </a:solidFill>
              </a:rPr>
              <a:t>Багатостороннє</a:t>
            </a:r>
            <a:r>
              <a:rPr lang="ru-RU" dirty="0" smtClean="0">
                <a:solidFill>
                  <a:srgbClr val="FF0000"/>
                </a:solidFill>
              </a:rPr>
              <a:t> </a:t>
            </a:r>
            <a:r>
              <a:rPr lang="ru-RU" dirty="0" err="1" smtClean="0">
                <a:solidFill>
                  <a:srgbClr val="FF0000"/>
                </a:solidFill>
              </a:rPr>
              <a:t>розгалуження</a:t>
            </a:r>
            <a:r>
              <a:rPr lang="ru-RU" dirty="0" smtClean="0">
                <a:solidFill>
                  <a:srgbClr val="FF0000"/>
                </a:solidFill>
              </a:rPr>
              <a:t>: </a:t>
            </a:r>
            <a:r>
              <a:rPr lang="ru-RU" dirty="0" err="1"/>
              <a:t>використовуйте</a:t>
            </a:r>
            <a:r>
              <a:rPr lang="ru-RU" dirty="0"/>
              <a:t> </a:t>
            </a:r>
            <a:r>
              <a:rPr lang="ru-RU" dirty="0" err="1"/>
              <a:t>стільки</a:t>
            </a:r>
            <a:r>
              <a:rPr lang="ru-RU" dirty="0"/>
              <a:t> </a:t>
            </a:r>
            <a:r>
              <a:rPr lang="ru-RU" dirty="0" err="1" smtClean="0"/>
              <a:t>гілок</a:t>
            </a:r>
            <a:r>
              <a:rPr lang="ru-RU" dirty="0" smtClean="0"/>
              <a:t>, </a:t>
            </a:r>
            <a:r>
              <a:rPr lang="ru-RU" dirty="0" err="1"/>
              <a:t>скільки</a:t>
            </a:r>
            <a:r>
              <a:rPr lang="ru-RU" dirty="0"/>
              <a:t> </a:t>
            </a:r>
            <a:r>
              <a:rPr lang="ru-RU" dirty="0" err="1"/>
              <a:t>різних</a:t>
            </a:r>
            <a:r>
              <a:rPr lang="ru-RU" dirty="0"/>
              <a:t> </a:t>
            </a:r>
            <a:r>
              <a:rPr lang="ru-RU" dirty="0" err="1"/>
              <a:t>значень</a:t>
            </a:r>
            <a:r>
              <a:rPr lang="en-US" dirty="0" smtClean="0"/>
              <a:t>. </a:t>
            </a:r>
            <a:endParaRPr lang="en-US" dirty="0"/>
          </a:p>
          <a:p>
            <a:pPr marL="257175" indent="-257175"/>
            <a:endParaRPr lang="en-US" dirty="0"/>
          </a:p>
          <a:p>
            <a:pPr marL="257175" indent="-257175"/>
            <a:endParaRPr lang="en-US" dirty="0"/>
          </a:p>
          <a:p>
            <a:pPr marL="257175" indent="-257175"/>
            <a:endParaRPr lang="en-US" dirty="0"/>
          </a:p>
          <a:p>
            <a:pPr marL="257175" indent="-257175"/>
            <a:r>
              <a:rPr lang="ru-RU" dirty="0" err="1" smtClean="0">
                <a:solidFill>
                  <a:srgbClr val="FF0000"/>
                </a:solidFill>
              </a:rPr>
              <a:t>Бінарне</a:t>
            </a:r>
            <a:r>
              <a:rPr lang="ru-RU" dirty="0" smtClean="0">
                <a:solidFill>
                  <a:srgbClr val="FF0000"/>
                </a:solidFill>
              </a:rPr>
              <a:t> </a:t>
            </a:r>
            <a:r>
              <a:rPr lang="ru-RU" dirty="0" err="1" smtClean="0">
                <a:solidFill>
                  <a:srgbClr val="FF0000"/>
                </a:solidFill>
              </a:rPr>
              <a:t>розгалуження</a:t>
            </a:r>
            <a:r>
              <a:rPr lang="ru-RU" dirty="0" smtClean="0">
                <a:solidFill>
                  <a:srgbClr val="FF0000"/>
                </a:solidFill>
              </a:rPr>
              <a:t>: </a:t>
            </a:r>
            <a:r>
              <a:rPr lang="ru-RU" dirty="0" err="1"/>
              <a:t>ділить</a:t>
            </a:r>
            <a:r>
              <a:rPr lang="ru-RU" dirty="0"/>
              <a:t> </a:t>
            </a:r>
            <a:r>
              <a:rPr lang="ru-RU" dirty="0" err="1"/>
              <a:t>значення</a:t>
            </a:r>
            <a:r>
              <a:rPr lang="ru-RU" dirty="0"/>
              <a:t> на два </a:t>
            </a:r>
            <a:r>
              <a:rPr lang="ru-RU" dirty="0" err="1"/>
              <a:t>підмножини</a:t>
            </a:r>
            <a:r>
              <a:rPr lang="ru-RU" dirty="0"/>
              <a:t>.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знайти</a:t>
            </a:r>
            <a:r>
              <a:rPr lang="ru-RU" dirty="0"/>
              <a:t> </a:t>
            </a:r>
            <a:r>
              <a:rPr lang="ru-RU" dirty="0" err="1"/>
              <a:t>оптимальне</a:t>
            </a:r>
            <a:r>
              <a:rPr lang="ru-RU" dirty="0"/>
              <a:t> </a:t>
            </a:r>
            <a:r>
              <a:rPr lang="ru-RU" dirty="0" err="1"/>
              <a:t>розділення</a:t>
            </a:r>
            <a:r>
              <a:rPr lang="ru-RU" dirty="0"/>
              <a:t>.</a:t>
            </a:r>
            <a:endParaRPr lang="en-US" sz="2700" dirty="0"/>
          </a:p>
        </p:txBody>
      </p:sp>
      <p:grpSp>
        <p:nvGrpSpPr>
          <p:cNvPr id="813060" name="Group 4"/>
          <p:cNvGrpSpPr>
            <a:grpSpLocks/>
          </p:cNvGrpSpPr>
          <p:nvPr/>
        </p:nvGrpSpPr>
        <p:grpSpPr bwMode="auto">
          <a:xfrm>
            <a:off x="3349150" y="1676399"/>
            <a:ext cx="2445967" cy="819151"/>
            <a:chOff x="1841" y="1680"/>
            <a:chExt cx="1573" cy="688"/>
          </a:xfrm>
        </p:grpSpPr>
        <p:sp>
          <p:nvSpPr>
            <p:cNvPr id="813061" name="Oval 5"/>
            <p:cNvSpPr>
              <a:spLocks noChangeArrowheads="1"/>
            </p:cNvSpPr>
            <p:nvPr/>
          </p:nvSpPr>
          <p:spPr bwMode="auto">
            <a:xfrm>
              <a:off x="2352" y="1680"/>
              <a:ext cx="576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 hangingPunct="1"/>
              <a:r>
                <a:rPr lang="en-US" sz="1600" kern="1200" dirty="0" err="1">
                  <a:solidFill>
                    <a:prstClr val="black"/>
                  </a:solidFill>
                  <a:latin typeface="Times New Roman" charset="0"/>
                  <a:ea typeface="+mn-ea"/>
                  <a:cs typeface="+mn-cs"/>
                </a:rPr>
                <a:t>CarType</a:t>
              </a:r>
              <a:endParaRPr lang="en-US" sz="1600" kern="1200" dirty="0">
                <a:solidFill>
                  <a:prstClr val="black"/>
                </a:solidFill>
                <a:latin typeface="Times New Roman" charset="0"/>
                <a:ea typeface="+mn-ea"/>
                <a:cs typeface="+mn-cs"/>
              </a:endParaRPr>
            </a:p>
          </p:txBody>
        </p:sp>
        <p:sp>
          <p:nvSpPr>
            <p:cNvPr id="813062" name="Line 6"/>
            <p:cNvSpPr>
              <a:spLocks noChangeShapeType="1"/>
            </p:cNvSpPr>
            <p:nvPr/>
          </p:nvSpPr>
          <p:spPr bwMode="auto">
            <a:xfrm flipH="1">
              <a:off x="2064" y="1968"/>
              <a:ext cx="576" cy="144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 defTabSz="685800" hangingPunct="1"/>
              <a:endParaRPr lang="en-US" sz="1600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813063" name="Line 7"/>
            <p:cNvSpPr>
              <a:spLocks noChangeShapeType="1"/>
            </p:cNvSpPr>
            <p:nvPr/>
          </p:nvSpPr>
          <p:spPr bwMode="auto">
            <a:xfrm>
              <a:off x="2640" y="1968"/>
              <a:ext cx="0" cy="288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 defTabSz="685800" hangingPunct="1"/>
              <a:endParaRPr lang="en-US" sz="1600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813064" name="Line 8"/>
            <p:cNvSpPr>
              <a:spLocks noChangeShapeType="1"/>
            </p:cNvSpPr>
            <p:nvPr/>
          </p:nvSpPr>
          <p:spPr bwMode="auto">
            <a:xfrm>
              <a:off x="2640" y="1968"/>
              <a:ext cx="576" cy="144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 defTabSz="685800" hangingPunct="1"/>
              <a:endParaRPr lang="en-US" sz="1600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813065" name="Text Box 9"/>
            <p:cNvSpPr txBox="1">
              <a:spLocks noChangeArrowheads="1"/>
            </p:cNvSpPr>
            <p:nvPr/>
          </p:nvSpPr>
          <p:spPr bwMode="auto">
            <a:xfrm>
              <a:off x="1841" y="1836"/>
              <a:ext cx="457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defTabSz="685800" hangingPunct="1"/>
              <a:r>
                <a:rPr lang="en-US" sz="1600" kern="1200" dirty="0">
                  <a:solidFill>
                    <a:prstClr val="black"/>
                  </a:solidFill>
                  <a:ea typeface="+mn-ea"/>
                  <a:cs typeface="+mn-cs"/>
                </a:rPr>
                <a:t>Family</a:t>
              </a:r>
            </a:p>
          </p:txBody>
        </p:sp>
        <p:sp>
          <p:nvSpPr>
            <p:cNvPr id="813066" name="Text Box 10"/>
            <p:cNvSpPr txBox="1">
              <a:spLocks noChangeArrowheads="1"/>
            </p:cNvSpPr>
            <p:nvPr/>
          </p:nvSpPr>
          <p:spPr bwMode="auto">
            <a:xfrm>
              <a:off x="2084" y="2084"/>
              <a:ext cx="457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defTabSz="685800" hangingPunct="1"/>
              <a:r>
                <a:rPr lang="en-US" sz="1600" kern="1200" dirty="0">
                  <a:solidFill>
                    <a:prstClr val="black"/>
                  </a:solidFill>
                  <a:ea typeface="+mn-ea"/>
                  <a:cs typeface="+mn-cs"/>
                </a:rPr>
                <a:t>Sports</a:t>
              </a:r>
            </a:p>
          </p:txBody>
        </p:sp>
        <p:sp>
          <p:nvSpPr>
            <p:cNvPr id="813067" name="Text Box 11"/>
            <p:cNvSpPr txBox="1">
              <a:spLocks noChangeArrowheads="1"/>
            </p:cNvSpPr>
            <p:nvPr/>
          </p:nvSpPr>
          <p:spPr bwMode="auto">
            <a:xfrm>
              <a:off x="2943" y="1836"/>
              <a:ext cx="471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defTabSz="685800" hangingPunct="1"/>
              <a:r>
                <a:rPr lang="en-US" sz="1600" kern="1200">
                  <a:solidFill>
                    <a:prstClr val="black"/>
                  </a:solidFill>
                  <a:ea typeface="+mn-ea"/>
                  <a:cs typeface="+mn-cs"/>
                </a:rPr>
                <a:t>Luxury</a:t>
              </a:r>
            </a:p>
          </p:txBody>
        </p:sp>
      </p:grpSp>
      <p:grpSp>
        <p:nvGrpSpPr>
          <p:cNvPr id="813068" name="Group 12"/>
          <p:cNvGrpSpPr>
            <a:grpSpLocks/>
          </p:cNvGrpSpPr>
          <p:nvPr/>
        </p:nvGrpSpPr>
        <p:grpSpPr bwMode="auto">
          <a:xfrm>
            <a:off x="4821022" y="3802685"/>
            <a:ext cx="3312860" cy="685800"/>
            <a:chOff x="3498" y="3216"/>
            <a:chExt cx="1994" cy="576"/>
          </a:xfrm>
        </p:grpSpPr>
        <p:sp>
          <p:nvSpPr>
            <p:cNvPr id="813069" name="Oval 13"/>
            <p:cNvSpPr>
              <a:spLocks noChangeArrowheads="1"/>
            </p:cNvSpPr>
            <p:nvPr/>
          </p:nvSpPr>
          <p:spPr bwMode="auto">
            <a:xfrm>
              <a:off x="4186" y="3216"/>
              <a:ext cx="576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 hangingPunct="1"/>
              <a:r>
                <a:rPr lang="en-US" sz="1600" kern="1200">
                  <a:solidFill>
                    <a:prstClr val="black"/>
                  </a:solidFill>
                  <a:latin typeface="Times New Roman" charset="0"/>
                  <a:ea typeface="+mn-ea"/>
                  <a:cs typeface="+mn-cs"/>
                </a:rPr>
                <a:t>CarType</a:t>
              </a:r>
            </a:p>
          </p:txBody>
        </p:sp>
        <p:sp>
          <p:nvSpPr>
            <p:cNvPr id="813070" name="Line 14"/>
            <p:cNvSpPr>
              <a:spLocks noChangeShapeType="1"/>
            </p:cNvSpPr>
            <p:nvPr/>
          </p:nvSpPr>
          <p:spPr bwMode="auto">
            <a:xfrm flipH="1">
              <a:off x="3946" y="3504"/>
              <a:ext cx="528" cy="24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 defTabSz="685800" hangingPunct="1"/>
              <a:endParaRPr lang="en-US" sz="1600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813071" name="Line 15"/>
            <p:cNvSpPr>
              <a:spLocks noChangeShapeType="1"/>
            </p:cNvSpPr>
            <p:nvPr/>
          </p:nvSpPr>
          <p:spPr bwMode="auto">
            <a:xfrm>
              <a:off x="4474" y="3504"/>
              <a:ext cx="480" cy="288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 defTabSz="685800" hangingPunct="1"/>
              <a:endParaRPr lang="en-US" sz="1600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813072" name="Text Box 16"/>
            <p:cNvSpPr txBox="1">
              <a:spLocks noChangeArrowheads="1"/>
            </p:cNvSpPr>
            <p:nvPr/>
          </p:nvSpPr>
          <p:spPr bwMode="auto">
            <a:xfrm>
              <a:off x="3498" y="3298"/>
              <a:ext cx="716" cy="4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defTabSz="685800" hangingPunct="1"/>
              <a:r>
                <a:rPr lang="en-US" sz="1600" kern="1200" dirty="0">
                  <a:solidFill>
                    <a:prstClr val="black"/>
                  </a:solidFill>
                  <a:ea typeface="+mn-ea"/>
                  <a:cs typeface="+mn-cs"/>
                </a:rPr>
                <a:t>{Family, </a:t>
              </a:r>
              <a:br>
                <a:rPr lang="en-US" sz="1600" kern="1200" dirty="0">
                  <a:solidFill>
                    <a:prstClr val="black"/>
                  </a:solidFill>
                  <a:ea typeface="+mn-ea"/>
                  <a:cs typeface="+mn-cs"/>
                </a:rPr>
              </a:br>
              <a:r>
                <a:rPr lang="en-US" sz="1600" kern="1200" dirty="0">
                  <a:solidFill>
                    <a:prstClr val="black"/>
                  </a:solidFill>
                  <a:ea typeface="+mn-ea"/>
                  <a:cs typeface="+mn-cs"/>
                </a:rPr>
                <a:t>Luxury}</a:t>
              </a:r>
            </a:p>
          </p:txBody>
        </p:sp>
        <p:sp>
          <p:nvSpPr>
            <p:cNvPr id="813073" name="Text Box 17"/>
            <p:cNvSpPr txBox="1">
              <a:spLocks noChangeArrowheads="1"/>
            </p:cNvSpPr>
            <p:nvPr/>
          </p:nvSpPr>
          <p:spPr bwMode="auto">
            <a:xfrm>
              <a:off x="4793" y="3379"/>
              <a:ext cx="699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defTabSz="685800" hangingPunct="1"/>
              <a:r>
                <a:rPr lang="en-US" sz="1600" kern="1200">
                  <a:solidFill>
                    <a:prstClr val="black"/>
                  </a:solidFill>
                  <a:ea typeface="+mn-ea"/>
                  <a:cs typeface="+mn-cs"/>
                </a:rPr>
                <a:t>{Sports}</a:t>
              </a:r>
            </a:p>
          </p:txBody>
        </p:sp>
      </p:grpSp>
      <p:grpSp>
        <p:nvGrpSpPr>
          <p:cNvPr id="813074" name="Group 18"/>
          <p:cNvGrpSpPr>
            <a:grpSpLocks/>
          </p:cNvGrpSpPr>
          <p:nvPr/>
        </p:nvGrpSpPr>
        <p:grpSpPr bwMode="auto">
          <a:xfrm>
            <a:off x="1167421" y="3653855"/>
            <a:ext cx="3143396" cy="1077515"/>
            <a:chOff x="768" y="3091"/>
            <a:chExt cx="1892" cy="905"/>
          </a:xfrm>
        </p:grpSpPr>
        <p:sp>
          <p:nvSpPr>
            <p:cNvPr id="813075" name="Oval 19"/>
            <p:cNvSpPr>
              <a:spLocks noChangeArrowheads="1"/>
            </p:cNvSpPr>
            <p:nvPr/>
          </p:nvSpPr>
          <p:spPr bwMode="auto">
            <a:xfrm>
              <a:off x="1494" y="3216"/>
              <a:ext cx="576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 hangingPunct="1"/>
              <a:r>
                <a:rPr lang="en-US" sz="1600" kern="1200" dirty="0" err="1">
                  <a:solidFill>
                    <a:prstClr val="black"/>
                  </a:solidFill>
                  <a:latin typeface="Times New Roman" charset="0"/>
                  <a:ea typeface="+mn-ea"/>
                  <a:cs typeface="+mn-cs"/>
                </a:rPr>
                <a:t>CarType</a:t>
              </a:r>
              <a:endParaRPr lang="en-US" sz="1600" kern="1200" dirty="0">
                <a:solidFill>
                  <a:prstClr val="black"/>
                </a:solidFill>
                <a:latin typeface="Times New Roman" charset="0"/>
                <a:ea typeface="+mn-ea"/>
                <a:cs typeface="+mn-cs"/>
              </a:endParaRPr>
            </a:p>
          </p:txBody>
        </p:sp>
        <p:sp>
          <p:nvSpPr>
            <p:cNvPr id="813076" name="Line 20"/>
            <p:cNvSpPr>
              <a:spLocks noChangeShapeType="1"/>
            </p:cNvSpPr>
            <p:nvPr/>
          </p:nvSpPr>
          <p:spPr bwMode="auto">
            <a:xfrm flipH="1">
              <a:off x="1254" y="3504"/>
              <a:ext cx="528" cy="24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 defTabSz="685800" hangingPunct="1"/>
              <a:endParaRPr lang="en-US" sz="1600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813077" name="Line 21"/>
            <p:cNvSpPr>
              <a:spLocks noChangeShapeType="1"/>
            </p:cNvSpPr>
            <p:nvPr/>
          </p:nvSpPr>
          <p:spPr bwMode="auto">
            <a:xfrm>
              <a:off x="1782" y="3504"/>
              <a:ext cx="480" cy="288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 defTabSz="685800" hangingPunct="1"/>
              <a:endParaRPr lang="en-US" sz="1600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813078" name="Text Box 22"/>
            <p:cNvSpPr txBox="1">
              <a:spLocks noChangeArrowheads="1"/>
            </p:cNvSpPr>
            <p:nvPr/>
          </p:nvSpPr>
          <p:spPr bwMode="auto">
            <a:xfrm>
              <a:off x="768" y="3091"/>
              <a:ext cx="594" cy="9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defTabSz="685800" hangingPunct="1"/>
              <a:r>
                <a:rPr lang="en-US" sz="1600" kern="1200">
                  <a:solidFill>
                    <a:prstClr val="black"/>
                  </a:solidFill>
                  <a:ea typeface="+mn-ea"/>
                  <a:cs typeface="+mn-cs"/>
                </a:rPr>
                <a:t>{Sports, Luxury}</a:t>
              </a:r>
            </a:p>
          </p:txBody>
        </p:sp>
        <p:sp>
          <p:nvSpPr>
            <p:cNvPr id="813079" name="Text Box 23"/>
            <p:cNvSpPr txBox="1">
              <a:spLocks noChangeArrowheads="1"/>
            </p:cNvSpPr>
            <p:nvPr/>
          </p:nvSpPr>
          <p:spPr bwMode="auto">
            <a:xfrm>
              <a:off x="1960" y="3420"/>
              <a:ext cx="700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defTabSz="685800" hangingPunct="1"/>
              <a:r>
                <a:rPr lang="en-US" sz="1600" kern="1200">
                  <a:solidFill>
                    <a:prstClr val="black"/>
                  </a:solidFill>
                  <a:ea typeface="+mn-ea"/>
                  <a:cs typeface="+mn-cs"/>
                </a:rPr>
                <a:t>{Family}</a:t>
              </a:r>
            </a:p>
          </p:txBody>
        </p:sp>
      </p:grpSp>
      <p:sp>
        <p:nvSpPr>
          <p:cNvPr id="813080" name="Text Box 24"/>
          <p:cNvSpPr txBox="1">
            <a:spLocks noChangeArrowheads="1"/>
          </p:cNvSpPr>
          <p:nvPr/>
        </p:nvSpPr>
        <p:spPr bwMode="auto">
          <a:xfrm>
            <a:off x="4292238" y="3983202"/>
            <a:ext cx="5052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685800" hangingPunct="1"/>
            <a:r>
              <a:rPr lang="en-US" sz="1800" kern="1200" dirty="0">
                <a:solidFill>
                  <a:prstClr val="black"/>
                </a:solidFill>
                <a:latin typeface="Times New Roman" charset="0"/>
                <a:ea typeface="+mn-ea"/>
                <a:cs typeface="+mn-cs"/>
              </a:rPr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2906499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638" name="Rectangle 30"/>
          <p:cNvSpPr>
            <a:spLocks noGrp="1" noChangeArrowheads="1"/>
          </p:cNvSpPr>
          <p:nvPr>
            <p:ph type="body" idx="4294967295"/>
          </p:nvPr>
        </p:nvSpPr>
        <p:spPr>
          <a:xfrm>
            <a:off x="97009" y="875109"/>
            <a:ext cx="8948792" cy="3943350"/>
          </a:xfrm>
          <a:prstGeom prst="rect">
            <a:avLst/>
          </a:prstGeom>
          <a:noFill/>
          <a:ln/>
        </p:spPr>
        <p:txBody>
          <a:bodyPr>
            <a:normAutofit/>
          </a:bodyPr>
          <a:lstStyle/>
          <a:p>
            <a:pPr marL="257175" indent="-257175"/>
            <a:r>
              <a:rPr lang="ru-RU" dirty="0" err="1">
                <a:solidFill>
                  <a:srgbClr val="FF0000"/>
                </a:solidFill>
              </a:rPr>
              <a:t>Багатосторонній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ru-RU" dirty="0" err="1">
                <a:solidFill>
                  <a:srgbClr val="FF0000"/>
                </a:solidFill>
              </a:rPr>
              <a:t>розділ</a:t>
            </a:r>
            <a:r>
              <a:rPr lang="ru-RU" dirty="0">
                <a:solidFill>
                  <a:srgbClr val="FF0000"/>
                </a:solidFill>
              </a:rPr>
              <a:t>: </a:t>
            </a:r>
            <a:endParaRPr lang="ru-RU" dirty="0" smtClean="0">
              <a:solidFill>
                <a:srgbClr val="FF000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 err="1" smtClean="0"/>
              <a:t>використовуйте</a:t>
            </a:r>
            <a:r>
              <a:rPr lang="ru-RU" dirty="0" smtClean="0"/>
              <a:t> </a:t>
            </a:r>
            <a:r>
              <a:rPr lang="ru-RU" dirty="0" err="1"/>
              <a:t>стільки</a:t>
            </a:r>
            <a:r>
              <a:rPr lang="ru-RU" dirty="0"/>
              <a:t> </a:t>
            </a:r>
            <a:r>
              <a:rPr lang="ru-RU" dirty="0" err="1"/>
              <a:t>розділів</a:t>
            </a:r>
            <a:r>
              <a:rPr lang="ru-RU" dirty="0"/>
              <a:t>, </a:t>
            </a:r>
            <a:r>
              <a:rPr lang="ru-RU" dirty="0" err="1"/>
              <a:t>скільки</a:t>
            </a:r>
            <a:r>
              <a:rPr lang="ru-RU" dirty="0"/>
              <a:t> </a:t>
            </a:r>
            <a:r>
              <a:rPr lang="ru-RU" dirty="0" err="1"/>
              <a:t>різних</a:t>
            </a:r>
            <a:r>
              <a:rPr lang="ru-RU" dirty="0"/>
              <a:t> </a:t>
            </a:r>
            <a:r>
              <a:rPr lang="ru-RU" dirty="0" err="1"/>
              <a:t>значень</a:t>
            </a:r>
            <a:r>
              <a:rPr lang="ru-RU" dirty="0"/>
              <a:t>.</a:t>
            </a:r>
            <a:endParaRPr lang="en-US" dirty="0"/>
          </a:p>
          <a:p>
            <a:pPr marL="257175" indent="-257175"/>
            <a:endParaRPr lang="en-US" dirty="0"/>
          </a:p>
          <a:p>
            <a:pPr lvl="4"/>
            <a:endParaRPr lang="en-US" sz="900" dirty="0">
              <a:solidFill>
                <a:srgbClr val="FF0000"/>
              </a:solidFill>
            </a:endParaRPr>
          </a:p>
          <a:p>
            <a:pPr marL="257175" indent="-257175"/>
            <a:r>
              <a:rPr lang="ru-RU" dirty="0" err="1">
                <a:solidFill>
                  <a:srgbClr val="FF0000"/>
                </a:solidFill>
              </a:rPr>
              <a:t>Двійковий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ru-RU" dirty="0" err="1">
                <a:solidFill>
                  <a:srgbClr val="FF0000"/>
                </a:solidFill>
              </a:rPr>
              <a:t>розподіл</a:t>
            </a:r>
            <a:r>
              <a:rPr lang="ru-RU" dirty="0">
                <a:solidFill>
                  <a:srgbClr val="FF0000"/>
                </a:solidFill>
              </a:rPr>
              <a:t>: </a:t>
            </a:r>
            <a:endParaRPr lang="ru-RU" dirty="0" smtClean="0">
              <a:solidFill>
                <a:srgbClr val="FF000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 err="1" smtClean="0"/>
              <a:t>Розділяє</a:t>
            </a:r>
            <a:r>
              <a:rPr lang="ru-RU" dirty="0" smtClean="0"/>
              <a:t> </a:t>
            </a:r>
            <a:r>
              <a:rPr lang="ru-RU" dirty="0" err="1"/>
              <a:t>значення</a:t>
            </a:r>
            <a:r>
              <a:rPr lang="ru-RU" dirty="0"/>
              <a:t> на </a:t>
            </a:r>
            <a:r>
              <a:rPr lang="ru-RU" dirty="0" err="1"/>
              <a:t>дві</a:t>
            </a:r>
            <a:r>
              <a:rPr lang="ru-RU" dirty="0"/>
              <a:t> </a:t>
            </a:r>
            <a:r>
              <a:rPr lang="ru-RU" dirty="0" err="1"/>
              <a:t>підмножини</a:t>
            </a:r>
            <a:endParaRPr lang="ru-RU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 err="1"/>
              <a:t>Зберегти</a:t>
            </a:r>
            <a:r>
              <a:rPr lang="ru-RU" dirty="0"/>
              <a:t> </a:t>
            </a:r>
            <a:r>
              <a:rPr lang="ru-RU" dirty="0" err="1"/>
              <a:t>властивість</a:t>
            </a:r>
            <a:r>
              <a:rPr lang="ru-RU" dirty="0"/>
              <a:t> </a:t>
            </a:r>
            <a:r>
              <a:rPr lang="ru-RU" dirty="0" err="1"/>
              <a:t>замовлення</a:t>
            </a:r>
            <a:r>
              <a:rPr lang="ru-RU" dirty="0"/>
              <a:t> </a:t>
            </a:r>
            <a:r>
              <a:rPr lang="ru-RU" dirty="0" err="1"/>
              <a:t>серед</a:t>
            </a:r>
            <a:r>
              <a:rPr lang="ru-RU" dirty="0"/>
              <a:t> </a:t>
            </a:r>
            <a:r>
              <a:rPr lang="ru-RU" dirty="0" err="1"/>
              <a:t>значень</a:t>
            </a:r>
            <a:r>
              <a:rPr lang="ru-RU" dirty="0"/>
              <a:t> </a:t>
            </a:r>
            <a:r>
              <a:rPr lang="ru-RU" dirty="0" err="1"/>
              <a:t>атрибутів</a:t>
            </a:r>
            <a:r>
              <a:rPr lang="ru-RU" dirty="0" smtClean="0">
                <a:solidFill>
                  <a:srgbClr val="FF0000"/>
                </a:solidFill>
              </a:rPr>
              <a:t>.</a:t>
            </a:r>
            <a:endParaRPr lang="en-US" dirty="0"/>
          </a:p>
          <a:p>
            <a:pPr marL="257175" indent="-257175"/>
            <a:endParaRPr lang="en-US" dirty="0"/>
          </a:p>
          <a:p>
            <a:pPr marL="257175" indent="-257175"/>
            <a:endParaRPr lang="en-US" dirty="0"/>
          </a:p>
          <a:p>
            <a:pPr marL="257175" indent="-257175"/>
            <a:endParaRPr lang="uk-UA" dirty="0" smtClean="0"/>
          </a:p>
        </p:txBody>
      </p:sp>
      <p:grpSp>
        <p:nvGrpSpPr>
          <p:cNvPr id="836634" name="Group 26"/>
          <p:cNvGrpSpPr>
            <a:grpSpLocks/>
          </p:cNvGrpSpPr>
          <p:nvPr/>
        </p:nvGrpSpPr>
        <p:grpSpPr bwMode="auto">
          <a:xfrm>
            <a:off x="6322220" y="1415241"/>
            <a:ext cx="2493761" cy="772717"/>
            <a:chOff x="1867" y="1248"/>
            <a:chExt cx="1629" cy="649"/>
          </a:xfrm>
        </p:grpSpPr>
        <p:sp>
          <p:nvSpPr>
            <p:cNvPr id="836613" name="Oval 5"/>
            <p:cNvSpPr>
              <a:spLocks noChangeArrowheads="1"/>
            </p:cNvSpPr>
            <p:nvPr/>
          </p:nvSpPr>
          <p:spPr bwMode="auto">
            <a:xfrm>
              <a:off x="2352" y="1248"/>
              <a:ext cx="576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 hangingPunct="1"/>
              <a:r>
                <a:rPr lang="en-US" sz="1600" kern="1200" dirty="0">
                  <a:solidFill>
                    <a:prstClr val="black"/>
                  </a:solidFill>
                  <a:latin typeface="Times New Roman" charset="0"/>
                  <a:ea typeface="+mn-ea"/>
                  <a:cs typeface="+mn-cs"/>
                </a:rPr>
                <a:t>Size</a:t>
              </a:r>
            </a:p>
          </p:txBody>
        </p:sp>
        <p:sp>
          <p:nvSpPr>
            <p:cNvPr id="836614" name="Line 6"/>
            <p:cNvSpPr>
              <a:spLocks noChangeShapeType="1"/>
            </p:cNvSpPr>
            <p:nvPr/>
          </p:nvSpPr>
          <p:spPr bwMode="auto">
            <a:xfrm flipH="1">
              <a:off x="2064" y="1536"/>
              <a:ext cx="57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 defTabSz="685800" hangingPunct="1"/>
              <a:endParaRPr lang="en-US" sz="1600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836615" name="Line 7"/>
            <p:cNvSpPr>
              <a:spLocks noChangeShapeType="1"/>
            </p:cNvSpPr>
            <p:nvPr/>
          </p:nvSpPr>
          <p:spPr bwMode="auto">
            <a:xfrm>
              <a:off x="2640" y="153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 defTabSz="685800" hangingPunct="1"/>
              <a:endParaRPr lang="en-US" sz="1600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836616" name="Line 8"/>
            <p:cNvSpPr>
              <a:spLocks noChangeShapeType="1"/>
            </p:cNvSpPr>
            <p:nvPr/>
          </p:nvSpPr>
          <p:spPr bwMode="auto">
            <a:xfrm>
              <a:off x="2640" y="1536"/>
              <a:ext cx="57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 defTabSz="685800" hangingPunct="1"/>
              <a:endParaRPr lang="en-US" sz="1600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836617" name="Text Box 9"/>
            <p:cNvSpPr txBox="1">
              <a:spLocks noChangeArrowheads="1"/>
            </p:cNvSpPr>
            <p:nvPr/>
          </p:nvSpPr>
          <p:spPr bwMode="auto">
            <a:xfrm>
              <a:off x="1867" y="1404"/>
              <a:ext cx="409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defTabSz="685800" hangingPunct="1"/>
              <a:r>
                <a:rPr lang="en-US" sz="1600" kern="1200">
                  <a:solidFill>
                    <a:prstClr val="black"/>
                  </a:solidFill>
                  <a:ea typeface="+mn-ea"/>
                  <a:cs typeface="+mn-cs"/>
                </a:rPr>
                <a:t>Small</a:t>
              </a:r>
            </a:p>
          </p:txBody>
        </p:sp>
        <p:sp>
          <p:nvSpPr>
            <p:cNvPr id="836618" name="Text Box 10"/>
            <p:cNvSpPr txBox="1">
              <a:spLocks noChangeArrowheads="1"/>
            </p:cNvSpPr>
            <p:nvPr/>
          </p:nvSpPr>
          <p:spPr bwMode="auto">
            <a:xfrm>
              <a:off x="2077" y="1613"/>
              <a:ext cx="575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defTabSz="685800" hangingPunct="1"/>
              <a:r>
                <a:rPr lang="en-US" sz="1600" kern="1200" dirty="0">
                  <a:solidFill>
                    <a:prstClr val="black"/>
                  </a:solidFill>
                  <a:ea typeface="+mn-ea"/>
                  <a:cs typeface="+mn-cs"/>
                </a:rPr>
                <a:t>Medium</a:t>
              </a:r>
            </a:p>
          </p:txBody>
        </p:sp>
        <p:sp>
          <p:nvSpPr>
            <p:cNvPr id="836619" name="Text Box 11"/>
            <p:cNvSpPr txBox="1">
              <a:spLocks noChangeArrowheads="1"/>
            </p:cNvSpPr>
            <p:nvPr/>
          </p:nvSpPr>
          <p:spPr bwMode="auto">
            <a:xfrm>
              <a:off x="3084" y="1397"/>
              <a:ext cx="412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defTabSz="685800" hangingPunct="1"/>
              <a:r>
                <a:rPr lang="en-US" sz="1600" kern="1200">
                  <a:solidFill>
                    <a:prstClr val="black"/>
                  </a:solidFill>
                  <a:ea typeface="+mn-ea"/>
                  <a:cs typeface="+mn-cs"/>
                </a:rPr>
                <a:t>Large</a:t>
              </a:r>
            </a:p>
          </p:txBody>
        </p:sp>
      </p:grpSp>
      <p:grpSp>
        <p:nvGrpSpPr>
          <p:cNvPr id="836620" name="Group 12"/>
          <p:cNvGrpSpPr>
            <a:grpSpLocks/>
          </p:cNvGrpSpPr>
          <p:nvPr/>
        </p:nvGrpSpPr>
        <p:grpSpPr bwMode="auto">
          <a:xfrm>
            <a:off x="5478177" y="3127850"/>
            <a:ext cx="2901201" cy="685800"/>
            <a:chOff x="3561" y="3216"/>
            <a:chExt cx="1651" cy="576"/>
          </a:xfrm>
        </p:grpSpPr>
        <p:sp>
          <p:nvSpPr>
            <p:cNvPr id="836621" name="Oval 13"/>
            <p:cNvSpPr>
              <a:spLocks noChangeArrowheads="1"/>
            </p:cNvSpPr>
            <p:nvPr/>
          </p:nvSpPr>
          <p:spPr bwMode="auto">
            <a:xfrm>
              <a:off x="4186" y="3216"/>
              <a:ext cx="576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 hangingPunct="1"/>
              <a:r>
                <a:rPr lang="en-US" sz="1600" kern="1200">
                  <a:solidFill>
                    <a:prstClr val="black"/>
                  </a:solidFill>
                  <a:latin typeface="Times New Roman" charset="0"/>
                  <a:ea typeface="+mn-ea"/>
                  <a:cs typeface="+mn-cs"/>
                </a:rPr>
                <a:t>Size</a:t>
              </a:r>
            </a:p>
          </p:txBody>
        </p:sp>
        <p:sp>
          <p:nvSpPr>
            <p:cNvPr id="836622" name="Line 14"/>
            <p:cNvSpPr>
              <a:spLocks noChangeShapeType="1"/>
            </p:cNvSpPr>
            <p:nvPr/>
          </p:nvSpPr>
          <p:spPr bwMode="auto">
            <a:xfrm flipH="1">
              <a:off x="3946" y="3504"/>
              <a:ext cx="52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 defTabSz="685800" hangingPunct="1"/>
              <a:endParaRPr lang="en-US" sz="1600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836623" name="Line 15"/>
            <p:cNvSpPr>
              <a:spLocks noChangeShapeType="1"/>
            </p:cNvSpPr>
            <p:nvPr/>
          </p:nvSpPr>
          <p:spPr bwMode="auto">
            <a:xfrm>
              <a:off x="4474" y="3504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 defTabSz="685800" hangingPunct="1"/>
              <a:endParaRPr lang="en-US" sz="1600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836624" name="Text Box 16"/>
            <p:cNvSpPr txBox="1">
              <a:spLocks noChangeArrowheads="1"/>
            </p:cNvSpPr>
            <p:nvPr/>
          </p:nvSpPr>
          <p:spPr bwMode="auto">
            <a:xfrm>
              <a:off x="3561" y="3298"/>
              <a:ext cx="590" cy="4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defTabSz="685800" hangingPunct="1"/>
              <a:r>
                <a:rPr lang="en-US" sz="1600" kern="1200" dirty="0">
                  <a:solidFill>
                    <a:prstClr val="black"/>
                  </a:solidFill>
                  <a:ea typeface="+mn-ea"/>
                  <a:cs typeface="+mn-cs"/>
                </a:rPr>
                <a:t>{Medium, </a:t>
              </a:r>
              <a:br>
                <a:rPr lang="en-US" sz="1600" kern="1200" dirty="0">
                  <a:solidFill>
                    <a:prstClr val="black"/>
                  </a:solidFill>
                  <a:ea typeface="+mn-ea"/>
                  <a:cs typeface="+mn-cs"/>
                </a:rPr>
              </a:br>
              <a:r>
                <a:rPr lang="en-US" sz="1600" kern="1200" dirty="0">
                  <a:solidFill>
                    <a:prstClr val="black"/>
                  </a:solidFill>
                  <a:ea typeface="+mn-ea"/>
                  <a:cs typeface="+mn-cs"/>
                </a:rPr>
                <a:t>Large}</a:t>
              </a:r>
            </a:p>
          </p:txBody>
        </p:sp>
        <p:sp>
          <p:nvSpPr>
            <p:cNvPr id="836625" name="Text Box 17"/>
            <p:cNvSpPr txBox="1">
              <a:spLocks noChangeArrowheads="1"/>
            </p:cNvSpPr>
            <p:nvPr/>
          </p:nvSpPr>
          <p:spPr bwMode="auto">
            <a:xfrm>
              <a:off x="4787" y="3420"/>
              <a:ext cx="425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defTabSz="685800" hangingPunct="1"/>
              <a:r>
                <a:rPr lang="en-US" sz="1600" kern="1200">
                  <a:solidFill>
                    <a:prstClr val="black"/>
                  </a:solidFill>
                  <a:ea typeface="+mn-ea"/>
                  <a:cs typeface="+mn-cs"/>
                </a:rPr>
                <a:t>{Small}</a:t>
              </a:r>
            </a:p>
          </p:txBody>
        </p:sp>
      </p:grpSp>
      <p:grpSp>
        <p:nvGrpSpPr>
          <p:cNvPr id="836626" name="Group 18"/>
          <p:cNvGrpSpPr>
            <a:grpSpLocks/>
          </p:cNvGrpSpPr>
          <p:nvPr/>
        </p:nvGrpSpPr>
        <p:grpSpPr bwMode="auto">
          <a:xfrm>
            <a:off x="636998" y="3127850"/>
            <a:ext cx="2916071" cy="685800"/>
            <a:chOff x="768" y="3216"/>
            <a:chExt cx="1769" cy="576"/>
          </a:xfrm>
        </p:grpSpPr>
        <p:sp>
          <p:nvSpPr>
            <p:cNvPr id="836627" name="Oval 19"/>
            <p:cNvSpPr>
              <a:spLocks noChangeArrowheads="1"/>
            </p:cNvSpPr>
            <p:nvPr/>
          </p:nvSpPr>
          <p:spPr bwMode="auto">
            <a:xfrm>
              <a:off x="1494" y="3216"/>
              <a:ext cx="576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 hangingPunct="1"/>
              <a:r>
                <a:rPr lang="en-US" sz="1600" kern="1200" dirty="0">
                  <a:solidFill>
                    <a:prstClr val="black"/>
                  </a:solidFill>
                  <a:latin typeface="Times New Roman" charset="0"/>
                  <a:ea typeface="+mn-ea"/>
                  <a:cs typeface="+mn-cs"/>
                </a:rPr>
                <a:t>Size</a:t>
              </a:r>
            </a:p>
          </p:txBody>
        </p:sp>
        <p:sp>
          <p:nvSpPr>
            <p:cNvPr id="836628" name="Line 20"/>
            <p:cNvSpPr>
              <a:spLocks noChangeShapeType="1"/>
            </p:cNvSpPr>
            <p:nvPr/>
          </p:nvSpPr>
          <p:spPr bwMode="auto">
            <a:xfrm flipH="1">
              <a:off x="1254" y="3504"/>
              <a:ext cx="52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 defTabSz="685800" hangingPunct="1"/>
              <a:endParaRPr lang="en-US" sz="1600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836629" name="Line 21"/>
            <p:cNvSpPr>
              <a:spLocks noChangeShapeType="1"/>
            </p:cNvSpPr>
            <p:nvPr/>
          </p:nvSpPr>
          <p:spPr bwMode="auto">
            <a:xfrm>
              <a:off x="1782" y="3504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 defTabSz="685800" hangingPunct="1"/>
              <a:endParaRPr lang="en-US" sz="1600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836630" name="Text Box 22"/>
            <p:cNvSpPr txBox="1">
              <a:spLocks noChangeArrowheads="1"/>
            </p:cNvSpPr>
            <p:nvPr/>
          </p:nvSpPr>
          <p:spPr bwMode="auto">
            <a:xfrm>
              <a:off x="768" y="3298"/>
              <a:ext cx="594" cy="4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defTabSz="685800" hangingPunct="1"/>
              <a:r>
                <a:rPr lang="en-US" sz="1600" kern="1200">
                  <a:solidFill>
                    <a:prstClr val="black"/>
                  </a:solidFill>
                  <a:ea typeface="+mn-ea"/>
                  <a:cs typeface="+mn-cs"/>
                </a:rPr>
                <a:t>{Small, Medium}</a:t>
              </a:r>
            </a:p>
          </p:txBody>
        </p:sp>
        <p:sp>
          <p:nvSpPr>
            <p:cNvPr id="836631" name="Text Box 23"/>
            <p:cNvSpPr txBox="1">
              <a:spLocks noChangeArrowheads="1"/>
            </p:cNvSpPr>
            <p:nvPr/>
          </p:nvSpPr>
          <p:spPr bwMode="auto">
            <a:xfrm>
              <a:off x="2081" y="3420"/>
              <a:ext cx="456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defTabSz="685800" hangingPunct="1"/>
              <a:r>
                <a:rPr lang="en-US" sz="1600" kern="1200">
                  <a:solidFill>
                    <a:prstClr val="black"/>
                  </a:solidFill>
                  <a:ea typeface="+mn-ea"/>
                  <a:cs typeface="+mn-cs"/>
                </a:rPr>
                <a:t>{Large}</a:t>
              </a:r>
            </a:p>
          </p:txBody>
        </p:sp>
      </p:grpSp>
      <p:sp>
        <p:nvSpPr>
          <p:cNvPr id="836632" name="Text Box 24"/>
          <p:cNvSpPr txBox="1">
            <a:spLocks noChangeArrowheads="1"/>
          </p:cNvSpPr>
          <p:nvPr/>
        </p:nvSpPr>
        <p:spPr bwMode="auto">
          <a:xfrm>
            <a:off x="4399705" y="3127848"/>
            <a:ext cx="5052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685800" hangingPunct="1"/>
            <a:r>
              <a:rPr lang="en-US" sz="1800" kern="1200" dirty="0">
                <a:solidFill>
                  <a:prstClr val="black"/>
                </a:solidFill>
                <a:latin typeface="Times New Roman" charset="0"/>
                <a:ea typeface="+mn-ea"/>
                <a:cs typeface="+mn-cs"/>
              </a:rPr>
              <a:t>OR</a:t>
            </a:r>
          </a:p>
        </p:txBody>
      </p:sp>
      <p:sp>
        <p:nvSpPr>
          <p:cNvPr id="31" name="Rectangle 2"/>
          <p:cNvSpPr txBox="1">
            <a:spLocks noChangeArrowheads="1"/>
          </p:cNvSpPr>
          <p:nvPr/>
        </p:nvSpPr>
        <p:spPr>
          <a:xfrm>
            <a:off x="195208" y="120253"/>
            <a:ext cx="8948791" cy="5715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 err="1" smtClean="0">
                <a:solidFill>
                  <a:schemeClr val="bg1"/>
                </a:solidFill>
                <a:latin typeface="+mn-lt"/>
              </a:rPr>
              <a:t>Розгалуження</a:t>
            </a:r>
            <a:r>
              <a:rPr lang="ru-RU" b="1" dirty="0" smtClean="0">
                <a:solidFill>
                  <a:schemeClr val="bg1"/>
                </a:solidFill>
                <a:latin typeface="+mn-lt"/>
              </a:rPr>
              <a:t> на </a:t>
            </a:r>
            <a:r>
              <a:rPr lang="ru-RU" b="1" dirty="0" err="1" smtClean="0">
                <a:solidFill>
                  <a:schemeClr val="bg1"/>
                </a:solidFill>
                <a:latin typeface="+mn-lt"/>
              </a:rPr>
              <a:t>основі</a:t>
            </a:r>
            <a:r>
              <a:rPr lang="ru-RU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b="1" dirty="0" err="1" smtClean="0">
                <a:solidFill>
                  <a:schemeClr val="bg1"/>
                </a:solidFill>
                <a:latin typeface="+mn-lt"/>
              </a:rPr>
              <a:t>порядкових</a:t>
            </a:r>
            <a:r>
              <a:rPr lang="ru-RU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b="1" dirty="0" err="1" smtClean="0">
                <a:solidFill>
                  <a:schemeClr val="bg1"/>
                </a:solidFill>
                <a:latin typeface="+mn-lt"/>
              </a:rPr>
              <a:t>атрибутів</a:t>
            </a:r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4739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084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5498"/>
            <a:ext cx="9144000" cy="685800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ru-RU" sz="3200" b="1" dirty="0" err="1">
                <a:solidFill>
                  <a:schemeClr val="bg1"/>
                </a:solidFill>
                <a:latin typeface="+mn-lt"/>
              </a:rPr>
              <a:t>Розбиття</a:t>
            </a:r>
            <a:r>
              <a:rPr lang="ru-RU" sz="3200" b="1" dirty="0">
                <a:solidFill>
                  <a:schemeClr val="bg1"/>
                </a:solidFill>
                <a:latin typeface="+mn-lt"/>
              </a:rPr>
              <a:t> на </a:t>
            </a:r>
            <a:r>
              <a:rPr lang="ru-RU" sz="3200" b="1" dirty="0" err="1">
                <a:solidFill>
                  <a:schemeClr val="bg1"/>
                </a:solidFill>
                <a:latin typeface="+mn-lt"/>
              </a:rPr>
              <a:t>основі</a:t>
            </a:r>
            <a:r>
              <a:rPr lang="ru-RU" sz="32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200" b="1" dirty="0" err="1">
                <a:solidFill>
                  <a:schemeClr val="bg1"/>
                </a:solidFill>
                <a:latin typeface="+mn-lt"/>
              </a:rPr>
              <a:t>безперервних</a:t>
            </a:r>
            <a:r>
              <a:rPr lang="ru-RU" sz="32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200" b="1" dirty="0" err="1">
                <a:solidFill>
                  <a:schemeClr val="bg1"/>
                </a:solidFill>
                <a:latin typeface="+mn-lt"/>
              </a:rPr>
              <a:t>атрибутів</a:t>
            </a:r>
            <a:endParaRPr lang="en-US" sz="32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256855" y="789875"/>
            <a:ext cx="8887146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b="1" dirty="0" err="1">
                <a:latin typeface="+mn-lt"/>
              </a:rPr>
              <a:t>Різні</a:t>
            </a:r>
            <a:r>
              <a:rPr lang="ru-RU" b="1" dirty="0">
                <a:latin typeface="+mn-lt"/>
              </a:rPr>
              <a:t> </a:t>
            </a:r>
            <a:r>
              <a:rPr lang="ru-RU" b="1" dirty="0" err="1">
                <a:latin typeface="+mn-lt"/>
              </a:rPr>
              <a:t>способи</a:t>
            </a:r>
            <a:r>
              <a:rPr lang="ru-RU" b="1" dirty="0">
                <a:latin typeface="+mn-lt"/>
              </a:rPr>
              <a:t> </a:t>
            </a:r>
            <a:r>
              <a:rPr lang="ru-RU" b="1" dirty="0" err="1">
                <a:latin typeface="+mn-lt"/>
              </a:rPr>
              <a:t>поводження</a:t>
            </a:r>
            <a:endParaRPr lang="ru-RU" b="1" dirty="0">
              <a:latin typeface="+mn-lt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dirty="0" err="1">
                <a:solidFill>
                  <a:srgbClr val="FF0000"/>
                </a:solidFill>
                <a:latin typeface="+mn-lt"/>
              </a:rPr>
              <a:t>Дискретність</a:t>
            </a:r>
            <a:r>
              <a:rPr lang="ru-RU" dirty="0">
                <a:solidFill>
                  <a:srgbClr val="FF0000"/>
                </a:solidFill>
                <a:latin typeface="+mn-lt"/>
              </a:rPr>
              <a:t> </a:t>
            </a:r>
            <a:r>
              <a:rPr lang="ru-RU" dirty="0">
                <a:latin typeface="+mn-lt"/>
              </a:rPr>
              <a:t>для </a:t>
            </a:r>
            <a:r>
              <a:rPr lang="ru-RU" dirty="0" err="1">
                <a:latin typeface="+mn-lt"/>
              </a:rPr>
              <a:t>формування</a:t>
            </a:r>
            <a:r>
              <a:rPr lang="ru-RU" dirty="0">
                <a:latin typeface="+mn-lt"/>
              </a:rPr>
              <a:t> порядкового </a:t>
            </a:r>
            <a:r>
              <a:rPr lang="ru-RU" dirty="0" err="1">
                <a:latin typeface="+mn-lt"/>
              </a:rPr>
              <a:t>категоріального</a:t>
            </a:r>
            <a:r>
              <a:rPr lang="ru-RU" dirty="0">
                <a:latin typeface="+mn-lt"/>
              </a:rPr>
              <a:t> атрибута</a:t>
            </a:r>
          </a:p>
          <a:p>
            <a:pPr marL="893763" lvl="2" indent="-342900" algn="l">
              <a:buFont typeface="Wingdings" panose="05000000000000000000" pitchFamily="2" charset="2"/>
              <a:buChar char="Ø"/>
            </a:pPr>
            <a:r>
              <a:rPr lang="ru-RU" b="1" dirty="0" err="1" smtClean="0">
                <a:solidFill>
                  <a:srgbClr val="0000CC"/>
                </a:solidFill>
                <a:latin typeface="+mn-lt"/>
              </a:rPr>
              <a:t>Статичний</a:t>
            </a:r>
            <a:r>
              <a:rPr lang="ru-RU" dirty="0" smtClean="0">
                <a:solidFill>
                  <a:srgbClr val="0000CC"/>
                </a:solidFill>
                <a:latin typeface="+mn-lt"/>
              </a:rPr>
              <a:t> </a:t>
            </a:r>
            <a:r>
              <a:rPr lang="ru-RU" dirty="0">
                <a:latin typeface="+mn-lt"/>
              </a:rPr>
              <a:t>- </a:t>
            </a:r>
            <a:r>
              <a:rPr lang="ru-RU" dirty="0" err="1">
                <a:latin typeface="+mn-lt"/>
              </a:rPr>
              <a:t>дискретизуйте</a:t>
            </a:r>
            <a:r>
              <a:rPr lang="ru-RU" dirty="0">
                <a:latin typeface="+mn-lt"/>
              </a:rPr>
              <a:t> один раз на початку</a:t>
            </a:r>
          </a:p>
          <a:p>
            <a:pPr marL="893763" lvl="2" indent="-342900" algn="l">
              <a:buFont typeface="Wingdings" panose="05000000000000000000" pitchFamily="2" charset="2"/>
              <a:buChar char="Ø"/>
            </a:pPr>
            <a:r>
              <a:rPr lang="ru-RU" b="1" dirty="0" err="1" smtClean="0">
                <a:solidFill>
                  <a:srgbClr val="0000CC"/>
                </a:solidFill>
                <a:latin typeface="+mn-lt"/>
              </a:rPr>
              <a:t>Динамічний</a:t>
            </a:r>
            <a:r>
              <a:rPr lang="ru-RU" dirty="0" smtClean="0">
                <a:solidFill>
                  <a:srgbClr val="0000CC"/>
                </a:solidFill>
                <a:latin typeface="+mn-lt"/>
              </a:rPr>
              <a:t> </a:t>
            </a:r>
            <a:r>
              <a:rPr lang="ru-RU" dirty="0">
                <a:latin typeface="+mn-lt"/>
              </a:rPr>
              <a:t>- </a:t>
            </a:r>
            <a:r>
              <a:rPr lang="ru-RU" dirty="0" err="1">
                <a:latin typeface="+mn-lt"/>
              </a:rPr>
              <a:t>діапазони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можуть</a:t>
            </a:r>
            <a:r>
              <a:rPr lang="ru-RU" dirty="0">
                <a:latin typeface="+mn-lt"/>
              </a:rPr>
              <a:t> бути </a:t>
            </a:r>
            <a:r>
              <a:rPr lang="ru-RU" dirty="0" err="1">
                <a:latin typeface="+mn-lt"/>
              </a:rPr>
              <a:t>знайдені</a:t>
            </a:r>
            <a:r>
              <a:rPr lang="ru-RU" dirty="0">
                <a:latin typeface="+mn-lt"/>
              </a:rPr>
              <a:t> за </a:t>
            </a:r>
            <a:r>
              <a:rPr lang="ru-RU" dirty="0" err="1">
                <a:latin typeface="+mn-lt"/>
              </a:rPr>
              <a:t>допомогою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рівного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інтервального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сегментування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рівномірного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сегментування</a:t>
            </a:r>
            <a:r>
              <a:rPr lang="ru-RU" dirty="0">
                <a:latin typeface="+mn-lt"/>
              </a:rPr>
              <a:t> (</a:t>
            </a:r>
            <a:r>
              <a:rPr lang="ru-RU" dirty="0" err="1">
                <a:latin typeface="+mn-lt"/>
              </a:rPr>
              <a:t>процентилів</a:t>
            </a:r>
            <a:r>
              <a:rPr lang="ru-RU" dirty="0">
                <a:latin typeface="+mn-lt"/>
              </a:rPr>
              <a:t>) </a:t>
            </a:r>
            <a:r>
              <a:rPr lang="ru-RU" dirty="0" err="1">
                <a:latin typeface="+mn-lt"/>
              </a:rPr>
              <a:t>або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кластеризації</a:t>
            </a:r>
            <a:r>
              <a:rPr lang="ru-RU" dirty="0">
                <a:latin typeface="+mn-lt"/>
              </a:rPr>
              <a:t>.</a:t>
            </a:r>
          </a:p>
          <a:p>
            <a:pPr algn="l"/>
            <a:endParaRPr lang="ru-RU" dirty="0">
              <a:latin typeface="+mn-lt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dirty="0" err="1">
                <a:solidFill>
                  <a:srgbClr val="FF0000"/>
                </a:solidFill>
                <a:latin typeface="+mn-lt"/>
              </a:rPr>
              <a:t>Двійкове</a:t>
            </a:r>
            <a:r>
              <a:rPr lang="ru-RU" dirty="0">
                <a:solidFill>
                  <a:srgbClr val="FF0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FF0000"/>
                </a:solidFill>
                <a:latin typeface="+mn-lt"/>
              </a:rPr>
              <a:t>рішення</a:t>
            </a:r>
            <a:r>
              <a:rPr lang="ru-RU" dirty="0">
                <a:solidFill>
                  <a:srgbClr val="FF0000"/>
                </a:solidFill>
                <a:latin typeface="+mn-lt"/>
              </a:rPr>
              <a:t>: </a:t>
            </a:r>
            <a:r>
              <a:rPr lang="ru-RU" dirty="0">
                <a:latin typeface="+mn-lt"/>
              </a:rPr>
              <a:t>(</a:t>
            </a:r>
            <a:r>
              <a:rPr lang="en-GB" dirty="0">
                <a:latin typeface="+mn-lt"/>
              </a:rPr>
              <a:t>A &lt;v) </a:t>
            </a:r>
            <a:r>
              <a:rPr lang="ru-RU" dirty="0" err="1">
                <a:latin typeface="+mn-lt"/>
              </a:rPr>
              <a:t>або</a:t>
            </a:r>
            <a:r>
              <a:rPr lang="ru-RU" dirty="0">
                <a:latin typeface="+mn-lt"/>
              </a:rPr>
              <a:t> (</a:t>
            </a:r>
            <a:r>
              <a:rPr lang="en-GB" dirty="0">
                <a:latin typeface="+mn-lt"/>
              </a:rPr>
              <a:t>A </a:t>
            </a:r>
            <a:r>
              <a:rPr lang="en-GB" dirty="0" smtClean="0">
                <a:latin typeface="+mn-lt"/>
              </a:rPr>
              <a:t>≥</a:t>
            </a:r>
            <a:r>
              <a:rPr lang="uk-UA" dirty="0" smtClean="0">
                <a:latin typeface="+mn-lt"/>
              </a:rPr>
              <a:t> </a:t>
            </a:r>
            <a:r>
              <a:rPr lang="en-GB" dirty="0" smtClean="0">
                <a:latin typeface="+mn-lt"/>
              </a:rPr>
              <a:t>v</a:t>
            </a:r>
            <a:r>
              <a:rPr lang="en-GB" dirty="0">
                <a:latin typeface="+mn-lt"/>
              </a:rPr>
              <a:t>)</a:t>
            </a:r>
          </a:p>
          <a:p>
            <a:pPr marL="893763" lvl="2" indent="-342900" algn="l">
              <a:buFont typeface="Wingdings" panose="05000000000000000000" pitchFamily="2" charset="2"/>
              <a:buChar char="Ø"/>
            </a:pPr>
            <a:r>
              <a:rPr lang="en-GB" dirty="0">
                <a:latin typeface="+mn-lt"/>
              </a:rPr>
              <a:t>  </a:t>
            </a:r>
            <a:r>
              <a:rPr lang="ru-RU" dirty="0" err="1">
                <a:latin typeface="+mn-lt"/>
              </a:rPr>
              <a:t>розглянемо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всі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можливі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розгалуження</a:t>
            </a:r>
            <a:r>
              <a:rPr lang="ru-RU" dirty="0" smtClean="0">
                <a:latin typeface="+mn-lt"/>
              </a:rPr>
              <a:t> та </a:t>
            </a:r>
            <a:r>
              <a:rPr lang="ru-RU" dirty="0" err="1">
                <a:latin typeface="+mn-lt"/>
              </a:rPr>
              <a:t>знайдемо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найкращий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виріз</a:t>
            </a:r>
            <a:endParaRPr lang="ru-RU" dirty="0">
              <a:latin typeface="+mn-lt"/>
            </a:endParaRPr>
          </a:p>
          <a:p>
            <a:pPr marL="893763" lvl="2" indent="-342900" algn="l">
              <a:buFont typeface="Wingdings" panose="05000000000000000000" pitchFamily="2" charset="2"/>
              <a:buChar char="Ø"/>
            </a:pPr>
            <a:r>
              <a:rPr lang="ru-RU" dirty="0">
                <a:latin typeface="+mn-lt"/>
              </a:rPr>
              <a:t>  </a:t>
            </a:r>
            <a:r>
              <a:rPr lang="ru-RU" dirty="0" err="1">
                <a:latin typeface="+mn-lt"/>
              </a:rPr>
              <a:t>може</a:t>
            </a:r>
            <a:r>
              <a:rPr lang="ru-RU" dirty="0">
                <a:latin typeface="+mn-lt"/>
              </a:rPr>
              <a:t> бути </a:t>
            </a:r>
            <a:r>
              <a:rPr lang="ru-RU" dirty="0" err="1">
                <a:latin typeface="+mn-lt"/>
              </a:rPr>
              <a:t>більш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обчислювальним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89785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8921FDEF-C3F0-4087-9634-ED00071F4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Introduction to Data Mining, 2</a:t>
            </a:r>
            <a:r>
              <a:rPr lang="en-US" baseline="30000">
                <a:solidFill>
                  <a:srgbClr val="000000">
                    <a:tint val="75000"/>
                  </a:srgbClr>
                </a:solidFill>
              </a:rPr>
              <a:t>nd</a:t>
            </a:r>
            <a:r>
              <a:rPr lang="en-US">
                <a:solidFill>
                  <a:srgbClr val="000000">
                    <a:tint val="75000"/>
                  </a:srgbClr>
                </a:solidFill>
              </a:rPr>
              <a:t> Edition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60D6A55-6A7E-4C40-BC3D-4C76DD19C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0F45B-8088-480D-848D-D09825134EBE}" type="slidenum">
              <a:rPr 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39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45279055-9444-4DAA-A321-5736FBCD0DFC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>
          <a:xfrm>
            <a:off x="0" y="4767263"/>
            <a:ext cx="2057400" cy="274637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09/21/2020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95208" y="120253"/>
            <a:ext cx="8948791" cy="57150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 err="1" smtClean="0">
                <a:solidFill>
                  <a:schemeClr val="bg1"/>
                </a:solidFill>
                <a:latin typeface="+mn-lt"/>
              </a:rPr>
              <a:t>Розгалуження</a:t>
            </a:r>
            <a:r>
              <a:rPr lang="ru-RU" b="1" dirty="0" smtClean="0">
                <a:solidFill>
                  <a:schemeClr val="bg1"/>
                </a:solidFill>
                <a:latin typeface="+mn-lt"/>
              </a:rPr>
              <a:t> на </a:t>
            </a:r>
            <a:r>
              <a:rPr lang="ru-RU" b="1" dirty="0" err="1" smtClean="0">
                <a:solidFill>
                  <a:schemeClr val="bg1"/>
                </a:solidFill>
                <a:latin typeface="+mn-lt"/>
              </a:rPr>
              <a:t>основі</a:t>
            </a:r>
            <a:r>
              <a:rPr lang="ru-RU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b="1" dirty="0" err="1">
                <a:solidFill>
                  <a:schemeClr val="bg1"/>
                </a:solidFill>
                <a:latin typeface="+mn-lt"/>
              </a:rPr>
              <a:t>безперервних</a:t>
            </a:r>
            <a:r>
              <a:rPr lang="ru-RU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b="1" dirty="0" err="1">
                <a:solidFill>
                  <a:schemeClr val="bg1"/>
                </a:solidFill>
                <a:latin typeface="+mn-lt"/>
              </a:rPr>
              <a:t>атрибутів</a:t>
            </a:r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0593872"/>
              </p:ext>
            </p:extLst>
          </p:nvPr>
        </p:nvGraphicFramePr>
        <p:xfrm>
          <a:off x="738188" y="1088032"/>
          <a:ext cx="7608887" cy="328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1" name="Visio" r:id="rId3" imgW="8538667" imgH="3684287" progId="Visio.Drawing.6">
                  <p:embed/>
                </p:oleObj>
              </mc:Choice>
              <mc:Fallback>
                <p:oleObj name="Visio" r:id="rId3" imgW="8538667" imgH="3684287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188" y="1088032"/>
                        <a:ext cx="7608887" cy="328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65935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294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428625" y="80368"/>
            <a:ext cx="8229600" cy="742950"/>
          </a:xfrm>
          <a:prstGeom prst="rect">
            <a:avLst/>
          </a:prstGeom>
        </p:spPr>
        <p:txBody>
          <a:bodyPr/>
          <a:lstStyle/>
          <a:p>
            <a:r>
              <a:rPr lang="uk-UA" b="1" dirty="0" smtClean="0">
                <a:solidFill>
                  <a:schemeClr val="bg1"/>
                </a:solidFill>
                <a:latin typeface="+mn-lt"/>
              </a:rPr>
              <a:t>Визначення найкращого розгалуження</a:t>
            </a:r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908293" name="Object 5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668451692"/>
              </p:ext>
            </p:extLst>
          </p:nvPr>
        </p:nvGraphicFramePr>
        <p:xfrm>
          <a:off x="428624" y="1957444"/>
          <a:ext cx="5545138" cy="150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2" name="Visio" r:id="rId3" imgW="9538614" imgH="2239584" progId="Visio.Drawing.6">
                  <p:embed/>
                </p:oleObj>
              </mc:Choice>
              <mc:Fallback>
                <p:oleObj name="Visio" r:id="rId3" imgW="9538614" imgH="2239584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4" y="1957444"/>
                        <a:ext cx="5545138" cy="150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8296" name="Text Box 8"/>
          <p:cNvSpPr txBox="1">
            <a:spLocks noChangeArrowheads="1"/>
          </p:cNvSpPr>
          <p:nvPr/>
        </p:nvSpPr>
        <p:spPr bwMode="auto">
          <a:xfrm>
            <a:off x="275038" y="1071997"/>
            <a:ext cx="6105214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defTabSz="685800" hangingPunct="1">
              <a:spcBef>
                <a:spcPct val="50000"/>
              </a:spcBef>
            </a:pPr>
            <a:r>
              <a:rPr lang="en-US" sz="1350" kern="1200" dirty="0">
                <a:solidFill>
                  <a:prstClr val="black"/>
                </a:solidFill>
                <a:ea typeface="+mn-ea"/>
                <a:cs typeface="+mn-cs"/>
              </a:rPr>
              <a:t>Before Splitting: 10 records of class 0</a:t>
            </a:r>
            <a:r>
              <a:rPr lang="en-US" sz="1350" kern="1200" dirty="0" smtClean="0">
                <a:solidFill>
                  <a:prstClr val="black"/>
                </a:solidFill>
                <a:ea typeface="+mn-ea"/>
                <a:cs typeface="+mn-cs"/>
              </a:rPr>
              <a:t>,</a:t>
            </a:r>
            <a:r>
              <a:rPr lang="en-US" sz="1350" kern="1200" dirty="0">
                <a:solidFill>
                  <a:prstClr val="black"/>
                </a:solidFill>
                <a:ea typeface="+mn-ea"/>
                <a:cs typeface="+mn-cs"/>
              </a:rPr>
              <a:t>	10 records of class 1</a:t>
            </a:r>
          </a:p>
        </p:txBody>
      </p:sp>
      <p:sp>
        <p:nvSpPr>
          <p:cNvPr id="908297" name="Text Box 9"/>
          <p:cNvSpPr txBox="1">
            <a:spLocks noChangeArrowheads="1"/>
          </p:cNvSpPr>
          <p:nvPr/>
        </p:nvSpPr>
        <p:spPr bwMode="auto">
          <a:xfrm>
            <a:off x="2628900" y="3839766"/>
            <a:ext cx="382905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defTabSz="685800" hangingPunct="1">
              <a:spcBef>
                <a:spcPct val="50000"/>
              </a:spcBef>
            </a:pPr>
            <a:r>
              <a:rPr lang="en-US" sz="1350" kern="1200">
                <a:solidFill>
                  <a:prstClr val="black"/>
                </a:solidFill>
                <a:ea typeface="+mn-ea"/>
                <a:cs typeface="+mn-cs"/>
              </a:rPr>
              <a:t>Which test condition is the best?</a:t>
            </a:r>
          </a:p>
        </p:txBody>
      </p:sp>
      <p:pic>
        <p:nvPicPr>
          <p:cNvPr id="6" name="Picture 10">
            <a:extLst>
              <a:ext uri="{FF2B5EF4-FFF2-40B4-BE49-F238E27FC236}">
                <a16:creationId xmlns="" xmlns:a16="http://schemas.microsoft.com/office/drawing/2014/main" id="{88D91FEC-A941-47CC-99F5-40D797414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73762" y="884657"/>
            <a:ext cx="3170238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309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3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2194" y="974119"/>
            <a:ext cx="8229600" cy="36576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ru-RU" dirty="0" err="1"/>
              <a:t>Жадібний</a:t>
            </a:r>
            <a:r>
              <a:rPr lang="ru-RU" dirty="0"/>
              <a:t> </a:t>
            </a:r>
            <a:r>
              <a:rPr lang="ru-RU" dirty="0" err="1"/>
              <a:t>підхід</a:t>
            </a:r>
            <a:r>
              <a:rPr lang="ru-RU" dirty="0"/>
              <a:t>:</a:t>
            </a:r>
          </a:p>
          <a:p>
            <a:r>
              <a:rPr lang="ru-RU" dirty="0" err="1"/>
              <a:t>Перевагою</a:t>
            </a:r>
            <a:r>
              <a:rPr lang="ru-RU" dirty="0"/>
              <a:t> є </a:t>
            </a:r>
            <a:r>
              <a:rPr lang="ru-RU" dirty="0" err="1"/>
              <a:t>вузли</a:t>
            </a:r>
            <a:r>
              <a:rPr lang="ru-RU" dirty="0"/>
              <a:t> з </a:t>
            </a:r>
            <a:r>
              <a:rPr lang="ru-RU" dirty="0" err="1"/>
              <a:t>однорідним</a:t>
            </a:r>
            <a:r>
              <a:rPr lang="ru-RU" dirty="0"/>
              <a:t> </a:t>
            </a:r>
            <a:r>
              <a:rPr lang="ru-RU" dirty="0" err="1"/>
              <a:t>розподілом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endParaRPr lang="ru-RU" dirty="0"/>
          </a:p>
          <a:p>
            <a:r>
              <a:rPr lang="ru-RU" dirty="0" err="1"/>
              <a:t>Потрібна</a:t>
            </a:r>
            <a:r>
              <a:rPr lang="ru-RU" dirty="0"/>
              <a:t> </a:t>
            </a:r>
            <a:r>
              <a:rPr lang="ru-RU" dirty="0" err="1"/>
              <a:t>міра</a:t>
            </a:r>
            <a:r>
              <a:rPr lang="ru-RU" dirty="0"/>
              <a:t> </a:t>
            </a:r>
            <a:r>
              <a:rPr lang="ru-RU" dirty="0" smtClean="0"/>
              <a:t>неточностей () </a:t>
            </a:r>
            <a:r>
              <a:rPr lang="ru-RU" dirty="0" err="1" smtClean="0"/>
              <a:t>вузла</a:t>
            </a:r>
            <a:r>
              <a:rPr lang="ru-RU" dirty="0"/>
              <a:t>: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pPr lvl="1">
              <a:buFont typeface="Arial" charset="0"/>
              <a:buNone/>
            </a:pPr>
            <a:endParaRPr lang="en-US" dirty="0"/>
          </a:p>
        </p:txBody>
      </p:sp>
      <p:graphicFrame>
        <p:nvGraphicFramePr>
          <p:cNvPr id="912390" name="Object 6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779993838"/>
              </p:ext>
            </p:extLst>
          </p:nvPr>
        </p:nvGraphicFramePr>
        <p:xfrm>
          <a:off x="1373847" y="2305906"/>
          <a:ext cx="684213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4" name="Visio" r:id="rId3" imgW="655371" imgH="585812" progId="Visio.Drawing.6">
                  <p:embed/>
                </p:oleObj>
              </mc:Choice>
              <mc:Fallback>
                <p:oleObj name="Visio" r:id="rId3" imgW="655371" imgH="58581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3847" y="2305906"/>
                        <a:ext cx="684213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2394" name="Object 10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494089683"/>
              </p:ext>
            </p:extLst>
          </p:nvPr>
        </p:nvGraphicFramePr>
        <p:xfrm>
          <a:off x="5026310" y="2259030"/>
          <a:ext cx="684212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5" name="Visio" r:id="rId5" imgW="655371" imgH="585812" progId="Visio.Drawing.6">
                  <p:embed/>
                </p:oleObj>
              </mc:Choice>
              <mc:Fallback>
                <p:oleObj name="Visio" r:id="rId5" imgW="655371" imgH="58581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6310" y="2259030"/>
                        <a:ext cx="684212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2396" name="Text Box 12"/>
          <p:cNvSpPr txBox="1">
            <a:spLocks noChangeArrowheads="1"/>
          </p:cNvSpPr>
          <p:nvPr/>
        </p:nvSpPr>
        <p:spPr bwMode="auto">
          <a:xfrm>
            <a:off x="513895" y="3089084"/>
            <a:ext cx="3088330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defTabSz="685800" hangingPunct="1">
              <a:spcBef>
                <a:spcPct val="50000"/>
              </a:spcBef>
            </a:pPr>
            <a:r>
              <a:rPr lang="ru-RU" sz="1800" kern="1200" dirty="0" err="1">
                <a:solidFill>
                  <a:prstClr val="black"/>
                </a:solidFill>
                <a:ea typeface="+mn-ea"/>
                <a:cs typeface="+mn-cs"/>
              </a:rPr>
              <a:t>Неоднорідні</a:t>
            </a:r>
            <a:r>
              <a:rPr lang="ru-RU" sz="1800" kern="1200" dirty="0">
                <a:solidFill>
                  <a:prstClr val="black"/>
                </a:solidFill>
                <a:ea typeface="+mn-ea"/>
                <a:cs typeface="+mn-cs"/>
              </a:rPr>
              <a:t>,</a:t>
            </a:r>
          </a:p>
          <a:p>
            <a:pPr algn="l" defTabSz="685800" hangingPunct="1">
              <a:spcBef>
                <a:spcPct val="50000"/>
              </a:spcBef>
            </a:pPr>
            <a:r>
              <a:rPr lang="ru-RU" sz="1800" kern="1200" dirty="0" err="1">
                <a:solidFill>
                  <a:prstClr val="black"/>
                </a:solidFill>
                <a:ea typeface="+mn-ea"/>
                <a:cs typeface="+mn-cs"/>
              </a:rPr>
              <a:t>Високий</a:t>
            </a:r>
            <a:r>
              <a:rPr lang="ru-RU" sz="1800" kern="1200" dirty="0">
                <a:solidFill>
                  <a:prstClr val="black"/>
                </a:solidFill>
                <a:ea typeface="+mn-ea"/>
                <a:cs typeface="+mn-cs"/>
              </a:rPr>
              <a:t> </a:t>
            </a:r>
            <a:r>
              <a:rPr lang="ru-RU" sz="1800" kern="1200" dirty="0" err="1">
                <a:solidFill>
                  <a:prstClr val="black"/>
                </a:solidFill>
                <a:ea typeface="+mn-ea"/>
                <a:cs typeface="+mn-cs"/>
              </a:rPr>
              <a:t>ступінь</a:t>
            </a:r>
            <a:r>
              <a:rPr lang="ru-RU" sz="1800" kern="1200" dirty="0">
                <a:solidFill>
                  <a:prstClr val="black"/>
                </a:solidFill>
                <a:ea typeface="+mn-ea"/>
                <a:cs typeface="+mn-cs"/>
              </a:rPr>
              <a:t> </a:t>
            </a:r>
            <a:r>
              <a:rPr lang="ru-RU" sz="1800" kern="1200" dirty="0" smtClean="0">
                <a:solidFill>
                  <a:prstClr val="black"/>
                </a:solidFill>
                <a:ea typeface="+mn-ea"/>
                <a:cs typeface="+mn-cs"/>
              </a:rPr>
              <a:t>неточностей</a:t>
            </a:r>
            <a:endParaRPr lang="en-US" sz="1800" kern="1200" dirty="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8" name="Rectangle 6"/>
          <p:cNvSpPr txBox="1">
            <a:spLocks noChangeArrowheads="1"/>
          </p:cNvSpPr>
          <p:nvPr/>
        </p:nvSpPr>
        <p:spPr>
          <a:xfrm>
            <a:off x="428625" y="80368"/>
            <a:ext cx="8229600" cy="74295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b="1" smtClean="0">
                <a:solidFill>
                  <a:schemeClr val="bg1"/>
                </a:solidFill>
                <a:latin typeface="+mn-lt"/>
              </a:rPr>
              <a:t>Визначення найкращого розгалуження</a:t>
            </a:r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4623558" y="3089084"/>
            <a:ext cx="3088330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defTabSz="685800" hangingPunct="1">
              <a:spcBef>
                <a:spcPct val="50000"/>
              </a:spcBef>
            </a:pPr>
            <a:r>
              <a:rPr lang="ru-RU" sz="1800" kern="1200" dirty="0" err="1" smtClean="0">
                <a:solidFill>
                  <a:prstClr val="black"/>
                </a:solidFill>
                <a:ea typeface="+mn-ea"/>
                <a:cs typeface="+mn-cs"/>
              </a:rPr>
              <a:t>Однорідні</a:t>
            </a:r>
            <a:r>
              <a:rPr lang="ru-RU" sz="1800" kern="1200" dirty="0">
                <a:solidFill>
                  <a:prstClr val="black"/>
                </a:solidFill>
                <a:ea typeface="+mn-ea"/>
                <a:cs typeface="+mn-cs"/>
              </a:rPr>
              <a:t>,</a:t>
            </a:r>
          </a:p>
          <a:p>
            <a:pPr algn="l" defTabSz="685800" hangingPunct="1">
              <a:spcBef>
                <a:spcPct val="50000"/>
              </a:spcBef>
            </a:pPr>
            <a:r>
              <a:rPr lang="ru-RU" sz="1800" kern="1200" dirty="0" err="1" smtClean="0">
                <a:solidFill>
                  <a:prstClr val="black"/>
                </a:solidFill>
                <a:ea typeface="+mn-ea"/>
                <a:cs typeface="+mn-cs"/>
              </a:rPr>
              <a:t>Низький</a:t>
            </a:r>
            <a:r>
              <a:rPr lang="ru-RU" sz="1800" kern="1200" dirty="0" smtClean="0">
                <a:solidFill>
                  <a:prstClr val="black"/>
                </a:solidFill>
                <a:ea typeface="+mn-ea"/>
                <a:cs typeface="+mn-cs"/>
              </a:rPr>
              <a:t> </a:t>
            </a:r>
            <a:r>
              <a:rPr lang="ru-RU" sz="1800" kern="1200" dirty="0" err="1" smtClean="0">
                <a:solidFill>
                  <a:prstClr val="black"/>
                </a:solidFill>
                <a:ea typeface="+mn-ea"/>
                <a:cs typeface="+mn-cs"/>
              </a:rPr>
              <a:t>ступінь</a:t>
            </a:r>
            <a:r>
              <a:rPr lang="ru-RU" sz="1800" kern="1200" dirty="0" smtClean="0">
                <a:solidFill>
                  <a:prstClr val="black"/>
                </a:solidFill>
                <a:ea typeface="+mn-ea"/>
                <a:cs typeface="+mn-cs"/>
              </a:rPr>
              <a:t> неточностей</a:t>
            </a:r>
            <a:endParaRPr lang="en-US" sz="1800" kern="1200" dirty="0">
              <a:solidFill>
                <a:prstClr val="black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369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59596" y="85725"/>
            <a:ext cx="8229600" cy="7429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uk-UA" b="1" dirty="0" smtClean="0">
                <a:solidFill>
                  <a:schemeClr val="bg1"/>
                </a:solidFill>
                <a:latin typeface="+mn-lt"/>
              </a:rPr>
              <a:t>Оцінка </a:t>
            </a:r>
            <a:r>
              <a:rPr lang="uk-UA" b="1" dirty="0" err="1" smtClean="0">
                <a:solidFill>
                  <a:schemeClr val="bg1"/>
                </a:solidFill>
                <a:latin typeface="+mn-lt"/>
              </a:rPr>
              <a:t>домішків</a:t>
            </a:r>
            <a:r>
              <a:rPr lang="uk-UA" b="1" dirty="0" smtClean="0">
                <a:solidFill>
                  <a:schemeClr val="bg1"/>
                </a:solidFill>
                <a:latin typeface="+mn-lt"/>
              </a:rPr>
              <a:t> вузлів</a:t>
            </a:r>
            <a:endParaRPr lang="en-US" b="1" dirty="0" smtClean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078" name="Content Placeholder 3"/>
          <p:cNvSpPr>
            <a:spLocks noGrp="1"/>
          </p:cNvSpPr>
          <p:nvPr>
            <p:ph idx="4294967295"/>
          </p:nvPr>
        </p:nvSpPr>
        <p:spPr>
          <a:xfrm>
            <a:off x="0" y="837023"/>
            <a:ext cx="9041258" cy="36576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p(</a:t>
            </a:r>
            <a:r>
              <a:rPr lang="en-US" dirty="0" err="1" smtClean="0">
                <a:solidFill>
                  <a:srgbClr val="0070C0"/>
                </a:solidFill>
              </a:rPr>
              <a:t>i|t</a:t>
            </a:r>
            <a:r>
              <a:rPr lang="en-US" dirty="0" smtClean="0">
                <a:solidFill>
                  <a:srgbClr val="0070C0"/>
                </a:solidFill>
              </a:rPr>
              <a:t>)</a:t>
            </a:r>
            <a:r>
              <a:rPr lang="en-US" dirty="0" smtClean="0"/>
              <a:t>: </a:t>
            </a:r>
            <a:r>
              <a:rPr lang="ru-RU" dirty="0" err="1"/>
              <a:t>частка</a:t>
            </a:r>
            <a:r>
              <a:rPr lang="ru-RU" dirty="0"/>
              <a:t> </a:t>
            </a:r>
            <a:r>
              <a:rPr lang="ru-RU" dirty="0" err="1"/>
              <a:t>записів</a:t>
            </a:r>
            <a:r>
              <a:rPr lang="ru-RU" dirty="0"/>
              <a:t>, </a:t>
            </a:r>
            <a:r>
              <a:rPr lang="ru-RU" dirty="0" err="1"/>
              <a:t>пов'язаних</a:t>
            </a:r>
            <a:r>
              <a:rPr lang="ru-RU" dirty="0"/>
              <a:t> з </a:t>
            </a:r>
            <a:r>
              <a:rPr lang="ru-RU" dirty="0" err="1"/>
              <a:t>вузлом</a:t>
            </a:r>
            <a:r>
              <a:rPr lang="ru-RU" dirty="0"/>
              <a:t> t,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належить</a:t>
            </a:r>
            <a:r>
              <a:rPr lang="ru-RU" dirty="0"/>
              <a:t> до </a:t>
            </a:r>
            <a:r>
              <a:rPr lang="ru-RU" dirty="0" err="1"/>
              <a:t>класу</a:t>
            </a:r>
            <a:r>
              <a:rPr lang="ru-RU" dirty="0"/>
              <a:t> i</a:t>
            </a:r>
            <a:endParaRPr lang="en-US" b="1" dirty="0">
              <a:solidFill>
                <a:schemeClr val="accent2"/>
              </a:solidFill>
            </a:endParaRPr>
          </a:p>
          <a:p>
            <a:endParaRPr lang="uk-UA" b="1" dirty="0" smtClean="0">
              <a:solidFill>
                <a:schemeClr val="accent2"/>
              </a:solidFill>
            </a:endParaRPr>
          </a:p>
          <a:p>
            <a:endParaRPr lang="en-US" b="1" dirty="0" smtClean="0">
              <a:solidFill>
                <a:schemeClr val="accent2"/>
              </a:solidFill>
            </a:endParaRPr>
          </a:p>
          <a:p>
            <a:pPr lvl="1"/>
            <a:r>
              <a:rPr lang="uk-UA" dirty="0" smtClean="0"/>
              <a:t>Використовують в алгоритмах </a:t>
            </a:r>
            <a:r>
              <a:rPr lang="en-US" dirty="0" smtClean="0"/>
              <a:t>ID3 </a:t>
            </a:r>
            <a:r>
              <a:rPr lang="en-US" dirty="0"/>
              <a:t>and </a:t>
            </a:r>
            <a:r>
              <a:rPr lang="en-US" dirty="0" smtClean="0"/>
              <a:t>C4.5</a:t>
            </a:r>
            <a:endParaRPr lang="en-US" dirty="0"/>
          </a:p>
          <a:p>
            <a:endParaRPr lang="en-US" b="1" dirty="0" smtClean="0">
              <a:solidFill>
                <a:schemeClr val="accent2"/>
              </a:solidFill>
            </a:endParaRPr>
          </a:p>
          <a:p>
            <a:pPr lvl="1"/>
            <a:endParaRPr lang="uk-UA" dirty="0" smtClean="0"/>
          </a:p>
          <a:p>
            <a:pPr lvl="1"/>
            <a:endParaRPr lang="en-US" dirty="0" smtClean="0"/>
          </a:p>
          <a:p>
            <a:pPr lvl="1"/>
            <a:r>
              <a:rPr lang="uk-UA" dirty="0"/>
              <a:t>Використовують в алгоритмах </a:t>
            </a:r>
            <a:r>
              <a:rPr lang="en-US" dirty="0" smtClean="0"/>
              <a:t>CART</a:t>
            </a:r>
            <a:r>
              <a:rPr lang="en-US" dirty="0"/>
              <a:t>, SLIQ, SPRINT.</a:t>
            </a:r>
          </a:p>
          <a:p>
            <a:endParaRPr lang="en-US" b="1" dirty="0" smtClean="0">
              <a:solidFill>
                <a:schemeClr val="accent2"/>
              </a:solidFill>
            </a:endParaRPr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2705722"/>
              </p:ext>
            </p:extLst>
          </p:nvPr>
        </p:nvGraphicFramePr>
        <p:xfrm>
          <a:off x="2399658" y="1256972"/>
          <a:ext cx="35433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8" name="Εξίσωση" r:id="rId4" imgW="2108160" imgH="431640" progId="Equation.3">
                  <p:embed/>
                </p:oleObj>
              </mc:Choice>
              <mc:Fallback>
                <p:oleObj name="Εξίσωση" r:id="rId4" imgW="21081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9658" y="1256972"/>
                        <a:ext cx="3543300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9413790"/>
              </p:ext>
            </p:extLst>
          </p:nvPr>
        </p:nvGraphicFramePr>
        <p:xfrm>
          <a:off x="2500794" y="2228850"/>
          <a:ext cx="257175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9" name="Equation" r:id="rId6" imgW="1511280" imgH="431640" progId="Equation.3">
                  <p:embed/>
                </p:oleObj>
              </mc:Choice>
              <mc:Fallback>
                <p:oleObj name="Equation" r:id="rId6" imgW="15112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794" y="2228850"/>
                        <a:ext cx="2571750" cy="74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563818"/>
              </p:ext>
            </p:extLst>
          </p:nvPr>
        </p:nvGraphicFramePr>
        <p:xfrm>
          <a:off x="1614969" y="3733211"/>
          <a:ext cx="4343400" cy="399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0" name="Εξίσωση" r:id="rId8" imgW="2476440" imgH="228600" progId="Equation.3">
                  <p:embed/>
                </p:oleObj>
              </mc:Choice>
              <mc:Fallback>
                <p:oleObj name="Εξίσωση" r:id="rId8" imgW="24764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4969" y="3733211"/>
                        <a:ext cx="4343400" cy="39939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5627348" y="1844082"/>
            <a:ext cx="35166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800" dirty="0" smtClean="0">
                <a:latin typeface="+mn-lt"/>
              </a:rPr>
              <a:t>𝒑</a:t>
            </a:r>
            <a:r>
              <a:rPr lang="ru-RU" sz="1800" baseline="-25000" dirty="0" smtClean="0">
                <a:latin typeface="+mn-lt"/>
              </a:rPr>
              <a:t>𝒊</a:t>
            </a:r>
            <a:r>
              <a:rPr lang="ru-RU" sz="1800" dirty="0" smtClean="0">
                <a:latin typeface="+mn-lt"/>
              </a:rPr>
              <a:t> </a:t>
            </a:r>
            <a:r>
              <a:rPr lang="ru-RU" sz="1800" dirty="0">
                <a:latin typeface="+mn-lt"/>
              </a:rPr>
              <a:t>(𝒕) - частота </a:t>
            </a:r>
            <a:r>
              <a:rPr lang="ru-RU" sz="1800" dirty="0" err="1">
                <a:latin typeface="+mn-lt"/>
              </a:rPr>
              <a:t>класу</a:t>
            </a:r>
            <a:r>
              <a:rPr lang="ru-RU" sz="1800" dirty="0">
                <a:latin typeface="+mn-lt"/>
              </a:rPr>
              <a:t> 𝒊 у </a:t>
            </a:r>
            <a:r>
              <a:rPr lang="ru-RU" sz="1800" dirty="0" err="1">
                <a:latin typeface="+mn-lt"/>
              </a:rPr>
              <a:t>вузлі</a:t>
            </a:r>
            <a:r>
              <a:rPr lang="ru-RU" sz="1800" dirty="0">
                <a:latin typeface="+mn-lt"/>
              </a:rPr>
              <a:t> </a:t>
            </a:r>
            <a:r>
              <a:rPr lang="en-GB" sz="1800" dirty="0">
                <a:latin typeface="+mn-lt"/>
              </a:rPr>
              <a:t>t, </a:t>
            </a:r>
            <a:endParaRPr lang="uk-UA" sz="1800" dirty="0" smtClean="0">
              <a:latin typeface="+mn-lt"/>
            </a:endParaRPr>
          </a:p>
          <a:p>
            <a:pPr algn="l"/>
            <a:r>
              <a:rPr lang="ru-RU" sz="1800" dirty="0" smtClean="0">
                <a:latin typeface="+mn-lt"/>
              </a:rPr>
              <a:t>𝒄 </a:t>
            </a:r>
            <a:r>
              <a:rPr lang="ru-RU" sz="1800" dirty="0">
                <a:latin typeface="+mn-lt"/>
              </a:rPr>
              <a:t>- </a:t>
            </a:r>
            <a:r>
              <a:rPr lang="ru-RU" sz="1800" dirty="0" err="1">
                <a:latin typeface="+mn-lt"/>
              </a:rPr>
              <a:t>загальна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кількість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класів</a:t>
            </a:r>
            <a:endParaRPr lang="ru-RU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311035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43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359596" y="85725"/>
            <a:ext cx="8229600" cy="74295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b="1" dirty="0" smtClean="0">
                <a:solidFill>
                  <a:schemeClr val="bg1"/>
                </a:solidFill>
                <a:latin typeface="+mn-lt"/>
              </a:rPr>
              <a:t>Пошук найкращого розгалуження</a:t>
            </a:r>
            <a:endParaRPr lang="en-US" b="1" dirty="0" smtClean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32545" y="1033675"/>
            <a:ext cx="8729262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 fontAlgn="t">
              <a:buFont typeface="+mj-lt"/>
              <a:buAutoNum type="arabicPeriod"/>
            </a:pPr>
            <a:r>
              <a:rPr lang="ru-RU" dirty="0" err="1" smtClean="0">
                <a:latin typeface="+mn-lt"/>
              </a:rPr>
              <a:t>Обчислити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міру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домішків</a:t>
            </a:r>
            <a:r>
              <a:rPr lang="ru-RU" dirty="0" smtClean="0">
                <a:latin typeface="+mn-lt"/>
              </a:rPr>
              <a:t> </a:t>
            </a:r>
            <a:r>
              <a:rPr lang="ru-RU" dirty="0">
                <a:latin typeface="+mn-lt"/>
              </a:rPr>
              <a:t>(</a:t>
            </a:r>
            <a:r>
              <a:rPr lang="en-GB" dirty="0">
                <a:latin typeface="+mn-lt"/>
              </a:rPr>
              <a:t>P) </a:t>
            </a:r>
            <a:r>
              <a:rPr lang="ru-RU" dirty="0">
                <a:latin typeface="+mn-lt"/>
              </a:rPr>
              <a:t>перед </a:t>
            </a:r>
            <a:r>
              <a:rPr lang="ru-RU" dirty="0" err="1" smtClean="0">
                <a:latin typeface="+mn-lt"/>
              </a:rPr>
              <a:t>розгалуженням</a:t>
            </a:r>
            <a:endParaRPr lang="ru-RU" dirty="0" smtClean="0">
              <a:latin typeface="+mn-lt"/>
            </a:endParaRPr>
          </a:p>
          <a:p>
            <a:pPr marL="457200" indent="-457200" algn="l" fontAlgn="t">
              <a:buFont typeface="+mj-lt"/>
              <a:buAutoNum type="arabicPeriod"/>
            </a:pPr>
            <a:r>
              <a:rPr lang="ru-RU" dirty="0" err="1" smtClean="0">
                <a:latin typeface="+mn-lt"/>
              </a:rPr>
              <a:t>Обчислити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міру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домішків</a:t>
            </a:r>
            <a:r>
              <a:rPr lang="ru-RU" dirty="0" smtClean="0">
                <a:latin typeface="+mn-lt"/>
              </a:rPr>
              <a:t> </a:t>
            </a:r>
            <a:r>
              <a:rPr lang="ru-RU" dirty="0">
                <a:latin typeface="+mn-lt"/>
              </a:rPr>
              <a:t>(М) </a:t>
            </a:r>
            <a:r>
              <a:rPr lang="ru-RU" dirty="0" err="1">
                <a:latin typeface="+mn-lt"/>
              </a:rPr>
              <a:t>після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розгалуження</a:t>
            </a:r>
            <a:endParaRPr lang="ru-RU" dirty="0" smtClean="0">
              <a:latin typeface="+mn-lt"/>
            </a:endParaRPr>
          </a:p>
          <a:p>
            <a:pPr marL="534988" lvl="3" algn="l" fontAlgn="t"/>
            <a:r>
              <a:rPr lang="ru-RU" dirty="0" smtClean="0">
                <a:latin typeface="+mn-lt"/>
              </a:rPr>
              <a:t>2.1. </a:t>
            </a:r>
            <a:r>
              <a:rPr lang="ru-RU" dirty="0" err="1" smtClean="0">
                <a:latin typeface="+mn-lt"/>
              </a:rPr>
              <a:t>Обчислити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міру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домішків</a:t>
            </a:r>
            <a:r>
              <a:rPr lang="ru-RU" dirty="0" smtClean="0">
                <a:latin typeface="+mn-lt"/>
              </a:rPr>
              <a:t> </a:t>
            </a:r>
            <a:r>
              <a:rPr lang="ru-RU" dirty="0">
                <a:latin typeface="+mn-lt"/>
              </a:rPr>
              <a:t>кожного </a:t>
            </a:r>
            <a:r>
              <a:rPr lang="ru-RU" dirty="0" err="1">
                <a:latin typeface="+mn-lt"/>
              </a:rPr>
              <a:t>дочірнього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вузла</a:t>
            </a:r>
            <a:r>
              <a:rPr lang="ru-RU" dirty="0">
                <a:latin typeface="+mn-lt"/>
              </a:rPr>
              <a:t/>
            </a:r>
            <a:br>
              <a:rPr lang="ru-RU" dirty="0">
                <a:latin typeface="+mn-lt"/>
              </a:rPr>
            </a:br>
            <a:r>
              <a:rPr lang="ru-RU" dirty="0" smtClean="0">
                <a:latin typeface="+mn-lt"/>
              </a:rPr>
              <a:t>2.2. </a:t>
            </a:r>
            <a:r>
              <a:rPr lang="ru-RU" dirty="0" err="1" smtClean="0">
                <a:latin typeface="+mn-lt"/>
              </a:rPr>
              <a:t>Отримати</a:t>
            </a:r>
            <a:r>
              <a:rPr lang="ru-RU" dirty="0" smtClean="0">
                <a:latin typeface="+mn-lt"/>
              </a:rPr>
              <a:t> М </a:t>
            </a:r>
            <a:r>
              <a:rPr lang="ru-RU" dirty="0">
                <a:latin typeface="+mn-lt"/>
              </a:rPr>
              <a:t>- </a:t>
            </a:r>
            <a:r>
              <a:rPr lang="ru-RU" dirty="0" err="1" smtClean="0">
                <a:latin typeface="+mn-lt"/>
              </a:rPr>
              <a:t>зважений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домішок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дочірніх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вузлів</a:t>
            </a:r>
            <a:endParaRPr lang="ru-RU" dirty="0" smtClean="0">
              <a:latin typeface="+mn-lt"/>
            </a:endParaRPr>
          </a:p>
          <a:p>
            <a:pPr lvl="3" algn="l" fontAlgn="t"/>
            <a:r>
              <a:rPr lang="ru-RU" dirty="0" smtClean="0">
                <a:latin typeface="+mn-lt"/>
              </a:rPr>
              <a:t>3. </a:t>
            </a:r>
            <a:r>
              <a:rPr lang="ru-RU" dirty="0" err="1" smtClean="0">
                <a:latin typeface="+mn-lt"/>
              </a:rPr>
              <a:t>Вибрати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умову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перевірки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атрибутів</a:t>
            </a:r>
            <a:r>
              <a:rPr lang="ru-RU" dirty="0">
                <a:latin typeface="+mn-lt"/>
              </a:rPr>
              <a:t>, яка </a:t>
            </a:r>
            <a:r>
              <a:rPr lang="ru-RU" dirty="0" err="1">
                <a:latin typeface="+mn-lt"/>
              </a:rPr>
              <a:t>забезпечує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найбільший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коефіцієнт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посилення</a:t>
            </a:r>
            <a:r>
              <a:rPr lang="ru-RU" dirty="0" smtClean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Gain</a:t>
            </a:r>
          </a:p>
          <a:p>
            <a:pPr lvl="3" fontAlgn="t"/>
            <a:r>
              <a:rPr lang="en-US" b="1" dirty="0" smtClean="0">
                <a:solidFill>
                  <a:srgbClr val="0000CC"/>
                </a:solidFill>
                <a:latin typeface="+mn-lt"/>
              </a:rPr>
              <a:t>Gain</a:t>
            </a:r>
            <a:r>
              <a:rPr lang="en-US" b="1" dirty="0" smtClean="0">
                <a:solidFill>
                  <a:srgbClr val="0000CC"/>
                </a:solidFill>
              </a:rPr>
              <a:t> </a:t>
            </a:r>
            <a:r>
              <a:rPr lang="ru-RU" b="1" dirty="0" smtClean="0">
                <a:solidFill>
                  <a:srgbClr val="0000CC"/>
                </a:solidFill>
                <a:latin typeface="+mn-lt"/>
              </a:rPr>
              <a:t>= </a:t>
            </a:r>
            <a:r>
              <a:rPr lang="en-GB" b="1" dirty="0">
                <a:solidFill>
                  <a:srgbClr val="0000CC"/>
                </a:solidFill>
                <a:latin typeface="+mn-lt"/>
              </a:rPr>
              <a:t>P </a:t>
            </a:r>
            <a:r>
              <a:rPr lang="en-GB" b="1" dirty="0" smtClean="0">
                <a:solidFill>
                  <a:srgbClr val="0000CC"/>
                </a:solidFill>
                <a:latin typeface="+mn-lt"/>
              </a:rPr>
              <a:t>– M</a:t>
            </a:r>
          </a:p>
          <a:p>
            <a:pPr lvl="3" algn="l" fontAlgn="t"/>
            <a:r>
              <a:rPr lang="en-GB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або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еквівалентно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найменша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міра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домішки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після</a:t>
            </a:r>
            <a:r>
              <a:rPr lang="ru-RU" dirty="0">
                <a:latin typeface="+mn-lt"/>
              </a:rPr>
              <a:t> </a:t>
            </a:r>
            <a:r>
              <a:rPr lang="ru-RU" dirty="0" smtClean="0">
                <a:latin typeface="+mn-lt"/>
              </a:rPr>
              <a:t>роз</a:t>
            </a:r>
            <a:r>
              <a:rPr lang="uk-UA" dirty="0" smtClean="0">
                <a:latin typeface="+mn-lt"/>
              </a:rPr>
              <a:t>галуження</a:t>
            </a:r>
            <a:r>
              <a:rPr lang="ru-RU" dirty="0" smtClean="0">
                <a:latin typeface="+mn-lt"/>
              </a:rPr>
              <a:t> </a:t>
            </a:r>
            <a:r>
              <a:rPr lang="ru-RU" dirty="0">
                <a:latin typeface="+mn-lt"/>
              </a:rPr>
              <a:t>(</a:t>
            </a:r>
            <a:r>
              <a:rPr lang="en-GB" dirty="0">
                <a:latin typeface="+mn-lt"/>
              </a:rPr>
              <a:t>M)</a:t>
            </a:r>
          </a:p>
        </p:txBody>
      </p:sp>
    </p:spTree>
    <p:extLst>
      <p:ext uri="{BB962C8B-B14F-4D97-AF65-F5344CB8AC3E}">
        <p14:creationId xmlns:p14="http://schemas.microsoft.com/office/powerpoint/2010/main" val="2997858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A171ED1C-85E7-4CC9-8C0F-A1507653C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Introduction to Data Mining, 2</a:t>
            </a:r>
            <a:r>
              <a:rPr lang="en-US" baseline="30000">
                <a:solidFill>
                  <a:srgbClr val="000000">
                    <a:tint val="75000"/>
                  </a:srgbClr>
                </a:solidFill>
              </a:rPr>
              <a:t>nd</a:t>
            </a:r>
            <a:r>
              <a:rPr lang="en-US">
                <a:solidFill>
                  <a:srgbClr val="000000">
                    <a:tint val="75000"/>
                  </a:srgbClr>
                </a:solidFill>
              </a:rPr>
              <a:t> Edition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562228D-E7D1-495F-98CE-4394C136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D4573C-EC14-49A9-8668-FF8B33BC1AFD}" type="slidenum">
              <a:rPr 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44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graphicFrame>
        <p:nvGraphicFramePr>
          <p:cNvPr id="36881" name="Object 20">
            <a:extLst>
              <a:ext uri="{FF2B5EF4-FFF2-40B4-BE49-F238E27FC236}">
                <a16:creationId xmlns="" xmlns:a16="http://schemas.microsoft.com/office/drawing/2014/main" id="{7288883A-481C-4F83-B545-39CEB73425FD}"/>
              </a:ext>
            </a:extLst>
          </p:cNvPr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956739274"/>
              </p:ext>
            </p:extLst>
          </p:nvPr>
        </p:nvGraphicFramePr>
        <p:xfrm>
          <a:off x="1099567" y="2675201"/>
          <a:ext cx="1249363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0" name="Document" r:id="rId3" imgW="3327400" imgH="1397000" progId="Word.Document.8">
                  <p:embed/>
                </p:oleObj>
              </mc:Choice>
              <mc:Fallback>
                <p:oleObj name="Document" r:id="rId3" imgW="3327400" imgH="13970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9567" y="2675201"/>
                        <a:ext cx="1249363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AE4F3B8D-F2AC-418D-A4C2-A8C55B876B12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>
          <a:xfrm>
            <a:off x="0" y="4767263"/>
            <a:ext cx="2057400" cy="274637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09/21/2020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6866" name="Oval 4">
            <a:extLst>
              <a:ext uri="{FF2B5EF4-FFF2-40B4-BE49-F238E27FC236}">
                <a16:creationId xmlns="" xmlns:a16="http://schemas.microsoft.com/office/drawing/2014/main" id="{72DB59C1-3D4C-4DE2-8467-134D5FC0E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0750" y="1371600"/>
            <a:ext cx="757238" cy="340519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00" kern="1200">
                <a:solidFill>
                  <a:srgbClr val="000000"/>
                </a:solidFill>
                <a:latin typeface="Times New Roman" panose="02020603050405020304" pitchFamily="18" charset="0"/>
                <a:cs typeface="+mn-cs"/>
              </a:rPr>
              <a:t>B?</a:t>
            </a:r>
            <a:endParaRPr lang="en-US" altLang="en-US" sz="1800" kern="120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36867" name="Line 5">
            <a:extLst>
              <a:ext uri="{FF2B5EF4-FFF2-40B4-BE49-F238E27FC236}">
                <a16:creationId xmlns="" xmlns:a16="http://schemas.microsoft.com/office/drawing/2014/main" id="{9B76AFB6-B62E-45FA-BF1B-2A57C299EE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69744" y="1714500"/>
            <a:ext cx="831056" cy="54411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defTabSz="685800" eaLnBrk="0" fontAlgn="base">
              <a:spcBef>
                <a:spcPct val="0"/>
              </a:spcBef>
              <a:spcAft>
                <a:spcPct val="0"/>
              </a:spcAft>
            </a:pPr>
            <a:endParaRPr lang="en-US" sz="1050" b="1" kern="1200"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868" name="Line 6">
            <a:extLst>
              <a:ext uri="{FF2B5EF4-FFF2-40B4-BE49-F238E27FC236}">
                <a16:creationId xmlns="" xmlns:a16="http://schemas.microsoft.com/office/drawing/2014/main" id="{25CDC5C2-2488-42F5-B0B1-0EEC169929E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1" y="1714500"/>
            <a:ext cx="888206" cy="54411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defTabSz="685800" eaLnBrk="0" fontAlgn="base">
              <a:spcBef>
                <a:spcPct val="0"/>
              </a:spcBef>
              <a:spcAft>
                <a:spcPct val="0"/>
              </a:spcAft>
            </a:pPr>
            <a:endParaRPr lang="en-US" sz="1050" b="1" kern="1200"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869" name="Text Box 7">
            <a:extLst>
              <a:ext uri="{FF2B5EF4-FFF2-40B4-BE49-F238E27FC236}">
                <a16:creationId xmlns="" xmlns:a16="http://schemas.microsoft.com/office/drawing/2014/main" id="{D594DF99-5476-4721-8488-0145C10C4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9034" y="1788892"/>
            <a:ext cx="436659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350" kern="1200">
                <a:solidFill>
                  <a:srgbClr val="000000"/>
                </a:solidFill>
                <a:latin typeface="Times New Roman" panose="02020603050405020304" pitchFamily="18" charset="0"/>
                <a:cs typeface="+mn-cs"/>
              </a:rPr>
              <a:t>Yes</a:t>
            </a:r>
          </a:p>
        </p:txBody>
      </p:sp>
      <p:sp>
        <p:nvSpPr>
          <p:cNvPr id="36870" name="Text Box 8">
            <a:extLst>
              <a:ext uri="{FF2B5EF4-FFF2-40B4-BE49-F238E27FC236}">
                <a16:creationId xmlns="" xmlns:a16="http://schemas.microsoft.com/office/drawing/2014/main" id="{2E2E52A2-A299-4B77-AF36-97ABADFE4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557" y="1788892"/>
            <a:ext cx="396262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350" kern="1200">
                <a:solidFill>
                  <a:srgbClr val="000000"/>
                </a:solidFill>
                <a:latin typeface="Times New Roman" panose="02020603050405020304" pitchFamily="18" charset="0"/>
                <a:cs typeface="+mn-cs"/>
              </a:rPr>
              <a:t>No</a:t>
            </a:r>
          </a:p>
        </p:txBody>
      </p:sp>
      <p:sp>
        <p:nvSpPr>
          <p:cNvPr id="36871" name="Rectangle 9">
            <a:extLst>
              <a:ext uri="{FF2B5EF4-FFF2-40B4-BE49-F238E27FC236}">
                <a16:creationId xmlns="" xmlns:a16="http://schemas.microsoft.com/office/drawing/2014/main" id="{A442257A-610D-49F8-9C2B-A5163A1FD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2258616"/>
            <a:ext cx="702469" cy="25598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350" kern="1200">
                <a:solidFill>
                  <a:srgbClr val="000000"/>
                </a:solidFill>
                <a:latin typeface="Times New Roman" panose="02020603050405020304" pitchFamily="18" charset="0"/>
                <a:cs typeface="+mn-cs"/>
              </a:rPr>
              <a:t>Node N3</a:t>
            </a:r>
          </a:p>
        </p:txBody>
      </p:sp>
      <p:sp>
        <p:nvSpPr>
          <p:cNvPr id="36872" name="Rectangle 10">
            <a:extLst>
              <a:ext uri="{FF2B5EF4-FFF2-40B4-BE49-F238E27FC236}">
                <a16:creationId xmlns="" xmlns:a16="http://schemas.microsoft.com/office/drawing/2014/main" id="{0BE9CB00-005C-4D8A-9098-0434A5126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8482" y="2258616"/>
            <a:ext cx="702469" cy="25598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350" kern="1200">
                <a:solidFill>
                  <a:srgbClr val="000000"/>
                </a:solidFill>
                <a:latin typeface="Times New Roman" panose="02020603050405020304" pitchFamily="18" charset="0"/>
                <a:cs typeface="+mn-cs"/>
              </a:rPr>
              <a:t>Node N4</a:t>
            </a:r>
          </a:p>
        </p:txBody>
      </p:sp>
      <p:sp>
        <p:nvSpPr>
          <p:cNvPr id="36873" name="Oval 11">
            <a:extLst>
              <a:ext uri="{FF2B5EF4-FFF2-40B4-BE49-F238E27FC236}">
                <a16:creationId xmlns="" xmlns:a16="http://schemas.microsoft.com/office/drawing/2014/main" id="{430DF567-FB44-42BA-BDD4-A4E057B02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8850" y="1314450"/>
            <a:ext cx="757238" cy="340519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00" kern="1200">
                <a:solidFill>
                  <a:srgbClr val="000000"/>
                </a:solidFill>
                <a:latin typeface="Times New Roman" panose="02020603050405020304" pitchFamily="18" charset="0"/>
                <a:cs typeface="+mn-cs"/>
              </a:rPr>
              <a:t>A?</a:t>
            </a:r>
            <a:endParaRPr lang="en-US" altLang="en-US" sz="1800" kern="120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36874" name="Line 12">
            <a:extLst>
              <a:ext uri="{FF2B5EF4-FFF2-40B4-BE49-F238E27FC236}">
                <a16:creationId xmlns="" xmlns:a16="http://schemas.microsoft.com/office/drawing/2014/main" id="{09CD20DE-FD67-41A3-B19D-7BEA63F291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97844" y="1657350"/>
            <a:ext cx="831056" cy="54411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defTabSz="685800" eaLnBrk="0" fontAlgn="base">
              <a:spcBef>
                <a:spcPct val="0"/>
              </a:spcBef>
              <a:spcAft>
                <a:spcPct val="0"/>
              </a:spcAft>
            </a:pPr>
            <a:endParaRPr lang="en-US" sz="1050" b="1" kern="1200"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875" name="Line 13">
            <a:extLst>
              <a:ext uri="{FF2B5EF4-FFF2-40B4-BE49-F238E27FC236}">
                <a16:creationId xmlns="" xmlns:a16="http://schemas.microsoft.com/office/drawing/2014/main" id="{5E78F2C8-48DF-4673-8305-990AB566FCC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8901" y="1657350"/>
            <a:ext cx="888206" cy="54411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defTabSz="685800" eaLnBrk="0" fontAlgn="base">
              <a:spcBef>
                <a:spcPct val="0"/>
              </a:spcBef>
              <a:spcAft>
                <a:spcPct val="0"/>
              </a:spcAft>
            </a:pPr>
            <a:endParaRPr lang="en-US" sz="1050" b="1" kern="1200"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876" name="Text Box 14">
            <a:extLst>
              <a:ext uri="{FF2B5EF4-FFF2-40B4-BE49-F238E27FC236}">
                <a16:creationId xmlns="" xmlns:a16="http://schemas.microsoft.com/office/drawing/2014/main" id="{64A775CD-B2F1-4DE7-A46F-121F8E128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7134" y="1731742"/>
            <a:ext cx="436659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350" kern="1200">
                <a:solidFill>
                  <a:srgbClr val="000000"/>
                </a:solidFill>
                <a:latin typeface="Times New Roman" panose="02020603050405020304" pitchFamily="18" charset="0"/>
                <a:cs typeface="+mn-cs"/>
              </a:rPr>
              <a:t>Yes</a:t>
            </a:r>
          </a:p>
        </p:txBody>
      </p:sp>
      <p:sp>
        <p:nvSpPr>
          <p:cNvPr id="36877" name="Text Box 15">
            <a:extLst>
              <a:ext uri="{FF2B5EF4-FFF2-40B4-BE49-F238E27FC236}">
                <a16:creationId xmlns="" xmlns:a16="http://schemas.microsoft.com/office/drawing/2014/main" id="{D88DBA1E-33DA-4E53-80FE-07E1530D1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5657" y="1731742"/>
            <a:ext cx="396262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350" kern="1200">
                <a:solidFill>
                  <a:srgbClr val="000000"/>
                </a:solidFill>
                <a:latin typeface="Times New Roman" panose="02020603050405020304" pitchFamily="18" charset="0"/>
                <a:cs typeface="+mn-cs"/>
              </a:rPr>
              <a:t>No</a:t>
            </a:r>
          </a:p>
        </p:txBody>
      </p:sp>
      <p:sp>
        <p:nvSpPr>
          <p:cNvPr id="36878" name="Rectangle 16">
            <a:extLst>
              <a:ext uri="{FF2B5EF4-FFF2-40B4-BE49-F238E27FC236}">
                <a16:creationId xmlns="" xmlns:a16="http://schemas.microsoft.com/office/drawing/2014/main" id="{3FFB2629-BD43-4A6B-8875-CCE4B398D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5900" y="2201466"/>
            <a:ext cx="702469" cy="25598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350" kern="1200" dirty="0">
                <a:solidFill>
                  <a:srgbClr val="000000"/>
                </a:solidFill>
                <a:latin typeface="Times New Roman" panose="02020603050405020304" pitchFamily="18" charset="0"/>
                <a:cs typeface="+mn-cs"/>
              </a:rPr>
              <a:t>Node N1</a:t>
            </a:r>
          </a:p>
        </p:txBody>
      </p:sp>
      <p:sp>
        <p:nvSpPr>
          <p:cNvPr id="36879" name="Rectangle 17">
            <a:extLst>
              <a:ext uri="{FF2B5EF4-FFF2-40B4-BE49-F238E27FC236}">
                <a16:creationId xmlns="" xmlns:a16="http://schemas.microsoft.com/office/drawing/2014/main" id="{845E5EA6-6945-40ED-9AB5-C2DC83AA2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6582" y="2201466"/>
            <a:ext cx="702469" cy="25598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350" kern="1200">
                <a:solidFill>
                  <a:srgbClr val="000000"/>
                </a:solidFill>
                <a:latin typeface="Times New Roman" panose="02020603050405020304" pitchFamily="18" charset="0"/>
                <a:cs typeface="+mn-cs"/>
              </a:rPr>
              <a:t>Node N2</a:t>
            </a:r>
          </a:p>
        </p:txBody>
      </p:sp>
      <p:sp>
        <p:nvSpPr>
          <p:cNvPr id="36880" name="Text Box 18">
            <a:extLst>
              <a:ext uri="{FF2B5EF4-FFF2-40B4-BE49-F238E27FC236}">
                <a16:creationId xmlns="" xmlns:a16="http://schemas.microsoft.com/office/drawing/2014/main" id="{646251EA-A7AA-4D8C-ADD7-CF96BD4256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0" y="800100"/>
            <a:ext cx="148590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350" b="1" kern="1200">
                <a:solidFill>
                  <a:srgbClr val="000000"/>
                </a:solidFill>
                <a:cs typeface="+mn-cs"/>
              </a:rPr>
              <a:t>Before Splitting:</a:t>
            </a:r>
          </a:p>
        </p:txBody>
      </p:sp>
      <p:graphicFrame>
        <p:nvGraphicFramePr>
          <p:cNvPr id="36882" name="Object 27">
            <a:extLst>
              <a:ext uri="{FF2B5EF4-FFF2-40B4-BE49-F238E27FC236}">
                <a16:creationId xmlns="" xmlns:a16="http://schemas.microsoft.com/office/drawing/2014/main" id="{E9DA3913-BA37-4CD6-B589-349287EC8B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9754104"/>
              </p:ext>
            </p:extLst>
          </p:nvPr>
        </p:nvGraphicFramePr>
        <p:xfrm>
          <a:off x="2918222" y="2689623"/>
          <a:ext cx="1227534" cy="5107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1" name="Document" r:id="rId5" imgW="3327400" imgH="1397000" progId="Word.Document.8">
                  <p:embed/>
                </p:oleObj>
              </mc:Choice>
              <mc:Fallback>
                <p:oleObj name="Document" r:id="rId5" imgW="3327400" imgH="13970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8222" y="2689623"/>
                        <a:ext cx="1227534" cy="5107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3" name="Object 28">
            <a:extLst>
              <a:ext uri="{FF2B5EF4-FFF2-40B4-BE49-F238E27FC236}">
                <a16:creationId xmlns="" xmlns:a16="http://schemas.microsoft.com/office/drawing/2014/main" id="{0C0748CF-44F5-4649-BA5A-7B1451BC8A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5645894"/>
              </p:ext>
            </p:extLst>
          </p:nvPr>
        </p:nvGraphicFramePr>
        <p:xfrm>
          <a:off x="4975622" y="2689623"/>
          <a:ext cx="1227534" cy="5107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2" name="Document" r:id="rId7" imgW="3340100" imgH="1397000" progId="Word.Document.8">
                  <p:embed/>
                </p:oleObj>
              </mc:Choice>
              <mc:Fallback>
                <p:oleObj name="Document" r:id="rId7" imgW="3340100" imgH="13970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5622" y="2689623"/>
                        <a:ext cx="1227534" cy="5107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4" name="Object 29">
            <a:extLst>
              <a:ext uri="{FF2B5EF4-FFF2-40B4-BE49-F238E27FC236}">
                <a16:creationId xmlns="" xmlns:a16="http://schemas.microsoft.com/office/drawing/2014/main" id="{E02CD5EA-C7B8-40BF-A963-6E45B9C475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0100807"/>
              </p:ext>
            </p:extLst>
          </p:nvPr>
        </p:nvGraphicFramePr>
        <p:xfrm>
          <a:off x="6690123" y="2689622"/>
          <a:ext cx="119657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3" name="Document" r:id="rId9" imgW="3352800" imgH="1397000" progId="Word.Document.8">
                  <p:embed/>
                </p:oleObj>
              </mc:Choice>
              <mc:Fallback>
                <p:oleObj name="Document" r:id="rId9" imgW="3352800" imgH="13970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0123" y="2689622"/>
                        <a:ext cx="1196578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5" name="Object 33">
            <a:extLst>
              <a:ext uri="{FF2B5EF4-FFF2-40B4-BE49-F238E27FC236}">
                <a16:creationId xmlns="" xmlns:a16="http://schemas.microsoft.com/office/drawing/2014/main" id="{932BFF67-D515-4314-B21D-02FDC8D202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8248359"/>
              </p:ext>
            </p:extLst>
          </p:nvPr>
        </p:nvGraphicFramePr>
        <p:xfrm>
          <a:off x="4114800" y="800100"/>
          <a:ext cx="1196579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4" name="Document" r:id="rId11" imgW="3340100" imgH="1397000" progId="Word.Document.8">
                  <p:embed/>
                </p:oleObj>
              </mc:Choice>
              <mc:Fallback>
                <p:oleObj name="Document" r:id="rId11" imgW="3340100" imgH="13970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800100"/>
                        <a:ext cx="1196579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Группа 6"/>
          <p:cNvGrpSpPr/>
          <p:nvPr/>
        </p:nvGrpSpPr>
        <p:grpSpPr>
          <a:xfrm>
            <a:off x="1692528" y="813793"/>
            <a:ext cx="6000750" cy="3751660"/>
            <a:chOff x="1692528" y="813793"/>
            <a:chExt cx="6000750" cy="3751660"/>
          </a:xfrm>
        </p:grpSpPr>
        <p:sp>
          <p:nvSpPr>
            <p:cNvPr id="36905" name="Line 34">
              <a:extLst>
                <a:ext uri="{FF2B5EF4-FFF2-40B4-BE49-F238E27FC236}">
                  <a16:creationId xmlns="" xmlns:a16="http://schemas.microsoft.com/office/drawing/2014/main" id="{40FB1057-3C51-473C-8B80-C78E5A3D43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21578" y="985243"/>
              <a:ext cx="40005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685800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1050" b="1" kern="120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906" name="Text Box 35">
              <a:extLst>
                <a:ext uri="{FF2B5EF4-FFF2-40B4-BE49-F238E27FC236}">
                  <a16:creationId xmlns="" xmlns:a16="http://schemas.microsoft.com/office/drawing/2014/main" id="{294E0061-FDD9-416D-9F65-9CD665F397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8778" y="813793"/>
              <a:ext cx="514350" cy="322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l" defTabSz="685800" eaLnBrk="0" fontAlgn="base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500" b="1" kern="1200">
                  <a:solidFill>
                    <a:srgbClr val="000000"/>
                  </a:solidFill>
                  <a:cs typeface="+mn-cs"/>
                </a:rPr>
                <a:t>P</a:t>
              </a:r>
            </a:p>
          </p:txBody>
        </p:sp>
        <p:sp>
          <p:nvSpPr>
            <p:cNvPr id="36897" name="Text Box 36">
              <a:extLst>
                <a:ext uri="{FF2B5EF4-FFF2-40B4-BE49-F238E27FC236}">
                  <a16:creationId xmlns="" xmlns:a16="http://schemas.microsoft.com/office/drawing/2014/main" id="{5B9AF59C-109F-4FD2-9C9C-5143438993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2528" y="3614142"/>
              <a:ext cx="514350" cy="553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l" defTabSz="685800" eaLnBrk="0" fontAlgn="base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500" b="1" kern="1200">
                  <a:solidFill>
                    <a:srgbClr val="000000"/>
                  </a:solidFill>
                  <a:cs typeface="+mn-cs"/>
                </a:rPr>
                <a:t>M11</a:t>
              </a:r>
            </a:p>
          </p:txBody>
        </p:sp>
        <p:sp>
          <p:nvSpPr>
            <p:cNvPr id="36898" name="Text Box 37">
              <a:extLst>
                <a:ext uri="{FF2B5EF4-FFF2-40B4-BE49-F238E27FC236}">
                  <a16:creationId xmlns="" xmlns:a16="http://schemas.microsoft.com/office/drawing/2014/main" id="{9F60B89C-1F80-4C13-BED8-7BAF175FA1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7028" y="3602236"/>
              <a:ext cx="514350" cy="553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l" defTabSz="685800" eaLnBrk="0" fontAlgn="base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500" b="1" kern="1200">
                  <a:solidFill>
                    <a:srgbClr val="000000"/>
                  </a:solidFill>
                  <a:cs typeface="+mn-cs"/>
                </a:rPr>
                <a:t>M12</a:t>
              </a:r>
            </a:p>
          </p:txBody>
        </p:sp>
        <p:sp>
          <p:nvSpPr>
            <p:cNvPr id="36899" name="Text Box 38">
              <a:extLst>
                <a:ext uri="{FF2B5EF4-FFF2-40B4-BE49-F238E27FC236}">
                  <a16:creationId xmlns="" xmlns:a16="http://schemas.microsoft.com/office/drawing/2014/main" id="{E1C45CAB-1C3A-4D7C-82C2-30CDEA0AFB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1578" y="3602236"/>
              <a:ext cx="514350" cy="553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l" defTabSz="685800" eaLnBrk="0" fontAlgn="base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500" b="1" kern="1200">
                  <a:solidFill>
                    <a:srgbClr val="000000"/>
                  </a:solidFill>
                  <a:cs typeface="+mn-cs"/>
                </a:rPr>
                <a:t>M21</a:t>
              </a:r>
            </a:p>
          </p:txBody>
        </p:sp>
        <p:sp>
          <p:nvSpPr>
            <p:cNvPr id="36900" name="Text Box 39">
              <a:extLst>
                <a:ext uri="{FF2B5EF4-FFF2-40B4-BE49-F238E27FC236}">
                  <a16:creationId xmlns="" xmlns:a16="http://schemas.microsoft.com/office/drawing/2014/main" id="{D53ED540-5422-4A33-90F3-FA8E83A522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78928" y="3602236"/>
              <a:ext cx="514350" cy="553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l" defTabSz="685800" eaLnBrk="0" fontAlgn="base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500" b="1" kern="1200">
                  <a:solidFill>
                    <a:srgbClr val="000000"/>
                  </a:solidFill>
                  <a:cs typeface="+mn-cs"/>
                </a:rPr>
                <a:t>M22</a:t>
              </a:r>
            </a:p>
          </p:txBody>
        </p:sp>
        <p:sp>
          <p:nvSpPr>
            <p:cNvPr id="36901" name="Line 40">
              <a:extLst>
                <a:ext uri="{FF2B5EF4-FFF2-40B4-BE49-F238E27FC236}">
                  <a16:creationId xmlns="" xmlns:a16="http://schemas.microsoft.com/office/drawing/2014/main" id="{D79FD2F7-C96E-46A3-93E0-AC31DABF90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3978" y="3271242"/>
              <a:ext cx="0" cy="3429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685800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1050" b="1" kern="120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902" name="Line 41">
              <a:extLst>
                <a:ext uri="{FF2B5EF4-FFF2-40B4-BE49-F238E27FC236}">
                  <a16:creationId xmlns="" xmlns:a16="http://schemas.microsoft.com/office/drawing/2014/main" id="{59A36EC4-C058-49F5-A277-9304388D5C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628" y="3271242"/>
              <a:ext cx="0" cy="3429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685800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1050" b="1" kern="120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903" name="Line 42">
              <a:extLst>
                <a:ext uri="{FF2B5EF4-FFF2-40B4-BE49-F238E27FC236}">
                  <a16:creationId xmlns="" xmlns:a16="http://schemas.microsoft.com/office/drawing/2014/main" id="{19BA76F6-0861-44D8-B384-D0A9922CBC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93028" y="3271242"/>
              <a:ext cx="0" cy="3429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685800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1050" b="1" kern="120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904" name="Line 43">
              <a:extLst>
                <a:ext uri="{FF2B5EF4-FFF2-40B4-BE49-F238E27FC236}">
                  <a16:creationId xmlns="" xmlns:a16="http://schemas.microsoft.com/office/drawing/2014/main" id="{7FCD0CC1-A9D2-4E29-BCEF-9DE42BE9C8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07528" y="3271242"/>
              <a:ext cx="0" cy="3429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685800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1050" b="1" kern="120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893" name="AutoShape 44">
              <a:extLst>
                <a:ext uri="{FF2B5EF4-FFF2-40B4-BE49-F238E27FC236}">
                  <a16:creationId xmlns="" xmlns:a16="http://schemas.microsoft.com/office/drawing/2014/main" id="{4C70D898-144B-484D-BAAC-212BC32F6231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2606928" y="3156943"/>
              <a:ext cx="228600" cy="1828800"/>
            </a:xfrm>
            <a:prstGeom prst="leftBrace">
              <a:avLst>
                <a:gd name="adj1" fmla="val 66667"/>
                <a:gd name="adj2" fmla="val 50963"/>
              </a:avLst>
            </a:prstGeom>
            <a:noFill/>
            <a:ln w="25400">
              <a:solidFill>
                <a:srgbClr val="1C5A6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l" defTabSz="685800" eaLnBrk="0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050" b="1" kern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36894" name="AutoShape 45">
              <a:extLst>
                <a:ext uri="{FF2B5EF4-FFF2-40B4-BE49-F238E27FC236}">
                  <a16:creationId xmlns="" xmlns:a16="http://schemas.microsoft.com/office/drawing/2014/main" id="{1377339D-0377-4BD1-A704-738AE423B957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6493128" y="3156943"/>
              <a:ext cx="228600" cy="1828800"/>
            </a:xfrm>
            <a:prstGeom prst="leftBrace">
              <a:avLst>
                <a:gd name="adj1" fmla="val 66667"/>
                <a:gd name="adj2" fmla="val 50963"/>
              </a:avLst>
            </a:prstGeom>
            <a:noFill/>
            <a:ln w="25400">
              <a:solidFill>
                <a:srgbClr val="1C5A6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l" defTabSz="685800" eaLnBrk="0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lang="en-US" altLang="en-US" sz="1050" b="1" kern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36895" name="Text Box 46">
              <a:extLst>
                <a:ext uri="{FF2B5EF4-FFF2-40B4-BE49-F238E27FC236}">
                  <a16:creationId xmlns="" xmlns:a16="http://schemas.microsoft.com/office/drawing/2014/main" id="{B3EFBE4C-E569-4D08-A106-5708F2A7C4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2628" y="4230887"/>
              <a:ext cx="514350" cy="322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l" defTabSz="685800" eaLnBrk="0" fontAlgn="base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500" b="1" kern="1200">
                  <a:solidFill>
                    <a:srgbClr val="000000"/>
                  </a:solidFill>
                  <a:cs typeface="+mn-cs"/>
                </a:rPr>
                <a:t>M1</a:t>
              </a:r>
            </a:p>
          </p:txBody>
        </p:sp>
        <p:sp>
          <p:nvSpPr>
            <p:cNvPr id="36896" name="Text Box 47">
              <a:extLst>
                <a:ext uri="{FF2B5EF4-FFF2-40B4-BE49-F238E27FC236}">
                  <a16:creationId xmlns="" xmlns:a16="http://schemas.microsoft.com/office/drawing/2014/main" id="{803C0B8E-94BA-42A6-BFF6-2C21520621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78828" y="4242793"/>
              <a:ext cx="514350" cy="322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l" defTabSz="685800" eaLnBrk="0" fontAlgn="base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500" b="1" kern="1200">
                  <a:solidFill>
                    <a:srgbClr val="000000"/>
                  </a:solidFill>
                  <a:cs typeface="+mn-cs"/>
                </a:rPr>
                <a:t>M2</a:t>
              </a:r>
            </a:p>
          </p:txBody>
        </p:sp>
      </p:grpSp>
      <p:sp>
        <p:nvSpPr>
          <p:cNvPr id="924723" name="Text Box 51">
            <a:extLst>
              <a:ext uri="{FF2B5EF4-FFF2-40B4-BE49-F238E27FC236}">
                <a16:creationId xmlns="" xmlns:a16="http://schemas.microsoft.com/office/drawing/2014/main" id="{AA6B07E9-3D49-4F3E-AD88-10C7497238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7550" y="4445794"/>
            <a:ext cx="30289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00" b="1" kern="1200" dirty="0">
                <a:solidFill>
                  <a:srgbClr val="000000"/>
                </a:solidFill>
                <a:cs typeface="+mn-cs"/>
              </a:rPr>
              <a:t>Gain = P – M1    vs      P – M2</a:t>
            </a:r>
          </a:p>
        </p:txBody>
      </p:sp>
      <p:sp>
        <p:nvSpPr>
          <p:cNvPr id="44" name="Rectangle 2"/>
          <p:cNvSpPr txBox="1">
            <a:spLocks noChangeArrowheads="1"/>
          </p:cNvSpPr>
          <p:nvPr/>
        </p:nvSpPr>
        <p:spPr>
          <a:xfrm>
            <a:off x="359596" y="71736"/>
            <a:ext cx="8229600" cy="74295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b="1" dirty="0" smtClean="0">
                <a:solidFill>
                  <a:schemeClr val="bg1"/>
                </a:solidFill>
                <a:latin typeface="+mn-lt"/>
              </a:rPr>
              <a:t>Пошук найкращого розгалуження</a:t>
            </a:r>
            <a:endParaRPr lang="en-US" b="1" dirty="0" smtClean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39627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72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45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359596" y="71736"/>
            <a:ext cx="8229600" cy="74295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b="1" dirty="0" smtClean="0">
                <a:solidFill>
                  <a:schemeClr val="bg1"/>
                </a:solidFill>
                <a:latin typeface="+mn-lt"/>
              </a:rPr>
              <a:t>Індекс </a:t>
            </a:r>
            <a:r>
              <a:rPr lang="en-US" b="1" dirty="0" smtClean="0">
                <a:solidFill>
                  <a:schemeClr val="bg1"/>
                </a:solidFill>
                <a:latin typeface="+mn-lt"/>
              </a:rPr>
              <a:t>GINI</a:t>
            </a:r>
            <a:r>
              <a:rPr lang="uk-UA" b="1" dirty="0" smtClean="0">
                <a:solidFill>
                  <a:schemeClr val="bg1"/>
                </a:solidFill>
                <a:latin typeface="+mn-lt"/>
              </a:rPr>
              <a:t> для чистоти вузла</a:t>
            </a:r>
            <a:endParaRPr lang="en-US" b="1" dirty="0" smtClean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84935" y="814686"/>
            <a:ext cx="8260422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dirty="0" err="1">
                <a:latin typeface="+mn-lt"/>
              </a:rPr>
              <a:t>Індекс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Джині</a:t>
            </a:r>
            <a:r>
              <a:rPr lang="ru-RU" dirty="0">
                <a:latin typeface="+mn-lt"/>
              </a:rPr>
              <a:t> для </a:t>
            </a:r>
            <a:r>
              <a:rPr lang="ru-RU" dirty="0" err="1">
                <a:latin typeface="+mn-lt"/>
              </a:rPr>
              <a:t>даного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вузла</a:t>
            </a:r>
            <a:r>
              <a:rPr lang="ru-RU" dirty="0">
                <a:latin typeface="+mn-lt"/>
              </a:rPr>
              <a:t> 𝒕</a:t>
            </a:r>
          </a:p>
          <a:p>
            <a:pPr algn="l"/>
            <a:endParaRPr lang="ru-RU" dirty="0">
              <a:latin typeface="+mn-lt"/>
            </a:endParaRPr>
          </a:p>
          <a:p>
            <a:pPr algn="l"/>
            <a:endParaRPr lang="ru-RU" dirty="0">
              <a:latin typeface="+mn-lt"/>
            </a:endParaRPr>
          </a:p>
          <a:p>
            <a:pPr algn="l"/>
            <a:endParaRPr lang="ru-RU" dirty="0">
              <a:latin typeface="+mn-lt"/>
            </a:endParaRPr>
          </a:p>
          <a:p>
            <a:pPr algn="l"/>
            <a:r>
              <a:rPr lang="ru-RU" dirty="0">
                <a:latin typeface="+mn-lt"/>
              </a:rPr>
              <a:t>Де </a:t>
            </a:r>
            <a:r>
              <a:rPr lang="ru-RU" dirty="0" smtClean="0">
                <a:latin typeface="+mn-lt"/>
              </a:rPr>
              <a:t>𝒑</a:t>
            </a:r>
            <a:r>
              <a:rPr lang="ru-RU" baseline="-25000" dirty="0" smtClean="0">
                <a:latin typeface="+mn-lt"/>
              </a:rPr>
              <a:t>𝒊</a:t>
            </a:r>
            <a:r>
              <a:rPr lang="ru-RU" dirty="0" smtClean="0">
                <a:latin typeface="+mn-lt"/>
              </a:rPr>
              <a:t> </a:t>
            </a:r>
            <a:r>
              <a:rPr lang="ru-RU" dirty="0">
                <a:latin typeface="+mn-lt"/>
              </a:rPr>
              <a:t>(𝒕) </a:t>
            </a:r>
            <a:r>
              <a:rPr lang="ru-RU" dirty="0" smtClean="0">
                <a:latin typeface="+mn-lt"/>
              </a:rPr>
              <a:t>– </a:t>
            </a:r>
            <a:r>
              <a:rPr lang="ru-RU" dirty="0" err="1" smtClean="0">
                <a:latin typeface="+mn-lt"/>
              </a:rPr>
              <a:t>ймовірність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класу</a:t>
            </a:r>
            <a:r>
              <a:rPr lang="ru-RU" dirty="0" smtClean="0">
                <a:latin typeface="+mn-lt"/>
              </a:rPr>
              <a:t> </a:t>
            </a:r>
            <a:r>
              <a:rPr lang="ru-RU" dirty="0">
                <a:latin typeface="+mn-lt"/>
              </a:rPr>
              <a:t>𝒊 на </a:t>
            </a:r>
            <a:r>
              <a:rPr lang="ru-RU" dirty="0" err="1">
                <a:latin typeface="+mn-lt"/>
              </a:rPr>
              <a:t>вузлі</a:t>
            </a:r>
            <a:r>
              <a:rPr lang="ru-RU" dirty="0">
                <a:latin typeface="+mn-lt"/>
              </a:rPr>
              <a:t> 𝒕, </a:t>
            </a:r>
            <a:r>
              <a:rPr lang="ru-RU" dirty="0" smtClean="0">
                <a:latin typeface="+mn-lt"/>
              </a:rPr>
              <a:t> </a:t>
            </a:r>
            <a:r>
              <a:rPr lang="ru-RU" dirty="0">
                <a:latin typeface="+mn-lt"/>
              </a:rPr>
              <a:t>𝒄 - </a:t>
            </a:r>
            <a:r>
              <a:rPr lang="ru-RU" dirty="0" err="1">
                <a:latin typeface="+mn-lt"/>
              </a:rPr>
              <a:t>загальна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кількість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класів</a:t>
            </a:r>
            <a:endParaRPr lang="ru-RU" dirty="0">
              <a:latin typeface="+mn-lt"/>
            </a:endParaRPr>
          </a:p>
          <a:p>
            <a:pPr algn="l"/>
            <a:endParaRPr lang="ru-RU" dirty="0">
              <a:latin typeface="+mn-lt"/>
            </a:endParaRPr>
          </a:p>
          <a:p>
            <a:pPr algn="l"/>
            <a:r>
              <a:rPr lang="ru-RU" dirty="0">
                <a:latin typeface="+mn-lt"/>
              </a:rPr>
              <a:t>Максимум </a:t>
            </a:r>
            <a:r>
              <a:rPr lang="ru-RU" dirty="0" smtClean="0">
                <a:latin typeface="+mn-lt"/>
              </a:rPr>
              <a:t>1 (1 </a:t>
            </a:r>
            <a:r>
              <a:rPr lang="ru-RU" dirty="0">
                <a:latin typeface="+mn-lt"/>
              </a:rPr>
              <a:t>/ </a:t>
            </a:r>
            <a:r>
              <a:rPr lang="ru-RU" dirty="0" smtClean="0">
                <a:latin typeface="+mn-lt"/>
              </a:rPr>
              <a:t>𝑐), </a:t>
            </a:r>
            <a:r>
              <a:rPr lang="ru-RU" dirty="0">
                <a:latin typeface="+mn-lt"/>
              </a:rPr>
              <a:t>коли записи </a:t>
            </a:r>
            <a:r>
              <a:rPr lang="ru-RU" dirty="0" err="1">
                <a:latin typeface="+mn-lt"/>
              </a:rPr>
              <a:t>однаково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розподіляються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між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усіма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класами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що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означає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найменш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сприятливу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ситуацію</a:t>
            </a:r>
            <a:r>
              <a:rPr lang="ru-RU" dirty="0">
                <a:latin typeface="+mn-lt"/>
              </a:rPr>
              <a:t> для </a:t>
            </a:r>
            <a:r>
              <a:rPr lang="ru-RU" dirty="0" err="1" smtClean="0">
                <a:latin typeface="+mn-lt"/>
              </a:rPr>
              <a:t>класифікації</a:t>
            </a:r>
            <a:r>
              <a:rPr lang="ru-RU" dirty="0" smtClean="0">
                <a:latin typeface="+mn-lt"/>
              </a:rPr>
              <a:t>.</a:t>
            </a:r>
            <a:endParaRPr lang="ru-RU" dirty="0">
              <a:latin typeface="+mn-lt"/>
            </a:endParaRPr>
          </a:p>
          <a:p>
            <a:pPr algn="l"/>
            <a:r>
              <a:rPr lang="ru-RU" dirty="0" err="1">
                <a:latin typeface="+mn-lt"/>
              </a:rPr>
              <a:t>Мінімум</a:t>
            </a:r>
            <a:r>
              <a:rPr lang="ru-RU" dirty="0">
                <a:latin typeface="+mn-lt"/>
              </a:rPr>
              <a:t> 0, коли </a:t>
            </a:r>
            <a:r>
              <a:rPr lang="ru-RU" dirty="0" err="1">
                <a:latin typeface="+mn-lt"/>
              </a:rPr>
              <a:t>всі</a:t>
            </a:r>
            <a:r>
              <a:rPr lang="ru-RU" dirty="0">
                <a:latin typeface="+mn-lt"/>
              </a:rPr>
              <a:t> записи належать до одного </a:t>
            </a:r>
            <a:r>
              <a:rPr lang="ru-RU" dirty="0" err="1">
                <a:latin typeface="+mn-lt"/>
              </a:rPr>
              <a:t>класу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що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означає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найбільш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сприятливу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ситуацію</a:t>
            </a:r>
            <a:r>
              <a:rPr lang="ru-RU" dirty="0">
                <a:latin typeface="+mn-lt"/>
              </a:rPr>
              <a:t> для </a:t>
            </a:r>
            <a:r>
              <a:rPr lang="ru-RU" dirty="0" err="1">
                <a:latin typeface="+mn-lt"/>
              </a:rPr>
              <a:t>класифікації</a:t>
            </a:r>
            <a:endParaRPr lang="ru-RU" dirty="0">
              <a:latin typeface="+mn-lt"/>
            </a:endParaRPr>
          </a:p>
          <a:p>
            <a:pPr algn="l"/>
            <a:r>
              <a:rPr lang="ru-RU" dirty="0" err="1">
                <a:latin typeface="+mn-lt"/>
              </a:rPr>
              <a:t>Індекс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Джині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використовується</a:t>
            </a:r>
            <a:r>
              <a:rPr lang="ru-RU" dirty="0">
                <a:latin typeface="+mn-lt"/>
              </a:rPr>
              <a:t> в таких алгоритмах дерева </a:t>
            </a:r>
            <a:r>
              <a:rPr lang="ru-RU" dirty="0" err="1">
                <a:latin typeface="+mn-lt"/>
              </a:rPr>
              <a:t>рішень</a:t>
            </a:r>
            <a:r>
              <a:rPr lang="ru-RU" dirty="0">
                <a:latin typeface="+mn-lt"/>
              </a:rPr>
              <a:t>, як </a:t>
            </a:r>
            <a:r>
              <a:rPr lang="en-GB" dirty="0">
                <a:latin typeface="+mn-lt"/>
              </a:rPr>
              <a:t>CART, SLIQ, SPRINT</a:t>
            </a:r>
            <a:endParaRPr lang="ru-RU" dirty="0">
              <a:latin typeface="+mn-lt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297" y="1153619"/>
            <a:ext cx="2981692" cy="80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61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AEF391D5-8CCD-4B7B-AEAD-4F7B958B9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Introduction to Data Mining, 2</a:t>
            </a:r>
            <a:r>
              <a:rPr lang="en-US" baseline="30000">
                <a:solidFill>
                  <a:srgbClr val="000000">
                    <a:tint val="75000"/>
                  </a:srgbClr>
                </a:solidFill>
              </a:rPr>
              <a:t>nd</a:t>
            </a:r>
            <a:r>
              <a:rPr lang="en-US">
                <a:solidFill>
                  <a:srgbClr val="000000">
                    <a:tint val="75000"/>
                  </a:srgbClr>
                </a:solidFill>
              </a:rPr>
              <a:t> Edition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3C73ABD-BE94-453C-B227-9AEBB5668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62B9CE-DD13-4C04-8E3A-BE1A957B656B}" type="slidenum">
              <a:rPr 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46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8914" name="Rectangle 3">
            <a:extLst>
              <a:ext uri="{FF2B5EF4-FFF2-40B4-BE49-F238E27FC236}">
                <a16:creationId xmlns="" xmlns:a16="http://schemas.microsoft.com/office/drawing/2014/main" id="{79BD5C74-8908-461F-95ED-FE7B284D97E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857250"/>
            <a:ext cx="6238875" cy="29718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800" dirty="0">
                <a:ea typeface="ＭＳ Ｐゴシック" panose="020B0600070205080204" pitchFamily="34" charset="-128"/>
              </a:rPr>
              <a:t>Gini Index </a:t>
            </a:r>
            <a:r>
              <a:rPr lang="uk-UA" altLang="en-US" sz="1800" dirty="0" smtClean="0">
                <a:ea typeface="ＭＳ Ｐゴシック" panose="020B0600070205080204" pitchFamily="34" charset="-128"/>
              </a:rPr>
              <a:t>для вузла </a:t>
            </a:r>
            <a:r>
              <a:rPr lang="en-US" altLang="en-US" sz="1800" dirty="0" smtClean="0">
                <a:ea typeface="ＭＳ Ｐゴシック" panose="020B0600070205080204" pitchFamily="34" charset="-128"/>
              </a:rPr>
              <a:t>t </a:t>
            </a:r>
            <a:r>
              <a:rPr lang="en-US" altLang="en-US" sz="1800" dirty="0">
                <a:ea typeface="ＭＳ Ｐゴシック" panose="020B0600070205080204" pitchFamily="34" charset="-128"/>
              </a:rPr>
              <a:t>:</a:t>
            </a:r>
          </a:p>
          <a:p>
            <a:pPr>
              <a:lnSpc>
                <a:spcPct val="90000"/>
              </a:lnSpc>
            </a:pPr>
            <a:endParaRPr lang="en-US" altLang="en-US" sz="1500" dirty="0">
              <a:ea typeface="ＭＳ Ｐゴシック" panose="020B0600070205080204" pitchFamily="34" charset="-128"/>
            </a:endParaRP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500" dirty="0">
              <a:ea typeface="ＭＳ Ｐゴシック" panose="020B0600070205080204" pitchFamily="34" charset="-128"/>
            </a:endParaRP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600" dirty="0">
              <a:ea typeface="ＭＳ Ｐゴシック" panose="020B0600070205080204" pitchFamily="34" charset="-128"/>
            </a:endParaRP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500" dirty="0">
              <a:ea typeface="ＭＳ Ｐゴシック" panose="020B0600070205080204" pitchFamily="34" charset="-128"/>
            </a:endParaRP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500" dirty="0">
                <a:ea typeface="ＭＳ Ｐゴシック" panose="020B0600070205080204" pitchFamily="34" charset="-128"/>
              </a:rPr>
              <a:t/>
            </a:r>
            <a:br>
              <a:rPr lang="en-US" altLang="en-US" sz="1500" dirty="0">
                <a:ea typeface="ＭＳ Ｐゴシック" panose="020B0600070205080204" pitchFamily="34" charset="-128"/>
              </a:rPr>
            </a:br>
            <a:endParaRPr lang="en-US" altLang="en-US" sz="600" dirty="0"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uk-UA" altLang="en-US" sz="1800" dirty="0" smtClean="0">
                <a:ea typeface="ＭＳ Ｐゴシック" panose="020B0600070205080204" pitchFamily="34" charset="-128"/>
              </a:rPr>
              <a:t>Для </a:t>
            </a:r>
            <a:r>
              <a:rPr lang="en-US" altLang="en-US" sz="1800" dirty="0" smtClean="0">
                <a:ea typeface="ＭＳ Ｐゴシック" panose="020B0600070205080204" pitchFamily="34" charset="-128"/>
              </a:rPr>
              <a:t>2-</a:t>
            </a:r>
            <a:r>
              <a:rPr lang="uk-UA" altLang="en-US" sz="1800" dirty="0" smtClean="0">
                <a:ea typeface="ＭＳ Ｐゴシック" panose="020B0600070205080204" pitchFamily="34" charset="-128"/>
              </a:rPr>
              <a:t>класної задачі </a:t>
            </a:r>
            <a:r>
              <a:rPr lang="en-US" altLang="en-US" sz="1800" dirty="0" smtClean="0">
                <a:ea typeface="ＭＳ Ｐゴシック" panose="020B0600070205080204" pitchFamily="34" charset="-128"/>
              </a:rPr>
              <a:t>(p</a:t>
            </a:r>
            <a:r>
              <a:rPr lang="en-US" altLang="en-US" sz="1800" dirty="0">
                <a:ea typeface="ＭＳ Ｐゴシック" panose="020B0600070205080204" pitchFamily="34" charset="-128"/>
              </a:rPr>
              <a:t>, 1 – p):</a:t>
            </a:r>
          </a:p>
          <a:p>
            <a:pPr lvl="2">
              <a:lnSpc>
                <a:spcPct val="90000"/>
              </a:lnSpc>
            </a:pPr>
            <a:r>
              <a:rPr lang="en-US" altLang="en-US" sz="1500" dirty="0">
                <a:ea typeface="ＭＳ Ｐゴシック" panose="020B0600070205080204" pitchFamily="34" charset="-128"/>
              </a:rPr>
              <a:t> GINI = 1 – p</a:t>
            </a:r>
            <a:r>
              <a:rPr lang="en-US" altLang="en-US" sz="1500" baseline="30000" dirty="0">
                <a:ea typeface="ＭＳ Ｐゴシック" panose="020B0600070205080204" pitchFamily="34" charset="-128"/>
              </a:rPr>
              <a:t>2</a:t>
            </a:r>
            <a:r>
              <a:rPr lang="en-US" altLang="en-US" sz="1500" dirty="0">
                <a:ea typeface="ＭＳ Ｐゴシック" panose="020B0600070205080204" pitchFamily="34" charset="-128"/>
              </a:rPr>
              <a:t> – (1 – p)</a:t>
            </a:r>
            <a:r>
              <a:rPr lang="en-US" altLang="en-US" sz="1500" baseline="30000" dirty="0">
                <a:ea typeface="ＭＳ Ｐゴシック" panose="020B0600070205080204" pitchFamily="34" charset="-128"/>
              </a:rPr>
              <a:t>2</a:t>
            </a:r>
            <a:r>
              <a:rPr lang="en-US" altLang="en-US" sz="1500" dirty="0">
                <a:ea typeface="ＭＳ Ｐゴシック" panose="020B0600070205080204" pitchFamily="34" charset="-128"/>
              </a:rPr>
              <a:t> = 2p (1-p)</a:t>
            </a:r>
            <a:endParaRPr lang="en-US" altLang="en-US" sz="1200" baseline="30000" dirty="0">
              <a:ea typeface="ＭＳ Ｐゴシック" panose="020B0600070205080204" pitchFamily="34" charset="-128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63D3EDE1-1A11-4217-9072-722C008D2D29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>
          <a:xfrm>
            <a:off x="0" y="4767263"/>
            <a:ext cx="2057400" cy="274637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09/21/2020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graphicFrame>
        <p:nvGraphicFramePr>
          <p:cNvPr id="38916" name="Object 1">
            <a:extLst>
              <a:ext uri="{FF2B5EF4-FFF2-40B4-BE49-F238E27FC236}">
                <a16:creationId xmlns="" xmlns:a16="http://schemas.microsoft.com/office/drawing/2014/main" id="{EE315B9B-4DE7-458B-9F56-648AB06C9C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14550" y="3429000"/>
          <a:ext cx="1028700" cy="6060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0" name="Document" r:id="rId3" imgW="3284220" imgH="1970532" progId="Word.Document.8">
                  <p:embed/>
                </p:oleObj>
              </mc:Choice>
              <mc:Fallback>
                <p:oleObj name="Document" r:id="rId3" imgW="3284220" imgH="197053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4550" y="3429000"/>
                        <a:ext cx="1028700" cy="6060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7" name="Object 2">
            <a:extLst>
              <a:ext uri="{FF2B5EF4-FFF2-40B4-BE49-F238E27FC236}">
                <a16:creationId xmlns="" xmlns:a16="http://schemas.microsoft.com/office/drawing/2014/main" id="{6E71460F-3960-42A3-BB53-55C550E0A0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3429000"/>
          <a:ext cx="1028700" cy="6060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1" name="Document" r:id="rId5" imgW="3284220" imgH="1970532" progId="Word.Document.8">
                  <p:embed/>
                </p:oleObj>
              </mc:Choice>
              <mc:Fallback>
                <p:oleObj name="Document" r:id="rId5" imgW="3284220" imgH="197053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429000"/>
                        <a:ext cx="1028700" cy="6060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8" name="Object 3">
            <a:extLst>
              <a:ext uri="{FF2B5EF4-FFF2-40B4-BE49-F238E27FC236}">
                <a16:creationId xmlns="" xmlns:a16="http://schemas.microsoft.com/office/drawing/2014/main" id="{8A4756EA-4B03-42EA-9913-FAA930BC19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29300" y="3429000"/>
          <a:ext cx="1028700" cy="6060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2" name="Document" r:id="rId7" imgW="3284220" imgH="1970532" progId="Word.Document.8">
                  <p:embed/>
                </p:oleObj>
              </mc:Choice>
              <mc:Fallback>
                <p:oleObj name="Document" r:id="rId7" imgW="3284220" imgH="197053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9300" y="3429000"/>
                        <a:ext cx="1028700" cy="6060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9" name="Object 4">
            <a:extLst>
              <a:ext uri="{FF2B5EF4-FFF2-40B4-BE49-F238E27FC236}">
                <a16:creationId xmlns="" xmlns:a16="http://schemas.microsoft.com/office/drawing/2014/main" id="{EC5A82F4-0C14-4A30-80CD-8B7C42019D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71850" y="3429000"/>
          <a:ext cx="1028700" cy="6060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3" name="Document" r:id="rId9" imgW="3284220" imgH="1970532" progId="Word.Document.8">
                  <p:embed/>
                </p:oleObj>
              </mc:Choice>
              <mc:Fallback>
                <p:oleObj name="Document" r:id="rId9" imgW="3284220" imgH="197053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1850" y="3429000"/>
                        <a:ext cx="1028700" cy="6060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id="{63AF1F6F-5C58-4E6E-9969-C42AC982F3DF}"/>
                  </a:ext>
                </a:extLst>
              </p:cNvPr>
              <p:cNvSpPr txBox="1"/>
              <p:nvPr/>
            </p:nvSpPr>
            <p:spPr>
              <a:xfrm>
                <a:off x="2386013" y="1364739"/>
                <a:ext cx="2895408" cy="7784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defTabSz="685800" eaLnBrk="0"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200">
                          <a:latin typeface="Cambria Math" panose="02040503050406030204" pitchFamily="18" charset="0"/>
                          <a:cs typeface="+mn-cs"/>
                        </a:rPr>
                        <m:t>𝐺𝑖𝑛𝑖</m:t>
                      </m:r>
                      <m:r>
                        <a:rPr lang="en-US" sz="1800" i="1" kern="1200"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lang="en-US" sz="1800" i="1" kern="1200">
                          <a:latin typeface="Cambria Math" panose="02040503050406030204" pitchFamily="18" charset="0"/>
                          <a:cs typeface="+mn-cs"/>
                        </a:rPr>
                        <m:t>𝐼𝑛𝑑𝑒𝑥</m:t>
                      </m:r>
                      <m:r>
                        <a:rPr lang="en-US" sz="1800" i="1" kern="1200">
                          <a:latin typeface="Cambria Math" panose="02040503050406030204" pitchFamily="18" charset="0"/>
                          <a:cs typeface="+mn-cs"/>
                        </a:rPr>
                        <m:t>=1 − </m:t>
                      </m:r>
                      <m:nary>
                        <m:naryPr>
                          <m:chr m:val="∑"/>
                          <m:ctrlP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  <m:t>𝑐</m:t>
                          </m:r>
                          <m: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1800" i="1" kern="1200"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1800" i="1" kern="1200">
                                  <a:latin typeface="Cambria Math" panose="02040503050406030204" pitchFamily="18" charset="0"/>
                                  <a:cs typeface="+mn-cs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800" i="1" kern="1200">
                                  <a:latin typeface="Cambria Math" panose="02040503050406030204" pitchFamily="18" charset="0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800" i="1" kern="1200"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i="1" kern="1200"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 kern="1200"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800" i="1" kern="1200"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800" kern="1200" dirty="0"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3AF1F6F-5C58-4E6E-9969-C42AC982F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6013" y="1364739"/>
                <a:ext cx="2895408" cy="778418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359596" y="71736"/>
            <a:ext cx="8229600" cy="74295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b="1" dirty="0" smtClean="0">
                <a:solidFill>
                  <a:schemeClr val="bg1"/>
                </a:solidFill>
                <a:latin typeface="+mn-lt"/>
              </a:rPr>
              <a:t>Індекс </a:t>
            </a:r>
            <a:r>
              <a:rPr lang="en-US" b="1" dirty="0" smtClean="0">
                <a:solidFill>
                  <a:schemeClr val="bg1"/>
                </a:solidFill>
                <a:latin typeface="+mn-lt"/>
              </a:rPr>
              <a:t>GINI</a:t>
            </a:r>
            <a:r>
              <a:rPr lang="uk-UA" b="1" dirty="0" smtClean="0">
                <a:solidFill>
                  <a:schemeClr val="bg1"/>
                </a:solidFill>
                <a:latin typeface="+mn-lt"/>
              </a:rPr>
              <a:t> для чистоти вузла</a:t>
            </a:r>
            <a:endParaRPr lang="en-US" b="1" dirty="0" smtClean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4329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F3F61E7E-E2B4-4C81-BA18-B27510545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Introduction to Data Mining, 2</a:t>
            </a:r>
            <a:r>
              <a:rPr lang="en-US" baseline="30000">
                <a:solidFill>
                  <a:srgbClr val="000000">
                    <a:tint val="75000"/>
                  </a:srgbClr>
                </a:solidFill>
              </a:rPr>
              <a:t>nd</a:t>
            </a:r>
            <a:r>
              <a:rPr lang="en-US">
                <a:solidFill>
                  <a:srgbClr val="000000">
                    <a:tint val="75000"/>
                  </a:srgbClr>
                </a:solidFill>
              </a:rPr>
              <a:t> Edition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05481D9-A3B4-4E13-857D-1D6CEFDEA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0C5DB0-FAEB-48A8-BECF-D2B899EB371D}" type="slidenum">
              <a:rPr 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47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98C9E4E7-BC89-4A57-B641-77BA45BDA816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>
          <a:xfrm>
            <a:off x="0" y="4767263"/>
            <a:ext cx="2057400" cy="274637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09/21/2020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graphicFrame>
        <p:nvGraphicFramePr>
          <p:cNvPr id="39938" name="Object 5">
            <a:extLst>
              <a:ext uri="{FF2B5EF4-FFF2-40B4-BE49-F238E27FC236}">
                <a16:creationId xmlns="" xmlns:a16="http://schemas.microsoft.com/office/drawing/2014/main" id="{E8200039-0ABF-4B57-A2ED-2890FA279D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655509"/>
              </p:ext>
            </p:extLst>
          </p:nvPr>
        </p:nvGraphicFramePr>
        <p:xfrm>
          <a:off x="1400175" y="1583740"/>
          <a:ext cx="1771650" cy="7024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0" name="Document" r:id="rId3" imgW="3238500" imgH="1357884" progId="Word.Document.8">
                  <p:embed/>
                </p:oleObj>
              </mc:Choice>
              <mc:Fallback>
                <p:oleObj name="Document" r:id="rId3" imgW="3238500" imgH="135788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0175" y="1583740"/>
                        <a:ext cx="1771650" cy="7024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9" name="Object 6">
            <a:extLst>
              <a:ext uri="{FF2B5EF4-FFF2-40B4-BE49-F238E27FC236}">
                <a16:creationId xmlns="" xmlns:a16="http://schemas.microsoft.com/office/drawing/2014/main" id="{7120A4C6-279B-4344-8651-6564737351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3050" y="3886200"/>
          <a:ext cx="1714500" cy="703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1" name="Document" r:id="rId5" imgW="3238500" imgH="1382268" progId="Word.Document.8">
                  <p:embed/>
                </p:oleObj>
              </mc:Choice>
              <mc:Fallback>
                <p:oleObj name="Document" r:id="rId5" imgW="3238500" imgH="138226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050" y="3886200"/>
                        <a:ext cx="1714500" cy="7036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0" name="Object 8">
            <a:extLst>
              <a:ext uri="{FF2B5EF4-FFF2-40B4-BE49-F238E27FC236}">
                <a16:creationId xmlns="" xmlns:a16="http://schemas.microsoft.com/office/drawing/2014/main" id="{204A3D49-4270-4D62-ABAA-F91EA1DF73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3050" y="2863453"/>
          <a:ext cx="1714500" cy="679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2" name="Document" r:id="rId7" imgW="3238500" imgH="1357884" progId="Word.Document.8">
                  <p:embed/>
                </p:oleObj>
              </mc:Choice>
              <mc:Fallback>
                <p:oleObj name="Document" r:id="rId7" imgW="3238500" imgH="135788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050" y="2863453"/>
                        <a:ext cx="1714500" cy="6798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1" name="Text Box 10">
            <a:extLst>
              <a:ext uri="{FF2B5EF4-FFF2-40B4-BE49-F238E27FC236}">
                <a16:creationId xmlns="" xmlns:a16="http://schemas.microsoft.com/office/drawing/2014/main" id="{5132657C-D92C-4BC0-AC0F-43D3EC302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6377" y="1596621"/>
            <a:ext cx="3886200" cy="669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00" b="1" kern="1200">
                <a:solidFill>
                  <a:srgbClr val="000000"/>
                </a:solidFill>
                <a:cs typeface="+mn-cs"/>
              </a:rPr>
              <a:t>P(C1) = 0/6 = 0     P(C2) = 6/6 = 1</a:t>
            </a:r>
          </a:p>
          <a:p>
            <a:pPr algn="l" defTabSz="685800" eaLnBrk="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00" b="1" kern="1200">
                <a:solidFill>
                  <a:srgbClr val="000000"/>
                </a:solidFill>
                <a:cs typeface="+mn-cs"/>
              </a:rPr>
              <a:t>Gini = 1 – P(C1)</a:t>
            </a:r>
            <a:r>
              <a:rPr lang="en-US" altLang="en-US" sz="1500" b="1" kern="1200" baseline="30000">
                <a:solidFill>
                  <a:srgbClr val="000000"/>
                </a:solidFill>
                <a:cs typeface="+mn-cs"/>
              </a:rPr>
              <a:t>2 </a:t>
            </a:r>
            <a:r>
              <a:rPr lang="en-US" altLang="en-US" sz="1500" b="1" kern="1200">
                <a:solidFill>
                  <a:srgbClr val="000000"/>
                </a:solidFill>
                <a:cs typeface="+mn-cs"/>
              </a:rPr>
              <a:t>– P(C2)</a:t>
            </a:r>
            <a:r>
              <a:rPr lang="en-US" altLang="en-US" sz="1500" b="1" kern="1200" baseline="30000">
                <a:solidFill>
                  <a:srgbClr val="000000"/>
                </a:solidFill>
                <a:cs typeface="+mn-cs"/>
              </a:rPr>
              <a:t>2</a:t>
            </a:r>
            <a:r>
              <a:rPr lang="en-US" altLang="en-US" sz="1500" b="1" kern="1200">
                <a:solidFill>
                  <a:srgbClr val="000000"/>
                </a:solidFill>
                <a:cs typeface="+mn-cs"/>
              </a:rPr>
              <a:t> = 1 – 0 – 1 = 0 </a:t>
            </a:r>
          </a:p>
        </p:txBody>
      </p:sp>
      <p:sp>
        <p:nvSpPr>
          <p:cNvPr id="39943" name="Text Box 12">
            <a:extLst>
              <a:ext uri="{FF2B5EF4-FFF2-40B4-BE49-F238E27FC236}">
                <a16:creationId xmlns="" xmlns:a16="http://schemas.microsoft.com/office/drawing/2014/main" id="{6B83C9A4-725F-4709-A681-1DA1F3E29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6150" y="2863453"/>
            <a:ext cx="3886200" cy="669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00" b="1" kern="1200">
                <a:solidFill>
                  <a:srgbClr val="000000"/>
                </a:solidFill>
                <a:cs typeface="+mn-cs"/>
              </a:rPr>
              <a:t>P(C1) = 1/6          P(C2) = 5/6</a:t>
            </a:r>
          </a:p>
          <a:p>
            <a:pPr algn="l" defTabSz="685800" eaLnBrk="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00" b="1" kern="1200">
                <a:solidFill>
                  <a:srgbClr val="000000"/>
                </a:solidFill>
                <a:cs typeface="+mn-cs"/>
              </a:rPr>
              <a:t>Gini = 1 – (1/6)</a:t>
            </a:r>
            <a:r>
              <a:rPr lang="en-US" altLang="en-US" sz="1500" b="1" kern="1200" baseline="30000">
                <a:solidFill>
                  <a:srgbClr val="000000"/>
                </a:solidFill>
                <a:cs typeface="+mn-cs"/>
              </a:rPr>
              <a:t>2 </a:t>
            </a:r>
            <a:r>
              <a:rPr lang="en-US" altLang="en-US" sz="1500" b="1" kern="1200">
                <a:solidFill>
                  <a:srgbClr val="000000"/>
                </a:solidFill>
                <a:cs typeface="+mn-cs"/>
              </a:rPr>
              <a:t>– (5/6)</a:t>
            </a:r>
            <a:r>
              <a:rPr lang="en-US" altLang="en-US" sz="1500" b="1" kern="1200" baseline="30000">
                <a:solidFill>
                  <a:srgbClr val="000000"/>
                </a:solidFill>
                <a:cs typeface="+mn-cs"/>
              </a:rPr>
              <a:t>2</a:t>
            </a:r>
            <a:r>
              <a:rPr lang="en-US" altLang="en-US" sz="1500" b="1" kern="1200">
                <a:solidFill>
                  <a:srgbClr val="000000"/>
                </a:solidFill>
                <a:cs typeface="+mn-cs"/>
              </a:rPr>
              <a:t> = 0.278</a:t>
            </a:r>
          </a:p>
        </p:txBody>
      </p:sp>
      <p:sp>
        <p:nvSpPr>
          <p:cNvPr id="39944" name="Text Box 13">
            <a:extLst>
              <a:ext uri="{FF2B5EF4-FFF2-40B4-BE49-F238E27FC236}">
                <a16:creationId xmlns="" xmlns:a16="http://schemas.microsoft.com/office/drawing/2014/main" id="{273B77E6-5A4D-4498-BE2E-6EF07BE4F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6150" y="3829050"/>
            <a:ext cx="3886200" cy="669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00" b="1" kern="1200">
                <a:solidFill>
                  <a:srgbClr val="000000"/>
                </a:solidFill>
                <a:cs typeface="+mn-cs"/>
              </a:rPr>
              <a:t>P(C1) = 2/6          P(C2) = 4/6</a:t>
            </a:r>
          </a:p>
          <a:p>
            <a:pPr algn="l" defTabSz="685800" eaLnBrk="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00" b="1" kern="1200">
                <a:solidFill>
                  <a:srgbClr val="000000"/>
                </a:solidFill>
                <a:cs typeface="+mn-cs"/>
              </a:rPr>
              <a:t>Gini = 1 – (2/6)</a:t>
            </a:r>
            <a:r>
              <a:rPr lang="en-US" altLang="en-US" sz="1500" b="1" kern="1200" baseline="30000">
                <a:solidFill>
                  <a:srgbClr val="000000"/>
                </a:solidFill>
                <a:cs typeface="+mn-cs"/>
              </a:rPr>
              <a:t>2 </a:t>
            </a:r>
            <a:r>
              <a:rPr lang="en-US" altLang="en-US" sz="1500" b="1" kern="1200">
                <a:solidFill>
                  <a:srgbClr val="000000"/>
                </a:solidFill>
                <a:cs typeface="+mn-cs"/>
              </a:rPr>
              <a:t>– (4/6)</a:t>
            </a:r>
            <a:r>
              <a:rPr lang="en-US" altLang="en-US" sz="1500" b="1" kern="1200" baseline="30000">
                <a:solidFill>
                  <a:srgbClr val="000000"/>
                </a:solidFill>
                <a:cs typeface="+mn-cs"/>
              </a:rPr>
              <a:t>2</a:t>
            </a:r>
            <a:r>
              <a:rPr lang="en-US" altLang="en-US" sz="1500" b="1" kern="1200">
                <a:solidFill>
                  <a:srgbClr val="000000"/>
                </a:solidFill>
                <a:cs typeface="+mn-cs"/>
              </a:rPr>
              <a:t> = 0.444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id="{5A8B679A-E8F1-40EB-8D90-5FB6D8C61362}"/>
                  </a:ext>
                </a:extLst>
              </p:cNvPr>
              <p:cNvSpPr txBox="1"/>
              <p:nvPr/>
            </p:nvSpPr>
            <p:spPr>
              <a:xfrm>
                <a:off x="2137025" y="773593"/>
                <a:ext cx="3558733" cy="778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 defTabSz="685800" eaLnBrk="0"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200">
                          <a:latin typeface="Cambria Math" panose="02040503050406030204" pitchFamily="18" charset="0"/>
                          <a:cs typeface="+mn-cs"/>
                        </a:rPr>
                        <m:t>𝐺𝑖𝑛𝑖</m:t>
                      </m:r>
                      <m:r>
                        <a:rPr lang="en-US" sz="1800" i="1" kern="1200"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lang="en-US" sz="1800" i="1" kern="1200">
                          <a:latin typeface="Cambria Math" panose="02040503050406030204" pitchFamily="18" charset="0"/>
                          <a:cs typeface="+mn-cs"/>
                        </a:rPr>
                        <m:t>𝐼𝑛𝑑𝑒𝑥</m:t>
                      </m:r>
                      <m:r>
                        <a:rPr lang="en-US" sz="1800" i="1" kern="1200">
                          <a:latin typeface="Cambria Math" panose="02040503050406030204" pitchFamily="18" charset="0"/>
                          <a:cs typeface="+mn-cs"/>
                        </a:rPr>
                        <m:t>=1 − </m:t>
                      </m:r>
                      <m:nary>
                        <m:naryPr>
                          <m:chr m:val="∑"/>
                          <m:ctrlP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  <m:t>𝑐</m:t>
                          </m:r>
                          <m: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1800" i="1" kern="1200"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1800" i="1" kern="1200">
                                  <a:latin typeface="Cambria Math" panose="02040503050406030204" pitchFamily="18" charset="0"/>
                                  <a:cs typeface="+mn-cs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800" i="1" kern="1200">
                                  <a:latin typeface="Cambria Math" panose="02040503050406030204" pitchFamily="18" charset="0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800" i="1" kern="1200"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i="1" kern="1200"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 kern="1200"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800" i="1" kern="1200"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800" kern="1200" dirty="0"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A8B679A-E8F1-40EB-8D90-5FB6D8C61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7025" y="773593"/>
                <a:ext cx="3558733" cy="778418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0" y="64756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 err="1" smtClean="0">
                <a:solidFill>
                  <a:schemeClr val="bg1"/>
                </a:solidFill>
                <a:latin typeface="+mn-lt"/>
              </a:rPr>
              <a:t>Обчислення</a:t>
            </a:r>
            <a:r>
              <a:rPr lang="ru-RU" sz="32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200" b="1" dirty="0" err="1" smtClean="0">
                <a:solidFill>
                  <a:schemeClr val="bg1"/>
                </a:solidFill>
                <a:latin typeface="+mn-lt"/>
              </a:rPr>
              <a:t>індексу</a:t>
            </a:r>
            <a:r>
              <a:rPr lang="ru-RU" sz="32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200" b="1" dirty="0" err="1">
                <a:solidFill>
                  <a:schemeClr val="bg1"/>
                </a:solidFill>
                <a:latin typeface="+mn-lt"/>
              </a:rPr>
              <a:t>Джині</a:t>
            </a:r>
            <a:r>
              <a:rPr lang="ru-RU" sz="3200" b="1" dirty="0">
                <a:solidFill>
                  <a:schemeClr val="bg1"/>
                </a:solidFill>
                <a:latin typeface="+mn-lt"/>
              </a:rPr>
              <a:t> одного </a:t>
            </a:r>
            <a:r>
              <a:rPr lang="ru-RU" sz="3200" b="1" dirty="0" err="1">
                <a:solidFill>
                  <a:schemeClr val="bg1"/>
                </a:solidFill>
                <a:latin typeface="+mn-lt"/>
              </a:rPr>
              <a:t>вузла</a:t>
            </a:r>
            <a:endParaRPr lang="ru-RU" sz="32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58814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4C3CC645-64C3-44BD-BEE7-C31BE4C63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Introduction to Data Mining, 2</a:t>
            </a:r>
            <a:r>
              <a:rPr lang="en-US" baseline="30000">
                <a:solidFill>
                  <a:srgbClr val="000000">
                    <a:tint val="75000"/>
                  </a:srgbClr>
                </a:solidFill>
              </a:rPr>
              <a:t>nd</a:t>
            </a:r>
            <a:r>
              <a:rPr lang="en-US">
                <a:solidFill>
                  <a:srgbClr val="000000">
                    <a:tint val="75000"/>
                  </a:srgbClr>
                </a:solidFill>
              </a:rPr>
              <a:t> Edition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2F1C942-24C4-4751-8197-C600A6C05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3FBC28-9F6C-4917-A5BA-4447E0D72FE2}" type="slidenum">
              <a:rPr 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48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4818" name="Rectangle 2">
            <a:extLst>
              <a:ext uri="{FF2B5EF4-FFF2-40B4-BE49-F238E27FC236}">
                <a16:creationId xmlns="" xmlns:a16="http://schemas.microsoft.com/office/drawing/2014/main" id="{C457AF5C-DE8A-4ACD-9EF6-A7E0705374A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4000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ru-RU" b="1" dirty="0" err="1" smtClean="0">
                <a:solidFill>
                  <a:schemeClr val="bg1"/>
                </a:solidFill>
                <a:latin typeface="+mn-lt"/>
              </a:rPr>
              <a:t>Обчислення</a:t>
            </a:r>
            <a:r>
              <a:rPr lang="ru-RU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b="1" dirty="0" err="1" smtClean="0">
                <a:solidFill>
                  <a:schemeClr val="bg1"/>
                </a:solidFill>
                <a:latin typeface="+mn-lt"/>
              </a:rPr>
              <a:t>індексу</a:t>
            </a:r>
            <a:r>
              <a:rPr lang="ru-RU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b="1" dirty="0" err="1">
                <a:solidFill>
                  <a:schemeClr val="bg1"/>
                </a:solidFill>
                <a:latin typeface="+mn-lt"/>
              </a:rPr>
              <a:t>Джині</a:t>
            </a:r>
            <a:r>
              <a:rPr lang="ru-RU" b="1" dirty="0">
                <a:solidFill>
                  <a:schemeClr val="bg1"/>
                </a:solidFill>
                <a:latin typeface="+mn-lt"/>
              </a:rPr>
              <a:t> для набору </a:t>
            </a:r>
            <a:r>
              <a:rPr lang="ru-RU" b="1" dirty="0" err="1">
                <a:solidFill>
                  <a:schemeClr val="bg1"/>
                </a:solidFill>
                <a:latin typeface="+mn-lt"/>
              </a:rPr>
              <a:t>вузлів</a:t>
            </a:r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4819" name="Rectangle 3">
            <a:extLst>
              <a:ext uri="{FF2B5EF4-FFF2-40B4-BE49-F238E27FC236}">
                <a16:creationId xmlns="" xmlns:mc="http://schemas.openxmlformats.org/markup-compatibility/2006" xmlns:a14="http://schemas.microsoft.com/office/drawing/2010/main" xmlns:a16="http://schemas.microsoft.com/office/drawing/2014/main" id="{C78661B2-1DB2-4F6B-9671-6CDF09AC08C4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857250"/>
            <a:ext cx="8743308" cy="3886200"/>
          </a:xfrm>
          <a:prstGeom prst="rect">
            <a:avLst/>
          </a:prstGeom>
        </p:spPr>
        <p:txBody>
          <a:bodyPr/>
          <a:lstStyle/>
          <a:p>
            <a:r>
              <a:rPr lang="ru-RU" sz="1800" dirty="0" smtClean="0"/>
              <a:t>Коли </a:t>
            </a:r>
            <a:r>
              <a:rPr lang="ru-RU" sz="1800" dirty="0" err="1"/>
              <a:t>вузол</a:t>
            </a:r>
            <a:r>
              <a:rPr lang="ru-RU" sz="1800" dirty="0"/>
              <a:t> 𝑝 </a:t>
            </a:r>
            <a:r>
              <a:rPr lang="ru-RU" sz="1800" dirty="0" err="1"/>
              <a:t>розділений</a:t>
            </a:r>
            <a:r>
              <a:rPr lang="ru-RU" sz="1800" dirty="0"/>
              <a:t> на 𝑘 </a:t>
            </a:r>
            <a:r>
              <a:rPr lang="ru-RU" sz="1800" dirty="0" err="1" smtClean="0"/>
              <a:t>вузлів</a:t>
            </a:r>
            <a:r>
              <a:rPr lang="ru-RU" sz="1800" dirty="0" smtClean="0"/>
              <a:t>(</a:t>
            </a:r>
            <a:r>
              <a:rPr lang="ru-RU" sz="1800" dirty="0" err="1" smtClean="0"/>
              <a:t>дочірні</a:t>
            </a:r>
            <a:r>
              <a:rPr lang="ru-RU" sz="1800" dirty="0"/>
              <a:t>)</a:t>
            </a:r>
          </a:p>
          <a:p>
            <a:pPr marL="257175" indent="-257175">
              <a:buFont typeface="Monotype Sorts" charset="0"/>
              <a:buChar char="l"/>
              <a:defRPr/>
            </a:pPr>
            <a:endParaRPr lang="en-US" sz="1800" dirty="0">
              <a:cs typeface="+mn-cs"/>
            </a:endParaRPr>
          </a:p>
          <a:p>
            <a:pPr marL="257175" indent="-257175">
              <a:buNone/>
              <a:defRPr/>
            </a:pPr>
            <a:r>
              <a:rPr lang="en-US" sz="1800" dirty="0">
                <a:cs typeface="+mn-cs"/>
              </a:rPr>
              <a:t>	</a:t>
            </a:r>
          </a:p>
          <a:p>
            <a:pPr marL="257175" indent="-257175">
              <a:buNone/>
              <a:defRPr/>
            </a:pPr>
            <a:endParaRPr lang="en-US" sz="1800" dirty="0">
              <a:cs typeface="+mn-cs"/>
            </a:endParaRPr>
          </a:p>
          <a:p>
            <a:pPr marL="257175" indent="-257175">
              <a:buNone/>
              <a:defRPr/>
            </a:pPr>
            <a:r>
              <a:rPr lang="en-US" sz="1800" dirty="0">
                <a:cs typeface="+mn-cs"/>
              </a:rPr>
              <a:t>	</a:t>
            </a:r>
            <a:r>
              <a:rPr lang="ru-RU" sz="1800" dirty="0"/>
              <a:t>де, 𝑛_𝑖 = </a:t>
            </a:r>
            <a:r>
              <a:rPr lang="ru-RU" sz="1800" dirty="0" err="1"/>
              <a:t>кількість</a:t>
            </a:r>
            <a:r>
              <a:rPr lang="ru-RU" sz="1800" dirty="0"/>
              <a:t> </a:t>
            </a:r>
            <a:r>
              <a:rPr lang="ru-RU" sz="1800" dirty="0" err="1"/>
              <a:t>записів</a:t>
            </a:r>
            <a:r>
              <a:rPr lang="ru-RU" sz="1800" dirty="0"/>
              <a:t> у </a:t>
            </a:r>
            <a:r>
              <a:rPr lang="ru-RU" sz="1800" dirty="0" err="1"/>
              <a:t>дочірнього</a:t>
            </a:r>
            <a:r>
              <a:rPr lang="ru-RU" sz="1800" dirty="0"/>
              <a:t> 𝑖,</a:t>
            </a:r>
          </a:p>
          <a:p>
            <a:pPr marL="257175" indent="-257175">
              <a:buNone/>
              <a:defRPr/>
            </a:pPr>
            <a:r>
              <a:rPr lang="ru-RU" sz="1800" dirty="0"/>
              <a:t>     𝑛 = </a:t>
            </a:r>
            <a:r>
              <a:rPr lang="ru-RU" sz="1800" dirty="0" err="1"/>
              <a:t>кількість</a:t>
            </a:r>
            <a:r>
              <a:rPr lang="ru-RU" sz="1800" dirty="0"/>
              <a:t> </a:t>
            </a:r>
            <a:r>
              <a:rPr lang="ru-RU" sz="1800" dirty="0" err="1"/>
              <a:t>записів</a:t>
            </a:r>
            <a:r>
              <a:rPr lang="ru-RU" sz="1800" dirty="0"/>
              <a:t> у </a:t>
            </a:r>
            <a:r>
              <a:rPr lang="ru-RU" sz="1800" dirty="0" err="1"/>
              <a:t>батьківському</a:t>
            </a:r>
            <a:r>
              <a:rPr lang="ru-RU" sz="1800" dirty="0"/>
              <a:t> </a:t>
            </a:r>
            <a:r>
              <a:rPr lang="ru-RU" sz="1800" dirty="0" err="1"/>
              <a:t>вузлі</a:t>
            </a:r>
            <a:r>
              <a:rPr lang="ru-RU" sz="1800" dirty="0"/>
              <a:t> 𝑝</a:t>
            </a:r>
            <a:endParaRPr lang="en-US" sz="1800" dirty="0">
              <a:cs typeface="+mn-cs"/>
            </a:endParaRPr>
          </a:p>
          <a:p>
            <a:pPr lvl="4">
              <a:defRPr/>
            </a:pPr>
            <a:endParaRPr lang="en-US" sz="1350" dirty="0">
              <a:latin typeface="Times New Roman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79EFCDD8-7579-4DB7-906F-22AD38AE82B5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>
          <a:xfrm>
            <a:off x="0" y="4767263"/>
            <a:ext cx="2057400" cy="274637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09/21/2020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78A50692-1EC5-4230-8B8B-3D1EBF46DC67}"/>
                  </a:ext>
                </a:extLst>
              </p:cNvPr>
              <p:cNvSpPr txBox="1"/>
              <p:nvPr/>
            </p:nvSpPr>
            <p:spPr>
              <a:xfrm>
                <a:off x="2628900" y="1314450"/>
                <a:ext cx="2655214" cy="7845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defTabSz="685800" eaLnBrk="0"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200">
                          <a:latin typeface="Cambria Math" panose="02040503050406030204" pitchFamily="18" charset="0"/>
                          <a:cs typeface="+mn-cs"/>
                        </a:rPr>
                        <m:t>𝐺𝐼𝑁</m:t>
                      </m:r>
                      <m:sSub>
                        <m:sSubPr>
                          <m:ctrlP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  <m:t>𝐼</m:t>
                          </m:r>
                        </m:e>
                        <m:sub>
                          <m: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  <m:t>𝑠𝑝𝑙𝑖𝑡</m:t>
                          </m:r>
                        </m:sub>
                      </m:sSub>
                      <m:r>
                        <a:rPr lang="en-US" sz="1800" i="1" kern="1200">
                          <a:latin typeface="Cambria Math" panose="02040503050406030204" pitchFamily="18" charset="0"/>
                          <a:cs typeface="+mn-cs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  <m:t>𝑘</m:t>
                          </m:r>
                        </m:sup>
                        <m:e>
                          <m:f>
                            <m:fPr>
                              <m:ctrlPr>
                                <a:rPr lang="en-US" sz="1800" i="1" kern="1200"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 kern="1200"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200"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800" i="1" kern="1200"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800" i="1" kern="1200">
                                  <a:latin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  <m:t>𝐺𝐼𝑁𝐼</m:t>
                          </m:r>
                          <m: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1800" kern="1200" dirty="0"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8A50692-1EC5-4230-8B8B-3D1EBF46D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900" y="1314450"/>
                <a:ext cx="2655214" cy="78457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6479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F9DDB410-0FF0-4006-B695-FDC7B1C8F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Introduction to Data Mining, 2</a:t>
            </a:r>
            <a:r>
              <a:rPr lang="en-US" baseline="30000">
                <a:solidFill>
                  <a:srgbClr val="000000">
                    <a:tint val="75000"/>
                  </a:srgbClr>
                </a:solidFill>
              </a:rPr>
              <a:t>nd</a:t>
            </a:r>
            <a:r>
              <a:rPr lang="en-US">
                <a:solidFill>
                  <a:srgbClr val="000000">
                    <a:tint val="75000"/>
                  </a:srgbClr>
                </a:solidFill>
              </a:rPr>
              <a:t> Edition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3A98847-69E2-4C63-8BD6-BC3078F9F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A5E14C-141B-412E-97C6-45929F0772CF}" type="slidenum">
              <a:rPr 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49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5842" name="Rectangle 2">
            <a:extLst>
              <a:ext uri="{FF2B5EF4-FFF2-40B4-BE49-F238E27FC236}">
                <a16:creationId xmlns="" xmlns:a16="http://schemas.microsoft.com/office/drawing/2014/main" id="{3B66D3C3-3E0C-4238-B50B-BFD3F70A511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85750" y="135138"/>
            <a:ext cx="8858250" cy="4000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uk-UA" sz="3200" b="1" dirty="0" smtClean="0">
                <a:solidFill>
                  <a:schemeClr val="bg1"/>
                </a:solidFill>
                <a:latin typeface="+mn-lt"/>
                <a:cs typeface="+mj-cs"/>
              </a:rPr>
              <a:t>Бінарні атрибути: обчислення </a:t>
            </a:r>
            <a:r>
              <a:rPr lang="en-US" sz="3200" b="1" dirty="0" smtClean="0">
                <a:solidFill>
                  <a:schemeClr val="bg1"/>
                </a:solidFill>
                <a:latin typeface="+mn-lt"/>
                <a:cs typeface="+mj-cs"/>
              </a:rPr>
              <a:t>GINI </a:t>
            </a:r>
            <a:r>
              <a:rPr lang="en-US" sz="3200" b="1" dirty="0">
                <a:solidFill>
                  <a:schemeClr val="bg1"/>
                </a:solidFill>
                <a:latin typeface="+mn-lt"/>
                <a:cs typeface="+mj-cs"/>
              </a:rPr>
              <a:t>Index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0DAE527C-5809-4F45-B80F-980909BB800A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>
          <a:xfrm>
            <a:off x="0" y="4767263"/>
            <a:ext cx="2057400" cy="274637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09/21/2020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1986" name="Rectangle 3">
            <a:extLst>
              <a:ext uri="{FF2B5EF4-FFF2-40B4-BE49-F238E27FC236}">
                <a16:creationId xmlns="" xmlns:a16="http://schemas.microsoft.com/office/drawing/2014/main" id="{849E6610-6D7D-4F29-8DC3-D61330AC9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643" y="857251"/>
            <a:ext cx="8445357" cy="1507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ru-RU" sz="1800" dirty="0" err="1" smtClean="0"/>
              <a:t>Розбивається</a:t>
            </a:r>
            <a:r>
              <a:rPr lang="ru-RU" sz="1800" dirty="0" smtClean="0"/>
              <a:t> </a:t>
            </a:r>
            <a:r>
              <a:rPr lang="ru-RU" sz="1800" dirty="0"/>
              <a:t>на </a:t>
            </a:r>
            <a:r>
              <a:rPr lang="ru-RU" sz="1800" dirty="0" err="1" smtClean="0"/>
              <a:t>дві</a:t>
            </a:r>
            <a:r>
              <a:rPr lang="ru-RU" sz="1800" dirty="0" smtClean="0"/>
              <a:t> </a:t>
            </a:r>
            <a:r>
              <a:rPr lang="ru-RU" sz="1800" dirty="0" err="1" smtClean="0"/>
              <a:t>гілки</a:t>
            </a:r>
            <a:r>
              <a:rPr lang="ru-RU" sz="1800" dirty="0" smtClean="0"/>
              <a:t> </a:t>
            </a:r>
            <a:r>
              <a:rPr lang="ru-RU" sz="1800" dirty="0"/>
              <a:t>(</a:t>
            </a:r>
            <a:r>
              <a:rPr lang="ru-RU" sz="1800" dirty="0" err="1"/>
              <a:t>дочірні</a:t>
            </a:r>
            <a:r>
              <a:rPr lang="ru-RU" sz="1800" dirty="0"/>
              <a:t> </a:t>
            </a:r>
            <a:r>
              <a:rPr lang="ru-RU" sz="1800" dirty="0" err="1"/>
              <a:t>вузли</a:t>
            </a:r>
            <a:r>
              <a:rPr lang="ru-RU" sz="1800" dirty="0" smtClean="0"/>
              <a:t>)</a:t>
            </a:r>
          </a:p>
          <a:p>
            <a:pPr algn="l"/>
            <a:r>
              <a:rPr lang="ru-RU" sz="1800" dirty="0" err="1" smtClean="0"/>
              <a:t>Ефект</a:t>
            </a:r>
            <a:r>
              <a:rPr lang="ru-RU" sz="1800" dirty="0" smtClean="0"/>
              <a:t> </a:t>
            </a:r>
            <a:r>
              <a:rPr lang="ru-RU" sz="1800" dirty="0" err="1"/>
              <a:t>зважування</a:t>
            </a:r>
            <a:r>
              <a:rPr lang="ru-RU" sz="1800" dirty="0"/>
              <a:t> </a:t>
            </a:r>
            <a:r>
              <a:rPr lang="ru-RU" sz="1800" dirty="0" err="1"/>
              <a:t>розділів</a:t>
            </a:r>
            <a:r>
              <a:rPr lang="ru-RU" sz="1800" dirty="0" smtClean="0"/>
              <a:t>:</a:t>
            </a:r>
          </a:p>
          <a:p>
            <a:pPr marL="719138" indent="-184150" algn="l">
              <a:buFont typeface="Wingdings" panose="05000000000000000000" pitchFamily="2" charset="2"/>
              <a:buChar char="Ø"/>
            </a:pPr>
            <a:r>
              <a:rPr lang="ru-RU" sz="1800" dirty="0" smtClean="0"/>
              <a:t>	</a:t>
            </a:r>
            <a:r>
              <a:rPr lang="ru-RU" sz="1800" dirty="0" err="1" smtClean="0"/>
              <a:t>Шукаються</a:t>
            </a:r>
            <a:r>
              <a:rPr lang="ru-RU" sz="1800" dirty="0" smtClean="0"/>
              <a:t> </a:t>
            </a:r>
            <a:r>
              <a:rPr lang="ru-RU" sz="1800" dirty="0" err="1"/>
              <a:t>більші</a:t>
            </a:r>
            <a:r>
              <a:rPr lang="ru-RU" sz="1800" dirty="0"/>
              <a:t> та </a:t>
            </a:r>
            <a:r>
              <a:rPr lang="ru-RU" sz="1800" dirty="0" err="1"/>
              <a:t>чистіші</a:t>
            </a:r>
            <a:r>
              <a:rPr lang="ru-RU" sz="1800" dirty="0"/>
              <a:t> </a:t>
            </a:r>
            <a:r>
              <a:rPr lang="ru-RU" sz="1800" dirty="0" err="1" smtClean="0"/>
              <a:t>вузли</a:t>
            </a:r>
            <a:endParaRPr lang="ru-RU" sz="1800" dirty="0"/>
          </a:p>
        </p:txBody>
      </p:sp>
      <p:sp>
        <p:nvSpPr>
          <p:cNvPr id="41987" name="Oval 4">
            <a:extLst>
              <a:ext uri="{FF2B5EF4-FFF2-40B4-BE49-F238E27FC236}">
                <a16:creationId xmlns="" xmlns:a16="http://schemas.microsoft.com/office/drawing/2014/main" id="{F51C8094-CB88-457C-A1ED-FF653053F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146698"/>
            <a:ext cx="757238" cy="340519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00" kern="1200">
                <a:solidFill>
                  <a:srgbClr val="000000"/>
                </a:solidFill>
                <a:latin typeface="Times New Roman" panose="02020603050405020304" pitchFamily="18" charset="0"/>
                <a:cs typeface="+mn-cs"/>
              </a:rPr>
              <a:t>B?</a:t>
            </a:r>
            <a:endParaRPr lang="en-US" altLang="en-US" sz="1800" kern="120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41988" name="Line 5">
            <a:extLst>
              <a:ext uri="{FF2B5EF4-FFF2-40B4-BE49-F238E27FC236}">
                <a16:creationId xmlns="" xmlns:a16="http://schemas.microsoft.com/office/drawing/2014/main" id="{C9DB7CD9-D3E9-4E38-915C-69A909A644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55194" y="2489598"/>
            <a:ext cx="831056" cy="5441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defTabSz="685800" eaLnBrk="0" fontAlgn="base">
              <a:spcBef>
                <a:spcPct val="0"/>
              </a:spcBef>
              <a:spcAft>
                <a:spcPct val="0"/>
              </a:spcAft>
            </a:pPr>
            <a:endParaRPr lang="en-US" sz="1050" b="1" kern="1200"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1989" name="Line 6">
            <a:extLst>
              <a:ext uri="{FF2B5EF4-FFF2-40B4-BE49-F238E27FC236}">
                <a16:creationId xmlns="" xmlns:a16="http://schemas.microsoft.com/office/drawing/2014/main" id="{ABF76B16-1E42-4A1E-91C3-67871D6A52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251" y="2489598"/>
            <a:ext cx="888206" cy="5441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defTabSz="685800" eaLnBrk="0" fontAlgn="base">
              <a:spcBef>
                <a:spcPct val="0"/>
              </a:spcBef>
              <a:spcAft>
                <a:spcPct val="0"/>
              </a:spcAft>
            </a:pPr>
            <a:endParaRPr lang="en-US" sz="1050" b="1" kern="1200"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1990" name="Text Box 7">
            <a:extLst>
              <a:ext uri="{FF2B5EF4-FFF2-40B4-BE49-F238E27FC236}">
                <a16:creationId xmlns="" xmlns:a16="http://schemas.microsoft.com/office/drawing/2014/main" id="{E0309594-EF85-4A43-92A2-8B28F47F7D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4484" y="2563989"/>
            <a:ext cx="436659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350" kern="1200">
                <a:solidFill>
                  <a:srgbClr val="000000"/>
                </a:solidFill>
                <a:latin typeface="Times New Roman" panose="02020603050405020304" pitchFamily="18" charset="0"/>
                <a:cs typeface="+mn-cs"/>
              </a:rPr>
              <a:t>Yes</a:t>
            </a:r>
          </a:p>
        </p:txBody>
      </p:sp>
      <p:sp>
        <p:nvSpPr>
          <p:cNvPr id="41991" name="Text Box 8">
            <a:extLst>
              <a:ext uri="{FF2B5EF4-FFF2-40B4-BE49-F238E27FC236}">
                <a16:creationId xmlns="" xmlns:a16="http://schemas.microsoft.com/office/drawing/2014/main" id="{2241E175-F45E-4622-B15A-C4A13B1AB5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3007" y="2563989"/>
            <a:ext cx="396262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350" kern="1200">
                <a:solidFill>
                  <a:srgbClr val="000000"/>
                </a:solidFill>
                <a:latin typeface="Times New Roman" panose="02020603050405020304" pitchFamily="18" charset="0"/>
                <a:cs typeface="+mn-cs"/>
              </a:rPr>
              <a:t>No</a:t>
            </a:r>
          </a:p>
        </p:txBody>
      </p:sp>
      <p:sp>
        <p:nvSpPr>
          <p:cNvPr id="41992" name="Rectangle 9">
            <a:extLst>
              <a:ext uri="{FF2B5EF4-FFF2-40B4-BE49-F238E27FC236}">
                <a16:creationId xmlns="" xmlns:a16="http://schemas.microsoft.com/office/drawing/2014/main" id="{0E521C3C-2767-44A9-AC39-D4B2FF686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0" y="3033713"/>
            <a:ext cx="702469" cy="25598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350" kern="1200">
                <a:solidFill>
                  <a:srgbClr val="000000"/>
                </a:solidFill>
                <a:latin typeface="Times New Roman" panose="02020603050405020304" pitchFamily="18" charset="0"/>
                <a:cs typeface="+mn-cs"/>
              </a:rPr>
              <a:t>Node N1</a:t>
            </a:r>
          </a:p>
        </p:txBody>
      </p:sp>
      <p:sp>
        <p:nvSpPr>
          <p:cNvPr id="41993" name="Rectangle 10">
            <a:extLst>
              <a:ext uri="{FF2B5EF4-FFF2-40B4-BE49-F238E27FC236}">
                <a16:creationId xmlns="" xmlns:a16="http://schemas.microsoft.com/office/drawing/2014/main" id="{3AC3220A-6957-4652-BEBE-EC133C184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932" y="3033713"/>
            <a:ext cx="702469" cy="25598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350" kern="1200">
                <a:solidFill>
                  <a:srgbClr val="000000"/>
                </a:solidFill>
                <a:latin typeface="Times New Roman" panose="02020603050405020304" pitchFamily="18" charset="0"/>
                <a:cs typeface="+mn-cs"/>
              </a:rPr>
              <a:t>Node N2</a:t>
            </a:r>
          </a:p>
        </p:txBody>
      </p:sp>
      <p:graphicFrame>
        <p:nvGraphicFramePr>
          <p:cNvPr id="41994" name="Object 11">
            <a:extLst>
              <a:ext uri="{FF2B5EF4-FFF2-40B4-BE49-F238E27FC236}">
                <a16:creationId xmlns="" xmlns:a16="http://schemas.microsoft.com/office/drawing/2014/main" id="{1EB89425-ECB7-4EFB-8642-8035770B13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57900" y="1943100"/>
          <a:ext cx="1485900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2" name="Document" r:id="rId3" imgW="3187700" imgH="3048000" progId="Word.Document.8">
                  <p:embed/>
                </p:oleObj>
              </mc:Choice>
              <mc:Fallback>
                <p:oleObj name="Document" r:id="rId3" imgW="3187700" imgH="30480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7900" y="1943100"/>
                        <a:ext cx="1485900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5" name="Object 12">
            <a:extLst>
              <a:ext uri="{FF2B5EF4-FFF2-40B4-BE49-F238E27FC236}">
                <a16:creationId xmlns="" xmlns:a16="http://schemas.microsoft.com/office/drawing/2014/main" id="{9A97F3B4-C759-4C23-BFFA-C3387C40E6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00450" y="3486150"/>
          <a:ext cx="1428750" cy="110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3" name="Document" r:id="rId5" imgW="3265932" imgH="2548128" progId="Word.Document.8">
                  <p:embed/>
                </p:oleObj>
              </mc:Choice>
              <mc:Fallback>
                <p:oleObj name="Document" r:id="rId5" imgW="3265932" imgH="254812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0450" y="3486150"/>
                        <a:ext cx="1428750" cy="11037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6" name="Text Box 13">
            <a:extLst>
              <a:ext uri="{FF2B5EF4-FFF2-40B4-BE49-F238E27FC236}">
                <a16:creationId xmlns="" xmlns:a16="http://schemas.microsoft.com/office/drawing/2014/main" id="{4DEE211F-ECA4-4A85-80AF-C396CD4CA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302" y="3143250"/>
            <a:ext cx="2384247" cy="1592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00" b="1" kern="1200" dirty="0" err="1">
                <a:solidFill>
                  <a:srgbClr val="000000"/>
                </a:solidFill>
                <a:cs typeface="+mn-cs"/>
              </a:rPr>
              <a:t>Gini</a:t>
            </a:r>
            <a:r>
              <a:rPr lang="en-US" altLang="en-US" sz="1500" b="1" kern="1200" dirty="0">
                <a:solidFill>
                  <a:srgbClr val="000000"/>
                </a:solidFill>
                <a:cs typeface="+mn-cs"/>
              </a:rPr>
              <a:t>(N1) </a:t>
            </a:r>
            <a:br>
              <a:rPr lang="en-US" altLang="en-US" sz="1500" b="1" kern="1200" dirty="0">
                <a:solidFill>
                  <a:srgbClr val="000000"/>
                </a:solidFill>
                <a:cs typeface="+mn-cs"/>
              </a:rPr>
            </a:br>
            <a:r>
              <a:rPr lang="en-US" altLang="en-US" sz="1500" b="1" kern="1200" dirty="0">
                <a:solidFill>
                  <a:srgbClr val="000000"/>
                </a:solidFill>
                <a:cs typeface="+mn-cs"/>
              </a:rPr>
              <a:t>= 1 – (5/6)</a:t>
            </a:r>
            <a:r>
              <a:rPr lang="en-US" altLang="en-US" sz="1500" b="1" kern="1200" baseline="30000" dirty="0">
                <a:solidFill>
                  <a:srgbClr val="000000"/>
                </a:solidFill>
                <a:cs typeface="+mn-cs"/>
              </a:rPr>
              <a:t>2 </a:t>
            </a:r>
            <a:r>
              <a:rPr lang="en-US" altLang="en-US" sz="1500" b="1" kern="1200" dirty="0">
                <a:solidFill>
                  <a:srgbClr val="000000"/>
                </a:solidFill>
                <a:cs typeface="+mn-cs"/>
              </a:rPr>
              <a:t>– (1/6)</a:t>
            </a:r>
            <a:r>
              <a:rPr lang="en-US" altLang="en-US" sz="1500" b="1" kern="1200" baseline="30000" dirty="0">
                <a:solidFill>
                  <a:srgbClr val="000000"/>
                </a:solidFill>
                <a:cs typeface="+mn-cs"/>
              </a:rPr>
              <a:t>2</a:t>
            </a:r>
            <a:r>
              <a:rPr lang="en-US" altLang="en-US" sz="1500" b="1" kern="1200" dirty="0">
                <a:solidFill>
                  <a:srgbClr val="000000"/>
                </a:solidFill>
                <a:cs typeface="+mn-cs"/>
              </a:rPr>
              <a:t> </a:t>
            </a:r>
            <a:br>
              <a:rPr lang="en-US" altLang="en-US" sz="1500" b="1" kern="1200" dirty="0">
                <a:solidFill>
                  <a:srgbClr val="000000"/>
                </a:solidFill>
                <a:cs typeface="+mn-cs"/>
              </a:rPr>
            </a:br>
            <a:r>
              <a:rPr lang="en-US" altLang="en-US" sz="1500" b="1" kern="1200" dirty="0">
                <a:solidFill>
                  <a:srgbClr val="000000"/>
                </a:solidFill>
                <a:cs typeface="+mn-cs"/>
              </a:rPr>
              <a:t>= 0.278 </a:t>
            </a:r>
          </a:p>
          <a:p>
            <a:pPr algn="l" defTabSz="685800" eaLnBrk="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00" b="1" kern="1200" dirty="0" err="1">
                <a:solidFill>
                  <a:srgbClr val="000000"/>
                </a:solidFill>
                <a:cs typeface="+mn-cs"/>
              </a:rPr>
              <a:t>Gini</a:t>
            </a:r>
            <a:r>
              <a:rPr lang="en-US" altLang="en-US" sz="1500" b="1" kern="1200" dirty="0">
                <a:solidFill>
                  <a:srgbClr val="000000"/>
                </a:solidFill>
                <a:cs typeface="+mn-cs"/>
              </a:rPr>
              <a:t>(N2) </a:t>
            </a:r>
            <a:br>
              <a:rPr lang="en-US" altLang="en-US" sz="1500" b="1" kern="1200" dirty="0">
                <a:solidFill>
                  <a:srgbClr val="000000"/>
                </a:solidFill>
                <a:cs typeface="+mn-cs"/>
              </a:rPr>
            </a:br>
            <a:r>
              <a:rPr lang="en-US" altLang="en-US" sz="1500" b="1" kern="1200" dirty="0">
                <a:solidFill>
                  <a:srgbClr val="000000"/>
                </a:solidFill>
                <a:cs typeface="+mn-cs"/>
              </a:rPr>
              <a:t>= 1 – (2/6)</a:t>
            </a:r>
            <a:r>
              <a:rPr lang="en-US" altLang="en-US" sz="1500" b="1" kern="1200" baseline="30000" dirty="0">
                <a:solidFill>
                  <a:srgbClr val="000000"/>
                </a:solidFill>
                <a:cs typeface="+mn-cs"/>
              </a:rPr>
              <a:t>2 </a:t>
            </a:r>
            <a:r>
              <a:rPr lang="en-US" altLang="en-US" sz="1500" b="1" kern="1200" dirty="0">
                <a:solidFill>
                  <a:srgbClr val="000000"/>
                </a:solidFill>
                <a:cs typeface="+mn-cs"/>
              </a:rPr>
              <a:t>– (4/6)</a:t>
            </a:r>
            <a:r>
              <a:rPr lang="en-US" altLang="en-US" sz="1500" b="1" kern="1200" baseline="30000" dirty="0">
                <a:solidFill>
                  <a:srgbClr val="000000"/>
                </a:solidFill>
                <a:cs typeface="+mn-cs"/>
              </a:rPr>
              <a:t>2</a:t>
            </a:r>
            <a:r>
              <a:rPr lang="en-US" altLang="en-US" sz="1500" b="1" kern="1200" dirty="0">
                <a:solidFill>
                  <a:srgbClr val="000000"/>
                </a:solidFill>
                <a:cs typeface="+mn-cs"/>
              </a:rPr>
              <a:t> </a:t>
            </a:r>
            <a:br>
              <a:rPr lang="en-US" altLang="en-US" sz="1500" b="1" kern="1200" dirty="0">
                <a:solidFill>
                  <a:srgbClr val="000000"/>
                </a:solidFill>
                <a:cs typeface="+mn-cs"/>
              </a:rPr>
            </a:br>
            <a:r>
              <a:rPr lang="en-US" altLang="en-US" sz="1500" b="1" kern="1200" dirty="0">
                <a:solidFill>
                  <a:srgbClr val="000000"/>
                </a:solidFill>
                <a:cs typeface="+mn-cs"/>
              </a:rPr>
              <a:t>= 0.444</a:t>
            </a:r>
          </a:p>
        </p:txBody>
      </p:sp>
      <p:sp>
        <p:nvSpPr>
          <p:cNvPr id="41997" name="Text Box 14">
            <a:extLst>
              <a:ext uri="{FF2B5EF4-FFF2-40B4-BE49-F238E27FC236}">
                <a16:creationId xmlns="" xmlns:a16="http://schemas.microsoft.com/office/drawing/2014/main" id="{F04FB8AB-9129-477B-9FCE-90DA87982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521869"/>
            <a:ext cx="25146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350" b="1" kern="1200">
                <a:solidFill>
                  <a:srgbClr val="000000"/>
                </a:solidFill>
                <a:cs typeface="+mn-cs"/>
              </a:rPr>
              <a:t>Weighted Gini of N1 N2</a:t>
            </a:r>
            <a:r>
              <a:rPr lang="en-US" altLang="en-US" sz="1500" b="1" kern="1200">
                <a:solidFill>
                  <a:srgbClr val="000000"/>
                </a:solidFill>
                <a:cs typeface="+mn-cs"/>
              </a:rPr>
              <a:t/>
            </a:r>
            <a:br>
              <a:rPr lang="en-US" altLang="en-US" sz="1500" b="1" kern="1200">
                <a:solidFill>
                  <a:srgbClr val="000000"/>
                </a:solidFill>
                <a:cs typeface="+mn-cs"/>
              </a:rPr>
            </a:br>
            <a:r>
              <a:rPr lang="en-US" altLang="en-US" sz="1350" b="1" kern="1200">
                <a:solidFill>
                  <a:srgbClr val="000000"/>
                </a:solidFill>
                <a:cs typeface="+mn-cs"/>
              </a:rPr>
              <a:t>= 6/12 * 0.278 + </a:t>
            </a:r>
            <a:br>
              <a:rPr lang="en-US" altLang="en-US" sz="1350" b="1" kern="1200">
                <a:solidFill>
                  <a:srgbClr val="000000"/>
                </a:solidFill>
                <a:cs typeface="+mn-cs"/>
              </a:rPr>
            </a:br>
            <a:r>
              <a:rPr lang="en-US" altLang="en-US" sz="1350" b="1" kern="1200">
                <a:solidFill>
                  <a:srgbClr val="000000"/>
                </a:solidFill>
                <a:cs typeface="+mn-cs"/>
              </a:rPr>
              <a:t>   6/12 * 0.444</a:t>
            </a:r>
            <a:br>
              <a:rPr lang="en-US" altLang="en-US" sz="1350" b="1" kern="1200">
                <a:solidFill>
                  <a:srgbClr val="000000"/>
                </a:solidFill>
                <a:cs typeface="+mn-cs"/>
              </a:rPr>
            </a:br>
            <a:r>
              <a:rPr lang="en-US" altLang="en-US" sz="1350" b="1" kern="1200">
                <a:solidFill>
                  <a:srgbClr val="000000"/>
                </a:solidFill>
                <a:cs typeface="+mn-cs"/>
              </a:rPr>
              <a:t>= 0.361</a:t>
            </a:r>
          </a:p>
        </p:txBody>
      </p:sp>
      <p:sp>
        <p:nvSpPr>
          <p:cNvPr id="41998" name="TextBox 1">
            <a:extLst>
              <a:ext uri="{FF2B5EF4-FFF2-40B4-BE49-F238E27FC236}">
                <a16:creationId xmlns="" xmlns:a16="http://schemas.microsoft.com/office/drawing/2014/main" id="{1016E80E-2819-40DB-960D-12FE839811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6616" y="4400550"/>
            <a:ext cx="245451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350" b="1" kern="1200" dirty="0">
                <a:solidFill>
                  <a:srgbClr val="FF0000"/>
                </a:solidFill>
                <a:cs typeface="+mn-cs"/>
              </a:rPr>
              <a:t>Gain = 0.486 – 0.361 = 0.125</a:t>
            </a:r>
          </a:p>
        </p:txBody>
      </p:sp>
    </p:spTree>
    <p:extLst>
      <p:ext uri="{BB962C8B-B14F-4D97-AF65-F5344CB8AC3E}">
        <p14:creationId xmlns:p14="http://schemas.microsoft.com/office/powerpoint/2010/main" val="590810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FCF583A6-A1D0-493D-B903-52CBF1B6C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Introduction to Data Mining, 2</a:t>
            </a:r>
            <a:r>
              <a:rPr lang="en-US" baseline="30000">
                <a:solidFill>
                  <a:srgbClr val="000000">
                    <a:tint val="75000"/>
                  </a:srgbClr>
                </a:solidFill>
              </a:rPr>
              <a:t>nd</a:t>
            </a:r>
            <a:r>
              <a:rPr lang="en-US">
                <a:solidFill>
                  <a:srgbClr val="000000">
                    <a:tint val="75000"/>
                  </a:srgbClr>
                </a:solidFill>
              </a:rPr>
              <a:t> Edition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1EE55FBF-B186-492F-AE6D-4EB10F27B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0186DF-3DCE-4318-8030-356931D4FA47}" type="slidenum">
              <a:rPr 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50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6866" name="Rectangle 2">
            <a:extLst>
              <a:ext uri="{FF2B5EF4-FFF2-40B4-BE49-F238E27FC236}">
                <a16:creationId xmlns="" xmlns:a16="http://schemas.microsoft.com/office/drawing/2014/main" id="{F7D86A48-57D6-4F27-90C2-CCAC90C22EC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20"/>
            <a:ext cx="9144000" cy="40005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ru-RU" sz="2800" b="1" dirty="0" err="1" smtClean="0">
                <a:solidFill>
                  <a:schemeClr val="bg1"/>
                </a:solidFill>
                <a:latin typeface="+mn-lt"/>
              </a:rPr>
              <a:t>Категоріальні</a:t>
            </a:r>
            <a:r>
              <a:rPr lang="ru-RU" sz="28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2800" b="1" dirty="0" err="1" smtClean="0">
                <a:solidFill>
                  <a:schemeClr val="bg1"/>
                </a:solidFill>
                <a:latin typeface="+mn-lt"/>
              </a:rPr>
              <a:t>атрибути</a:t>
            </a:r>
            <a:r>
              <a:rPr lang="ru-RU" sz="2800" b="1" dirty="0" smtClean="0">
                <a:solidFill>
                  <a:schemeClr val="bg1"/>
                </a:solidFill>
                <a:latin typeface="+mn-lt"/>
              </a:rPr>
              <a:t>: </a:t>
            </a:r>
            <a:r>
              <a:rPr lang="ru-RU" sz="2800" b="1" dirty="0" err="1" smtClean="0">
                <a:solidFill>
                  <a:schemeClr val="bg1"/>
                </a:solidFill>
                <a:latin typeface="+mn-lt"/>
              </a:rPr>
              <a:t>обчислення</a:t>
            </a:r>
            <a:r>
              <a:rPr lang="ru-RU" sz="28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2800" b="1" dirty="0" err="1" smtClean="0">
                <a:solidFill>
                  <a:schemeClr val="bg1"/>
                </a:solidFill>
                <a:latin typeface="+mn-lt"/>
              </a:rPr>
              <a:t>індекса</a:t>
            </a:r>
            <a:r>
              <a:rPr lang="ru-RU" sz="28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2800" b="1" dirty="0" err="1" smtClean="0">
                <a:solidFill>
                  <a:schemeClr val="bg1"/>
                </a:solidFill>
                <a:latin typeface="+mn-lt"/>
              </a:rPr>
              <a:t>Джині</a:t>
            </a:r>
            <a:endParaRPr lang="en-US" sz="28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6867" name="Rectangle 3">
            <a:extLst>
              <a:ext uri="{FF2B5EF4-FFF2-40B4-BE49-F238E27FC236}">
                <a16:creationId xmlns="" xmlns:a16="http://schemas.microsoft.com/office/drawing/2014/main" id="{F25D8AA2-D44D-44D3-8B67-7BD44F713E0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-1" y="857250"/>
            <a:ext cx="8979613" cy="3886200"/>
          </a:xfrm>
          <a:prstGeom prst="rect">
            <a:avLst/>
          </a:prstGeom>
        </p:spPr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ru-RU" sz="1800" dirty="0"/>
              <a:t>Для кожного </a:t>
            </a:r>
            <a:r>
              <a:rPr lang="ru-RU" sz="1800" dirty="0" err="1"/>
              <a:t>окремого</a:t>
            </a:r>
            <a:r>
              <a:rPr lang="ru-RU" sz="1800" dirty="0"/>
              <a:t> </a:t>
            </a:r>
            <a:r>
              <a:rPr lang="ru-RU" sz="1800" dirty="0" err="1"/>
              <a:t>значення</a:t>
            </a:r>
            <a:r>
              <a:rPr lang="ru-RU" sz="1800" dirty="0"/>
              <a:t> </a:t>
            </a:r>
            <a:r>
              <a:rPr lang="ru-RU" sz="1800" dirty="0" err="1"/>
              <a:t>зберіть</a:t>
            </a:r>
            <a:r>
              <a:rPr lang="ru-RU" sz="1800" dirty="0"/>
              <a:t> </a:t>
            </a:r>
            <a:r>
              <a:rPr lang="ru-RU" sz="1800" dirty="0" err="1"/>
              <a:t>підрахунки</a:t>
            </a:r>
            <a:r>
              <a:rPr lang="ru-RU" sz="1800" dirty="0"/>
              <a:t> для кожного </a:t>
            </a:r>
            <a:r>
              <a:rPr lang="ru-RU" sz="1800" dirty="0" err="1"/>
              <a:t>класу</a:t>
            </a:r>
            <a:r>
              <a:rPr lang="ru-RU" sz="1800" dirty="0"/>
              <a:t> в </a:t>
            </a:r>
            <a:r>
              <a:rPr lang="ru-RU" sz="1800" dirty="0" err="1"/>
              <a:t>наборі</a:t>
            </a:r>
            <a:r>
              <a:rPr lang="ru-RU" sz="1800" dirty="0"/>
              <a:t> </a:t>
            </a:r>
            <a:r>
              <a:rPr lang="ru-RU" sz="1800" dirty="0" err="1"/>
              <a:t>даних</a:t>
            </a:r>
            <a:endParaRPr lang="ru-RU" sz="1800" dirty="0"/>
          </a:p>
          <a:p>
            <a:pPr>
              <a:buFont typeface="Monotype Sorts" charset="0"/>
              <a:buChar char="l"/>
              <a:defRPr/>
            </a:pPr>
            <a:r>
              <a:rPr lang="ru-RU" sz="1800" dirty="0" err="1"/>
              <a:t>Використовуйте</a:t>
            </a:r>
            <a:r>
              <a:rPr lang="ru-RU" sz="1800" dirty="0"/>
              <a:t> </a:t>
            </a:r>
            <a:r>
              <a:rPr lang="ru-RU" sz="1800" dirty="0" err="1"/>
              <a:t>матрицю</a:t>
            </a:r>
            <a:r>
              <a:rPr lang="ru-RU" sz="1800" dirty="0"/>
              <a:t> </a:t>
            </a:r>
            <a:r>
              <a:rPr lang="ru-RU" sz="1800" dirty="0" err="1"/>
              <a:t>підрахунку</a:t>
            </a:r>
            <a:r>
              <a:rPr lang="ru-RU" sz="1800" dirty="0"/>
              <a:t> для </a:t>
            </a:r>
            <a:r>
              <a:rPr lang="ru-RU" sz="1800" dirty="0" err="1"/>
              <a:t>прийняття</a:t>
            </a:r>
            <a:r>
              <a:rPr lang="ru-RU" sz="1800" dirty="0"/>
              <a:t> </a:t>
            </a:r>
            <a:r>
              <a:rPr lang="ru-RU" sz="1800" dirty="0" err="1"/>
              <a:t>рішень</a:t>
            </a:r>
            <a:endParaRPr lang="en-US" sz="1800" dirty="0"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6EEC730F-DEE4-4F3F-BE43-8CEB3E281034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>
          <a:xfrm>
            <a:off x="0" y="4767263"/>
            <a:ext cx="2057400" cy="274637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09/21/2020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graphicFrame>
        <p:nvGraphicFramePr>
          <p:cNvPr id="43011" name="Object 4">
            <a:extLst>
              <a:ext uri="{FF2B5EF4-FFF2-40B4-BE49-F238E27FC236}">
                <a16:creationId xmlns="" xmlns:a16="http://schemas.microsoft.com/office/drawing/2014/main" id="{B3D2D975-52F5-405B-BEA7-C3D4AC753F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1222" y="2857501"/>
          <a:ext cx="1927622" cy="1318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1" name="Document" r:id="rId3" imgW="5854700" imgH="4000500" progId="Word.Document.8">
                  <p:embed/>
                </p:oleObj>
              </mc:Choice>
              <mc:Fallback>
                <p:oleObj name="Document" r:id="rId3" imgW="5854700" imgH="40005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1222" y="2857501"/>
                        <a:ext cx="1927622" cy="13180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5">
            <a:extLst>
              <a:ext uri="{FF2B5EF4-FFF2-40B4-BE49-F238E27FC236}">
                <a16:creationId xmlns="" xmlns:a16="http://schemas.microsoft.com/office/drawing/2014/main" id="{A1470F44-EAB7-460F-AE62-2D26108C26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59078" y="2853928"/>
          <a:ext cx="1927622" cy="1318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2" name="Document" r:id="rId5" imgW="5854700" imgH="4000500" progId="Word.Document.8">
                  <p:embed/>
                </p:oleObj>
              </mc:Choice>
              <mc:Fallback>
                <p:oleObj name="Document" r:id="rId5" imgW="5854700" imgH="40005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9078" y="2853928"/>
                        <a:ext cx="1927622" cy="13180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3" name="Object 6">
            <a:extLst>
              <a:ext uri="{FF2B5EF4-FFF2-40B4-BE49-F238E27FC236}">
                <a16:creationId xmlns="" xmlns:a16="http://schemas.microsoft.com/office/drawing/2014/main" id="{3C433E6E-3953-4FFB-883E-09A65EB377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2857500"/>
          <a:ext cx="2286000" cy="1177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3" name="Document" r:id="rId7" imgW="6210300" imgH="3187700" progId="Word.Document.8">
                  <p:embed/>
                </p:oleObj>
              </mc:Choice>
              <mc:Fallback>
                <p:oleObj name="Document" r:id="rId7" imgW="6210300" imgH="31877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857500"/>
                        <a:ext cx="2286000" cy="11775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4" name="Line 7">
            <a:extLst>
              <a:ext uri="{FF2B5EF4-FFF2-40B4-BE49-F238E27FC236}">
                <a16:creationId xmlns="" xmlns:a16="http://schemas.microsoft.com/office/drawing/2014/main" id="{DCD89216-A35E-4F56-99F3-FB714165BC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29050" y="2228850"/>
            <a:ext cx="1191" cy="1828800"/>
          </a:xfrm>
          <a:prstGeom prst="line">
            <a:avLst/>
          </a:prstGeom>
          <a:noFill/>
          <a:ln w="381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defTabSz="685800" eaLnBrk="0" fontAlgn="base">
              <a:spcBef>
                <a:spcPct val="0"/>
              </a:spcBef>
              <a:spcAft>
                <a:spcPct val="0"/>
              </a:spcAft>
            </a:pPr>
            <a:endParaRPr lang="en-US" sz="1050" b="1" kern="1200"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3015" name="Text Box 8">
            <a:extLst>
              <a:ext uri="{FF2B5EF4-FFF2-40B4-BE49-F238E27FC236}">
                <a16:creationId xmlns="" xmlns:a16="http://schemas.microsoft.com/office/drawing/2014/main" id="{9059DB24-F64E-4FB6-9B9A-C267673A2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9991" y="2151460"/>
            <a:ext cx="137409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00" kern="1200">
                <a:solidFill>
                  <a:srgbClr val="000000"/>
                </a:solidFill>
                <a:latin typeface="Times New Roman" panose="02020603050405020304" pitchFamily="18" charset="0"/>
                <a:cs typeface="+mn-cs"/>
              </a:rPr>
              <a:t>Multi-way split</a:t>
            </a:r>
          </a:p>
        </p:txBody>
      </p:sp>
      <p:sp>
        <p:nvSpPr>
          <p:cNvPr id="43016" name="Text Box 9">
            <a:extLst>
              <a:ext uri="{FF2B5EF4-FFF2-40B4-BE49-F238E27FC236}">
                <a16:creationId xmlns="" xmlns:a16="http://schemas.microsoft.com/office/drawing/2014/main" id="{E5591F98-CEC8-49E7-8F52-1692A2633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7630" y="2151460"/>
            <a:ext cx="242406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00" kern="1200">
                <a:solidFill>
                  <a:srgbClr val="000000"/>
                </a:solidFill>
                <a:latin typeface="Times New Roman" panose="02020603050405020304" pitchFamily="18" charset="0"/>
                <a:cs typeface="+mn-cs"/>
              </a:rPr>
              <a:t>Two-way split </a:t>
            </a:r>
          </a:p>
          <a:p>
            <a:pPr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00" kern="1200">
                <a:solidFill>
                  <a:srgbClr val="000000"/>
                </a:solidFill>
                <a:latin typeface="Times New Roman" panose="02020603050405020304" pitchFamily="18" charset="0"/>
                <a:cs typeface="+mn-cs"/>
              </a:rPr>
              <a:t>(find best partition of values)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70E4AC35-59B7-439C-8140-8D47A6D29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8950" y="4294585"/>
            <a:ext cx="24256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350" b="1" kern="1200">
                <a:solidFill>
                  <a:srgbClr val="00B050"/>
                </a:solidFill>
                <a:cs typeface="+mn-cs"/>
              </a:rPr>
              <a:t>Which of these is the best?</a:t>
            </a:r>
          </a:p>
        </p:txBody>
      </p:sp>
    </p:spTree>
    <p:extLst>
      <p:ext uri="{BB962C8B-B14F-4D97-AF65-F5344CB8AC3E}">
        <p14:creationId xmlns:p14="http://schemas.microsoft.com/office/powerpoint/2010/main" val="1666524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2145D970-98A1-46BD-B515-7DC31392D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Introduction to Data Mining, 2</a:t>
            </a:r>
            <a:r>
              <a:rPr lang="en-US" baseline="30000">
                <a:solidFill>
                  <a:srgbClr val="000000">
                    <a:tint val="75000"/>
                  </a:srgbClr>
                </a:solidFill>
              </a:rPr>
              <a:t>nd</a:t>
            </a:r>
            <a:r>
              <a:rPr lang="en-US">
                <a:solidFill>
                  <a:srgbClr val="000000">
                    <a:tint val="75000"/>
                  </a:srgbClr>
                </a:solidFill>
              </a:rPr>
              <a:t> Edition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36FAB02-8844-46A3-9E96-2524A4602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5550F7-DE17-4B9E-B3E5-C1A623AA0BCE}" type="slidenum">
              <a:rPr 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51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7890" name="Rectangle 4">
            <a:extLst>
              <a:ext uri="{FF2B5EF4-FFF2-40B4-BE49-F238E27FC236}">
                <a16:creationId xmlns="" xmlns:a16="http://schemas.microsoft.com/office/drawing/2014/main" id="{1BE7B1A8-A0E2-402C-A351-625C1ED624F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14300"/>
            <a:ext cx="9144000" cy="40005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ru-RU" sz="3200" b="1" dirty="0" err="1">
                <a:solidFill>
                  <a:schemeClr val="bg1"/>
                </a:solidFill>
                <a:latin typeface="+mn-lt"/>
              </a:rPr>
              <a:t>Безперервні</a:t>
            </a:r>
            <a:r>
              <a:rPr lang="ru-RU" sz="32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200" b="1" dirty="0" err="1">
                <a:solidFill>
                  <a:schemeClr val="bg1"/>
                </a:solidFill>
                <a:latin typeface="+mn-lt"/>
              </a:rPr>
              <a:t>атрибути</a:t>
            </a:r>
            <a:r>
              <a:rPr lang="ru-RU" sz="3200" b="1" dirty="0">
                <a:solidFill>
                  <a:schemeClr val="bg1"/>
                </a:solidFill>
                <a:latin typeface="+mn-lt"/>
              </a:rPr>
              <a:t>: </a:t>
            </a:r>
            <a:r>
              <a:rPr lang="ru-RU" sz="3200" b="1" dirty="0" err="1">
                <a:solidFill>
                  <a:schemeClr val="bg1"/>
                </a:solidFill>
                <a:latin typeface="+mn-lt"/>
              </a:rPr>
              <a:t>обчислення</a:t>
            </a:r>
            <a:r>
              <a:rPr lang="ru-RU" sz="32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200" b="1" dirty="0" err="1">
                <a:solidFill>
                  <a:schemeClr val="bg1"/>
                </a:solidFill>
                <a:latin typeface="+mn-lt"/>
              </a:rPr>
              <a:t>індексу</a:t>
            </a:r>
            <a:r>
              <a:rPr lang="ru-RU" sz="32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200" b="1" dirty="0" err="1">
                <a:solidFill>
                  <a:schemeClr val="bg1"/>
                </a:solidFill>
                <a:latin typeface="+mn-lt"/>
              </a:rPr>
              <a:t>Джині</a:t>
            </a:r>
            <a:endParaRPr lang="en-US" sz="32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7891" name="Rectangle 5">
            <a:extLst>
              <a:ext uri="{FF2B5EF4-FFF2-40B4-BE49-F238E27FC236}">
                <a16:creationId xmlns="" xmlns:a16="http://schemas.microsoft.com/office/drawing/2014/main" id="{21FB1561-9BA1-4015-A1DF-73E892C3E1A3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857250"/>
            <a:ext cx="5038329" cy="3886200"/>
          </a:xfrm>
          <a:prstGeom prst="rect">
            <a:avLst/>
          </a:prstGeom>
        </p:spPr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ru-RU" sz="1700" dirty="0" err="1"/>
              <a:t>Використовуйте</a:t>
            </a:r>
            <a:r>
              <a:rPr lang="ru-RU" sz="1700" dirty="0"/>
              <a:t> </a:t>
            </a:r>
            <a:r>
              <a:rPr lang="ru-RU" sz="1700" dirty="0" err="1"/>
              <a:t>двійкові</a:t>
            </a:r>
            <a:r>
              <a:rPr lang="ru-RU" sz="1700" dirty="0"/>
              <a:t> </a:t>
            </a:r>
            <a:r>
              <a:rPr lang="ru-RU" sz="1700" dirty="0" err="1"/>
              <a:t>рішення</a:t>
            </a:r>
            <a:r>
              <a:rPr lang="ru-RU" sz="1700" dirty="0"/>
              <a:t> на </a:t>
            </a:r>
            <a:r>
              <a:rPr lang="ru-RU" sz="1700" dirty="0" err="1"/>
              <a:t>основі</a:t>
            </a:r>
            <a:r>
              <a:rPr lang="ru-RU" sz="1700" dirty="0"/>
              <a:t> одного </a:t>
            </a:r>
            <a:r>
              <a:rPr lang="ru-RU" sz="1700" dirty="0" err="1"/>
              <a:t>значення</a:t>
            </a:r>
            <a:endParaRPr lang="ru-RU" sz="1700" dirty="0"/>
          </a:p>
          <a:p>
            <a:pPr>
              <a:buFont typeface="Monotype Sorts" charset="0"/>
              <a:buChar char="l"/>
              <a:defRPr/>
            </a:pPr>
            <a:r>
              <a:rPr lang="ru-RU" sz="1700" dirty="0" err="1"/>
              <a:t>Кілька</a:t>
            </a:r>
            <a:r>
              <a:rPr lang="ru-RU" sz="1700" dirty="0"/>
              <a:t> </a:t>
            </a:r>
            <a:r>
              <a:rPr lang="ru-RU" sz="1700" dirty="0" err="1"/>
              <a:t>варіантів</a:t>
            </a:r>
            <a:r>
              <a:rPr lang="ru-RU" sz="1700" dirty="0"/>
              <a:t> </a:t>
            </a:r>
            <a:r>
              <a:rPr lang="ru-RU" sz="1700" dirty="0" err="1"/>
              <a:t>значення</a:t>
            </a:r>
            <a:r>
              <a:rPr lang="ru-RU" sz="1700" dirty="0"/>
              <a:t> </a:t>
            </a:r>
            <a:r>
              <a:rPr lang="ru-RU" sz="1700" dirty="0" err="1" smtClean="0"/>
              <a:t>розгалуження</a:t>
            </a:r>
            <a:endParaRPr lang="ru-RU" sz="1700" dirty="0"/>
          </a:p>
          <a:p>
            <a:pPr>
              <a:buFont typeface="Monotype Sorts" charset="0"/>
              <a:buChar char="l"/>
              <a:defRPr/>
            </a:pPr>
            <a:r>
              <a:rPr lang="ru-RU" sz="1700" dirty="0" err="1"/>
              <a:t>Кількість</a:t>
            </a:r>
            <a:r>
              <a:rPr lang="ru-RU" sz="1700" dirty="0"/>
              <a:t> </a:t>
            </a:r>
            <a:r>
              <a:rPr lang="ru-RU" sz="1700" dirty="0" err="1"/>
              <a:t>можливих</a:t>
            </a:r>
            <a:r>
              <a:rPr lang="ru-RU" sz="1700" dirty="0"/>
              <a:t> </a:t>
            </a:r>
            <a:r>
              <a:rPr lang="ru-RU" sz="1700" dirty="0" err="1"/>
              <a:t>значень</a:t>
            </a:r>
            <a:r>
              <a:rPr lang="ru-RU" sz="1700" dirty="0"/>
              <a:t> </a:t>
            </a:r>
            <a:r>
              <a:rPr lang="ru-RU" sz="1700" dirty="0" err="1"/>
              <a:t>розгалуження</a:t>
            </a:r>
            <a:r>
              <a:rPr lang="ru-RU" sz="1700" dirty="0"/>
              <a:t> </a:t>
            </a:r>
            <a:r>
              <a:rPr lang="ru-RU" sz="1700" dirty="0" smtClean="0"/>
              <a:t>= </a:t>
            </a:r>
            <a:r>
              <a:rPr lang="ru-RU" sz="1700" dirty="0" err="1"/>
              <a:t>Кількість</a:t>
            </a:r>
            <a:r>
              <a:rPr lang="ru-RU" sz="1700" dirty="0"/>
              <a:t> </a:t>
            </a:r>
            <a:r>
              <a:rPr lang="ru-RU" sz="1700" dirty="0" err="1"/>
              <a:t>різних</a:t>
            </a:r>
            <a:r>
              <a:rPr lang="ru-RU" sz="1700" dirty="0"/>
              <a:t> </a:t>
            </a:r>
            <a:r>
              <a:rPr lang="ru-RU" sz="1700" dirty="0" err="1"/>
              <a:t>значень</a:t>
            </a:r>
            <a:endParaRPr lang="ru-RU" sz="1700" dirty="0"/>
          </a:p>
          <a:p>
            <a:pPr>
              <a:buFont typeface="Monotype Sorts" charset="0"/>
              <a:buChar char="l"/>
              <a:defRPr/>
            </a:pPr>
            <a:r>
              <a:rPr lang="ru-RU" sz="1700" dirty="0" err="1"/>
              <a:t>Кожне</a:t>
            </a:r>
            <a:r>
              <a:rPr lang="ru-RU" sz="1700" dirty="0"/>
              <a:t> </a:t>
            </a:r>
            <a:r>
              <a:rPr lang="ru-RU" sz="1700" dirty="0" err="1"/>
              <a:t>значення</a:t>
            </a:r>
            <a:r>
              <a:rPr lang="ru-RU" sz="1700" dirty="0"/>
              <a:t> </a:t>
            </a:r>
            <a:r>
              <a:rPr lang="ru-RU" sz="1700" dirty="0" err="1"/>
              <a:t>розгалуження</a:t>
            </a:r>
            <a:r>
              <a:rPr lang="ru-RU" sz="1700" dirty="0"/>
              <a:t> </a:t>
            </a:r>
            <a:r>
              <a:rPr lang="ru-RU" sz="1700" dirty="0" err="1" smtClean="0"/>
              <a:t>має</a:t>
            </a:r>
            <a:r>
              <a:rPr lang="ru-RU" sz="1700" dirty="0" smtClean="0"/>
              <a:t> </a:t>
            </a:r>
            <a:r>
              <a:rPr lang="ru-RU" sz="1700" dirty="0"/>
              <a:t>з ним </a:t>
            </a:r>
            <a:r>
              <a:rPr lang="ru-RU" sz="1700" dirty="0" err="1"/>
              <a:t>пов'язану</a:t>
            </a:r>
            <a:r>
              <a:rPr lang="ru-RU" sz="1700" dirty="0"/>
              <a:t> </a:t>
            </a:r>
            <a:r>
              <a:rPr lang="ru-RU" sz="1700" dirty="0" err="1"/>
              <a:t>матрицю</a:t>
            </a:r>
            <a:r>
              <a:rPr lang="ru-RU" sz="1700" dirty="0"/>
              <a:t> </a:t>
            </a:r>
            <a:r>
              <a:rPr lang="ru-RU" sz="1700" dirty="0" err="1"/>
              <a:t>підрахунку</a:t>
            </a:r>
            <a:endParaRPr lang="ru-RU" sz="1700" dirty="0"/>
          </a:p>
          <a:p>
            <a:pPr>
              <a:buFont typeface="Monotype Sorts" charset="0"/>
              <a:buChar char="l"/>
              <a:defRPr/>
            </a:pPr>
            <a:r>
              <a:rPr lang="ru-RU" sz="1700" dirty="0" err="1"/>
              <a:t>Кількість</a:t>
            </a:r>
            <a:r>
              <a:rPr lang="ru-RU" sz="1700" dirty="0"/>
              <a:t> </a:t>
            </a:r>
            <a:r>
              <a:rPr lang="ru-RU" sz="1700" dirty="0" err="1"/>
              <a:t>класів</a:t>
            </a:r>
            <a:r>
              <a:rPr lang="ru-RU" sz="1700" dirty="0"/>
              <a:t> у кожному з </a:t>
            </a:r>
            <a:r>
              <a:rPr lang="ru-RU" sz="1700" dirty="0" err="1"/>
              <a:t>розділів</a:t>
            </a:r>
            <a:r>
              <a:rPr lang="ru-RU" sz="1700" dirty="0"/>
              <a:t>, </a:t>
            </a:r>
            <a:r>
              <a:rPr lang="en-US" sz="1700" dirty="0"/>
              <a:t>A ≤ v </a:t>
            </a:r>
            <a:r>
              <a:rPr lang="ru-RU" sz="1700" dirty="0"/>
              <a:t>та </a:t>
            </a:r>
            <a:r>
              <a:rPr lang="en-US" sz="1700" dirty="0"/>
              <a:t>A&gt; v</a:t>
            </a:r>
          </a:p>
          <a:p>
            <a:pPr>
              <a:buFont typeface="Monotype Sorts" charset="0"/>
              <a:buChar char="l"/>
              <a:defRPr/>
            </a:pPr>
            <a:r>
              <a:rPr lang="ru-RU" sz="1700" dirty="0" err="1"/>
              <a:t>Простий</a:t>
            </a:r>
            <a:r>
              <a:rPr lang="ru-RU" sz="1700" dirty="0"/>
              <a:t> </a:t>
            </a:r>
            <a:r>
              <a:rPr lang="ru-RU" sz="1700" dirty="0" err="1"/>
              <a:t>спосіб</a:t>
            </a:r>
            <a:r>
              <a:rPr lang="ru-RU" sz="1700" dirty="0"/>
              <a:t> </a:t>
            </a:r>
            <a:r>
              <a:rPr lang="ru-RU" sz="1700" dirty="0" err="1"/>
              <a:t>вибрати</a:t>
            </a:r>
            <a:r>
              <a:rPr lang="ru-RU" sz="1700" dirty="0"/>
              <a:t> </a:t>
            </a:r>
            <a:r>
              <a:rPr lang="ru-RU" sz="1700" dirty="0" err="1"/>
              <a:t>найкращий</a:t>
            </a:r>
            <a:r>
              <a:rPr lang="ru-RU" sz="1700" dirty="0"/>
              <a:t> </a:t>
            </a:r>
            <a:r>
              <a:rPr lang="en-US" sz="1700" dirty="0"/>
              <a:t>v</a:t>
            </a:r>
          </a:p>
          <a:p>
            <a:pPr>
              <a:buFont typeface="Monotype Sorts" charset="0"/>
              <a:buChar char="l"/>
              <a:defRPr/>
            </a:pPr>
            <a:r>
              <a:rPr lang="ru-RU" sz="1700" dirty="0"/>
              <a:t>Для кожного </a:t>
            </a:r>
            <a:r>
              <a:rPr lang="en-US" sz="1700" dirty="0"/>
              <a:t>v </a:t>
            </a:r>
            <a:r>
              <a:rPr lang="ru-RU" sz="1700" dirty="0" err="1"/>
              <a:t>скануйте</a:t>
            </a:r>
            <a:r>
              <a:rPr lang="ru-RU" sz="1700" dirty="0"/>
              <a:t> базу </a:t>
            </a:r>
            <a:r>
              <a:rPr lang="ru-RU" sz="1700" dirty="0" err="1"/>
              <a:t>даних</a:t>
            </a:r>
            <a:r>
              <a:rPr lang="ru-RU" sz="1700" dirty="0"/>
              <a:t>, </a:t>
            </a:r>
            <a:r>
              <a:rPr lang="ru-RU" sz="1700" dirty="0" err="1"/>
              <a:t>щоб</a:t>
            </a:r>
            <a:r>
              <a:rPr lang="ru-RU" sz="1700" dirty="0"/>
              <a:t> </a:t>
            </a:r>
            <a:r>
              <a:rPr lang="ru-RU" sz="1700" dirty="0" err="1"/>
              <a:t>зібрати</a:t>
            </a:r>
            <a:r>
              <a:rPr lang="ru-RU" sz="1700" dirty="0"/>
              <a:t> </a:t>
            </a:r>
            <a:r>
              <a:rPr lang="ru-RU" sz="1700" dirty="0" err="1"/>
              <a:t>матрицю</a:t>
            </a:r>
            <a:r>
              <a:rPr lang="ru-RU" sz="1700" dirty="0"/>
              <a:t> </a:t>
            </a:r>
            <a:r>
              <a:rPr lang="ru-RU" sz="1700" dirty="0" err="1"/>
              <a:t>підрахунку</a:t>
            </a:r>
            <a:r>
              <a:rPr lang="ru-RU" sz="1700" dirty="0"/>
              <a:t> та </a:t>
            </a:r>
            <a:r>
              <a:rPr lang="ru-RU" sz="1700" dirty="0" err="1"/>
              <a:t>обчислити</a:t>
            </a:r>
            <a:r>
              <a:rPr lang="ru-RU" sz="1700" dirty="0"/>
              <a:t> </a:t>
            </a:r>
            <a:r>
              <a:rPr lang="ru-RU" sz="1700" dirty="0" err="1"/>
              <a:t>її</a:t>
            </a:r>
            <a:r>
              <a:rPr lang="ru-RU" sz="1700" dirty="0"/>
              <a:t> </a:t>
            </a:r>
            <a:r>
              <a:rPr lang="ru-RU" sz="1700" dirty="0" err="1"/>
              <a:t>індекс</a:t>
            </a:r>
            <a:r>
              <a:rPr lang="ru-RU" sz="1700" dirty="0"/>
              <a:t> </a:t>
            </a:r>
            <a:r>
              <a:rPr lang="ru-RU" sz="1700" dirty="0" err="1"/>
              <a:t>Джині</a:t>
            </a:r>
            <a:endParaRPr lang="ru-RU" sz="1700" dirty="0"/>
          </a:p>
          <a:p>
            <a:pPr>
              <a:buFont typeface="Monotype Sorts" charset="0"/>
              <a:buChar char="l"/>
              <a:defRPr/>
            </a:pPr>
            <a:r>
              <a:rPr lang="ru-RU" sz="1700" dirty="0" err="1"/>
              <a:t>Обчислювально</a:t>
            </a:r>
            <a:r>
              <a:rPr lang="ru-RU" sz="1700" dirty="0"/>
              <a:t> </a:t>
            </a:r>
            <a:r>
              <a:rPr lang="ru-RU" sz="1700" dirty="0" err="1" smtClean="0"/>
              <a:t>неефективно</a:t>
            </a:r>
            <a:r>
              <a:rPr lang="ru-RU" sz="1700" dirty="0" smtClean="0"/>
              <a:t>? </a:t>
            </a:r>
            <a:r>
              <a:rPr lang="ru-RU" sz="1700" dirty="0" err="1"/>
              <a:t>Повторення</a:t>
            </a:r>
            <a:r>
              <a:rPr lang="ru-RU" sz="1700" dirty="0"/>
              <a:t> </a:t>
            </a:r>
            <a:r>
              <a:rPr lang="ru-RU" sz="1700" dirty="0" err="1"/>
              <a:t>роботи</a:t>
            </a:r>
            <a:r>
              <a:rPr lang="ru-RU" sz="1700" dirty="0"/>
              <a:t>.</a:t>
            </a:r>
            <a:endParaRPr lang="en-US" sz="1700" dirty="0"/>
          </a:p>
        </p:txBody>
      </p:sp>
      <p:graphicFrame>
        <p:nvGraphicFramePr>
          <p:cNvPr id="44035" name="Object 6">
            <a:extLst>
              <a:ext uri="{FF2B5EF4-FFF2-40B4-BE49-F238E27FC236}">
                <a16:creationId xmlns="" xmlns:a16="http://schemas.microsoft.com/office/drawing/2014/main" id="{93F0BCF7-30AD-4DA1-B400-93EB09653113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561775972"/>
              </p:ext>
            </p:extLst>
          </p:nvPr>
        </p:nvGraphicFramePr>
        <p:xfrm>
          <a:off x="5616574" y="842963"/>
          <a:ext cx="3034265" cy="2528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6" name="Document" r:id="rId4" imgW="5676900" imgH="5778500" progId="Word.Document.8">
                  <p:embed/>
                </p:oleObj>
              </mc:Choice>
              <mc:Fallback>
                <p:oleObj name="Document" r:id="rId4" imgW="5676900" imgH="57785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4274"/>
                      <a:stretch>
                        <a:fillRect/>
                      </a:stretch>
                    </p:blipFill>
                    <p:spPr bwMode="auto">
                      <a:xfrm>
                        <a:off x="5616574" y="842963"/>
                        <a:ext cx="3034265" cy="2528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F7403FE7-3FDE-4E79-A43F-D262DD59F89F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>
          <a:xfrm>
            <a:off x="0" y="4767263"/>
            <a:ext cx="2057400" cy="274637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09/21/2020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="" xmlns:a16="http://schemas.microsoft.com/office/drawing/2014/main" id="{7DDD9AB6-0A13-4417-AD27-18B84A842D2B}"/>
              </a:ext>
            </a:extLst>
          </p:cNvPr>
          <p:cNvGraphicFramePr>
            <a:graphicFrameLocks noGrp="1"/>
          </p:cNvGraphicFramePr>
          <p:nvPr/>
        </p:nvGraphicFramePr>
        <p:xfrm>
          <a:off x="5029200" y="3823098"/>
          <a:ext cx="2057401" cy="835818"/>
        </p:xfrm>
        <a:graphic>
          <a:graphicData uri="http://schemas.openxmlformats.org/drawingml/2006/table">
            <a:tbl>
              <a:tblPr/>
              <a:tblGrid>
                <a:gridCol w="115371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243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124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278606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68580" marR="68580" marT="34300" marB="343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≤ 80</a:t>
                      </a:r>
                    </a:p>
                  </a:txBody>
                  <a:tcPr marL="68580" marR="68580" marT="34300" marB="343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&gt; 80</a:t>
                      </a:r>
                    </a:p>
                  </a:txBody>
                  <a:tcPr marL="68580" marR="68580" marT="34300" marB="343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78606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Defaulted Yes</a:t>
                      </a:r>
                    </a:p>
                  </a:txBody>
                  <a:tcPr marL="68580" marR="68580" marT="34300" marB="3430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68580" marR="68580" marT="34300" marB="343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68580" marR="68580" marT="34300" marB="343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78606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Defaulted No</a:t>
                      </a:r>
                    </a:p>
                  </a:txBody>
                  <a:tcPr marL="68580" marR="68580" marT="34300" marB="3430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68580" marR="68580" marT="34300" marB="343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68580" marR="68580" marT="34300" marB="343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val 6">
            <a:extLst>
              <a:ext uri="{FF2B5EF4-FFF2-40B4-BE49-F238E27FC236}">
                <a16:creationId xmlns="" xmlns:a16="http://schemas.microsoft.com/office/drawing/2014/main" id="{B3733C11-39D7-4387-8275-416A36B10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050" y="4401741"/>
            <a:ext cx="571500" cy="227409"/>
          </a:xfrm>
          <a:prstGeom prst="ellipse">
            <a:avLst/>
          </a:prstGeom>
          <a:solidFill>
            <a:srgbClr val="FFFF00">
              <a:alpha val="41176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050" b="1" kern="1200">
              <a:solidFill>
                <a:srgbClr val="000000"/>
              </a:solidFill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5A2679E9-4903-40EE-90EF-32767CAFA9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7900" y="3371850"/>
            <a:ext cx="1314450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050" b="1" kern="1200">
                <a:solidFill>
                  <a:srgbClr val="000000"/>
                </a:solidFill>
                <a:cs typeface="+mn-cs"/>
              </a:rPr>
              <a:t>Annual Income 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="" xmlns:a16="http://schemas.microsoft.com/office/drawing/2014/main" id="{5D41A5C6-3D0E-4864-93BD-9CA07EA0D6F8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457950" y="3600450"/>
            <a:ext cx="228600" cy="226219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FE16756A-0D76-4FC5-B51A-8DA9C9178A9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686550" y="3600450"/>
            <a:ext cx="228600" cy="226219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D656BB94-9942-4E31-8473-7B74476D9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2504" y="1660922"/>
            <a:ext cx="828675" cy="152400"/>
          </a:xfrm>
          <a:prstGeom prst="rect">
            <a:avLst/>
          </a:prstGeom>
          <a:solidFill>
            <a:srgbClr val="FFFF00">
              <a:alpha val="45882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050" b="1" kern="1200">
              <a:solidFill>
                <a:srgbClr val="000000"/>
              </a:solidFill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9B8702BF-672D-420E-8D70-DA1363C6C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4885" y="2286000"/>
            <a:ext cx="828675" cy="152400"/>
          </a:xfrm>
          <a:prstGeom prst="rect">
            <a:avLst/>
          </a:prstGeom>
          <a:solidFill>
            <a:srgbClr val="FFFF00">
              <a:alpha val="45882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050" b="1" kern="1200">
              <a:solidFill>
                <a:srgbClr val="000000"/>
              </a:solidFill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9EA8674D-B0EE-4C65-972E-27C244A0F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25" y="2920604"/>
            <a:ext cx="828675" cy="152400"/>
          </a:xfrm>
          <a:prstGeom prst="rect">
            <a:avLst/>
          </a:prstGeom>
          <a:solidFill>
            <a:srgbClr val="FFFF00">
              <a:alpha val="45882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050" b="1" kern="1200">
              <a:solidFill>
                <a:srgbClr val="000000"/>
              </a:solidFill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653FAD8C-F2E9-4362-972F-02100278F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250" y="4126707"/>
            <a:ext cx="571500" cy="227410"/>
          </a:xfrm>
          <a:prstGeom prst="ellipse">
            <a:avLst/>
          </a:prstGeom>
          <a:solidFill>
            <a:schemeClr val="accent2">
              <a:lumMod val="60000"/>
              <a:lumOff val="40000"/>
              <a:alpha val="41000"/>
            </a:scheme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itchFamily="-84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itchFamily="-84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itchFamily="-84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itchFamily="-84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itchFamily="-84" charset="-128"/>
              </a:defRPr>
            </a:lvl9pPr>
          </a:lstStyle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050" kern="1200">
              <a:solidFill>
                <a:srgbClr val="000000"/>
              </a:solidFill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A1AFA0B5-9BC6-4D42-A159-BD30C4559CC4}"/>
              </a:ext>
            </a:extLst>
          </p:cNvPr>
          <p:cNvSpPr/>
          <p:nvPr/>
        </p:nvSpPr>
        <p:spPr bwMode="auto">
          <a:xfrm>
            <a:off x="6729413" y="3127772"/>
            <a:ext cx="828675" cy="152400"/>
          </a:xfrm>
          <a:prstGeom prst="rect">
            <a:avLst/>
          </a:prstGeom>
          <a:solidFill>
            <a:schemeClr val="accent2">
              <a:lumMod val="60000"/>
              <a:lumOff val="40000"/>
              <a:alpha val="46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50" b="1" kern="1200">
              <a:latin typeface="Arial" charset="0"/>
              <a:ea typeface="ＭＳ Ｐゴシック" pitchFamily="-84" charset="-128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FCDC9519-11BC-40ED-B7BB-AB3C860B090D}"/>
              </a:ext>
            </a:extLst>
          </p:cNvPr>
          <p:cNvSpPr/>
          <p:nvPr/>
        </p:nvSpPr>
        <p:spPr bwMode="auto">
          <a:xfrm>
            <a:off x="6713935" y="2701529"/>
            <a:ext cx="828675" cy="152400"/>
          </a:xfrm>
          <a:prstGeom prst="rect">
            <a:avLst/>
          </a:prstGeom>
          <a:solidFill>
            <a:schemeClr val="accent2">
              <a:lumMod val="60000"/>
              <a:lumOff val="40000"/>
              <a:alpha val="46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50" b="1" kern="1200">
              <a:latin typeface="Arial" charset="0"/>
              <a:ea typeface="ＭＳ Ｐゴシック" pitchFamily="-84" charset="-128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="" xmlns:a16="http://schemas.microsoft.com/office/drawing/2014/main" id="{1AF14836-9F83-4052-9C61-5777DF3C9FF1}"/>
              </a:ext>
            </a:extLst>
          </p:cNvPr>
          <p:cNvSpPr/>
          <p:nvPr/>
        </p:nvSpPr>
        <p:spPr bwMode="auto">
          <a:xfrm>
            <a:off x="6697266" y="2077641"/>
            <a:ext cx="828675" cy="152400"/>
          </a:xfrm>
          <a:prstGeom prst="rect">
            <a:avLst/>
          </a:prstGeom>
          <a:solidFill>
            <a:schemeClr val="accent2">
              <a:lumMod val="60000"/>
              <a:lumOff val="40000"/>
              <a:alpha val="46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50" b="1" kern="1200">
              <a:latin typeface="Arial" charset="0"/>
              <a:ea typeface="ＭＳ Ｐゴシック" pitchFamily="-8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9509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/>
      <p:bldP spid="13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081" name="Object 4">
            <a:extLst>
              <a:ext uri="{FF2B5EF4-FFF2-40B4-BE49-F238E27FC236}">
                <a16:creationId xmlns="" xmlns:a16="http://schemas.microsoft.com/office/drawing/2014/main" id="{69C639D9-0297-4872-849D-4C6DE43D8A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66937" y="2605087"/>
          <a:ext cx="5919788" cy="196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9" name="Document" r:id="rId3" imgW="10604500" imgH="3556000" progId="Word.Document.8">
                  <p:embed/>
                </p:oleObj>
              </mc:Choice>
              <mc:Fallback>
                <p:oleObj name="Document" r:id="rId3" imgW="10604500" imgH="35560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6937" y="2605087"/>
                        <a:ext cx="5919788" cy="196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8135660F-7400-45CC-BCA8-7CE4B9BF3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Introduction to Data Mining, 2</a:t>
            </a:r>
            <a:r>
              <a:rPr lang="en-US" baseline="30000">
                <a:solidFill>
                  <a:srgbClr val="000000">
                    <a:tint val="75000"/>
                  </a:srgbClr>
                </a:solidFill>
              </a:rPr>
              <a:t>nd</a:t>
            </a:r>
            <a:r>
              <a:rPr lang="en-US">
                <a:solidFill>
                  <a:srgbClr val="000000">
                    <a:tint val="75000"/>
                  </a:srgbClr>
                </a:solidFill>
              </a:rPr>
              <a:t> Edition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1475FB0-B6B6-431D-8BB6-A69923431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E75C25-30F7-4D83-8216-643D1301EECA}" type="slidenum">
              <a:rPr 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52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35D38612-2564-4265-AE71-6CB3C8E96D29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>
          <a:xfrm>
            <a:off x="0" y="4767263"/>
            <a:ext cx="2057400" cy="274637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09/21/2020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6084" name="Line 5">
            <a:extLst>
              <a:ext uri="{FF2B5EF4-FFF2-40B4-BE49-F238E27FC236}">
                <a16:creationId xmlns="" xmlns:a16="http://schemas.microsoft.com/office/drawing/2014/main" id="{74F0F7A6-CA20-46E4-9FA3-9C907346926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00300" y="3109913"/>
            <a:ext cx="228600" cy="1191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defTabSz="685800" eaLnBrk="0" fontAlgn="base">
              <a:spcBef>
                <a:spcPct val="0"/>
              </a:spcBef>
              <a:spcAft>
                <a:spcPct val="0"/>
              </a:spcAft>
            </a:pPr>
            <a:endParaRPr lang="en-US" sz="1050" b="1" kern="1200"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6093" name="Line 8">
            <a:extLst>
              <a:ext uri="{FF2B5EF4-FFF2-40B4-BE49-F238E27FC236}">
                <a16:creationId xmlns="" xmlns:a16="http://schemas.microsoft.com/office/drawing/2014/main" id="{31DCD320-99B3-459A-8773-3169ADB2EE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400300" y="-202556"/>
            <a:ext cx="2286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defTabSz="685800" eaLnBrk="0" fontAlgn="base">
              <a:spcBef>
                <a:spcPct val="0"/>
              </a:spcBef>
              <a:spcAft>
                <a:spcPct val="0"/>
              </a:spcAft>
            </a:pPr>
            <a:endParaRPr lang="en-US" sz="1050" b="1" kern="1200"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6086" name="Text Box 9">
            <a:extLst>
              <a:ext uri="{FF2B5EF4-FFF2-40B4-BE49-F238E27FC236}">
                <a16:creationId xmlns="" xmlns:a16="http://schemas.microsoft.com/office/drawing/2014/main" id="{1C645363-47E7-42B9-AB7F-8A1C01FAB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0150" y="2938463"/>
            <a:ext cx="12001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b="1" kern="1200">
                <a:solidFill>
                  <a:srgbClr val="000000"/>
                </a:solidFill>
                <a:cs typeface="+mn-cs"/>
              </a:rPr>
              <a:t>Sorted Values</a:t>
            </a:r>
          </a:p>
        </p:txBody>
      </p:sp>
      <p:sp>
        <p:nvSpPr>
          <p:cNvPr id="46087" name="Rectangle 1">
            <a:extLst>
              <a:ext uri="{FF2B5EF4-FFF2-40B4-BE49-F238E27FC236}">
                <a16:creationId xmlns="" xmlns:a16="http://schemas.microsoft.com/office/drawing/2014/main" id="{FBF88ACA-0443-4746-B3A2-42F4D15D3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500" y="3600450"/>
            <a:ext cx="457200" cy="628650"/>
          </a:xfrm>
          <a:prstGeom prst="rect">
            <a:avLst/>
          </a:prstGeom>
          <a:solidFill>
            <a:srgbClr val="FFFF00">
              <a:alpha val="52156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050" b="1" kern="1200">
              <a:solidFill>
                <a:srgbClr val="000000"/>
              </a:solidFill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472C68EE-4BA6-4F83-8A3F-BAC6B4FC7E57}"/>
              </a:ext>
            </a:extLst>
          </p:cNvPr>
          <p:cNvSpPr/>
          <p:nvPr/>
        </p:nvSpPr>
        <p:spPr bwMode="auto">
          <a:xfrm>
            <a:off x="1405633" y="3255347"/>
            <a:ext cx="6572250" cy="1381125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50" b="1" kern="1200">
              <a:latin typeface="Arial" charset="0"/>
              <a:ea typeface="ＭＳ Ｐゴシック" pitchFamily="-84" charset="-128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1BE7B1A8-A0E2-402C-A351-625C1ED624F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14300"/>
            <a:ext cx="9144000" cy="40005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sz="3200" b="1" smtClean="0">
                <a:solidFill>
                  <a:schemeClr val="bg1"/>
                </a:solidFill>
                <a:latin typeface="+mn-lt"/>
              </a:rPr>
              <a:t>Безперервні атрибути: обчислення індексу Джині</a:t>
            </a:r>
            <a:endParaRPr lang="en-US" sz="32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28600" y="803969"/>
            <a:ext cx="8025938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dirty="0">
                <a:latin typeface="+mn-lt"/>
              </a:rPr>
              <a:t>Для </a:t>
            </a:r>
            <a:r>
              <a:rPr lang="ru-RU" dirty="0" err="1">
                <a:latin typeface="+mn-lt"/>
              </a:rPr>
              <a:t>ефективного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обчислення</a:t>
            </a:r>
            <a:r>
              <a:rPr lang="ru-RU" dirty="0">
                <a:latin typeface="+mn-lt"/>
              </a:rPr>
              <a:t>: для кожного атрибута,</a:t>
            </a:r>
          </a:p>
          <a:p>
            <a:pPr marL="877888" lvl="1" indent="-342900" algn="l">
              <a:buFont typeface="Wingdings" panose="05000000000000000000" pitchFamily="2" charset="2"/>
              <a:buChar char="Ø"/>
            </a:pPr>
            <a:r>
              <a:rPr lang="ru-RU" dirty="0" err="1">
                <a:latin typeface="+mn-lt"/>
              </a:rPr>
              <a:t>Відсортуйте</a:t>
            </a:r>
            <a:r>
              <a:rPr lang="ru-RU" dirty="0">
                <a:latin typeface="+mn-lt"/>
              </a:rPr>
              <a:t> атрибут за </a:t>
            </a:r>
            <a:r>
              <a:rPr lang="ru-RU" dirty="0" err="1">
                <a:latin typeface="+mn-lt"/>
              </a:rPr>
              <a:t>значеннями</a:t>
            </a:r>
            <a:endParaRPr lang="ru-RU" dirty="0">
              <a:latin typeface="+mn-lt"/>
            </a:endParaRPr>
          </a:p>
          <a:p>
            <a:pPr marL="877888" lvl="1" indent="-342900" algn="l">
              <a:buFont typeface="Wingdings" panose="05000000000000000000" pitchFamily="2" charset="2"/>
              <a:buChar char="Ø"/>
            </a:pPr>
            <a:r>
              <a:rPr lang="ru-RU" dirty="0" err="1">
                <a:latin typeface="+mn-lt"/>
              </a:rPr>
              <a:t>Лінійно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скануйте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ці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значення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щоразу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оновлюючи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матрицю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підрахунку</a:t>
            </a:r>
            <a:r>
              <a:rPr lang="ru-RU" dirty="0">
                <a:latin typeface="+mn-lt"/>
              </a:rPr>
              <a:t> та </a:t>
            </a:r>
            <a:r>
              <a:rPr lang="ru-RU" dirty="0" err="1">
                <a:latin typeface="+mn-lt"/>
              </a:rPr>
              <a:t>обчислюючи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індекс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джині</a:t>
            </a:r>
            <a:endParaRPr lang="ru-RU" dirty="0">
              <a:latin typeface="+mn-lt"/>
            </a:endParaRPr>
          </a:p>
          <a:p>
            <a:pPr marL="877888" lvl="1" indent="-342900" algn="l">
              <a:buFont typeface="Wingdings" panose="05000000000000000000" pitchFamily="2" charset="2"/>
              <a:buChar char="Ø"/>
            </a:pPr>
            <a:r>
              <a:rPr lang="ru-RU" dirty="0" err="1">
                <a:latin typeface="+mn-lt"/>
              </a:rPr>
              <a:t>Виберіть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положення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розділення</a:t>
            </a:r>
            <a:r>
              <a:rPr lang="ru-RU" dirty="0">
                <a:latin typeface="+mn-lt"/>
              </a:rPr>
              <a:t>, яке </a:t>
            </a:r>
            <a:r>
              <a:rPr lang="ru-RU" dirty="0" err="1">
                <a:latin typeface="+mn-lt"/>
              </a:rPr>
              <a:t>має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найменший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індекс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джині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26852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105" name="Object 4">
            <a:extLst>
              <a:ext uri="{FF2B5EF4-FFF2-40B4-BE49-F238E27FC236}">
                <a16:creationId xmlns="" xmlns:a16="http://schemas.microsoft.com/office/drawing/2014/main" id="{BA17193C-0E97-491B-BB5B-F87ABC2E92D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166937" y="2605087"/>
          <a:ext cx="5919788" cy="196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3" name="Document" r:id="rId3" imgW="10604500" imgH="3556000" progId="Word.Document.8">
                  <p:embed/>
                </p:oleObj>
              </mc:Choice>
              <mc:Fallback>
                <p:oleObj name="Document" r:id="rId3" imgW="10604500" imgH="35560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6937" y="2605087"/>
                        <a:ext cx="5919788" cy="196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8A3050E8-BA7F-4007-91D6-6E05EBEB4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Introduction to Data Mining, 2</a:t>
            </a:r>
            <a:r>
              <a:rPr lang="en-US" baseline="30000">
                <a:solidFill>
                  <a:srgbClr val="000000">
                    <a:tint val="75000"/>
                  </a:srgbClr>
                </a:solidFill>
              </a:rPr>
              <a:t>nd</a:t>
            </a:r>
            <a:r>
              <a:rPr lang="en-US">
                <a:solidFill>
                  <a:srgbClr val="000000">
                    <a:tint val="75000"/>
                  </a:srgbClr>
                </a:solidFill>
              </a:rPr>
              <a:t> Edition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9C3FC50-7C46-47F2-A91E-E4B88166E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31389A-83FD-46DA-A36A-55DF4198D2A2}" type="slidenum">
              <a:rPr 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53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9B7024CD-78BD-4597-AA93-14F782BAF70E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>
          <a:xfrm>
            <a:off x="0" y="4767263"/>
            <a:ext cx="2057400" cy="274637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09/21/2020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7108" name="Line 5">
            <a:extLst>
              <a:ext uri="{FF2B5EF4-FFF2-40B4-BE49-F238E27FC236}">
                <a16:creationId xmlns="" xmlns:a16="http://schemas.microsoft.com/office/drawing/2014/main" id="{757F8EED-B4C1-452F-9DCC-568CD92557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00300" y="3109913"/>
            <a:ext cx="228600" cy="1191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defTabSz="685800" eaLnBrk="0" fontAlgn="base">
              <a:spcBef>
                <a:spcPct val="0"/>
              </a:spcBef>
              <a:spcAft>
                <a:spcPct val="0"/>
              </a:spcAft>
            </a:pPr>
            <a:endParaRPr lang="en-US" sz="1050" b="1" kern="1200"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7109" name="Group 6">
            <a:extLst>
              <a:ext uri="{FF2B5EF4-FFF2-40B4-BE49-F238E27FC236}">
                <a16:creationId xmlns="" xmlns:a16="http://schemas.microsoft.com/office/drawing/2014/main" id="{133FA305-5C0D-49E6-B9F8-725684CCA441}"/>
              </a:ext>
            </a:extLst>
          </p:cNvPr>
          <p:cNvGrpSpPr>
            <a:grpSpLocks/>
          </p:cNvGrpSpPr>
          <p:nvPr/>
        </p:nvGrpSpPr>
        <p:grpSpPr bwMode="auto">
          <a:xfrm>
            <a:off x="1200150" y="3167063"/>
            <a:ext cx="1428750" cy="277416"/>
            <a:chOff x="144" y="2832"/>
            <a:chExt cx="1200" cy="233"/>
          </a:xfrm>
        </p:grpSpPr>
        <p:sp>
          <p:nvSpPr>
            <p:cNvPr id="47115" name="Text Box 7">
              <a:extLst>
                <a:ext uri="{FF2B5EF4-FFF2-40B4-BE49-F238E27FC236}">
                  <a16:creationId xmlns="" xmlns:a16="http://schemas.microsoft.com/office/drawing/2014/main" id="{B042C220-FE66-4B1F-9E76-64FCA27A59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832"/>
              <a:ext cx="105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9271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defTabSz="9271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l" eaLnBrk="0" fontAlgn="base">
                <a:spcBef>
                  <a:spcPct val="20000"/>
                </a:spcBef>
                <a:spcAft>
                  <a:spcPct val="0"/>
                </a:spcAft>
                <a:buClr>
                  <a:srgbClr val="00C0C0"/>
                </a:buClr>
                <a:buSzTx/>
                <a:buFont typeface="Monotype Sorts" pitchFamily="-84" charset="2"/>
                <a:buNone/>
              </a:pPr>
              <a:r>
                <a:rPr kumimoji="1" lang="en-US" altLang="en-US" sz="1200" b="1" kern="1200">
                  <a:solidFill>
                    <a:srgbClr val="000000"/>
                  </a:solidFill>
                  <a:cs typeface="+mn-cs"/>
                </a:rPr>
                <a:t>Split Positions</a:t>
              </a:r>
            </a:p>
          </p:txBody>
        </p:sp>
        <p:sp>
          <p:nvSpPr>
            <p:cNvPr id="47116" name="Line 8">
              <a:extLst>
                <a:ext uri="{FF2B5EF4-FFF2-40B4-BE49-F238E27FC236}">
                  <a16:creationId xmlns="" xmlns:a16="http://schemas.microsoft.com/office/drawing/2014/main" id="{4AC70A99-1A3D-461C-97CC-6FF9613808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976"/>
              <a:ext cx="19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defTabSz="685800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1050" b="1" kern="120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7110" name="Text Box 9">
            <a:extLst>
              <a:ext uri="{FF2B5EF4-FFF2-40B4-BE49-F238E27FC236}">
                <a16:creationId xmlns="" xmlns:a16="http://schemas.microsoft.com/office/drawing/2014/main" id="{6AD76383-798D-41F8-8402-73BD03969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0150" y="2938463"/>
            <a:ext cx="12001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b="1" kern="1200">
                <a:solidFill>
                  <a:srgbClr val="000000"/>
                </a:solidFill>
                <a:cs typeface="+mn-cs"/>
              </a:rPr>
              <a:t>Sorted Values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F97A19D9-F17A-4637-813D-0B6AD2681E5D}"/>
              </a:ext>
            </a:extLst>
          </p:cNvPr>
          <p:cNvSpPr/>
          <p:nvPr/>
        </p:nvSpPr>
        <p:spPr bwMode="auto">
          <a:xfrm>
            <a:off x="1209675" y="3615929"/>
            <a:ext cx="6572250" cy="104060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50" b="1" kern="1200">
              <a:latin typeface="Arial" charset="0"/>
              <a:ea typeface="ＭＳ Ｐゴシック" pitchFamily="-84" charset="-128"/>
              <a:cs typeface="+mn-cs"/>
            </a:endParaRPr>
          </a:p>
        </p:txBody>
      </p:sp>
      <p:sp>
        <p:nvSpPr>
          <p:cNvPr id="14" name="Rectangle 4">
            <a:extLst>
              <a:ext uri="{FF2B5EF4-FFF2-40B4-BE49-F238E27FC236}">
                <a16:creationId xmlns="" xmlns:a16="http://schemas.microsoft.com/office/drawing/2014/main" id="{1BE7B1A8-A0E2-402C-A351-625C1ED624F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14300"/>
            <a:ext cx="9144000" cy="40005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sz="3200" b="1" smtClean="0">
                <a:solidFill>
                  <a:schemeClr val="bg1"/>
                </a:solidFill>
                <a:latin typeface="+mn-lt"/>
              </a:rPr>
              <a:t>Безперервні атрибути: обчислення індексу Джині</a:t>
            </a:r>
            <a:endParaRPr lang="en-US" sz="32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228600" y="803969"/>
            <a:ext cx="8025938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dirty="0">
                <a:latin typeface="+mn-lt"/>
              </a:rPr>
              <a:t>Для </a:t>
            </a:r>
            <a:r>
              <a:rPr lang="ru-RU" dirty="0" err="1">
                <a:latin typeface="+mn-lt"/>
              </a:rPr>
              <a:t>ефективного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обчислення</a:t>
            </a:r>
            <a:r>
              <a:rPr lang="ru-RU" dirty="0">
                <a:latin typeface="+mn-lt"/>
              </a:rPr>
              <a:t>: для кожного атрибута,</a:t>
            </a:r>
          </a:p>
          <a:p>
            <a:pPr marL="877888" lvl="1" indent="-342900" algn="l">
              <a:buFont typeface="Wingdings" panose="05000000000000000000" pitchFamily="2" charset="2"/>
              <a:buChar char="Ø"/>
            </a:pPr>
            <a:r>
              <a:rPr lang="ru-RU" dirty="0" err="1">
                <a:latin typeface="+mn-lt"/>
              </a:rPr>
              <a:t>Відсортуйте</a:t>
            </a:r>
            <a:r>
              <a:rPr lang="ru-RU" dirty="0">
                <a:latin typeface="+mn-lt"/>
              </a:rPr>
              <a:t> атрибут за </a:t>
            </a:r>
            <a:r>
              <a:rPr lang="ru-RU" dirty="0" err="1">
                <a:latin typeface="+mn-lt"/>
              </a:rPr>
              <a:t>значеннями</a:t>
            </a:r>
            <a:endParaRPr lang="ru-RU" dirty="0">
              <a:latin typeface="+mn-lt"/>
            </a:endParaRPr>
          </a:p>
          <a:p>
            <a:pPr marL="877888" lvl="1" indent="-342900" algn="l">
              <a:buFont typeface="Wingdings" panose="05000000000000000000" pitchFamily="2" charset="2"/>
              <a:buChar char="Ø"/>
            </a:pPr>
            <a:r>
              <a:rPr lang="ru-RU" dirty="0" err="1">
                <a:latin typeface="+mn-lt"/>
              </a:rPr>
              <a:t>Лінійно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скануйте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ці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значення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щоразу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оновлюючи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матрицю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підрахунку</a:t>
            </a:r>
            <a:r>
              <a:rPr lang="ru-RU" dirty="0">
                <a:latin typeface="+mn-lt"/>
              </a:rPr>
              <a:t> та </a:t>
            </a:r>
            <a:r>
              <a:rPr lang="ru-RU" dirty="0" err="1">
                <a:latin typeface="+mn-lt"/>
              </a:rPr>
              <a:t>обчислюючи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індекс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джині</a:t>
            </a:r>
            <a:endParaRPr lang="ru-RU" dirty="0">
              <a:latin typeface="+mn-lt"/>
            </a:endParaRPr>
          </a:p>
          <a:p>
            <a:pPr marL="877888" lvl="1" indent="-342900" algn="l">
              <a:buFont typeface="Wingdings" panose="05000000000000000000" pitchFamily="2" charset="2"/>
              <a:buChar char="Ø"/>
            </a:pPr>
            <a:r>
              <a:rPr lang="ru-RU" dirty="0" err="1">
                <a:latin typeface="+mn-lt"/>
              </a:rPr>
              <a:t>Виберіть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положення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розділення</a:t>
            </a:r>
            <a:r>
              <a:rPr lang="ru-RU" dirty="0">
                <a:latin typeface="+mn-lt"/>
              </a:rPr>
              <a:t>, яке </a:t>
            </a:r>
            <a:r>
              <a:rPr lang="ru-RU" dirty="0" err="1">
                <a:latin typeface="+mn-lt"/>
              </a:rPr>
              <a:t>має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найменший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індекс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джині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33824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129" name="Object 4">
            <a:extLst>
              <a:ext uri="{FF2B5EF4-FFF2-40B4-BE49-F238E27FC236}">
                <a16:creationId xmlns="" xmlns:a16="http://schemas.microsoft.com/office/drawing/2014/main" id="{84DE6308-6C23-411E-AE50-40EA2955D3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66937" y="2605087"/>
          <a:ext cx="5919788" cy="196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7" name="Document" r:id="rId3" imgW="10604500" imgH="3556000" progId="Word.Document.8">
                  <p:embed/>
                </p:oleObj>
              </mc:Choice>
              <mc:Fallback>
                <p:oleObj name="Document" r:id="rId3" imgW="10604500" imgH="35560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6937" y="2605087"/>
                        <a:ext cx="5919788" cy="196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3681FCA7-765C-40AB-B596-3259D8E70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Introduction to Data Mining, 2</a:t>
            </a:r>
            <a:r>
              <a:rPr lang="en-US" baseline="30000">
                <a:solidFill>
                  <a:srgbClr val="000000">
                    <a:tint val="75000"/>
                  </a:srgbClr>
                </a:solidFill>
              </a:rPr>
              <a:t>nd</a:t>
            </a:r>
            <a:r>
              <a:rPr lang="en-US">
                <a:solidFill>
                  <a:srgbClr val="000000">
                    <a:tint val="75000"/>
                  </a:srgbClr>
                </a:solidFill>
              </a:rPr>
              <a:t> Edition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399D4504-D115-43F1-8794-484FB8F46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D98951-D407-43F1-821A-21E573B23752}" type="slidenum">
              <a:rPr 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54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F02531DF-2A8B-4708-B891-92737D7707F1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>
          <a:xfrm>
            <a:off x="0" y="4767263"/>
            <a:ext cx="2057400" cy="274637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09/21/2020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8132" name="Line 5">
            <a:extLst>
              <a:ext uri="{FF2B5EF4-FFF2-40B4-BE49-F238E27FC236}">
                <a16:creationId xmlns="" xmlns:a16="http://schemas.microsoft.com/office/drawing/2014/main" id="{6CD1AC30-F24B-4A5C-8519-CB819E9A2B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400300" y="3109913"/>
            <a:ext cx="228600" cy="1191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defTabSz="685800" eaLnBrk="0" fontAlgn="base">
              <a:spcBef>
                <a:spcPct val="0"/>
              </a:spcBef>
              <a:spcAft>
                <a:spcPct val="0"/>
              </a:spcAft>
            </a:pPr>
            <a:endParaRPr lang="en-US" sz="1050" b="1" kern="1200"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8133" name="Group 6">
            <a:extLst>
              <a:ext uri="{FF2B5EF4-FFF2-40B4-BE49-F238E27FC236}">
                <a16:creationId xmlns="" xmlns:a16="http://schemas.microsoft.com/office/drawing/2014/main" id="{C464FC9F-9540-4CF6-9D01-F768C9DCF2BA}"/>
              </a:ext>
            </a:extLst>
          </p:cNvPr>
          <p:cNvGrpSpPr>
            <a:grpSpLocks/>
          </p:cNvGrpSpPr>
          <p:nvPr/>
        </p:nvGrpSpPr>
        <p:grpSpPr bwMode="auto">
          <a:xfrm>
            <a:off x="1200150" y="3167063"/>
            <a:ext cx="1428750" cy="277416"/>
            <a:chOff x="144" y="2832"/>
            <a:chExt cx="1200" cy="233"/>
          </a:xfrm>
        </p:grpSpPr>
        <p:sp>
          <p:nvSpPr>
            <p:cNvPr id="48142" name="Text Box 7">
              <a:extLst>
                <a:ext uri="{FF2B5EF4-FFF2-40B4-BE49-F238E27FC236}">
                  <a16:creationId xmlns="" xmlns:a16="http://schemas.microsoft.com/office/drawing/2014/main" id="{3BABE279-00CB-4852-B1B9-2D03278763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832"/>
              <a:ext cx="105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9271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defTabSz="9271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l" eaLnBrk="0" fontAlgn="base">
                <a:spcBef>
                  <a:spcPct val="20000"/>
                </a:spcBef>
                <a:spcAft>
                  <a:spcPct val="0"/>
                </a:spcAft>
                <a:buClr>
                  <a:srgbClr val="00C0C0"/>
                </a:buClr>
                <a:buSzTx/>
                <a:buFont typeface="Monotype Sorts" pitchFamily="-84" charset="2"/>
                <a:buNone/>
              </a:pPr>
              <a:r>
                <a:rPr kumimoji="1" lang="en-US" altLang="en-US" sz="1200" b="1" kern="1200">
                  <a:solidFill>
                    <a:srgbClr val="000000"/>
                  </a:solidFill>
                  <a:cs typeface="+mn-cs"/>
                </a:rPr>
                <a:t>Split Positions</a:t>
              </a:r>
            </a:p>
          </p:txBody>
        </p:sp>
        <p:sp>
          <p:nvSpPr>
            <p:cNvPr id="48143" name="Line 8">
              <a:extLst>
                <a:ext uri="{FF2B5EF4-FFF2-40B4-BE49-F238E27FC236}">
                  <a16:creationId xmlns="" xmlns:a16="http://schemas.microsoft.com/office/drawing/2014/main" id="{0B5A6E65-7B98-40B2-B9AD-C2FDABF235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976"/>
              <a:ext cx="19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defTabSz="685800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1050" b="1" kern="120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8134" name="Text Box 9">
            <a:extLst>
              <a:ext uri="{FF2B5EF4-FFF2-40B4-BE49-F238E27FC236}">
                <a16:creationId xmlns="" xmlns:a16="http://schemas.microsoft.com/office/drawing/2014/main" id="{C50E5DF1-98E8-4A40-9930-B01B97B158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0150" y="2938463"/>
            <a:ext cx="12001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b="1" kern="1200">
                <a:solidFill>
                  <a:srgbClr val="000000"/>
                </a:solidFill>
                <a:cs typeface="+mn-cs"/>
              </a:rPr>
              <a:t>Sorted Values</a:t>
            </a:r>
          </a:p>
        </p:txBody>
      </p:sp>
      <p:sp>
        <p:nvSpPr>
          <p:cNvPr id="48135" name="Rectangle 1">
            <a:extLst>
              <a:ext uri="{FF2B5EF4-FFF2-40B4-BE49-F238E27FC236}">
                <a16:creationId xmlns="" xmlns:a16="http://schemas.microsoft.com/office/drawing/2014/main" id="{455EFC76-CA8A-46B3-BB12-96F6058CD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500" y="3600450"/>
            <a:ext cx="457200" cy="628650"/>
          </a:xfrm>
          <a:prstGeom prst="rect">
            <a:avLst/>
          </a:prstGeom>
          <a:solidFill>
            <a:srgbClr val="FFFF00">
              <a:alpha val="52156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050" b="1" kern="1200">
              <a:solidFill>
                <a:srgbClr val="000000"/>
              </a:solidFill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F2C39BC0-BEBD-4D2B-A084-E45DD0EDBE30}"/>
              </a:ext>
            </a:extLst>
          </p:cNvPr>
          <p:cNvSpPr/>
          <p:nvPr/>
        </p:nvSpPr>
        <p:spPr bwMode="auto">
          <a:xfrm>
            <a:off x="2686050" y="3615928"/>
            <a:ext cx="1314450" cy="101322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50" b="1" kern="1200">
              <a:latin typeface="Arial" charset="0"/>
              <a:ea typeface="ＭＳ Ｐゴシック" pitchFamily="-84" charset="-128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31AD929C-1A20-4747-8A7A-8C8324633E4B}"/>
              </a:ext>
            </a:extLst>
          </p:cNvPr>
          <p:cNvSpPr/>
          <p:nvPr/>
        </p:nvSpPr>
        <p:spPr bwMode="auto">
          <a:xfrm>
            <a:off x="4457700" y="3642123"/>
            <a:ext cx="3200400" cy="1012031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50" b="1" kern="1200">
              <a:latin typeface="Arial" charset="0"/>
              <a:ea typeface="ＭＳ Ｐゴシック" pitchFamily="-84" charset="-128"/>
              <a:cs typeface="+mn-cs"/>
            </a:endParaRPr>
          </a:p>
        </p:txBody>
      </p:sp>
      <p:cxnSp>
        <p:nvCxnSpPr>
          <p:cNvPr id="48138" name="Straight Arrow Connector 13">
            <a:extLst>
              <a:ext uri="{FF2B5EF4-FFF2-40B4-BE49-F238E27FC236}">
                <a16:creationId xmlns="" xmlns:a16="http://schemas.microsoft.com/office/drawing/2014/main" id="{34C96217-A87E-4279-89D1-6E37A2374EA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171950" y="2262188"/>
            <a:ext cx="0" cy="3429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Rectangle 4">
            <a:extLst>
              <a:ext uri="{FF2B5EF4-FFF2-40B4-BE49-F238E27FC236}">
                <a16:creationId xmlns="" xmlns:a16="http://schemas.microsoft.com/office/drawing/2014/main" id="{1BE7B1A8-A0E2-402C-A351-625C1ED624F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14300"/>
            <a:ext cx="9144000" cy="40005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sz="3200" b="1" smtClean="0">
                <a:solidFill>
                  <a:schemeClr val="bg1"/>
                </a:solidFill>
                <a:latin typeface="+mn-lt"/>
              </a:rPr>
              <a:t>Безперервні атрибути: обчислення індексу Джині</a:t>
            </a:r>
            <a:endParaRPr lang="en-US" sz="32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228600" y="803969"/>
            <a:ext cx="8025938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dirty="0">
                <a:latin typeface="+mn-lt"/>
              </a:rPr>
              <a:t>Для </a:t>
            </a:r>
            <a:r>
              <a:rPr lang="ru-RU" dirty="0" err="1">
                <a:latin typeface="+mn-lt"/>
              </a:rPr>
              <a:t>ефективного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обчислення</a:t>
            </a:r>
            <a:r>
              <a:rPr lang="ru-RU" dirty="0">
                <a:latin typeface="+mn-lt"/>
              </a:rPr>
              <a:t>: для кожного атрибута,</a:t>
            </a:r>
          </a:p>
          <a:p>
            <a:pPr marL="877888" lvl="1" indent="-342900" algn="l">
              <a:buFont typeface="Wingdings" panose="05000000000000000000" pitchFamily="2" charset="2"/>
              <a:buChar char="Ø"/>
            </a:pPr>
            <a:r>
              <a:rPr lang="ru-RU" dirty="0" err="1">
                <a:latin typeface="+mn-lt"/>
              </a:rPr>
              <a:t>Відсортуйте</a:t>
            </a:r>
            <a:r>
              <a:rPr lang="ru-RU" dirty="0">
                <a:latin typeface="+mn-lt"/>
              </a:rPr>
              <a:t> атрибут за </a:t>
            </a:r>
            <a:r>
              <a:rPr lang="ru-RU" dirty="0" err="1">
                <a:latin typeface="+mn-lt"/>
              </a:rPr>
              <a:t>значеннями</a:t>
            </a:r>
            <a:endParaRPr lang="ru-RU" dirty="0">
              <a:latin typeface="+mn-lt"/>
            </a:endParaRPr>
          </a:p>
          <a:p>
            <a:pPr marL="877888" lvl="1" indent="-342900" algn="l">
              <a:buFont typeface="Wingdings" panose="05000000000000000000" pitchFamily="2" charset="2"/>
              <a:buChar char="Ø"/>
            </a:pPr>
            <a:r>
              <a:rPr lang="ru-RU" dirty="0" err="1">
                <a:latin typeface="+mn-lt"/>
              </a:rPr>
              <a:t>Лінійно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скануйте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ці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значення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щоразу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оновлюючи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матрицю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підрахунку</a:t>
            </a:r>
            <a:r>
              <a:rPr lang="ru-RU" dirty="0">
                <a:latin typeface="+mn-lt"/>
              </a:rPr>
              <a:t> та </a:t>
            </a:r>
            <a:r>
              <a:rPr lang="ru-RU" dirty="0" err="1">
                <a:latin typeface="+mn-lt"/>
              </a:rPr>
              <a:t>обчислюючи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індекс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джині</a:t>
            </a:r>
            <a:endParaRPr lang="ru-RU" dirty="0">
              <a:latin typeface="+mn-lt"/>
            </a:endParaRPr>
          </a:p>
          <a:p>
            <a:pPr marL="877888" lvl="1" indent="-342900" algn="l">
              <a:buFont typeface="Wingdings" panose="05000000000000000000" pitchFamily="2" charset="2"/>
              <a:buChar char="Ø"/>
            </a:pPr>
            <a:r>
              <a:rPr lang="ru-RU" dirty="0" err="1">
                <a:latin typeface="+mn-lt"/>
              </a:rPr>
              <a:t>Виберіть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положення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розділення</a:t>
            </a:r>
            <a:r>
              <a:rPr lang="ru-RU" dirty="0">
                <a:latin typeface="+mn-lt"/>
              </a:rPr>
              <a:t>, яке </a:t>
            </a:r>
            <a:r>
              <a:rPr lang="ru-RU" dirty="0" err="1">
                <a:latin typeface="+mn-lt"/>
              </a:rPr>
              <a:t>має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найменший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індекс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джині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46658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3" name="Object 4">
            <a:extLst>
              <a:ext uri="{FF2B5EF4-FFF2-40B4-BE49-F238E27FC236}">
                <a16:creationId xmlns="" xmlns:a16="http://schemas.microsoft.com/office/drawing/2014/main" id="{05D6A344-EA6E-42B5-A59B-420D3D9117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66937" y="2605087"/>
          <a:ext cx="5919788" cy="196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1" name="Document" r:id="rId3" imgW="10604500" imgH="3556000" progId="Word.Document.8">
                  <p:embed/>
                </p:oleObj>
              </mc:Choice>
              <mc:Fallback>
                <p:oleObj name="Document" r:id="rId3" imgW="10604500" imgH="35560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6937" y="2605087"/>
                        <a:ext cx="5919788" cy="196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7555F5BD-9EA6-4190-AE58-E18698CED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Introduction to Data Mining, 2</a:t>
            </a:r>
            <a:r>
              <a:rPr lang="en-US" baseline="30000">
                <a:solidFill>
                  <a:srgbClr val="000000">
                    <a:tint val="75000"/>
                  </a:srgbClr>
                </a:solidFill>
              </a:rPr>
              <a:t>nd</a:t>
            </a:r>
            <a:r>
              <a:rPr lang="en-US">
                <a:solidFill>
                  <a:srgbClr val="000000">
                    <a:tint val="75000"/>
                  </a:srgbClr>
                </a:solidFill>
              </a:rPr>
              <a:t> Edition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2E8FD06-F5E0-459E-93E2-58AF50BB9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9B1AAA-9C7F-4D2A-A525-12F7D075D017}" type="slidenum">
              <a:rPr 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55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4DB870E9-25E1-40FC-B85B-D2A2772A760D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>
          <a:xfrm>
            <a:off x="0" y="4767263"/>
            <a:ext cx="2057400" cy="274637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09/21/2020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9156" name="Line 5">
            <a:extLst>
              <a:ext uri="{FF2B5EF4-FFF2-40B4-BE49-F238E27FC236}">
                <a16:creationId xmlns="" xmlns:a16="http://schemas.microsoft.com/office/drawing/2014/main" id="{C7834F66-BA57-4706-9E5B-0C7DF4A63F4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00300" y="3109913"/>
            <a:ext cx="228600" cy="1191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defTabSz="685800" eaLnBrk="0" fontAlgn="base">
              <a:spcBef>
                <a:spcPct val="0"/>
              </a:spcBef>
              <a:spcAft>
                <a:spcPct val="0"/>
              </a:spcAft>
            </a:pPr>
            <a:endParaRPr lang="en-US" sz="1050" b="1" kern="1200"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9157" name="Group 6">
            <a:extLst>
              <a:ext uri="{FF2B5EF4-FFF2-40B4-BE49-F238E27FC236}">
                <a16:creationId xmlns="" xmlns:a16="http://schemas.microsoft.com/office/drawing/2014/main" id="{8B1404C8-26DD-46CA-AD6E-C907C920EA33}"/>
              </a:ext>
            </a:extLst>
          </p:cNvPr>
          <p:cNvGrpSpPr>
            <a:grpSpLocks/>
          </p:cNvGrpSpPr>
          <p:nvPr/>
        </p:nvGrpSpPr>
        <p:grpSpPr bwMode="auto">
          <a:xfrm>
            <a:off x="1200150" y="3167063"/>
            <a:ext cx="1428750" cy="277416"/>
            <a:chOff x="144" y="2832"/>
            <a:chExt cx="1200" cy="233"/>
          </a:xfrm>
        </p:grpSpPr>
        <p:sp>
          <p:nvSpPr>
            <p:cNvPr id="49167" name="Text Box 7">
              <a:extLst>
                <a:ext uri="{FF2B5EF4-FFF2-40B4-BE49-F238E27FC236}">
                  <a16:creationId xmlns="" xmlns:a16="http://schemas.microsoft.com/office/drawing/2014/main" id="{59E18D7C-7354-4DE7-9E3A-CC14A12983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832"/>
              <a:ext cx="105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9271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defTabSz="9271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l" eaLnBrk="0" fontAlgn="base">
                <a:spcBef>
                  <a:spcPct val="20000"/>
                </a:spcBef>
                <a:spcAft>
                  <a:spcPct val="0"/>
                </a:spcAft>
                <a:buClr>
                  <a:srgbClr val="00C0C0"/>
                </a:buClr>
                <a:buSzTx/>
                <a:buFont typeface="Monotype Sorts" pitchFamily="-84" charset="2"/>
                <a:buNone/>
              </a:pPr>
              <a:r>
                <a:rPr kumimoji="1" lang="en-US" altLang="en-US" sz="1200" b="1" kern="1200">
                  <a:solidFill>
                    <a:srgbClr val="000000"/>
                  </a:solidFill>
                  <a:cs typeface="+mn-cs"/>
                </a:rPr>
                <a:t>Split Positions</a:t>
              </a:r>
            </a:p>
          </p:txBody>
        </p:sp>
        <p:sp>
          <p:nvSpPr>
            <p:cNvPr id="49168" name="Line 8">
              <a:extLst>
                <a:ext uri="{FF2B5EF4-FFF2-40B4-BE49-F238E27FC236}">
                  <a16:creationId xmlns="" xmlns:a16="http://schemas.microsoft.com/office/drawing/2014/main" id="{7D004139-43BA-46F7-9904-E236140542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976"/>
              <a:ext cx="19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defTabSz="685800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1050" b="1" kern="120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9158" name="Text Box 9">
            <a:extLst>
              <a:ext uri="{FF2B5EF4-FFF2-40B4-BE49-F238E27FC236}">
                <a16:creationId xmlns="" xmlns:a16="http://schemas.microsoft.com/office/drawing/2014/main" id="{B2A3CD4F-A728-4668-90E1-2469ACDE8E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0150" y="2938463"/>
            <a:ext cx="12001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b="1" kern="1200">
                <a:solidFill>
                  <a:srgbClr val="000000"/>
                </a:solidFill>
                <a:cs typeface="+mn-cs"/>
              </a:rPr>
              <a:t>Sorted Values</a:t>
            </a:r>
          </a:p>
        </p:txBody>
      </p:sp>
      <p:sp>
        <p:nvSpPr>
          <p:cNvPr id="49159" name="Rectangle 1">
            <a:extLst>
              <a:ext uri="{FF2B5EF4-FFF2-40B4-BE49-F238E27FC236}">
                <a16:creationId xmlns="" xmlns:a16="http://schemas.microsoft.com/office/drawing/2014/main" id="{8E3AACD9-5EDA-41E0-937C-18486161C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600450"/>
            <a:ext cx="457200" cy="628650"/>
          </a:xfrm>
          <a:prstGeom prst="rect">
            <a:avLst/>
          </a:prstGeom>
          <a:solidFill>
            <a:srgbClr val="FFFF00">
              <a:alpha val="52156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050" b="1" kern="1200">
              <a:solidFill>
                <a:srgbClr val="000000"/>
              </a:solidFill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8303F877-E96E-45FC-B794-7C324287A89A}"/>
              </a:ext>
            </a:extLst>
          </p:cNvPr>
          <p:cNvSpPr/>
          <p:nvPr/>
        </p:nvSpPr>
        <p:spPr bwMode="auto">
          <a:xfrm>
            <a:off x="2686050" y="3615928"/>
            <a:ext cx="1304925" cy="101322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50" b="1" kern="1200">
              <a:latin typeface="Arial" charset="0"/>
              <a:ea typeface="ＭＳ Ｐゴシック" pitchFamily="-84" charset="-128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C5978912-33C3-4522-9862-0FBDE5299222}"/>
              </a:ext>
            </a:extLst>
          </p:cNvPr>
          <p:cNvSpPr/>
          <p:nvPr/>
        </p:nvSpPr>
        <p:spPr bwMode="auto">
          <a:xfrm>
            <a:off x="4887516" y="3674269"/>
            <a:ext cx="2770584" cy="1012031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50" b="1" kern="1200">
              <a:latin typeface="Arial" charset="0"/>
              <a:ea typeface="ＭＳ Ｐゴシック" pitchFamily="-84" charset="-128"/>
              <a:cs typeface="+mn-cs"/>
            </a:endParaRPr>
          </a:p>
        </p:txBody>
      </p:sp>
      <p:sp>
        <p:nvSpPr>
          <p:cNvPr id="49162" name="Oval 12">
            <a:extLst>
              <a:ext uri="{FF2B5EF4-FFF2-40B4-BE49-F238E27FC236}">
                <a16:creationId xmlns="" xmlns:a16="http://schemas.microsoft.com/office/drawing/2014/main" id="{524AC7B4-A92A-4868-856D-41B402A12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028950"/>
            <a:ext cx="571500" cy="227410"/>
          </a:xfrm>
          <a:prstGeom prst="ellipse">
            <a:avLst/>
          </a:prstGeom>
          <a:solidFill>
            <a:srgbClr val="FFFF00">
              <a:alpha val="61176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050" b="1" kern="1200">
              <a:solidFill>
                <a:srgbClr val="000000"/>
              </a:solidFill>
              <a:cs typeface="+mn-cs"/>
            </a:endParaRPr>
          </a:p>
        </p:txBody>
      </p:sp>
      <p:cxnSp>
        <p:nvCxnSpPr>
          <p:cNvPr id="49163" name="Straight Arrow Connector 14">
            <a:extLst>
              <a:ext uri="{FF2B5EF4-FFF2-40B4-BE49-F238E27FC236}">
                <a16:creationId xmlns="" xmlns:a16="http://schemas.microsoft.com/office/drawing/2014/main" id="{F09443E7-D0EF-4969-A61F-713EB03093F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29150" y="2262188"/>
            <a:ext cx="0" cy="3429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Rectangle 4">
            <a:extLst>
              <a:ext uri="{FF2B5EF4-FFF2-40B4-BE49-F238E27FC236}">
                <a16:creationId xmlns="" xmlns:a16="http://schemas.microsoft.com/office/drawing/2014/main" id="{1BE7B1A8-A0E2-402C-A351-625C1ED624F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14300"/>
            <a:ext cx="9144000" cy="40005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sz="3200" b="1" dirty="0" err="1" smtClean="0">
                <a:solidFill>
                  <a:schemeClr val="bg1"/>
                </a:solidFill>
                <a:latin typeface="+mn-lt"/>
              </a:rPr>
              <a:t>Безперервні</a:t>
            </a:r>
            <a:r>
              <a:rPr lang="ru-RU" sz="32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200" b="1" dirty="0" err="1" smtClean="0">
                <a:solidFill>
                  <a:schemeClr val="bg1"/>
                </a:solidFill>
                <a:latin typeface="+mn-lt"/>
              </a:rPr>
              <a:t>атрибути</a:t>
            </a:r>
            <a:r>
              <a:rPr lang="ru-RU" sz="3200" b="1" dirty="0" smtClean="0">
                <a:solidFill>
                  <a:schemeClr val="bg1"/>
                </a:solidFill>
                <a:latin typeface="+mn-lt"/>
              </a:rPr>
              <a:t>: </a:t>
            </a:r>
            <a:r>
              <a:rPr lang="ru-RU" sz="3200" b="1" dirty="0" err="1" smtClean="0">
                <a:solidFill>
                  <a:schemeClr val="bg1"/>
                </a:solidFill>
                <a:latin typeface="+mn-lt"/>
              </a:rPr>
              <a:t>обчислення</a:t>
            </a:r>
            <a:r>
              <a:rPr lang="ru-RU" sz="32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200" b="1" dirty="0" err="1" smtClean="0">
                <a:solidFill>
                  <a:schemeClr val="bg1"/>
                </a:solidFill>
                <a:latin typeface="+mn-lt"/>
              </a:rPr>
              <a:t>індексу</a:t>
            </a:r>
            <a:r>
              <a:rPr lang="ru-RU" sz="32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200" b="1" dirty="0" err="1" smtClean="0">
                <a:solidFill>
                  <a:schemeClr val="bg1"/>
                </a:solidFill>
                <a:latin typeface="+mn-lt"/>
              </a:rPr>
              <a:t>Джині</a:t>
            </a:r>
            <a:endParaRPr lang="en-US" sz="32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228600" y="803969"/>
            <a:ext cx="8025938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dirty="0">
                <a:latin typeface="+mn-lt"/>
              </a:rPr>
              <a:t>Для </a:t>
            </a:r>
            <a:r>
              <a:rPr lang="ru-RU" dirty="0" err="1">
                <a:latin typeface="+mn-lt"/>
              </a:rPr>
              <a:t>ефективного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обчислення</a:t>
            </a:r>
            <a:r>
              <a:rPr lang="ru-RU" dirty="0">
                <a:latin typeface="+mn-lt"/>
              </a:rPr>
              <a:t>: для кожного атрибута,</a:t>
            </a:r>
          </a:p>
          <a:p>
            <a:pPr marL="877888" lvl="1" indent="-342900" algn="l">
              <a:buFont typeface="Wingdings" panose="05000000000000000000" pitchFamily="2" charset="2"/>
              <a:buChar char="Ø"/>
            </a:pPr>
            <a:r>
              <a:rPr lang="ru-RU" dirty="0" err="1">
                <a:latin typeface="+mn-lt"/>
              </a:rPr>
              <a:t>Відсортуйте</a:t>
            </a:r>
            <a:r>
              <a:rPr lang="ru-RU" dirty="0">
                <a:latin typeface="+mn-lt"/>
              </a:rPr>
              <a:t> атрибут за </a:t>
            </a:r>
            <a:r>
              <a:rPr lang="ru-RU" dirty="0" err="1">
                <a:latin typeface="+mn-lt"/>
              </a:rPr>
              <a:t>значеннями</a:t>
            </a:r>
            <a:endParaRPr lang="ru-RU" dirty="0">
              <a:latin typeface="+mn-lt"/>
            </a:endParaRPr>
          </a:p>
          <a:p>
            <a:pPr marL="877888" lvl="1" indent="-342900" algn="l">
              <a:buFont typeface="Wingdings" panose="05000000000000000000" pitchFamily="2" charset="2"/>
              <a:buChar char="Ø"/>
            </a:pPr>
            <a:r>
              <a:rPr lang="ru-RU" dirty="0" err="1">
                <a:latin typeface="+mn-lt"/>
              </a:rPr>
              <a:t>Лінійно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скануйте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ці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значення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щоразу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оновлюючи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матрицю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підрахунку</a:t>
            </a:r>
            <a:r>
              <a:rPr lang="ru-RU" dirty="0">
                <a:latin typeface="+mn-lt"/>
              </a:rPr>
              <a:t> та </a:t>
            </a:r>
            <a:r>
              <a:rPr lang="ru-RU" dirty="0" err="1">
                <a:latin typeface="+mn-lt"/>
              </a:rPr>
              <a:t>обчислюючи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індекс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джині</a:t>
            </a:r>
            <a:endParaRPr lang="ru-RU" dirty="0">
              <a:latin typeface="+mn-lt"/>
            </a:endParaRPr>
          </a:p>
          <a:p>
            <a:pPr marL="877888" lvl="1" indent="-342900" algn="l">
              <a:buFont typeface="Wingdings" panose="05000000000000000000" pitchFamily="2" charset="2"/>
              <a:buChar char="Ø"/>
            </a:pPr>
            <a:r>
              <a:rPr lang="ru-RU" dirty="0" err="1">
                <a:latin typeface="+mn-lt"/>
              </a:rPr>
              <a:t>Виберіть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положення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розділення</a:t>
            </a:r>
            <a:r>
              <a:rPr lang="ru-RU" dirty="0">
                <a:latin typeface="+mn-lt"/>
              </a:rPr>
              <a:t>, яке </a:t>
            </a:r>
            <a:r>
              <a:rPr lang="ru-RU" dirty="0" err="1">
                <a:latin typeface="+mn-lt"/>
              </a:rPr>
              <a:t>має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найменший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індекс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джині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07246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77" name="Object 4">
            <a:extLst>
              <a:ext uri="{FF2B5EF4-FFF2-40B4-BE49-F238E27FC236}">
                <a16:creationId xmlns="" xmlns:a16="http://schemas.microsoft.com/office/drawing/2014/main" id="{8EED2B0D-5D3E-4A16-9418-A34C366913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66937" y="2605087"/>
          <a:ext cx="5919788" cy="196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5" name="Document" r:id="rId3" imgW="10604500" imgH="3556000" progId="Word.Document.8">
                  <p:embed/>
                </p:oleObj>
              </mc:Choice>
              <mc:Fallback>
                <p:oleObj name="Document" r:id="rId3" imgW="10604500" imgH="35560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6937" y="2605087"/>
                        <a:ext cx="5919788" cy="196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8CD57260-5341-4B0D-B69F-1277B57E8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Introduction to Data Mining, 2</a:t>
            </a:r>
            <a:r>
              <a:rPr lang="en-US" baseline="30000">
                <a:solidFill>
                  <a:srgbClr val="000000">
                    <a:tint val="75000"/>
                  </a:srgbClr>
                </a:solidFill>
              </a:rPr>
              <a:t>nd</a:t>
            </a:r>
            <a:r>
              <a:rPr lang="en-US">
                <a:solidFill>
                  <a:srgbClr val="000000">
                    <a:tint val="75000"/>
                  </a:srgbClr>
                </a:solidFill>
              </a:rPr>
              <a:t> Edition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B60E165-E35D-4E5B-B7AC-B8CBEC8DD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F20258-E45F-4E65-A1C7-7C0B85C920E7}" type="slidenum">
              <a:rPr 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56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530A49B9-DC36-4F58-B202-6FF0437A6B15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>
          <a:xfrm>
            <a:off x="0" y="4767263"/>
            <a:ext cx="2057400" cy="274637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09/21/2020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0180" name="Line 5">
            <a:extLst>
              <a:ext uri="{FF2B5EF4-FFF2-40B4-BE49-F238E27FC236}">
                <a16:creationId xmlns="" xmlns:a16="http://schemas.microsoft.com/office/drawing/2014/main" id="{806B87B3-3C86-4D60-BFED-7EDB6BAB3EE5}"/>
              </a:ext>
            </a:extLst>
          </p:cNvPr>
          <p:cNvSpPr>
            <a:spLocks noChangeShapeType="1"/>
          </p:cNvSpPr>
          <p:nvPr/>
        </p:nvSpPr>
        <p:spPr bwMode="auto">
          <a:xfrm>
            <a:off x="2400300" y="3109913"/>
            <a:ext cx="228600" cy="1191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defTabSz="685800" eaLnBrk="0" fontAlgn="base">
              <a:spcBef>
                <a:spcPct val="0"/>
              </a:spcBef>
              <a:spcAft>
                <a:spcPct val="0"/>
              </a:spcAft>
            </a:pPr>
            <a:endParaRPr lang="en-US" sz="1050" b="1" kern="1200"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0181" name="Group 6">
            <a:extLst>
              <a:ext uri="{FF2B5EF4-FFF2-40B4-BE49-F238E27FC236}">
                <a16:creationId xmlns="" xmlns:a16="http://schemas.microsoft.com/office/drawing/2014/main" id="{150793B5-D1A7-4328-9DA8-189E9FA14519}"/>
              </a:ext>
            </a:extLst>
          </p:cNvPr>
          <p:cNvGrpSpPr>
            <a:grpSpLocks/>
          </p:cNvGrpSpPr>
          <p:nvPr/>
        </p:nvGrpSpPr>
        <p:grpSpPr bwMode="auto">
          <a:xfrm>
            <a:off x="1200150" y="3167063"/>
            <a:ext cx="1428750" cy="277416"/>
            <a:chOff x="144" y="2832"/>
            <a:chExt cx="1200" cy="233"/>
          </a:xfrm>
        </p:grpSpPr>
        <p:sp>
          <p:nvSpPr>
            <p:cNvPr id="50186" name="Text Box 7">
              <a:extLst>
                <a:ext uri="{FF2B5EF4-FFF2-40B4-BE49-F238E27FC236}">
                  <a16:creationId xmlns="" xmlns:a16="http://schemas.microsoft.com/office/drawing/2014/main" id="{E5347AE4-7684-404F-A832-5C64A6AEE9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832"/>
              <a:ext cx="105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9271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defTabSz="9271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l" eaLnBrk="0" fontAlgn="base">
                <a:spcBef>
                  <a:spcPct val="20000"/>
                </a:spcBef>
                <a:spcAft>
                  <a:spcPct val="0"/>
                </a:spcAft>
                <a:buClr>
                  <a:srgbClr val="00C0C0"/>
                </a:buClr>
                <a:buSzTx/>
                <a:buFont typeface="Monotype Sorts" pitchFamily="-84" charset="2"/>
                <a:buNone/>
              </a:pPr>
              <a:r>
                <a:rPr kumimoji="1" lang="en-US" altLang="en-US" sz="1200" b="1" kern="1200">
                  <a:solidFill>
                    <a:srgbClr val="000000"/>
                  </a:solidFill>
                  <a:cs typeface="+mn-cs"/>
                </a:rPr>
                <a:t>Split Positions</a:t>
              </a:r>
            </a:p>
          </p:txBody>
        </p:sp>
        <p:sp>
          <p:nvSpPr>
            <p:cNvPr id="50187" name="Line 8">
              <a:extLst>
                <a:ext uri="{FF2B5EF4-FFF2-40B4-BE49-F238E27FC236}">
                  <a16:creationId xmlns="" xmlns:a16="http://schemas.microsoft.com/office/drawing/2014/main" id="{D593CBA5-8B4F-4699-B575-4B51A539CA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976"/>
              <a:ext cx="19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defTabSz="685800" eaLnBrk="0" fontAlgn="base">
                <a:spcBef>
                  <a:spcPct val="0"/>
                </a:spcBef>
                <a:spcAft>
                  <a:spcPct val="0"/>
                </a:spcAft>
              </a:pPr>
              <a:endParaRPr lang="en-US" sz="1050" b="1" kern="120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0182" name="Text Box 9">
            <a:extLst>
              <a:ext uri="{FF2B5EF4-FFF2-40B4-BE49-F238E27FC236}">
                <a16:creationId xmlns="" xmlns:a16="http://schemas.microsoft.com/office/drawing/2014/main" id="{C63DAE15-874E-4759-B822-24E0E4FC2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0150" y="2938463"/>
            <a:ext cx="12001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b="1" kern="1200">
                <a:solidFill>
                  <a:srgbClr val="000000"/>
                </a:solidFill>
                <a:cs typeface="+mn-cs"/>
              </a:rPr>
              <a:t>Sorted Values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1BE7B1A8-A0E2-402C-A351-625C1ED624F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14300"/>
            <a:ext cx="9144000" cy="40005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sz="3200" b="1" dirty="0" err="1" smtClean="0">
                <a:solidFill>
                  <a:schemeClr val="bg1"/>
                </a:solidFill>
                <a:latin typeface="+mn-lt"/>
              </a:rPr>
              <a:t>Безперервні</a:t>
            </a:r>
            <a:r>
              <a:rPr lang="ru-RU" sz="32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200" b="1" dirty="0" err="1" smtClean="0">
                <a:solidFill>
                  <a:schemeClr val="bg1"/>
                </a:solidFill>
                <a:latin typeface="+mn-lt"/>
              </a:rPr>
              <a:t>атрибути</a:t>
            </a:r>
            <a:r>
              <a:rPr lang="ru-RU" sz="3200" b="1" dirty="0" smtClean="0">
                <a:solidFill>
                  <a:schemeClr val="bg1"/>
                </a:solidFill>
                <a:latin typeface="+mn-lt"/>
              </a:rPr>
              <a:t>: </a:t>
            </a:r>
            <a:r>
              <a:rPr lang="ru-RU" sz="3200" b="1" dirty="0" err="1" smtClean="0">
                <a:solidFill>
                  <a:schemeClr val="bg1"/>
                </a:solidFill>
                <a:latin typeface="+mn-lt"/>
              </a:rPr>
              <a:t>обчислення</a:t>
            </a:r>
            <a:r>
              <a:rPr lang="ru-RU" sz="32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200" b="1" dirty="0" err="1" smtClean="0">
                <a:solidFill>
                  <a:schemeClr val="bg1"/>
                </a:solidFill>
                <a:latin typeface="+mn-lt"/>
              </a:rPr>
              <a:t>індексу</a:t>
            </a:r>
            <a:r>
              <a:rPr lang="ru-RU" sz="32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200" b="1" dirty="0" err="1" smtClean="0">
                <a:solidFill>
                  <a:schemeClr val="bg1"/>
                </a:solidFill>
                <a:latin typeface="+mn-lt"/>
              </a:rPr>
              <a:t>Джині</a:t>
            </a:r>
            <a:endParaRPr lang="en-US" sz="32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228600" y="803969"/>
            <a:ext cx="8025938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dirty="0">
                <a:latin typeface="+mn-lt"/>
              </a:rPr>
              <a:t>Для </a:t>
            </a:r>
            <a:r>
              <a:rPr lang="ru-RU" dirty="0" err="1">
                <a:latin typeface="+mn-lt"/>
              </a:rPr>
              <a:t>ефективного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обчислення</a:t>
            </a:r>
            <a:r>
              <a:rPr lang="ru-RU" dirty="0">
                <a:latin typeface="+mn-lt"/>
              </a:rPr>
              <a:t>: для кожного атрибута,</a:t>
            </a:r>
          </a:p>
          <a:p>
            <a:pPr marL="877888" lvl="1" indent="-342900" algn="l">
              <a:buFont typeface="Wingdings" panose="05000000000000000000" pitchFamily="2" charset="2"/>
              <a:buChar char="Ø"/>
            </a:pPr>
            <a:r>
              <a:rPr lang="ru-RU" dirty="0" err="1">
                <a:latin typeface="+mn-lt"/>
              </a:rPr>
              <a:t>Відсортуйте</a:t>
            </a:r>
            <a:r>
              <a:rPr lang="ru-RU" dirty="0">
                <a:latin typeface="+mn-lt"/>
              </a:rPr>
              <a:t> атрибут за </a:t>
            </a:r>
            <a:r>
              <a:rPr lang="ru-RU" dirty="0" err="1">
                <a:latin typeface="+mn-lt"/>
              </a:rPr>
              <a:t>значеннями</a:t>
            </a:r>
            <a:endParaRPr lang="ru-RU" dirty="0">
              <a:latin typeface="+mn-lt"/>
            </a:endParaRPr>
          </a:p>
          <a:p>
            <a:pPr marL="877888" lvl="1" indent="-342900" algn="l">
              <a:buFont typeface="Wingdings" panose="05000000000000000000" pitchFamily="2" charset="2"/>
              <a:buChar char="Ø"/>
            </a:pPr>
            <a:r>
              <a:rPr lang="ru-RU" dirty="0" err="1">
                <a:latin typeface="+mn-lt"/>
              </a:rPr>
              <a:t>Лінійно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скануйте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ці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значення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щоразу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оновлюючи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матрицю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підрахунку</a:t>
            </a:r>
            <a:r>
              <a:rPr lang="ru-RU" dirty="0">
                <a:latin typeface="+mn-lt"/>
              </a:rPr>
              <a:t> та </a:t>
            </a:r>
            <a:r>
              <a:rPr lang="ru-RU" dirty="0" err="1">
                <a:latin typeface="+mn-lt"/>
              </a:rPr>
              <a:t>обчислюючи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індекс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джині</a:t>
            </a:r>
            <a:endParaRPr lang="ru-RU" dirty="0">
              <a:latin typeface="+mn-lt"/>
            </a:endParaRPr>
          </a:p>
          <a:p>
            <a:pPr marL="877888" lvl="1" indent="-342900" algn="l">
              <a:buFont typeface="Wingdings" panose="05000000000000000000" pitchFamily="2" charset="2"/>
              <a:buChar char="Ø"/>
            </a:pPr>
            <a:r>
              <a:rPr lang="ru-RU" dirty="0" err="1">
                <a:latin typeface="+mn-lt"/>
              </a:rPr>
              <a:t>Виберіть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положення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розділення</a:t>
            </a:r>
            <a:r>
              <a:rPr lang="ru-RU" dirty="0">
                <a:latin typeface="+mn-lt"/>
              </a:rPr>
              <a:t>, яке </a:t>
            </a:r>
            <a:r>
              <a:rPr lang="ru-RU" dirty="0" err="1">
                <a:latin typeface="+mn-lt"/>
              </a:rPr>
              <a:t>має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найменший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індекс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джині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15622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2A15321-786A-4187-BDEF-11C03ECF3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Introduction to Data Mining, 2</a:t>
            </a:r>
            <a:r>
              <a:rPr lang="en-US" baseline="30000">
                <a:solidFill>
                  <a:srgbClr val="000000">
                    <a:tint val="75000"/>
                  </a:srgbClr>
                </a:solidFill>
              </a:rPr>
              <a:t>nd</a:t>
            </a:r>
            <a:r>
              <a:rPr lang="en-US">
                <a:solidFill>
                  <a:srgbClr val="000000">
                    <a:tint val="75000"/>
                  </a:srgbClr>
                </a:solidFill>
              </a:rPr>
              <a:t> Edition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DE7B8A7-B7AA-467D-86BB-FD17E3314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37C351-DC12-45EB-B15E-0B7E4E090EF9}" type="slidenum">
              <a:rPr 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57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9938" name="Rectangle 2">
            <a:extLst>
              <a:ext uri="{FF2B5EF4-FFF2-40B4-BE49-F238E27FC236}">
                <a16:creationId xmlns="" xmlns:a16="http://schemas.microsoft.com/office/drawing/2014/main" id="{4726ED09-ADDF-476D-8780-C37FBA5D162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14300"/>
            <a:ext cx="8280400" cy="40005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Міра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домішки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: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Ентропія</a:t>
            </a:r>
            <a:endParaRPr lang="en-US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9939" name="Rectangle 3">
            <a:extLst>
              <a:ext uri="{FF2B5EF4-FFF2-40B4-BE49-F238E27FC236}">
                <a16:creationId xmlns="" xmlns:mc="http://schemas.openxmlformats.org/markup-compatibility/2006" xmlns:a14="http://schemas.microsoft.com/office/drawing/2010/main" xmlns:a16="http://schemas.microsoft.com/office/drawing/2014/main" id="{AB2C2B6F-910C-479E-BDA6-BC8AE1D8559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857250"/>
            <a:ext cx="9058940" cy="38862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57175" indent="-257175">
              <a:buFont typeface="Monotype Sorts" charset="0"/>
              <a:buChar char="l"/>
              <a:defRPr/>
            </a:pPr>
            <a:r>
              <a:rPr lang="ru-RU" sz="1800" dirty="0" err="1"/>
              <a:t>Ентропія</a:t>
            </a:r>
            <a:r>
              <a:rPr lang="ru-RU" sz="1800" dirty="0"/>
              <a:t> у </a:t>
            </a:r>
            <a:r>
              <a:rPr lang="ru-RU" sz="1800" dirty="0" err="1"/>
              <a:t>даному</a:t>
            </a:r>
            <a:r>
              <a:rPr lang="ru-RU" sz="1800" dirty="0"/>
              <a:t> </a:t>
            </a:r>
            <a:r>
              <a:rPr lang="ru-RU" sz="1800" dirty="0" err="1"/>
              <a:t>вузлі</a:t>
            </a:r>
            <a:r>
              <a:rPr lang="ru-RU" sz="1800" dirty="0"/>
              <a:t> 𝒕</a:t>
            </a:r>
          </a:p>
          <a:p>
            <a:pPr marL="257175" indent="-257175">
              <a:buFont typeface="Monotype Sorts" charset="0"/>
              <a:buChar char="l"/>
              <a:defRPr/>
            </a:pPr>
            <a:endParaRPr lang="ru-RU" sz="1800" dirty="0"/>
          </a:p>
          <a:p>
            <a:pPr marL="257175" indent="-257175">
              <a:buFont typeface="Monotype Sorts" charset="0"/>
              <a:buChar char="l"/>
              <a:defRPr/>
            </a:pPr>
            <a:endParaRPr lang="ru-RU" sz="1800" dirty="0"/>
          </a:p>
          <a:p>
            <a:pPr marL="257175" indent="-257175">
              <a:buFont typeface="Monotype Sorts" charset="0"/>
              <a:buChar char="l"/>
              <a:defRPr/>
            </a:pPr>
            <a:endParaRPr lang="ru-RU" sz="1800" dirty="0"/>
          </a:p>
          <a:p>
            <a:pPr marL="257175" indent="-257175">
              <a:buFont typeface="Monotype Sorts" charset="0"/>
              <a:buChar char="l"/>
              <a:defRPr/>
            </a:pPr>
            <a:r>
              <a:rPr lang="ru-RU" sz="1800" dirty="0"/>
              <a:t>Де </a:t>
            </a:r>
            <a:r>
              <a:rPr lang="ru-RU" sz="1800" dirty="0" smtClean="0"/>
              <a:t>𝒑</a:t>
            </a:r>
            <a:r>
              <a:rPr lang="ru-RU" sz="1800" baseline="-25000" dirty="0" smtClean="0"/>
              <a:t>𝒊 </a:t>
            </a:r>
            <a:r>
              <a:rPr lang="ru-RU" sz="1800" dirty="0"/>
              <a:t>(𝒕) - частота </a:t>
            </a:r>
            <a:r>
              <a:rPr lang="ru-RU" sz="1800" dirty="0" err="1"/>
              <a:t>класу</a:t>
            </a:r>
            <a:r>
              <a:rPr lang="ru-RU" sz="1800" dirty="0"/>
              <a:t> 𝒊 на </a:t>
            </a:r>
            <a:r>
              <a:rPr lang="ru-RU" sz="1800" dirty="0" err="1"/>
              <a:t>вузлі</a:t>
            </a:r>
            <a:r>
              <a:rPr lang="ru-RU" sz="1800" dirty="0"/>
              <a:t> 𝒕, а 𝒄 - </a:t>
            </a:r>
            <a:r>
              <a:rPr lang="ru-RU" sz="1800" dirty="0" err="1"/>
              <a:t>загальна</a:t>
            </a:r>
            <a:r>
              <a:rPr lang="ru-RU" sz="1800" dirty="0"/>
              <a:t> </a:t>
            </a:r>
            <a:r>
              <a:rPr lang="ru-RU" sz="1800" dirty="0" err="1"/>
              <a:t>кількість</a:t>
            </a:r>
            <a:r>
              <a:rPr lang="ru-RU" sz="1800" dirty="0"/>
              <a:t> </a:t>
            </a:r>
            <a:r>
              <a:rPr lang="ru-RU" sz="1800" dirty="0" err="1" smtClean="0"/>
              <a:t>класів</a:t>
            </a:r>
            <a:endParaRPr lang="ru-RU" sz="1800" dirty="0" smtClean="0"/>
          </a:p>
          <a:p>
            <a:pPr marL="257175" indent="-257175">
              <a:buFont typeface="Monotype Sorts" charset="0"/>
              <a:buChar char="l"/>
              <a:defRPr/>
            </a:pPr>
            <a:endParaRPr lang="ru-RU" sz="1800" dirty="0"/>
          </a:p>
          <a:p>
            <a:pPr marL="836613" indent="-285750">
              <a:buFont typeface="Wingdings" panose="05000000000000000000" pitchFamily="2" charset="2"/>
              <a:buChar char="Ø"/>
              <a:defRPr/>
            </a:pPr>
            <a:r>
              <a:rPr lang="ru-RU" sz="1800" dirty="0" smtClean="0"/>
              <a:t>Максимум </a:t>
            </a:r>
            <a:r>
              <a:rPr lang="en-US" sz="1800" dirty="0"/>
              <a:t>log_2 𝑐, </a:t>
            </a:r>
            <a:r>
              <a:rPr lang="ru-RU" sz="1800" dirty="0"/>
              <a:t>коли записи </a:t>
            </a:r>
            <a:r>
              <a:rPr lang="ru-RU" sz="1800" dirty="0" err="1"/>
              <a:t>однаково</a:t>
            </a:r>
            <a:r>
              <a:rPr lang="ru-RU" sz="1800" dirty="0"/>
              <a:t> </a:t>
            </a:r>
            <a:r>
              <a:rPr lang="ru-RU" sz="1800" dirty="0" err="1"/>
              <a:t>розподіляються</a:t>
            </a:r>
            <a:r>
              <a:rPr lang="ru-RU" sz="1800" dirty="0"/>
              <a:t> </a:t>
            </a:r>
            <a:r>
              <a:rPr lang="ru-RU" sz="1800" dirty="0" err="1"/>
              <a:t>між</a:t>
            </a:r>
            <a:r>
              <a:rPr lang="ru-RU" sz="1800" dirty="0"/>
              <a:t> </a:t>
            </a:r>
            <a:r>
              <a:rPr lang="ru-RU" sz="1800" dirty="0" err="1"/>
              <a:t>усіма</a:t>
            </a:r>
            <a:r>
              <a:rPr lang="ru-RU" sz="1800" dirty="0"/>
              <a:t> </a:t>
            </a:r>
            <a:r>
              <a:rPr lang="ru-RU" sz="1800" dirty="0" err="1"/>
              <a:t>класами</a:t>
            </a:r>
            <a:r>
              <a:rPr lang="ru-RU" sz="1800" dirty="0"/>
              <a:t>, </a:t>
            </a:r>
            <a:r>
              <a:rPr lang="ru-RU" sz="1800" dirty="0" err="1"/>
              <a:t>що</a:t>
            </a:r>
            <a:r>
              <a:rPr lang="ru-RU" sz="1800" dirty="0"/>
              <a:t> </a:t>
            </a:r>
            <a:r>
              <a:rPr lang="ru-RU" sz="1800" dirty="0" err="1"/>
              <a:t>означає</a:t>
            </a:r>
            <a:r>
              <a:rPr lang="ru-RU" sz="1800" dirty="0"/>
              <a:t> </a:t>
            </a:r>
            <a:r>
              <a:rPr lang="ru-RU" sz="1800" dirty="0" err="1"/>
              <a:t>найменш</a:t>
            </a:r>
            <a:r>
              <a:rPr lang="ru-RU" sz="1800" dirty="0"/>
              <a:t> </a:t>
            </a:r>
            <a:r>
              <a:rPr lang="ru-RU" sz="1800" dirty="0" err="1"/>
              <a:t>вигідну</a:t>
            </a:r>
            <a:r>
              <a:rPr lang="ru-RU" sz="1800" dirty="0"/>
              <a:t> </a:t>
            </a:r>
            <a:r>
              <a:rPr lang="ru-RU" sz="1800" dirty="0" err="1"/>
              <a:t>ситуацію</a:t>
            </a:r>
            <a:r>
              <a:rPr lang="ru-RU" sz="1800" dirty="0"/>
              <a:t> для </a:t>
            </a:r>
            <a:r>
              <a:rPr lang="ru-RU" sz="1800" dirty="0" err="1"/>
              <a:t>класифікації</a:t>
            </a:r>
            <a:endParaRPr lang="ru-RU" sz="1800" dirty="0"/>
          </a:p>
          <a:p>
            <a:pPr marL="836613" indent="-285750">
              <a:buFont typeface="Wingdings" panose="05000000000000000000" pitchFamily="2" charset="2"/>
              <a:buChar char="Ø"/>
              <a:defRPr/>
            </a:pPr>
            <a:r>
              <a:rPr lang="ru-RU" sz="1800" dirty="0" err="1"/>
              <a:t>Мінімум</a:t>
            </a:r>
            <a:r>
              <a:rPr lang="ru-RU" sz="1800" dirty="0"/>
              <a:t> 0, коли </a:t>
            </a:r>
            <a:r>
              <a:rPr lang="ru-RU" sz="1800" dirty="0" err="1"/>
              <a:t>всі</a:t>
            </a:r>
            <a:r>
              <a:rPr lang="ru-RU" sz="1800" dirty="0"/>
              <a:t> записи належать до одного </a:t>
            </a:r>
            <a:r>
              <a:rPr lang="ru-RU" sz="1800" dirty="0" err="1"/>
              <a:t>класу</a:t>
            </a:r>
            <a:r>
              <a:rPr lang="ru-RU" sz="1800" dirty="0"/>
              <a:t>, </a:t>
            </a:r>
            <a:r>
              <a:rPr lang="ru-RU" sz="1800" dirty="0" err="1"/>
              <a:t>що</a:t>
            </a:r>
            <a:r>
              <a:rPr lang="ru-RU" sz="1800" dirty="0"/>
              <a:t> </a:t>
            </a:r>
            <a:r>
              <a:rPr lang="ru-RU" sz="1800" dirty="0" err="1"/>
              <a:t>означає</a:t>
            </a:r>
            <a:r>
              <a:rPr lang="ru-RU" sz="1800" dirty="0"/>
              <a:t> </a:t>
            </a:r>
            <a:r>
              <a:rPr lang="ru-RU" sz="1800" dirty="0" err="1"/>
              <a:t>найбільш</a:t>
            </a:r>
            <a:r>
              <a:rPr lang="ru-RU" sz="1800" dirty="0"/>
              <a:t> </a:t>
            </a:r>
            <a:r>
              <a:rPr lang="ru-RU" sz="1800" dirty="0" err="1"/>
              <a:t>сприятливу</a:t>
            </a:r>
            <a:r>
              <a:rPr lang="ru-RU" sz="1800" dirty="0"/>
              <a:t> </a:t>
            </a:r>
            <a:r>
              <a:rPr lang="ru-RU" sz="1800" dirty="0" err="1"/>
              <a:t>ситуацію</a:t>
            </a:r>
            <a:r>
              <a:rPr lang="ru-RU" sz="1800" dirty="0"/>
              <a:t> для </a:t>
            </a:r>
            <a:r>
              <a:rPr lang="ru-RU" sz="1800" dirty="0" err="1"/>
              <a:t>класифікації</a:t>
            </a:r>
            <a:endParaRPr lang="ru-RU" sz="1800" dirty="0"/>
          </a:p>
          <a:p>
            <a:pPr marL="257175" indent="-257175">
              <a:buFont typeface="Monotype Sorts" charset="0"/>
              <a:buChar char="l"/>
              <a:defRPr/>
            </a:pPr>
            <a:r>
              <a:rPr lang="ru-RU" sz="1800" dirty="0" err="1" smtClean="0"/>
              <a:t>Обчислення</a:t>
            </a:r>
            <a:r>
              <a:rPr lang="ru-RU" sz="1800" dirty="0" smtClean="0"/>
              <a:t> </a:t>
            </a:r>
            <a:r>
              <a:rPr lang="ru-RU" sz="1800" dirty="0"/>
              <a:t>на </a:t>
            </a:r>
            <a:r>
              <a:rPr lang="ru-RU" sz="1800" dirty="0" err="1"/>
              <a:t>основі</a:t>
            </a:r>
            <a:r>
              <a:rPr lang="ru-RU" sz="1800" dirty="0"/>
              <a:t> </a:t>
            </a:r>
            <a:r>
              <a:rPr lang="ru-RU" sz="1800" dirty="0" err="1"/>
              <a:t>ентропії</a:t>
            </a:r>
            <a:r>
              <a:rPr lang="ru-RU" sz="1800" dirty="0"/>
              <a:t> </a:t>
            </a:r>
            <a:r>
              <a:rPr lang="ru-RU" sz="1800" dirty="0" err="1"/>
              <a:t>досить</a:t>
            </a:r>
            <a:r>
              <a:rPr lang="ru-RU" sz="1800" dirty="0"/>
              <a:t> </a:t>
            </a:r>
            <a:r>
              <a:rPr lang="ru-RU" sz="1800" dirty="0" err="1"/>
              <a:t>подібні</a:t>
            </a:r>
            <a:r>
              <a:rPr lang="ru-RU" sz="1800" dirty="0"/>
              <a:t> до </a:t>
            </a:r>
            <a:r>
              <a:rPr lang="ru-RU" sz="1800" dirty="0" err="1"/>
              <a:t>обчислень</a:t>
            </a:r>
            <a:r>
              <a:rPr lang="ru-RU" sz="1800" dirty="0"/>
              <a:t> </a:t>
            </a:r>
            <a:r>
              <a:rPr lang="ru-RU" sz="1800" dirty="0" err="1"/>
              <a:t>індексу</a:t>
            </a:r>
            <a:r>
              <a:rPr lang="ru-RU" sz="1800" dirty="0"/>
              <a:t> </a:t>
            </a:r>
            <a:r>
              <a:rPr lang="en-US" sz="1800" dirty="0"/>
              <a:t>GINI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A74F72C1-8DB5-465A-9A64-7EE78D483EB5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>
          <a:xfrm>
            <a:off x="0" y="4767263"/>
            <a:ext cx="2057400" cy="274637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09/21/2020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id="{669D6B64-16FF-42AA-85B8-5A2F2AB58B86}"/>
                  </a:ext>
                </a:extLst>
              </p:cNvPr>
              <p:cNvSpPr txBox="1"/>
              <p:nvPr/>
            </p:nvSpPr>
            <p:spPr>
              <a:xfrm>
                <a:off x="2834332" y="1101799"/>
                <a:ext cx="3198889" cy="7784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defTabSz="685800" eaLnBrk="0"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200">
                          <a:latin typeface="Cambria Math" panose="02040503050406030204" pitchFamily="18" charset="0"/>
                          <a:cs typeface="+mn-cs"/>
                        </a:rPr>
                        <m:t>𝐸𝑛𝑡𝑟𝑜𝑝𝑦</m:t>
                      </m:r>
                      <m:r>
                        <a:rPr lang="en-US" sz="1800" i="1" kern="1200">
                          <a:latin typeface="Cambria Math" panose="02040503050406030204" pitchFamily="18" charset="0"/>
                          <a:cs typeface="+mn-cs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  <m:t>𝑐</m:t>
                          </m:r>
                          <m: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1800" i="1" kern="1200"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1800" i="1" kern="1200">
                                  <a:latin typeface="Cambria Math" panose="02040503050406030204" pitchFamily="18" charset="0"/>
                                  <a:cs typeface="+mn-cs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800" i="1" kern="1200">
                                  <a:latin typeface="Cambria Math" panose="02040503050406030204" pitchFamily="18" charset="0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800" i="1" kern="1200"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lang="en-US" sz="1800" i="1" kern="1200">
                                  <a:latin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  <m:t>𝑙𝑜</m:t>
                          </m:r>
                          <m:sSub>
                            <m:sSubPr>
                              <m:ctrlPr>
                                <a:rPr lang="en-US" sz="1800" i="1" kern="1200"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1800" i="1" kern="1200">
                                  <a:latin typeface="Cambria Math" panose="02040503050406030204" pitchFamily="18" charset="0"/>
                                  <a:cs typeface="+mn-cs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800" i="1" kern="1200"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 kern="1200"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1800" i="1" kern="1200">
                                  <a:latin typeface="Cambria Math" panose="02040503050406030204" pitchFamily="18" charset="0"/>
                                  <a:cs typeface="+mn-cs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800" i="1" kern="1200">
                                  <a:latin typeface="Cambria Math" panose="02040503050406030204" pitchFamily="18" charset="0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  <m: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1800" kern="1200" dirty="0"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69D6B64-16FF-42AA-85B8-5A2F2AB58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332" y="1101799"/>
                <a:ext cx="3198889" cy="77841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2574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0D5981B3-B9E5-4312-A3FF-56AA0D2D9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Introduction to Data Mining, 2</a:t>
            </a:r>
            <a:r>
              <a:rPr lang="en-US" baseline="30000">
                <a:solidFill>
                  <a:srgbClr val="000000">
                    <a:tint val="75000"/>
                  </a:srgbClr>
                </a:solidFill>
              </a:rPr>
              <a:t>nd</a:t>
            </a:r>
            <a:r>
              <a:rPr lang="en-US">
                <a:solidFill>
                  <a:srgbClr val="000000">
                    <a:tint val="75000"/>
                  </a:srgbClr>
                </a:solidFill>
              </a:rPr>
              <a:t> Edition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B9FE711-EDA1-475B-88C2-CA170A969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6DE6C9-B616-47A1-8DF4-C856A4D0ED42}" type="slidenum">
              <a:rPr 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58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CADB12BE-7C81-4EE5-B01E-8F6425C7F73C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>
          <a:xfrm>
            <a:off x="0" y="4767263"/>
            <a:ext cx="2057400" cy="274637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09/21/2020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graphicFrame>
        <p:nvGraphicFramePr>
          <p:cNvPr id="52226" name="Object 3">
            <a:extLst>
              <a:ext uri="{FF2B5EF4-FFF2-40B4-BE49-F238E27FC236}">
                <a16:creationId xmlns="" xmlns:a16="http://schemas.microsoft.com/office/drawing/2014/main" id="{BB637AB3-8F49-4E6B-9419-412DA3CCF0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1754982"/>
          <a:ext cx="1771650" cy="7024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9" name="Document" r:id="rId3" imgW="3238500" imgH="1357884" progId="Word.Document.8">
                  <p:embed/>
                </p:oleObj>
              </mc:Choice>
              <mc:Fallback>
                <p:oleObj name="Document" r:id="rId3" imgW="3238500" imgH="135788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754982"/>
                        <a:ext cx="1771650" cy="7024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7" name="Object 4">
            <a:extLst>
              <a:ext uri="{FF2B5EF4-FFF2-40B4-BE49-F238E27FC236}">
                <a16:creationId xmlns="" xmlns:a16="http://schemas.microsoft.com/office/drawing/2014/main" id="{D03C17F8-5A40-4FD9-B830-C156D7D190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8750" y="3886200"/>
          <a:ext cx="1714500" cy="703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0" name="Document" r:id="rId5" imgW="3238500" imgH="1382268" progId="Word.Document.8">
                  <p:embed/>
                </p:oleObj>
              </mc:Choice>
              <mc:Fallback>
                <p:oleObj name="Document" r:id="rId5" imgW="3238500" imgH="138226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3886200"/>
                        <a:ext cx="1714500" cy="7036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8" name="Object 5">
            <a:extLst>
              <a:ext uri="{FF2B5EF4-FFF2-40B4-BE49-F238E27FC236}">
                <a16:creationId xmlns="" xmlns:a16="http://schemas.microsoft.com/office/drawing/2014/main" id="{9F26A34F-15A4-44EC-9E82-97915C9F42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8750" y="2863453"/>
          <a:ext cx="1714500" cy="679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1" name="Document" r:id="rId7" imgW="3238500" imgH="1357884" progId="Word.Document.8">
                  <p:embed/>
                </p:oleObj>
              </mc:Choice>
              <mc:Fallback>
                <p:oleObj name="Document" r:id="rId7" imgW="3238500" imgH="135788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2863453"/>
                        <a:ext cx="1714500" cy="6798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9" name="Text Box 6">
            <a:extLst>
              <a:ext uri="{FF2B5EF4-FFF2-40B4-BE49-F238E27FC236}">
                <a16:creationId xmlns="" xmlns:a16="http://schemas.microsoft.com/office/drawing/2014/main" id="{8F06B79F-C069-4CD0-A9A4-901C4D3CE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4700" y="1754981"/>
            <a:ext cx="4457700" cy="669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00" b="1" kern="1200">
                <a:solidFill>
                  <a:srgbClr val="000000"/>
                </a:solidFill>
                <a:cs typeface="+mn-cs"/>
              </a:rPr>
              <a:t>P(C1) = 0/6 = 0     P(C2) = 6/6 = 1</a:t>
            </a:r>
          </a:p>
          <a:p>
            <a:pPr algn="l" defTabSz="685800" eaLnBrk="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00" b="1" kern="1200">
                <a:solidFill>
                  <a:srgbClr val="000000"/>
                </a:solidFill>
                <a:cs typeface="+mn-cs"/>
              </a:rPr>
              <a:t>Entropy = – 0 log 0</a:t>
            </a:r>
            <a:r>
              <a:rPr lang="en-US" altLang="en-US" sz="1500" b="1" kern="1200" baseline="30000">
                <a:solidFill>
                  <a:srgbClr val="000000"/>
                </a:solidFill>
                <a:cs typeface="+mn-cs"/>
              </a:rPr>
              <a:t> </a:t>
            </a:r>
            <a:r>
              <a:rPr lang="en-US" altLang="en-US" sz="1500" b="1" kern="1200">
                <a:solidFill>
                  <a:srgbClr val="000000"/>
                </a:solidFill>
                <a:cs typeface="+mn-cs"/>
              </a:rPr>
              <a:t>– 1 log 1 = – 0 – 0 = 0 </a:t>
            </a:r>
          </a:p>
        </p:txBody>
      </p:sp>
      <p:sp>
        <p:nvSpPr>
          <p:cNvPr id="52230" name="Text Box 8">
            <a:extLst>
              <a:ext uri="{FF2B5EF4-FFF2-40B4-BE49-F238E27FC236}">
                <a16:creationId xmlns="" xmlns:a16="http://schemas.microsoft.com/office/drawing/2014/main" id="{69D354AD-3445-41CE-8F4F-812592CE7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1850" y="2800350"/>
            <a:ext cx="4629150" cy="669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00" b="1" kern="1200">
                <a:solidFill>
                  <a:srgbClr val="000000"/>
                </a:solidFill>
                <a:cs typeface="+mn-cs"/>
              </a:rPr>
              <a:t>P(C1) = 1/6          P(C2) = 5/6</a:t>
            </a:r>
          </a:p>
          <a:p>
            <a:pPr algn="l" defTabSz="685800" eaLnBrk="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00" b="1" kern="1200">
                <a:solidFill>
                  <a:srgbClr val="000000"/>
                </a:solidFill>
                <a:cs typeface="+mn-cs"/>
              </a:rPr>
              <a:t>Entropy = – (1/6) log</a:t>
            </a:r>
            <a:r>
              <a:rPr lang="en-US" altLang="en-US" sz="1500" b="1" kern="1200" baseline="-25000">
                <a:solidFill>
                  <a:srgbClr val="000000"/>
                </a:solidFill>
                <a:cs typeface="+mn-cs"/>
              </a:rPr>
              <a:t>2</a:t>
            </a:r>
            <a:r>
              <a:rPr lang="en-US" altLang="en-US" sz="1500" b="1" kern="1200">
                <a:solidFill>
                  <a:srgbClr val="000000"/>
                </a:solidFill>
                <a:cs typeface="+mn-cs"/>
              </a:rPr>
              <a:t> (1/6)</a:t>
            </a:r>
            <a:r>
              <a:rPr lang="en-US" altLang="en-US" sz="1500" b="1" kern="1200" baseline="30000">
                <a:solidFill>
                  <a:srgbClr val="000000"/>
                </a:solidFill>
                <a:cs typeface="+mn-cs"/>
              </a:rPr>
              <a:t> </a:t>
            </a:r>
            <a:r>
              <a:rPr lang="en-US" altLang="en-US" sz="1500" b="1" kern="1200">
                <a:solidFill>
                  <a:srgbClr val="000000"/>
                </a:solidFill>
                <a:cs typeface="+mn-cs"/>
              </a:rPr>
              <a:t>– (5/6) log</a:t>
            </a:r>
            <a:r>
              <a:rPr lang="en-US" altLang="en-US" sz="1500" b="1" kern="1200" baseline="-25000">
                <a:solidFill>
                  <a:srgbClr val="000000"/>
                </a:solidFill>
                <a:cs typeface="+mn-cs"/>
              </a:rPr>
              <a:t>2</a:t>
            </a:r>
            <a:r>
              <a:rPr lang="en-US" altLang="en-US" sz="1500" b="1" kern="1200">
                <a:solidFill>
                  <a:srgbClr val="000000"/>
                </a:solidFill>
                <a:cs typeface="+mn-cs"/>
              </a:rPr>
              <a:t> (1/6) = 0.65</a:t>
            </a:r>
          </a:p>
        </p:txBody>
      </p:sp>
      <p:sp>
        <p:nvSpPr>
          <p:cNvPr id="52231" name="Text Box 9">
            <a:extLst>
              <a:ext uri="{FF2B5EF4-FFF2-40B4-BE49-F238E27FC236}">
                <a16:creationId xmlns="" xmlns:a16="http://schemas.microsoft.com/office/drawing/2014/main" id="{E20961E2-4A1F-4D5A-B0C6-6EDFF2135A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1850" y="3829050"/>
            <a:ext cx="4629150" cy="669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00" b="1" kern="1200">
                <a:solidFill>
                  <a:srgbClr val="000000"/>
                </a:solidFill>
                <a:cs typeface="+mn-cs"/>
              </a:rPr>
              <a:t>P(C1) = 2/6          P(C2) = 4/6</a:t>
            </a:r>
          </a:p>
          <a:p>
            <a:pPr algn="l" defTabSz="685800" eaLnBrk="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00" b="1" kern="1200">
                <a:solidFill>
                  <a:srgbClr val="000000"/>
                </a:solidFill>
                <a:cs typeface="+mn-cs"/>
              </a:rPr>
              <a:t>Entropy = – (2/6) log</a:t>
            </a:r>
            <a:r>
              <a:rPr lang="en-US" altLang="en-US" sz="1500" b="1" kern="1200" baseline="-25000">
                <a:solidFill>
                  <a:srgbClr val="000000"/>
                </a:solidFill>
                <a:cs typeface="+mn-cs"/>
              </a:rPr>
              <a:t>2</a:t>
            </a:r>
            <a:r>
              <a:rPr lang="en-US" altLang="en-US" sz="1500" b="1" kern="1200">
                <a:solidFill>
                  <a:srgbClr val="000000"/>
                </a:solidFill>
                <a:cs typeface="+mn-cs"/>
              </a:rPr>
              <a:t> (2/6)</a:t>
            </a:r>
            <a:r>
              <a:rPr lang="en-US" altLang="en-US" sz="1500" b="1" kern="1200" baseline="30000">
                <a:solidFill>
                  <a:srgbClr val="000000"/>
                </a:solidFill>
                <a:cs typeface="+mn-cs"/>
              </a:rPr>
              <a:t> </a:t>
            </a:r>
            <a:r>
              <a:rPr lang="en-US" altLang="en-US" sz="1500" b="1" kern="1200">
                <a:solidFill>
                  <a:srgbClr val="000000"/>
                </a:solidFill>
                <a:cs typeface="+mn-cs"/>
              </a:rPr>
              <a:t>– (4/6) log</a:t>
            </a:r>
            <a:r>
              <a:rPr lang="en-US" altLang="en-US" sz="1500" b="1" kern="1200" baseline="-25000">
                <a:solidFill>
                  <a:srgbClr val="000000"/>
                </a:solidFill>
                <a:cs typeface="+mn-cs"/>
              </a:rPr>
              <a:t>2</a:t>
            </a:r>
            <a:r>
              <a:rPr lang="en-US" altLang="en-US" sz="1500" b="1" kern="1200">
                <a:solidFill>
                  <a:srgbClr val="000000"/>
                </a:solidFill>
                <a:cs typeface="+mn-cs"/>
              </a:rPr>
              <a:t> (4/6) = 0.92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id="{2FC7281B-DF0D-407E-BB2E-ED769EB3DB36}"/>
                  </a:ext>
                </a:extLst>
              </p:cNvPr>
              <p:cNvSpPr txBox="1"/>
              <p:nvPr/>
            </p:nvSpPr>
            <p:spPr>
              <a:xfrm>
                <a:off x="2491433" y="839532"/>
                <a:ext cx="3198889" cy="7784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defTabSz="685800" eaLnBrk="0"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200">
                          <a:latin typeface="Cambria Math" panose="02040503050406030204" pitchFamily="18" charset="0"/>
                          <a:cs typeface="+mn-cs"/>
                        </a:rPr>
                        <m:t>𝐸𝑛𝑡𝑟𝑜𝑝𝑦</m:t>
                      </m:r>
                      <m:r>
                        <a:rPr lang="en-US" sz="1800" i="1" kern="1200">
                          <a:latin typeface="Cambria Math" panose="02040503050406030204" pitchFamily="18" charset="0"/>
                          <a:cs typeface="+mn-cs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  <m:t>𝑐</m:t>
                          </m:r>
                          <m: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1800" i="1" kern="1200"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1800" i="1" kern="1200">
                                  <a:latin typeface="Cambria Math" panose="02040503050406030204" pitchFamily="18" charset="0"/>
                                  <a:cs typeface="+mn-cs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800" i="1" kern="1200">
                                  <a:latin typeface="Cambria Math" panose="02040503050406030204" pitchFamily="18" charset="0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800" i="1" kern="1200"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lang="en-US" sz="1800" i="1" kern="1200">
                                  <a:latin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  <m:t>𝑙𝑜</m:t>
                          </m:r>
                          <m:sSub>
                            <m:sSubPr>
                              <m:ctrlPr>
                                <a:rPr lang="en-US" sz="1800" i="1" kern="1200"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1800" i="1" kern="1200">
                                  <a:latin typeface="Cambria Math" panose="02040503050406030204" pitchFamily="18" charset="0"/>
                                  <a:cs typeface="+mn-cs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800" i="1" kern="1200"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 kern="1200"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1800" i="1" kern="1200">
                                  <a:latin typeface="Cambria Math" panose="02040503050406030204" pitchFamily="18" charset="0"/>
                                  <a:cs typeface="+mn-cs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800" i="1" kern="1200">
                                  <a:latin typeface="Cambria Math" panose="02040503050406030204" pitchFamily="18" charset="0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  <m:r>
                            <a:rPr lang="en-US" sz="1800" i="1" kern="1200"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1800" kern="1200" dirty="0"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C7281B-DF0D-407E-BB2E-ED769EB3D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1433" y="839532"/>
                <a:ext cx="3198889" cy="778418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0" y="-511696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t"/>
            <a:r>
              <a:rPr lang="ru-RU" sz="3600" b="1" dirty="0">
                <a:solidFill>
                  <a:schemeClr val="bg1"/>
                </a:solidFill>
                <a:latin typeface="+mn-lt"/>
              </a:rPr>
              <a:t/>
            </a:r>
            <a:br>
              <a:rPr lang="ru-RU" sz="3600" b="1" dirty="0">
                <a:solidFill>
                  <a:schemeClr val="bg1"/>
                </a:solidFill>
                <a:latin typeface="+mn-lt"/>
              </a:rPr>
            </a:br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Обчислення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ентропії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одного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вузла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67167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AB5775EE-0CCC-4CEC-A935-C48915E03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Introduction to Data Mining, 2</a:t>
            </a:r>
            <a:r>
              <a:rPr lang="en-US" baseline="30000">
                <a:solidFill>
                  <a:srgbClr val="000000">
                    <a:tint val="75000"/>
                  </a:srgbClr>
                </a:solidFill>
              </a:rPr>
              <a:t>nd</a:t>
            </a:r>
            <a:r>
              <a:rPr lang="en-US">
                <a:solidFill>
                  <a:srgbClr val="000000">
                    <a:tint val="75000"/>
                  </a:srgbClr>
                </a:solidFill>
              </a:rPr>
              <a:t> Edition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3108EC3-4CB2-44AF-B6C9-2BABFBCB6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66C636-268E-4FBD-BBA5-0BB0761D90FF}" type="slidenum">
              <a:rPr 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59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1986" name="Rectangle 2">
            <a:extLst>
              <a:ext uri="{FF2B5EF4-FFF2-40B4-BE49-F238E27FC236}">
                <a16:creationId xmlns="" xmlns:a16="http://schemas.microsoft.com/office/drawing/2014/main" id="{10A1E003-1F58-4368-A5F0-15CBF9E8B5B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14300"/>
            <a:ext cx="9144000" cy="4000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ru-RU" sz="2800" b="1" dirty="0" err="1" smtClean="0">
                <a:solidFill>
                  <a:schemeClr val="bg1"/>
                </a:solidFill>
                <a:latin typeface="+mn-lt"/>
              </a:rPr>
              <a:t>Обчислення</a:t>
            </a:r>
            <a:r>
              <a:rPr lang="ru-RU" sz="28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2800" b="1" dirty="0" err="1" smtClean="0">
                <a:solidFill>
                  <a:schemeClr val="bg1"/>
                </a:solidFill>
                <a:latin typeface="+mn-lt"/>
              </a:rPr>
              <a:t>збільшення</a:t>
            </a:r>
            <a:r>
              <a:rPr lang="ru-RU" sz="28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2800" b="1" dirty="0" err="1">
                <a:solidFill>
                  <a:schemeClr val="bg1"/>
                </a:solidFill>
                <a:latin typeface="+mn-lt"/>
              </a:rPr>
              <a:t>інформації</a:t>
            </a:r>
            <a:r>
              <a:rPr lang="ru-RU" sz="28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2800" b="1" dirty="0" err="1">
                <a:solidFill>
                  <a:schemeClr val="bg1"/>
                </a:solidFill>
                <a:latin typeface="+mn-lt"/>
              </a:rPr>
              <a:t>після</a:t>
            </a:r>
            <a:r>
              <a:rPr lang="ru-RU" sz="28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2800" b="1" dirty="0" err="1" smtClean="0">
                <a:solidFill>
                  <a:schemeClr val="bg1"/>
                </a:solidFill>
                <a:latin typeface="+mn-lt"/>
              </a:rPr>
              <a:t>розгалуження</a:t>
            </a:r>
            <a:endParaRPr lang="en-US" sz="28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1987" name="Rectangle 3">
            <a:extLst>
              <a:ext uri="{FF2B5EF4-FFF2-40B4-BE49-F238E27FC236}">
                <a16:creationId xmlns="" xmlns:mc="http://schemas.openxmlformats.org/markup-compatibility/2006" xmlns:a14="http://schemas.microsoft.com/office/drawing/2010/main" xmlns:a16="http://schemas.microsoft.com/office/drawing/2014/main" id="{5931C173-54DB-4586-961A-FD1AF78D82C9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-1" y="857250"/>
            <a:ext cx="9061807" cy="371475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57175" indent="-257175">
              <a:buFont typeface="Monotype Sorts" charset="0"/>
              <a:buChar char="l"/>
              <a:defRPr/>
            </a:pPr>
            <a:r>
              <a:rPr lang="ru-RU" sz="1800" dirty="0" err="1"/>
              <a:t>Збільшення</a:t>
            </a:r>
            <a:r>
              <a:rPr lang="ru-RU" sz="1800" dirty="0"/>
              <a:t> </a:t>
            </a:r>
            <a:r>
              <a:rPr lang="ru-RU" sz="1800" dirty="0" err="1"/>
              <a:t>інформації</a:t>
            </a:r>
            <a:r>
              <a:rPr lang="ru-RU" sz="1800" dirty="0"/>
              <a:t>:</a:t>
            </a:r>
          </a:p>
          <a:p>
            <a:pPr marL="257175" indent="-257175">
              <a:buFont typeface="Monotype Sorts" charset="0"/>
              <a:buChar char="l"/>
              <a:defRPr/>
            </a:pPr>
            <a:endParaRPr lang="ru-RU" sz="1800" dirty="0"/>
          </a:p>
          <a:p>
            <a:pPr marL="257175" indent="-257175">
              <a:buFont typeface="Monotype Sorts" charset="0"/>
              <a:buChar char="l"/>
              <a:defRPr/>
            </a:pPr>
            <a:endParaRPr lang="ru-RU" sz="1800" dirty="0"/>
          </a:p>
          <a:p>
            <a:pPr marL="0" indent="0" algn="ctr">
              <a:buNone/>
              <a:defRPr/>
            </a:pPr>
            <a:r>
              <a:rPr lang="ru-RU" sz="1800" dirty="0" err="1" smtClean="0"/>
              <a:t>Батьківський</a:t>
            </a:r>
            <a:r>
              <a:rPr lang="ru-RU" sz="1800" dirty="0" smtClean="0"/>
              <a:t> </a:t>
            </a:r>
            <a:r>
              <a:rPr lang="ru-RU" sz="1800" dirty="0" err="1"/>
              <a:t>вузол</a:t>
            </a:r>
            <a:r>
              <a:rPr lang="ru-RU" sz="1800" dirty="0"/>
              <a:t>, 𝑝 </a:t>
            </a:r>
            <a:r>
              <a:rPr lang="ru-RU" sz="1800" dirty="0" err="1"/>
              <a:t>розділений</a:t>
            </a:r>
            <a:r>
              <a:rPr lang="ru-RU" sz="1800" dirty="0"/>
              <a:t> на 𝑘 </a:t>
            </a:r>
            <a:r>
              <a:rPr lang="ru-RU" sz="1800" dirty="0" err="1"/>
              <a:t>розділи</a:t>
            </a:r>
            <a:r>
              <a:rPr lang="ru-RU" sz="1800" dirty="0"/>
              <a:t> (</a:t>
            </a:r>
            <a:r>
              <a:rPr lang="ru-RU" sz="1800" dirty="0" err="1"/>
              <a:t>дочірні</a:t>
            </a:r>
            <a:r>
              <a:rPr lang="ru-RU" sz="1800" dirty="0"/>
              <a:t>)</a:t>
            </a:r>
          </a:p>
          <a:p>
            <a:pPr marL="0" indent="0" algn="ctr">
              <a:buNone/>
              <a:defRPr/>
            </a:pPr>
            <a:r>
              <a:rPr lang="ru-RU" sz="1800" dirty="0" smtClean="0"/>
              <a:t>𝑛</a:t>
            </a:r>
            <a:r>
              <a:rPr lang="ru-RU" sz="1800" baseline="-25000" dirty="0" smtClean="0"/>
              <a:t>𝑖</a:t>
            </a:r>
            <a:r>
              <a:rPr lang="ru-RU" sz="1800" dirty="0" smtClean="0"/>
              <a:t> </a:t>
            </a:r>
            <a:r>
              <a:rPr lang="ru-RU" sz="1800" dirty="0"/>
              <a:t>- </a:t>
            </a:r>
            <a:r>
              <a:rPr lang="ru-RU" sz="1800" dirty="0" err="1"/>
              <a:t>кількість</a:t>
            </a:r>
            <a:r>
              <a:rPr lang="ru-RU" sz="1800" dirty="0"/>
              <a:t> </a:t>
            </a:r>
            <a:r>
              <a:rPr lang="ru-RU" sz="1800" dirty="0" err="1"/>
              <a:t>записів</a:t>
            </a:r>
            <a:r>
              <a:rPr lang="ru-RU" sz="1800" dirty="0"/>
              <a:t> у </a:t>
            </a:r>
            <a:r>
              <a:rPr lang="ru-RU" sz="1800" dirty="0" err="1"/>
              <a:t>дочірньому</a:t>
            </a:r>
            <a:r>
              <a:rPr lang="ru-RU" sz="1800" dirty="0"/>
              <a:t> </a:t>
            </a:r>
            <a:r>
              <a:rPr lang="ru-RU" sz="1800" dirty="0" err="1"/>
              <a:t>вузлі</a:t>
            </a:r>
            <a:r>
              <a:rPr lang="ru-RU" sz="1800" dirty="0"/>
              <a:t> 𝑖</a:t>
            </a:r>
          </a:p>
          <a:p>
            <a:pPr marL="257175" indent="-257175">
              <a:buFont typeface="Monotype Sorts" charset="0"/>
              <a:buChar char="l"/>
              <a:defRPr/>
            </a:pPr>
            <a:r>
              <a:rPr lang="ru-RU" sz="1800" dirty="0" err="1"/>
              <a:t>Виберіть</a:t>
            </a:r>
            <a:r>
              <a:rPr lang="ru-RU" sz="1800" dirty="0"/>
              <a:t> </a:t>
            </a:r>
            <a:r>
              <a:rPr lang="ru-RU" sz="1800" dirty="0" err="1"/>
              <a:t>розділення</a:t>
            </a:r>
            <a:r>
              <a:rPr lang="ru-RU" sz="1800" dirty="0"/>
              <a:t>, яке </a:t>
            </a:r>
            <a:r>
              <a:rPr lang="ru-RU" sz="1800" dirty="0" err="1"/>
              <a:t>досягає</a:t>
            </a:r>
            <a:r>
              <a:rPr lang="ru-RU" sz="1800" dirty="0"/>
              <a:t> </a:t>
            </a:r>
            <a:r>
              <a:rPr lang="ru-RU" sz="1800" dirty="0" err="1"/>
              <a:t>найбільшого</a:t>
            </a:r>
            <a:r>
              <a:rPr lang="ru-RU" sz="1800" dirty="0"/>
              <a:t> </a:t>
            </a:r>
            <a:r>
              <a:rPr lang="ru-RU" sz="1800" dirty="0" err="1"/>
              <a:t>зменшення</a:t>
            </a:r>
            <a:r>
              <a:rPr lang="ru-RU" sz="1800" dirty="0"/>
              <a:t> (</a:t>
            </a:r>
            <a:r>
              <a:rPr lang="ru-RU" sz="1800" dirty="0" err="1"/>
              <a:t>максимізує</a:t>
            </a:r>
            <a:r>
              <a:rPr lang="ru-RU" sz="1800" dirty="0"/>
              <a:t> </a:t>
            </a:r>
            <a:r>
              <a:rPr lang="en-US" sz="1800" dirty="0"/>
              <a:t>GAIN)</a:t>
            </a:r>
          </a:p>
          <a:p>
            <a:pPr marL="257175" indent="-257175">
              <a:buFont typeface="Monotype Sorts" charset="0"/>
              <a:buChar char="l"/>
              <a:defRPr/>
            </a:pPr>
            <a:endParaRPr lang="en-US" sz="1800" dirty="0"/>
          </a:p>
          <a:p>
            <a:pPr marL="257175" indent="-257175">
              <a:buFont typeface="Monotype Sorts" charset="0"/>
              <a:buChar char="l"/>
              <a:defRPr/>
            </a:pPr>
            <a:r>
              <a:rPr lang="ru-RU" sz="1800" dirty="0" err="1"/>
              <a:t>Використовується</a:t>
            </a:r>
            <a:r>
              <a:rPr lang="ru-RU" sz="1800" dirty="0"/>
              <a:t> в алгоритмах дерева </a:t>
            </a:r>
            <a:r>
              <a:rPr lang="ru-RU" sz="1800" dirty="0" err="1"/>
              <a:t>рішень</a:t>
            </a:r>
            <a:r>
              <a:rPr lang="ru-RU" sz="1800" dirty="0"/>
              <a:t> </a:t>
            </a:r>
            <a:r>
              <a:rPr lang="en-US" sz="1800" dirty="0"/>
              <a:t>ID3 </a:t>
            </a:r>
            <a:r>
              <a:rPr lang="ru-RU" sz="1800" dirty="0"/>
              <a:t>та </a:t>
            </a:r>
            <a:r>
              <a:rPr lang="en-US" sz="1800" dirty="0"/>
              <a:t>C4.5</a:t>
            </a:r>
          </a:p>
          <a:p>
            <a:pPr marL="257175" indent="-257175">
              <a:buFont typeface="Monotype Sorts" charset="0"/>
              <a:buChar char="l"/>
              <a:defRPr/>
            </a:pPr>
            <a:endParaRPr lang="en-US" sz="1800" dirty="0"/>
          </a:p>
          <a:p>
            <a:pPr marL="257175" indent="-257175">
              <a:buFont typeface="Monotype Sorts" charset="0"/>
              <a:buChar char="l"/>
              <a:defRPr/>
            </a:pPr>
            <a:r>
              <a:rPr lang="ru-RU" sz="1800" dirty="0" err="1"/>
              <a:t>Інформаційний</a:t>
            </a:r>
            <a:r>
              <a:rPr lang="ru-RU" sz="1800" dirty="0"/>
              <a:t> </a:t>
            </a:r>
            <a:r>
              <a:rPr lang="ru-RU" sz="1800" dirty="0" err="1"/>
              <a:t>приріст</a:t>
            </a:r>
            <a:r>
              <a:rPr lang="ru-RU" sz="1800" dirty="0"/>
              <a:t> - </a:t>
            </a:r>
            <a:r>
              <a:rPr lang="ru-RU" sz="1800" dirty="0" err="1"/>
              <a:t>це</a:t>
            </a:r>
            <a:r>
              <a:rPr lang="ru-RU" sz="1800" dirty="0"/>
              <a:t> </a:t>
            </a:r>
            <a:r>
              <a:rPr lang="ru-RU" sz="1800" dirty="0" err="1"/>
              <a:t>взаємна</a:t>
            </a:r>
            <a:r>
              <a:rPr lang="ru-RU" sz="1800" dirty="0"/>
              <a:t> </a:t>
            </a:r>
            <a:r>
              <a:rPr lang="ru-RU" sz="1800" dirty="0" err="1"/>
              <a:t>інформація</a:t>
            </a:r>
            <a:r>
              <a:rPr lang="ru-RU" sz="1800" dirty="0"/>
              <a:t> </a:t>
            </a:r>
            <a:r>
              <a:rPr lang="ru-RU" sz="1800" dirty="0" err="1"/>
              <a:t>між</a:t>
            </a:r>
            <a:r>
              <a:rPr lang="ru-RU" sz="1800" dirty="0"/>
              <a:t> </a:t>
            </a:r>
            <a:r>
              <a:rPr lang="ru-RU" sz="1800" dirty="0" err="1"/>
              <a:t>змінною</a:t>
            </a:r>
            <a:r>
              <a:rPr lang="ru-RU" sz="1800" dirty="0"/>
              <a:t> </a:t>
            </a:r>
            <a:r>
              <a:rPr lang="ru-RU" sz="1800" dirty="0" err="1"/>
              <a:t>класу</a:t>
            </a:r>
            <a:r>
              <a:rPr lang="ru-RU" sz="1800" dirty="0"/>
              <a:t> та </a:t>
            </a:r>
            <a:r>
              <a:rPr lang="ru-RU" sz="1800" dirty="0" err="1"/>
              <a:t>змінною</a:t>
            </a:r>
            <a:r>
              <a:rPr lang="ru-RU" sz="1800" dirty="0"/>
              <a:t> </a:t>
            </a:r>
            <a:r>
              <a:rPr lang="ru-RU" sz="1800" dirty="0" err="1" smtClean="0"/>
              <a:t>розгалуження</a:t>
            </a:r>
            <a:endParaRPr lang="en-US" sz="1800" dirty="0"/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3F9838F9-5C30-4C1D-A60C-107CF9C3898C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>
          <a:xfrm>
            <a:off x="0" y="4767263"/>
            <a:ext cx="2057400" cy="274637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09/21/2020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1914E59F-A1BF-4E04-995A-7D996319BEEB}"/>
                  </a:ext>
                </a:extLst>
              </p:cNvPr>
              <p:cNvSpPr txBox="1"/>
              <p:nvPr/>
            </p:nvSpPr>
            <p:spPr>
              <a:xfrm>
                <a:off x="2426420" y="1179602"/>
                <a:ext cx="3695242" cy="6537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defTabSz="685800" eaLnBrk="0"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i="1" kern="1200">
                          <a:latin typeface="Cambria Math" panose="02040503050406030204" pitchFamily="18" charset="0"/>
                          <a:cs typeface="+mn-cs"/>
                        </a:rPr>
                        <m:t>𝐺𝑎𝑖</m:t>
                      </m:r>
                      <m:sSub>
                        <m:sSubPr>
                          <m:ctrlPr>
                            <a:rPr lang="en-US" sz="1500" i="1" kern="1200"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1500" i="1" kern="1200"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e>
                        <m:sub>
                          <m:r>
                            <a:rPr lang="en-US" sz="1500" i="1" kern="1200">
                              <a:latin typeface="Cambria Math" panose="02040503050406030204" pitchFamily="18" charset="0"/>
                              <a:cs typeface="+mn-cs"/>
                            </a:rPr>
                            <m:t>𝑠𝑝𝑙𝑖𝑡</m:t>
                          </m:r>
                        </m:sub>
                      </m:sSub>
                      <m:r>
                        <a:rPr lang="en-US" sz="1500" i="1" kern="1200"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lang="en-US" sz="1500" i="1" kern="1200">
                          <a:latin typeface="Cambria Math" panose="02040503050406030204" pitchFamily="18" charset="0"/>
                          <a:cs typeface="+mn-cs"/>
                        </a:rPr>
                        <m:t>𝐸𝑛𝑡𝑟𝑜𝑝𝑦</m:t>
                      </m:r>
                      <m:d>
                        <m:dPr>
                          <m:ctrlPr>
                            <a:rPr lang="en-US" sz="1500" i="1" kern="1200"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en-US" sz="1500" i="1" kern="1200">
                              <a:latin typeface="Cambria Math" panose="02040503050406030204" pitchFamily="18" charset="0"/>
                              <a:cs typeface="+mn-cs"/>
                            </a:rPr>
                            <m:t>𝑝</m:t>
                          </m:r>
                        </m:e>
                      </m:d>
                      <m:r>
                        <a:rPr lang="en-US" sz="1500" i="1" kern="1200"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sz="1500" i="1" kern="1200"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500" i="1" kern="1200"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lang="en-US" sz="1500" i="1" kern="1200">
                              <a:latin typeface="Cambria Math" panose="02040503050406030204" pitchFamily="18" charset="0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lang="en-US" sz="1500" i="1" kern="1200">
                              <a:latin typeface="Cambria Math" panose="02040503050406030204" pitchFamily="18" charset="0"/>
                              <a:cs typeface="+mn-cs"/>
                            </a:rPr>
                            <m:t>𝑘</m:t>
                          </m:r>
                        </m:sup>
                        <m:e>
                          <m:f>
                            <m:fPr>
                              <m:ctrlPr>
                                <a:rPr lang="en-US" sz="1500" i="1" kern="1200"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500" i="1" kern="1200"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i="1" kern="1200"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500" i="1" kern="1200"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500" i="1" kern="1200">
                                  <a:latin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sz="1500" i="1" kern="1200">
                              <a:latin typeface="Cambria Math" panose="02040503050406030204" pitchFamily="18" charset="0"/>
                              <a:cs typeface="+mn-cs"/>
                            </a:rPr>
                            <m:t>𝐸𝑛𝑡𝑟𝑜𝑝𝑦</m:t>
                          </m:r>
                          <m:r>
                            <a:rPr lang="en-US" sz="1500" i="1" kern="1200"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lang="en-US" sz="1500" i="1" kern="1200"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lang="en-US" sz="1500" i="1" kern="1200"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1500" kern="1200" dirty="0"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914E59F-A1BF-4E04-995A-7D996319B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6420" y="1179602"/>
                <a:ext cx="3695242" cy="65370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9236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013C572E-C2A4-40AB-98B9-3C34B8E1A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Introduction to Data Mining, 2</a:t>
            </a:r>
            <a:r>
              <a:rPr lang="en-US" baseline="30000">
                <a:solidFill>
                  <a:srgbClr val="000000">
                    <a:tint val="75000"/>
                  </a:srgbClr>
                </a:solidFill>
              </a:rPr>
              <a:t>nd</a:t>
            </a:r>
            <a:r>
              <a:rPr lang="en-US">
                <a:solidFill>
                  <a:srgbClr val="000000">
                    <a:tint val="75000"/>
                  </a:srgbClr>
                </a:solidFill>
              </a:rPr>
              <a:t> Edition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4776994-D1A5-4494-82A2-F73BC9673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A6884D-0358-41A0-8B86-2E8936DC407F}" type="slidenum">
              <a:rPr 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60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57443" name="Rectangle 3">
            <a:extLst>
              <a:ext uri="{FF2B5EF4-FFF2-40B4-BE49-F238E27FC236}">
                <a16:creationId xmlns="" xmlns:a16="http://schemas.microsoft.com/office/drawing/2014/main" id="{BCCB83F4-D583-4983-841D-E1951C9CF4B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-1" y="857250"/>
            <a:ext cx="9061807" cy="3886200"/>
          </a:xfrm>
          <a:prstGeom prst="rect">
            <a:avLst/>
          </a:prstGeom>
        </p:spPr>
        <p:txBody>
          <a:bodyPr/>
          <a:lstStyle/>
          <a:p>
            <a:pPr>
              <a:buFont typeface="Monotype Sorts" pitchFamily="2" charset="2"/>
              <a:buChar char="l"/>
              <a:defRPr/>
            </a:pPr>
            <a:r>
              <a:rPr lang="ru-RU" dirty="0" err="1" smtClean="0"/>
              <a:t>Оцінюючи</a:t>
            </a:r>
            <a:r>
              <a:rPr lang="ru-RU" dirty="0" smtClean="0"/>
              <a:t> </a:t>
            </a:r>
            <a:r>
              <a:rPr lang="ru-RU" dirty="0" err="1" smtClean="0"/>
              <a:t>домішки</a:t>
            </a:r>
            <a:r>
              <a:rPr lang="ru-RU" dirty="0" smtClean="0"/>
              <a:t> </a:t>
            </a:r>
            <a:r>
              <a:rPr lang="ru-RU" dirty="0" err="1" smtClean="0"/>
              <a:t>вузлів</a:t>
            </a:r>
            <a:r>
              <a:rPr lang="ru-RU" dirty="0" smtClean="0"/>
              <a:t>, </a:t>
            </a:r>
            <a:r>
              <a:rPr lang="ru-RU" dirty="0"/>
              <a:t>як правило, </a:t>
            </a:r>
            <a:r>
              <a:rPr lang="ru-RU" dirty="0" err="1"/>
              <a:t>віддають</a:t>
            </a:r>
            <a:r>
              <a:rPr lang="ru-RU" dirty="0"/>
              <a:t> </a:t>
            </a:r>
            <a:r>
              <a:rPr lang="ru-RU" dirty="0" err="1"/>
              <a:t>перевагу</a:t>
            </a:r>
            <a:r>
              <a:rPr lang="ru-RU" dirty="0"/>
              <a:t> </a:t>
            </a:r>
            <a:r>
              <a:rPr lang="ru-RU" dirty="0" err="1" smtClean="0"/>
              <a:t>розгалуженню</a:t>
            </a:r>
            <a:r>
              <a:rPr lang="ru-RU" dirty="0" smtClean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призводить</a:t>
            </a:r>
            <a:r>
              <a:rPr lang="ru-RU" dirty="0"/>
              <a:t> до </a:t>
            </a:r>
            <a:r>
              <a:rPr lang="ru-RU" dirty="0" err="1"/>
              <a:t>великої</a:t>
            </a:r>
            <a:r>
              <a:rPr lang="ru-RU" dirty="0"/>
              <a:t> </a:t>
            </a:r>
            <a:r>
              <a:rPr lang="ru-RU" dirty="0" err="1"/>
              <a:t>кількості</a:t>
            </a:r>
            <a:r>
              <a:rPr lang="ru-RU" dirty="0"/>
              <a:t> </a:t>
            </a:r>
            <a:r>
              <a:rPr lang="ru-RU" dirty="0" err="1" smtClean="0"/>
              <a:t>підвузлів</a:t>
            </a:r>
            <a:r>
              <a:rPr lang="ru-RU" dirty="0" smtClean="0"/>
              <a:t>, </a:t>
            </a:r>
            <a:r>
              <a:rPr lang="ru-RU" dirty="0" err="1" smtClean="0"/>
              <a:t>кожний</a:t>
            </a:r>
            <a:r>
              <a:rPr lang="ru-RU" dirty="0" smtClean="0"/>
              <a:t> </a:t>
            </a:r>
            <a:r>
              <a:rPr lang="ru-RU" dirty="0"/>
              <a:t>з </a:t>
            </a:r>
            <a:r>
              <a:rPr lang="ru-RU" dirty="0" err="1"/>
              <a:t>яких</a:t>
            </a:r>
            <a:r>
              <a:rPr lang="ru-RU" dirty="0"/>
              <a:t> </a:t>
            </a:r>
            <a:r>
              <a:rPr lang="ru-RU" dirty="0" smtClean="0"/>
              <a:t>невеликий, </a:t>
            </a:r>
            <a:r>
              <a:rPr lang="ru-RU" dirty="0"/>
              <a:t>але </a:t>
            </a:r>
            <a:r>
              <a:rPr lang="ru-RU" dirty="0" err="1" smtClean="0"/>
              <a:t>чистий</a:t>
            </a:r>
            <a:endParaRPr lang="en-US" dirty="0">
              <a:ea typeface="+mn-ea"/>
              <a:cs typeface="+mn-cs"/>
            </a:endParaRPr>
          </a:p>
          <a:p>
            <a:pPr>
              <a:buFont typeface="Monotype Sorts" pitchFamily="2" charset="2"/>
              <a:buChar char="l"/>
              <a:defRPr/>
            </a:pPr>
            <a:endParaRPr lang="en-US" dirty="0">
              <a:ea typeface="+mn-ea"/>
              <a:cs typeface="+mn-cs"/>
            </a:endParaRPr>
          </a:p>
          <a:p>
            <a:pPr>
              <a:buFont typeface="Monotype Sorts" pitchFamily="2" charset="2"/>
              <a:buChar char="l"/>
              <a:defRPr/>
            </a:pPr>
            <a:endParaRPr lang="en-US" dirty="0">
              <a:ea typeface="+mn-ea"/>
              <a:cs typeface="+mn-cs"/>
            </a:endParaRPr>
          </a:p>
          <a:p>
            <a:pPr>
              <a:buFont typeface="Monotype Sorts" pitchFamily="2" charset="2"/>
              <a:buChar char="l"/>
              <a:defRPr/>
            </a:pPr>
            <a:endParaRPr lang="en-US" dirty="0">
              <a:ea typeface="+mn-ea"/>
              <a:cs typeface="+mn-cs"/>
            </a:endParaRPr>
          </a:p>
          <a:p>
            <a:pPr marL="0" indent="0"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 typeface="Arial" charset="0"/>
              <a:buChar char="–"/>
              <a:defRPr/>
            </a:pPr>
            <a:r>
              <a:rPr lang="ru-RU" dirty="0" err="1"/>
              <a:t>Ідентифікатор</a:t>
            </a:r>
            <a:r>
              <a:rPr lang="ru-RU" dirty="0"/>
              <a:t> </a:t>
            </a:r>
            <a:r>
              <a:rPr lang="ru-RU" dirty="0" err="1"/>
              <a:t>клієнта</a:t>
            </a:r>
            <a:r>
              <a:rPr lang="ru-RU" dirty="0"/>
              <a:t>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найбільший</a:t>
            </a:r>
            <a:r>
              <a:rPr lang="ru-RU" dirty="0"/>
              <a:t> </a:t>
            </a:r>
            <a:r>
              <a:rPr lang="ru-RU" dirty="0" err="1"/>
              <a:t>інформаційний</a:t>
            </a:r>
            <a:r>
              <a:rPr lang="ru-RU" dirty="0"/>
              <a:t> </a:t>
            </a:r>
            <a:r>
              <a:rPr lang="ru-RU" dirty="0" err="1"/>
              <a:t>приріст</a:t>
            </a:r>
            <a:r>
              <a:rPr lang="ru-RU" dirty="0"/>
              <a:t>, </a:t>
            </a:r>
            <a:r>
              <a:rPr lang="ru-RU" dirty="0" err="1"/>
              <a:t>оскільки</a:t>
            </a:r>
            <a:r>
              <a:rPr lang="ru-RU" dirty="0"/>
              <a:t> </a:t>
            </a:r>
            <a:r>
              <a:rPr lang="ru-RU" dirty="0" err="1"/>
              <a:t>ентропія</a:t>
            </a:r>
            <a:r>
              <a:rPr lang="ru-RU" dirty="0"/>
              <a:t> для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дітей</a:t>
            </a:r>
            <a:r>
              <a:rPr lang="ru-RU" dirty="0"/>
              <a:t> </a:t>
            </a:r>
            <a:r>
              <a:rPr lang="ru-RU" dirty="0" err="1"/>
              <a:t>дорівнює</a:t>
            </a:r>
            <a:r>
              <a:rPr lang="ru-RU" dirty="0"/>
              <a:t> нулю</a:t>
            </a:r>
            <a:endParaRPr lang="en-US" dirty="0"/>
          </a:p>
        </p:txBody>
      </p:sp>
      <p:graphicFrame>
        <p:nvGraphicFramePr>
          <p:cNvPr id="54275" name="Object 4">
            <a:extLst>
              <a:ext uri="{FF2B5EF4-FFF2-40B4-BE49-F238E27FC236}">
                <a16:creationId xmlns="" xmlns:a16="http://schemas.microsoft.com/office/drawing/2014/main" id="{483CA67C-C837-4835-9209-42FC7F9F62EF}"/>
              </a:ext>
            </a:extLst>
          </p:cNvPr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50538068"/>
              </p:ext>
            </p:extLst>
          </p:nvPr>
        </p:nvGraphicFramePr>
        <p:xfrm>
          <a:off x="863029" y="1821094"/>
          <a:ext cx="7315200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3" name="Visio" r:id="rId3" imgW="9652000" imgH="2247900" progId="Visio.Drawing.6">
                  <p:embed/>
                </p:oleObj>
              </mc:Choice>
              <mc:Fallback>
                <p:oleObj name="Visio" r:id="rId3" imgW="9652000" imgH="22479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029" y="1821094"/>
                        <a:ext cx="7315200" cy="1400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D6952416-6DA2-40BE-8B46-D1BDAB47E4C7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>
          <a:xfrm>
            <a:off x="0" y="4767263"/>
            <a:ext cx="2057400" cy="274637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09/21/2020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65401" y="0"/>
            <a:ext cx="73036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+mn-lt"/>
              </a:rPr>
              <a:t>Проблема з великою </a:t>
            </a:r>
            <a:r>
              <a:rPr lang="ru-RU" sz="3200" b="1" dirty="0" err="1">
                <a:solidFill>
                  <a:schemeClr val="bg1"/>
                </a:solidFill>
                <a:latin typeface="+mn-lt"/>
              </a:rPr>
              <a:t>кількістю</a:t>
            </a:r>
            <a:r>
              <a:rPr lang="ru-RU" sz="32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200" b="1" dirty="0" err="1">
                <a:solidFill>
                  <a:schemeClr val="bg1"/>
                </a:solidFill>
                <a:latin typeface="+mn-lt"/>
              </a:rPr>
              <a:t>розділів</a:t>
            </a:r>
            <a:endParaRPr lang="ru-RU" sz="32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31385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48F8608D-BB56-49C4-9747-DF039EF2D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Introduction to Data Mining, 2</a:t>
            </a:r>
            <a:r>
              <a:rPr lang="en-US" baseline="30000">
                <a:solidFill>
                  <a:srgbClr val="000000">
                    <a:tint val="75000"/>
                  </a:srgbClr>
                </a:solidFill>
              </a:rPr>
              <a:t>nd</a:t>
            </a:r>
            <a:r>
              <a:rPr lang="en-US">
                <a:solidFill>
                  <a:srgbClr val="000000">
                    <a:tint val="75000"/>
                  </a:srgbClr>
                </a:solidFill>
              </a:rPr>
              <a:t> Edition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1C5A85C-18BE-430E-ADFA-9967598E8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93D3DE-3006-4CC2-9A91-7E4C80B6FDC9}" type="slidenum">
              <a:rPr 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61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6082" name="Rectangle 2">
            <a:extLst>
              <a:ext uri="{FF2B5EF4-FFF2-40B4-BE49-F238E27FC236}">
                <a16:creationId xmlns="" xmlns:a16="http://schemas.microsoft.com/office/drawing/2014/main" id="{3D866F26-FADC-4DC3-8B26-F5BFD39B8C4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-82194" y="114300"/>
            <a:ext cx="9226193" cy="40005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ru-RU" sz="3200" b="1" dirty="0" err="1">
                <a:solidFill>
                  <a:schemeClr val="bg1"/>
                </a:solidFill>
                <a:latin typeface="+mn-lt"/>
              </a:rPr>
              <a:t>Міра</a:t>
            </a:r>
            <a:r>
              <a:rPr lang="ru-RU" sz="32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200" b="1" dirty="0" err="1">
                <a:solidFill>
                  <a:schemeClr val="bg1"/>
                </a:solidFill>
                <a:latin typeface="+mn-lt"/>
              </a:rPr>
              <a:t>домішки</a:t>
            </a:r>
            <a:r>
              <a:rPr lang="ru-RU" sz="3200" b="1" dirty="0">
                <a:solidFill>
                  <a:schemeClr val="bg1"/>
                </a:solidFill>
                <a:latin typeface="+mn-lt"/>
              </a:rPr>
              <a:t>: </a:t>
            </a:r>
            <a:r>
              <a:rPr lang="ru-RU" sz="3200" b="1" dirty="0" err="1">
                <a:solidFill>
                  <a:schemeClr val="bg1"/>
                </a:solidFill>
                <a:latin typeface="+mn-lt"/>
              </a:rPr>
              <a:t>Помилка</a:t>
            </a:r>
            <a:r>
              <a:rPr lang="ru-RU" sz="32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200" b="1" dirty="0" err="1">
                <a:solidFill>
                  <a:schemeClr val="bg1"/>
                </a:solidFill>
                <a:latin typeface="+mn-lt"/>
              </a:rPr>
              <a:t>класифікації</a:t>
            </a:r>
            <a:endParaRPr lang="en-US" sz="32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6083" name="Rectangle 3">
            <a:extLst>
              <a:ext uri="{FF2B5EF4-FFF2-40B4-BE49-F238E27FC236}">
                <a16:creationId xmlns="" xmlns:mc="http://schemas.openxmlformats.org/markup-compatibility/2006" xmlns:a14="http://schemas.microsoft.com/office/drawing/2010/main" xmlns:a16="http://schemas.microsoft.com/office/drawing/2014/main" id="{65C5A524-0CE4-4BF7-9AF0-750C19FE06D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857250"/>
            <a:ext cx="8318500" cy="3886200"/>
          </a:xfrm>
          <a:prstGeom prst="rect">
            <a:avLst/>
          </a:prstGeom>
        </p:spPr>
        <p:txBody>
          <a:bodyPr/>
          <a:lstStyle/>
          <a:p>
            <a:pPr marL="257175" indent="-257175">
              <a:buFont typeface="Monotype Sorts" charset="0"/>
              <a:buChar char="l"/>
              <a:defRPr/>
            </a:pPr>
            <a:r>
              <a:rPr lang="ru-RU" dirty="0" err="1"/>
              <a:t>Помилка</a:t>
            </a:r>
            <a:r>
              <a:rPr lang="ru-RU" dirty="0"/>
              <a:t> </a:t>
            </a:r>
            <a:r>
              <a:rPr lang="ru-RU" dirty="0" err="1"/>
              <a:t>класифікації</a:t>
            </a:r>
            <a:r>
              <a:rPr lang="ru-RU" dirty="0"/>
              <a:t> на </a:t>
            </a:r>
            <a:r>
              <a:rPr lang="ru-RU" dirty="0" err="1"/>
              <a:t>вузлі</a:t>
            </a:r>
            <a:r>
              <a:rPr lang="ru-RU" dirty="0"/>
              <a:t> 𝑡</a:t>
            </a:r>
          </a:p>
          <a:p>
            <a:pPr marL="257175" indent="-257175">
              <a:buFont typeface="Monotype Sorts" charset="0"/>
              <a:buChar char="l"/>
              <a:defRPr/>
            </a:pPr>
            <a:endParaRPr lang="ru-RU" dirty="0"/>
          </a:p>
          <a:p>
            <a:pPr marL="257175" indent="-257175">
              <a:buFont typeface="Monotype Sorts" charset="0"/>
              <a:buChar char="l"/>
              <a:defRPr/>
            </a:pPr>
            <a:endParaRPr lang="ru-RU" dirty="0"/>
          </a:p>
          <a:p>
            <a:pPr marL="257175" indent="-257175">
              <a:buFont typeface="Monotype Sorts" charset="0"/>
              <a:buChar char="l"/>
              <a:defRPr/>
            </a:pPr>
            <a:endParaRPr lang="ru-RU" dirty="0"/>
          </a:p>
          <a:p>
            <a:pPr marL="257175" indent="-257175">
              <a:buFont typeface="Monotype Sorts" charset="0"/>
              <a:buChar char="l"/>
              <a:defRPr/>
            </a:pPr>
            <a:r>
              <a:rPr lang="ru-RU" dirty="0"/>
              <a:t>Максимум </a:t>
            </a:r>
            <a:r>
              <a:rPr lang="ru-RU" dirty="0" smtClean="0"/>
              <a:t>1 (1 </a:t>
            </a:r>
            <a:r>
              <a:rPr lang="ru-RU" dirty="0"/>
              <a:t>/ </a:t>
            </a:r>
            <a:r>
              <a:rPr lang="ru-RU" dirty="0" smtClean="0"/>
              <a:t>𝑐), </a:t>
            </a:r>
            <a:r>
              <a:rPr lang="ru-RU" dirty="0"/>
              <a:t>коли записи </a:t>
            </a:r>
            <a:r>
              <a:rPr lang="ru-RU" dirty="0" err="1"/>
              <a:t>однаково</a:t>
            </a:r>
            <a:r>
              <a:rPr lang="ru-RU" dirty="0"/>
              <a:t> </a:t>
            </a:r>
            <a:r>
              <a:rPr lang="ru-RU" dirty="0" err="1"/>
              <a:t>розподіляються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усіма</a:t>
            </a:r>
            <a:r>
              <a:rPr lang="ru-RU" dirty="0"/>
              <a:t> </a:t>
            </a:r>
            <a:r>
              <a:rPr lang="ru-RU" dirty="0" err="1"/>
              <a:t>класами</a:t>
            </a:r>
            <a:r>
              <a:rPr lang="ru-RU" dirty="0"/>
              <a:t>, </a:t>
            </a:r>
            <a:r>
              <a:rPr lang="ru-RU" dirty="0" err="1"/>
              <a:t>маючи</a:t>
            </a:r>
            <a:r>
              <a:rPr lang="ru-RU" dirty="0"/>
              <a:t> на </a:t>
            </a:r>
            <a:r>
              <a:rPr lang="ru-RU" dirty="0" err="1"/>
              <a:t>увазі</a:t>
            </a:r>
            <a:r>
              <a:rPr lang="ru-RU" dirty="0"/>
              <a:t> </a:t>
            </a:r>
            <a:r>
              <a:rPr lang="ru-RU" dirty="0" err="1"/>
              <a:t>найменш</a:t>
            </a:r>
            <a:r>
              <a:rPr lang="ru-RU" dirty="0"/>
              <a:t> </a:t>
            </a:r>
            <a:r>
              <a:rPr lang="ru-RU" dirty="0" err="1"/>
              <a:t>цікаву</a:t>
            </a:r>
            <a:r>
              <a:rPr lang="ru-RU" dirty="0"/>
              <a:t> </a:t>
            </a:r>
            <a:r>
              <a:rPr lang="ru-RU" dirty="0" err="1"/>
              <a:t>ситуацію</a:t>
            </a:r>
            <a:endParaRPr lang="ru-RU" dirty="0"/>
          </a:p>
          <a:p>
            <a:pPr marL="257175" indent="-257175">
              <a:buFont typeface="Monotype Sorts" charset="0"/>
              <a:buChar char="l"/>
              <a:defRPr/>
            </a:pPr>
            <a:r>
              <a:rPr lang="ru-RU" dirty="0" err="1"/>
              <a:t>Мінімум</a:t>
            </a:r>
            <a:r>
              <a:rPr lang="ru-RU" dirty="0"/>
              <a:t> 0, коли </a:t>
            </a:r>
            <a:r>
              <a:rPr lang="ru-RU" dirty="0" err="1"/>
              <a:t>всі</a:t>
            </a:r>
            <a:r>
              <a:rPr lang="ru-RU" dirty="0"/>
              <a:t> записи належать до одного </a:t>
            </a:r>
            <a:r>
              <a:rPr lang="ru-RU" dirty="0" err="1"/>
              <a:t>класу</a:t>
            </a:r>
            <a:r>
              <a:rPr lang="ru-RU" dirty="0"/>
              <a:t>, </a:t>
            </a:r>
            <a:r>
              <a:rPr lang="ru-RU" dirty="0" err="1"/>
              <a:t>маючи</a:t>
            </a:r>
            <a:r>
              <a:rPr lang="ru-RU" dirty="0"/>
              <a:t> на </a:t>
            </a:r>
            <a:r>
              <a:rPr lang="ru-RU" dirty="0" err="1"/>
              <a:t>увазі</a:t>
            </a:r>
            <a:r>
              <a:rPr lang="ru-RU" dirty="0"/>
              <a:t> </a:t>
            </a:r>
            <a:r>
              <a:rPr lang="ru-RU" dirty="0" err="1"/>
              <a:t>найцікавішу</a:t>
            </a:r>
            <a:r>
              <a:rPr lang="ru-RU" dirty="0"/>
              <a:t> </a:t>
            </a:r>
            <a:r>
              <a:rPr lang="ru-RU" dirty="0" err="1"/>
              <a:t>ситуацію</a:t>
            </a:r>
            <a:endParaRPr lang="en-US" sz="1800" dirty="0"/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4FE94231-EC7E-4712-8238-A33C4AAA483A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>
          <a:xfrm>
            <a:off x="0" y="4767263"/>
            <a:ext cx="2057400" cy="274637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09/21/2020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0CAA0C4D-0C59-4BFA-A6F3-3CB425CAB844}"/>
                  </a:ext>
                </a:extLst>
              </p:cNvPr>
              <p:cNvSpPr txBox="1"/>
              <p:nvPr/>
            </p:nvSpPr>
            <p:spPr>
              <a:xfrm>
                <a:off x="2286001" y="1600200"/>
                <a:ext cx="3234283" cy="4228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defTabSz="685800" eaLnBrk="0"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 kern="1200">
                          <a:latin typeface="Cambria Math" panose="02040503050406030204" pitchFamily="18" charset="0"/>
                          <a:cs typeface="+mn-cs"/>
                        </a:rPr>
                        <m:t>𝐸𝑟𝑟𝑜𝑟</m:t>
                      </m:r>
                      <m:d>
                        <m:dPr>
                          <m:ctrlPr>
                            <a:rPr lang="en-US" sz="2100" i="1" kern="1200"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en-US" sz="2100" i="1" kern="1200"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a:rPr lang="en-US" sz="2100" i="1" kern="1200"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limLow>
                        <m:limLowPr>
                          <m:ctrlPr>
                            <a:rPr lang="en-US" sz="2100" i="1" kern="1200"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limLowPr>
                        <m:e>
                          <m:r>
                            <a:rPr lang="en-US" sz="2100" kern="1200">
                              <a:latin typeface="Cambria Math" panose="02040503050406030204" pitchFamily="18" charset="0"/>
                              <a:cs typeface="+mn-cs"/>
                            </a:rPr>
                            <m:t>1 −</m:t>
                          </m:r>
                          <m:r>
                            <m:rPr>
                              <m:sty m:val="p"/>
                            </m:rPr>
                            <a:rPr lang="en-US" sz="2100" kern="1200">
                              <a:latin typeface="Cambria Math" panose="02040503050406030204" pitchFamily="18" charset="0"/>
                              <a:cs typeface="+mn-cs"/>
                            </a:rPr>
                            <m:t>max</m:t>
                          </m:r>
                        </m:e>
                        <m:lim>
                          <m:r>
                            <a:rPr lang="en-US" sz="2100" i="1" kern="1200">
                              <a:latin typeface="Cambria Math" panose="02040503050406030204" pitchFamily="18" charset="0"/>
                              <a:cs typeface="+mn-cs"/>
                            </a:rPr>
                            <m:t>            </m:t>
                          </m:r>
                          <m:r>
                            <a:rPr lang="en-US" sz="2100" i="1" kern="1200"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lim>
                      </m:limLow>
                      <m:r>
                        <a:rPr lang="en-US" sz="2100" i="1" kern="1200">
                          <a:latin typeface="Cambria Math" panose="02040503050406030204" pitchFamily="18" charset="0"/>
                          <a:cs typeface="+mn-cs"/>
                        </a:rPr>
                        <m:t>⁡[</m:t>
                      </m:r>
                      <m:sSub>
                        <m:sSubPr>
                          <m:ctrlPr>
                            <a:rPr lang="en-US" sz="2100" i="1" kern="1200"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100" i="1" kern="1200">
                              <a:latin typeface="Cambria Math" panose="02040503050406030204" pitchFamily="18" charset="0"/>
                              <a:cs typeface="+mn-cs"/>
                            </a:rPr>
                            <m:t>𝑝</m:t>
                          </m:r>
                        </m:e>
                        <m:sub>
                          <m:r>
                            <a:rPr lang="en-US" sz="2100" i="1" kern="1200"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100" i="1" kern="1200"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en-US" sz="2100" i="1" kern="1200"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a:rPr lang="en-US" sz="2100" i="1" kern="1200">
                          <a:latin typeface="Cambria Math" panose="02040503050406030204" pitchFamily="18" charset="0"/>
                          <a:cs typeface="+mn-cs"/>
                        </a:rPr>
                        <m:t>]</m:t>
                      </m:r>
                    </m:oMath>
                  </m:oMathPara>
                </a14:m>
                <a:endParaRPr lang="en-US" sz="2100" kern="1200" dirty="0"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CAA0C4D-0C59-4BFA-A6F3-3CB425CAB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1" y="1600200"/>
                <a:ext cx="3234283" cy="422808"/>
              </a:xfrm>
              <a:prstGeom prst="rect">
                <a:avLst/>
              </a:prstGeom>
              <a:blipFill rotWithShape="0">
                <a:blip r:embed="rId2"/>
                <a:stretch>
                  <a:fillRect l="-1130" r="-2260" b="-1594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0618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0712EEC-6179-4693-8F5E-28FFB003C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Introduction to Data Mining, 2</a:t>
            </a:r>
            <a:r>
              <a:rPr lang="en-US" baseline="30000">
                <a:solidFill>
                  <a:srgbClr val="000000">
                    <a:tint val="75000"/>
                  </a:srgbClr>
                </a:solidFill>
              </a:rPr>
              <a:t>nd</a:t>
            </a:r>
            <a:r>
              <a:rPr lang="en-US">
                <a:solidFill>
                  <a:srgbClr val="000000">
                    <a:tint val="75000"/>
                  </a:srgbClr>
                </a:solidFill>
              </a:rPr>
              <a:t> Edition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815A619-028A-46F1-9A6D-1EB8314F7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2EFA7E-4E09-40EF-AB70-EBB452ADC926}" type="slidenum">
              <a:rPr 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62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05173E6C-8C53-4DCA-B1CD-98445265A26A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>
          <a:xfrm>
            <a:off x="0" y="4767263"/>
            <a:ext cx="2057400" cy="274637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09/21/2020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graphicFrame>
        <p:nvGraphicFramePr>
          <p:cNvPr id="58370" name="Object 3">
            <a:extLst>
              <a:ext uri="{FF2B5EF4-FFF2-40B4-BE49-F238E27FC236}">
                <a16:creationId xmlns="" xmlns:a16="http://schemas.microsoft.com/office/drawing/2014/main" id="{6A48B403-AB3C-4FD0-8E61-791D9E764E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1754982"/>
          <a:ext cx="1771650" cy="7024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1" name="Document" r:id="rId3" imgW="3238500" imgH="1357884" progId="Word.Document.8">
                  <p:embed/>
                </p:oleObj>
              </mc:Choice>
              <mc:Fallback>
                <p:oleObj name="Document" r:id="rId3" imgW="3238500" imgH="135788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754982"/>
                        <a:ext cx="1771650" cy="7024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1" name="Object 4">
            <a:extLst>
              <a:ext uri="{FF2B5EF4-FFF2-40B4-BE49-F238E27FC236}">
                <a16:creationId xmlns="" xmlns:a16="http://schemas.microsoft.com/office/drawing/2014/main" id="{7F74DCE7-9836-4233-8C29-3FB1164055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8750" y="3886200"/>
          <a:ext cx="1714500" cy="703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2" name="Document" r:id="rId5" imgW="3238500" imgH="1382268" progId="Word.Document.8">
                  <p:embed/>
                </p:oleObj>
              </mc:Choice>
              <mc:Fallback>
                <p:oleObj name="Document" r:id="rId5" imgW="3238500" imgH="138226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3886200"/>
                        <a:ext cx="1714500" cy="7036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2" name="Object 5">
            <a:extLst>
              <a:ext uri="{FF2B5EF4-FFF2-40B4-BE49-F238E27FC236}">
                <a16:creationId xmlns="" xmlns:a16="http://schemas.microsoft.com/office/drawing/2014/main" id="{125CF67F-23C4-411B-9952-9BE05B9582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8750" y="2863453"/>
          <a:ext cx="1714500" cy="679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3" name="Document" r:id="rId7" imgW="3238500" imgH="1357884" progId="Word.Document.8">
                  <p:embed/>
                </p:oleObj>
              </mc:Choice>
              <mc:Fallback>
                <p:oleObj name="Document" r:id="rId7" imgW="3238500" imgH="135788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2863453"/>
                        <a:ext cx="1714500" cy="6798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3" name="Text Box 6">
            <a:extLst>
              <a:ext uri="{FF2B5EF4-FFF2-40B4-BE49-F238E27FC236}">
                <a16:creationId xmlns="" xmlns:a16="http://schemas.microsoft.com/office/drawing/2014/main" id="{DF232E83-3B46-424E-A516-44BC9A1FC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4700" y="1754981"/>
            <a:ext cx="4457700" cy="669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00" b="1" kern="1200">
                <a:solidFill>
                  <a:srgbClr val="000000"/>
                </a:solidFill>
                <a:cs typeface="+mn-cs"/>
              </a:rPr>
              <a:t>P(C1) = 0/6 = 0     P(C2) = 6/6 = 1</a:t>
            </a:r>
          </a:p>
          <a:p>
            <a:pPr algn="l" defTabSz="685800" eaLnBrk="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00" b="1" kern="1200">
                <a:solidFill>
                  <a:srgbClr val="000000"/>
                </a:solidFill>
                <a:cs typeface="+mn-cs"/>
              </a:rPr>
              <a:t>Error = 1 – max (0, 1) = 1 – 1 = 0 </a:t>
            </a:r>
          </a:p>
        </p:txBody>
      </p:sp>
      <p:sp>
        <p:nvSpPr>
          <p:cNvPr id="58374" name="Text Box 7">
            <a:extLst>
              <a:ext uri="{FF2B5EF4-FFF2-40B4-BE49-F238E27FC236}">
                <a16:creationId xmlns="" xmlns:a16="http://schemas.microsoft.com/office/drawing/2014/main" id="{C5B8324E-89A1-4D1E-A5A2-326BC8494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1850" y="2800350"/>
            <a:ext cx="3829050" cy="669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00" b="1" kern="1200">
                <a:solidFill>
                  <a:srgbClr val="000000"/>
                </a:solidFill>
                <a:cs typeface="+mn-cs"/>
              </a:rPr>
              <a:t>P(C1) = 1/6          P(C2) = 5/6</a:t>
            </a:r>
          </a:p>
          <a:p>
            <a:pPr algn="l" defTabSz="685800" eaLnBrk="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00" b="1" kern="1200">
                <a:solidFill>
                  <a:srgbClr val="000000"/>
                </a:solidFill>
                <a:cs typeface="+mn-cs"/>
              </a:rPr>
              <a:t>Error = 1 – max (1/6, 5/6) = 1 – 5/6 = 1/6</a:t>
            </a:r>
          </a:p>
        </p:txBody>
      </p:sp>
      <p:sp>
        <p:nvSpPr>
          <p:cNvPr id="58375" name="Text Box 8">
            <a:extLst>
              <a:ext uri="{FF2B5EF4-FFF2-40B4-BE49-F238E27FC236}">
                <a16:creationId xmlns="" xmlns:a16="http://schemas.microsoft.com/office/drawing/2014/main" id="{19CD679F-69B6-4B8A-9098-F1E7BC6B15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1850" y="3829050"/>
            <a:ext cx="4629150" cy="669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00" b="1" kern="1200">
                <a:solidFill>
                  <a:srgbClr val="000000"/>
                </a:solidFill>
                <a:cs typeface="+mn-cs"/>
              </a:rPr>
              <a:t>P(C1) = 2/6          P(C2) = 4/6</a:t>
            </a:r>
          </a:p>
          <a:p>
            <a:pPr algn="l" defTabSz="685800" eaLnBrk="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00" b="1" kern="1200">
                <a:solidFill>
                  <a:srgbClr val="000000"/>
                </a:solidFill>
                <a:cs typeface="+mn-cs"/>
              </a:rPr>
              <a:t>Error = 1 – max (2/6, 4/6) = 1 – 4/6 = 1/3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3964493B-930D-455B-9DE3-54A534D6C39F}"/>
                  </a:ext>
                </a:extLst>
              </p:cNvPr>
              <p:cNvSpPr txBox="1"/>
              <p:nvPr/>
            </p:nvSpPr>
            <p:spPr>
              <a:xfrm>
                <a:off x="2457850" y="1099227"/>
                <a:ext cx="3234283" cy="4228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defTabSz="685800" eaLnBrk="0"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 kern="1200">
                          <a:latin typeface="Cambria Math" panose="02040503050406030204" pitchFamily="18" charset="0"/>
                          <a:cs typeface="+mn-cs"/>
                        </a:rPr>
                        <m:t>𝐸𝑟𝑟𝑜𝑟</m:t>
                      </m:r>
                      <m:d>
                        <m:dPr>
                          <m:ctrlPr>
                            <a:rPr lang="en-US" sz="2100" i="1" kern="1200"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en-US" sz="2100" i="1" kern="1200"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a:rPr lang="en-US" sz="2100" i="1" kern="1200"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limLow>
                        <m:limLowPr>
                          <m:ctrlPr>
                            <a:rPr lang="en-US" sz="2100" i="1" kern="1200"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limLowPr>
                        <m:e>
                          <m:r>
                            <a:rPr lang="en-US" sz="2100" kern="1200">
                              <a:latin typeface="Cambria Math" panose="02040503050406030204" pitchFamily="18" charset="0"/>
                              <a:cs typeface="+mn-cs"/>
                            </a:rPr>
                            <m:t>1 −</m:t>
                          </m:r>
                          <m:r>
                            <m:rPr>
                              <m:sty m:val="p"/>
                            </m:rPr>
                            <a:rPr lang="en-US" sz="2100" kern="1200">
                              <a:latin typeface="Cambria Math" panose="02040503050406030204" pitchFamily="18" charset="0"/>
                              <a:cs typeface="+mn-cs"/>
                            </a:rPr>
                            <m:t>max</m:t>
                          </m:r>
                        </m:e>
                        <m:lim>
                          <m:r>
                            <a:rPr lang="en-US" sz="2100" i="1" kern="1200">
                              <a:latin typeface="Cambria Math" panose="02040503050406030204" pitchFamily="18" charset="0"/>
                              <a:cs typeface="+mn-cs"/>
                            </a:rPr>
                            <m:t>            </m:t>
                          </m:r>
                          <m:r>
                            <a:rPr lang="en-US" sz="2100" i="1" kern="1200"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lim>
                      </m:limLow>
                      <m:r>
                        <a:rPr lang="en-US" sz="2100" i="1" kern="1200">
                          <a:latin typeface="Cambria Math" panose="02040503050406030204" pitchFamily="18" charset="0"/>
                          <a:cs typeface="+mn-cs"/>
                        </a:rPr>
                        <m:t>⁡[</m:t>
                      </m:r>
                      <m:sSub>
                        <m:sSubPr>
                          <m:ctrlPr>
                            <a:rPr lang="en-US" sz="2100" i="1" kern="1200"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100" i="1" kern="1200">
                              <a:latin typeface="Cambria Math" panose="02040503050406030204" pitchFamily="18" charset="0"/>
                              <a:cs typeface="+mn-cs"/>
                            </a:rPr>
                            <m:t>𝑝</m:t>
                          </m:r>
                        </m:e>
                        <m:sub>
                          <m:r>
                            <a:rPr lang="en-US" sz="2100" i="1" kern="1200"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100" i="1" kern="1200"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en-US" sz="2100" i="1" kern="1200"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a:rPr lang="en-US" sz="2100" i="1" kern="1200">
                          <a:latin typeface="Cambria Math" panose="02040503050406030204" pitchFamily="18" charset="0"/>
                          <a:cs typeface="+mn-cs"/>
                        </a:rPr>
                        <m:t>]</m:t>
                      </m:r>
                    </m:oMath>
                  </m:oMathPara>
                </a14:m>
                <a:endParaRPr lang="en-US" sz="2100" kern="1200" dirty="0"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964493B-930D-455B-9DE3-54A534D6C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7850" y="1099227"/>
                <a:ext cx="3234283" cy="422808"/>
              </a:xfrm>
              <a:prstGeom prst="rect">
                <a:avLst/>
              </a:prstGeom>
              <a:blipFill rotWithShape="0">
                <a:blip r:embed="rId9"/>
                <a:stretch>
                  <a:fillRect l="-1130" r="-2260" b="-157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2">
            <a:extLst>
              <a:ext uri="{FF2B5EF4-FFF2-40B4-BE49-F238E27FC236}">
                <a16:creationId xmlns="" xmlns:a16="http://schemas.microsoft.com/office/drawing/2014/main" id="{3D866F26-FADC-4DC3-8B26-F5BFD39B8C4C}"/>
              </a:ext>
            </a:extLst>
          </p:cNvPr>
          <p:cNvSpPr txBox="1">
            <a:spLocks noChangeArrowheads="1"/>
          </p:cNvSpPr>
          <p:nvPr/>
        </p:nvSpPr>
        <p:spPr>
          <a:xfrm>
            <a:off x="-82194" y="114300"/>
            <a:ext cx="9226193" cy="40005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sz="3200" b="1" dirty="0" err="1" smtClean="0">
                <a:solidFill>
                  <a:schemeClr val="bg1"/>
                </a:solidFill>
                <a:latin typeface="+mn-lt"/>
              </a:rPr>
              <a:t>Обчислення</a:t>
            </a:r>
            <a:r>
              <a:rPr lang="ru-RU" sz="32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200" b="1" dirty="0" err="1" smtClean="0">
                <a:solidFill>
                  <a:schemeClr val="bg1"/>
                </a:solidFill>
                <a:latin typeface="+mn-lt"/>
              </a:rPr>
              <a:t>помилки</a:t>
            </a:r>
            <a:r>
              <a:rPr lang="ru-RU" sz="3200" b="1" dirty="0" smtClean="0">
                <a:solidFill>
                  <a:schemeClr val="bg1"/>
                </a:solidFill>
                <a:latin typeface="+mn-lt"/>
              </a:rPr>
              <a:t> в одному </a:t>
            </a:r>
            <a:r>
              <a:rPr lang="ru-RU" sz="3200" b="1" dirty="0" err="1" smtClean="0">
                <a:solidFill>
                  <a:schemeClr val="bg1"/>
                </a:solidFill>
                <a:latin typeface="+mn-lt"/>
              </a:rPr>
              <a:t>вузлі</a:t>
            </a:r>
            <a:endParaRPr lang="en-US" sz="32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27175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82886" y="85199"/>
            <a:ext cx="8229600" cy="7429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uk-UA" b="1" dirty="0" smtClean="0">
                <a:solidFill>
                  <a:schemeClr val="bg1"/>
                </a:solidFill>
                <a:latin typeface="+mn-lt"/>
              </a:rPr>
              <a:t>Приклад </a:t>
            </a:r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8601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2909355"/>
              </p:ext>
            </p:extLst>
          </p:nvPr>
        </p:nvGraphicFramePr>
        <p:xfrm>
          <a:off x="376291" y="1177001"/>
          <a:ext cx="1771650" cy="7024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2" name="Document" r:id="rId4" imgW="3240623" imgH="1355425" progId="Word.Document.8">
                  <p:embed/>
                </p:oleObj>
              </mc:Choice>
              <mc:Fallback>
                <p:oleObj name="Document" r:id="rId4" imgW="3240623" imgH="135542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291" y="1177001"/>
                        <a:ext cx="1771650" cy="7024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1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9759235"/>
              </p:ext>
            </p:extLst>
          </p:nvPr>
        </p:nvGraphicFramePr>
        <p:xfrm>
          <a:off x="482886" y="3679533"/>
          <a:ext cx="1714500" cy="703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3" name="Document" r:id="rId6" imgW="3239280" imgH="1381680" progId="Word.Document.8">
                  <p:embed/>
                </p:oleObj>
              </mc:Choice>
              <mc:Fallback>
                <p:oleObj name="Document" r:id="rId6" imgW="3239280" imgH="13816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886" y="3679533"/>
                        <a:ext cx="1714500" cy="7036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1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4753363"/>
              </p:ext>
            </p:extLst>
          </p:nvPr>
        </p:nvGraphicFramePr>
        <p:xfrm>
          <a:off x="482886" y="2471454"/>
          <a:ext cx="1714500" cy="679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4" name="Document" r:id="rId8" imgW="3239280" imgH="1357560" progId="Word.Document.8">
                  <p:embed/>
                </p:oleObj>
              </mc:Choice>
              <mc:Fallback>
                <p:oleObj name="Document" r:id="rId8" imgW="3239280" imgH="13575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886" y="2471454"/>
                        <a:ext cx="1714500" cy="6798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170" name="Text Box 10"/>
          <p:cNvSpPr txBox="1">
            <a:spLocks noChangeArrowheads="1"/>
          </p:cNvSpPr>
          <p:nvPr/>
        </p:nvSpPr>
        <p:spPr bwMode="auto">
          <a:xfrm>
            <a:off x="2746410" y="828149"/>
            <a:ext cx="535989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defTabSz="685800" hangingPunct="1"/>
            <a:r>
              <a:rPr lang="en-US" sz="1800" kern="1200" dirty="0">
                <a:solidFill>
                  <a:prstClr val="black"/>
                </a:solidFill>
                <a:ea typeface="+mn-ea"/>
                <a:cs typeface="+mn-cs"/>
              </a:rPr>
              <a:t>P(</a:t>
            </a:r>
            <a:r>
              <a:rPr lang="en-US" sz="1800" kern="1200" dirty="0" err="1">
                <a:solidFill>
                  <a:prstClr val="black"/>
                </a:solidFill>
                <a:ea typeface="+mn-ea"/>
                <a:cs typeface="+mn-cs"/>
              </a:rPr>
              <a:t>C1</a:t>
            </a:r>
            <a:r>
              <a:rPr lang="en-US" sz="1800" kern="1200" dirty="0">
                <a:solidFill>
                  <a:prstClr val="black"/>
                </a:solidFill>
                <a:ea typeface="+mn-ea"/>
                <a:cs typeface="+mn-cs"/>
              </a:rPr>
              <a:t>) = 0/6 = 0     P(</a:t>
            </a:r>
            <a:r>
              <a:rPr lang="en-US" sz="1800" kern="1200" dirty="0" err="1">
                <a:solidFill>
                  <a:prstClr val="black"/>
                </a:solidFill>
                <a:ea typeface="+mn-ea"/>
                <a:cs typeface="+mn-cs"/>
              </a:rPr>
              <a:t>C2</a:t>
            </a:r>
            <a:r>
              <a:rPr lang="en-US" sz="1800" kern="1200" dirty="0">
                <a:solidFill>
                  <a:prstClr val="black"/>
                </a:solidFill>
                <a:ea typeface="+mn-ea"/>
                <a:cs typeface="+mn-cs"/>
              </a:rPr>
              <a:t>) = 6/6 = 1</a:t>
            </a:r>
          </a:p>
          <a:p>
            <a:pPr algn="l" defTabSz="685800" hangingPunct="1"/>
            <a:r>
              <a:rPr lang="en-US" sz="1800" kern="1200" dirty="0" err="1">
                <a:solidFill>
                  <a:srgbClr val="0070C0"/>
                </a:solidFill>
                <a:ea typeface="+mn-ea"/>
                <a:cs typeface="+mn-cs"/>
              </a:rPr>
              <a:t>Gini</a:t>
            </a:r>
            <a:r>
              <a:rPr lang="en-US" sz="1800" kern="1200" dirty="0">
                <a:solidFill>
                  <a:srgbClr val="0070C0"/>
                </a:solidFill>
                <a:ea typeface="+mn-ea"/>
                <a:cs typeface="+mn-cs"/>
              </a:rPr>
              <a:t> </a:t>
            </a:r>
            <a:r>
              <a:rPr lang="en-US" sz="1800" kern="1200" dirty="0">
                <a:solidFill>
                  <a:prstClr val="black"/>
                </a:solidFill>
                <a:ea typeface="+mn-ea"/>
                <a:cs typeface="+mn-cs"/>
              </a:rPr>
              <a:t>= 1 – P(</a:t>
            </a:r>
            <a:r>
              <a:rPr lang="en-US" sz="1800" kern="1200" dirty="0" err="1">
                <a:solidFill>
                  <a:prstClr val="black"/>
                </a:solidFill>
                <a:ea typeface="+mn-ea"/>
                <a:cs typeface="+mn-cs"/>
              </a:rPr>
              <a:t>C1</a:t>
            </a:r>
            <a:r>
              <a:rPr lang="en-US" sz="1800" kern="1200" dirty="0">
                <a:solidFill>
                  <a:prstClr val="black"/>
                </a:solidFill>
                <a:ea typeface="+mn-ea"/>
                <a:cs typeface="+mn-cs"/>
              </a:rPr>
              <a:t>)</a:t>
            </a:r>
            <a:r>
              <a:rPr lang="en-US" sz="1800" kern="1200" baseline="30000" dirty="0">
                <a:solidFill>
                  <a:prstClr val="black"/>
                </a:solidFill>
                <a:ea typeface="+mn-ea"/>
                <a:cs typeface="+mn-cs"/>
              </a:rPr>
              <a:t>2 </a:t>
            </a:r>
            <a:r>
              <a:rPr lang="en-US" sz="1800" kern="1200" dirty="0">
                <a:solidFill>
                  <a:prstClr val="black"/>
                </a:solidFill>
                <a:ea typeface="+mn-ea"/>
                <a:cs typeface="+mn-cs"/>
              </a:rPr>
              <a:t>– P(</a:t>
            </a:r>
            <a:r>
              <a:rPr lang="en-US" sz="1800" kern="1200" dirty="0" err="1">
                <a:solidFill>
                  <a:prstClr val="black"/>
                </a:solidFill>
                <a:ea typeface="+mn-ea"/>
                <a:cs typeface="+mn-cs"/>
              </a:rPr>
              <a:t>C2</a:t>
            </a:r>
            <a:r>
              <a:rPr lang="en-US" sz="1800" kern="1200" dirty="0">
                <a:solidFill>
                  <a:prstClr val="black"/>
                </a:solidFill>
                <a:ea typeface="+mn-ea"/>
                <a:cs typeface="+mn-cs"/>
              </a:rPr>
              <a:t>)</a:t>
            </a:r>
            <a:r>
              <a:rPr lang="en-US" sz="1800" kern="1200" baseline="30000" dirty="0">
                <a:solidFill>
                  <a:prstClr val="black"/>
                </a:solidFill>
                <a:ea typeface="+mn-ea"/>
                <a:cs typeface="+mn-cs"/>
              </a:rPr>
              <a:t>2</a:t>
            </a:r>
            <a:r>
              <a:rPr lang="en-US" sz="1800" kern="1200" dirty="0">
                <a:solidFill>
                  <a:prstClr val="black"/>
                </a:solidFill>
                <a:ea typeface="+mn-ea"/>
                <a:cs typeface="+mn-cs"/>
              </a:rPr>
              <a:t> = 1 – 0 – 1 = 0</a:t>
            </a:r>
          </a:p>
          <a:p>
            <a:pPr algn="l" defTabSz="685800" hangingPunct="1"/>
            <a:r>
              <a:rPr lang="en-US" sz="1800" kern="1200" dirty="0">
                <a:solidFill>
                  <a:srgbClr val="F79646">
                    <a:lumMod val="75000"/>
                  </a:srgbClr>
                </a:solidFill>
                <a:ea typeface="+mn-ea"/>
                <a:cs typeface="+mn-cs"/>
              </a:rPr>
              <a:t>Entropy</a:t>
            </a:r>
            <a:r>
              <a:rPr lang="en-US" sz="1800" kern="1200" dirty="0">
                <a:solidFill>
                  <a:prstClr val="black"/>
                </a:solidFill>
                <a:ea typeface="+mn-ea"/>
                <a:cs typeface="+mn-cs"/>
              </a:rPr>
              <a:t> = – 0 log 0</a:t>
            </a:r>
            <a:r>
              <a:rPr lang="en-US" sz="1800" kern="1200" baseline="30000" dirty="0">
                <a:solidFill>
                  <a:prstClr val="black"/>
                </a:solidFill>
                <a:ea typeface="+mn-ea"/>
                <a:cs typeface="+mn-cs"/>
              </a:rPr>
              <a:t> </a:t>
            </a:r>
            <a:r>
              <a:rPr lang="en-US" sz="1800" kern="1200" dirty="0">
                <a:solidFill>
                  <a:prstClr val="black"/>
                </a:solidFill>
                <a:ea typeface="+mn-ea"/>
                <a:cs typeface="+mn-cs"/>
              </a:rPr>
              <a:t>– 1 log 1 = – 0 – 0 = 0</a:t>
            </a:r>
          </a:p>
          <a:p>
            <a:pPr algn="l" defTabSz="685800" hangingPunct="1"/>
            <a:r>
              <a:rPr lang="en-US" sz="1800" kern="1200" dirty="0">
                <a:solidFill>
                  <a:srgbClr val="FF0000"/>
                </a:solidFill>
                <a:ea typeface="+mn-ea"/>
                <a:cs typeface="+mn-cs"/>
              </a:rPr>
              <a:t>Error </a:t>
            </a:r>
            <a:r>
              <a:rPr lang="en-US" sz="1800" kern="1200" dirty="0">
                <a:solidFill>
                  <a:prstClr val="black"/>
                </a:solidFill>
                <a:ea typeface="+mn-ea"/>
                <a:cs typeface="+mn-cs"/>
              </a:rPr>
              <a:t>= 1 – max (0, 1) = 1 – 1 = 0 </a:t>
            </a:r>
          </a:p>
        </p:txBody>
      </p:sp>
      <p:sp>
        <p:nvSpPr>
          <p:cNvPr id="860172" name="Text Box 12"/>
          <p:cNvSpPr txBox="1">
            <a:spLocks noChangeArrowheads="1"/>
          </p:cNvSpPr>
          <p:nvPr/>
        </p:nvSpPr>
        <p:spPr bwMode="auto">
          <a:xfrm>
            <a:off x="2746410" y="2171263"/>
            <a:ext cx="484619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defTabSz="685800" hangingPunct="1"/>
            <a:r>
              <a:rPr lang="en-US" sz="1800" kern="1200" dirty="0">
                <a:solidFill>
                  <a:prstClr val="black"/>
                </a:solidFill>
                <a:ea typeface="+mn-ea"/>
                <a:cs typeface="+mn-cs"/>
              </a:rPr>
              <a:t>P(</a:t>
            </a:r>
            <a:r>
              <a:rPr lang="en-US" sz="1800" kern="1200" dirty="0" err="1">
                <a:solidFill>
                  <a:prstClr val="black"/>
                </a:solidFill>
                <a:ea typeface="+mn-ea"/>
                <a:cs typeface="+mn-cs"/>
              </a:rPr>
              <a:t>C1</a:t>
            </a:r>
            <a:r>
              <a:rPr lang="en-US" sz="1800" kern="1200" dirty="0">
                <a:solidFill>
                  <a:prstClr val="black"/>
                </a:solidFill>
                <a:ea typeface="+mn-ea"/>
                <a:cs typeface="+mn-cs"/>
              </a:rPr>
              <a:t>) = 1/6          P(</a:t>
            </a:r>
            <a:r>
              <a:rPr lang="en-US" sz="1800" kern="1200" dirty="0" err="1">
                <a:solidFill>
                  <a:prstClr val="black"/>
                </a:solidFill>
                <a:ea typeface="+mn-ea"/>
                <a:cs typeface="+mn-cs"/>
              </a:rPr>
              <a:t>C2</a:t>
            </a:r>
            <a:r>
              <a:rPr lang="en-US" sz="1800" kern="1200" dirty="0">
                <a:solidFill>
                  <a:prstClr val="black"/>
                </a:solidFill>
                <a:ea typeface="+mn-ea"/>
                <a:cs typeface="+mn-cs"/>
              </a:rPr>
              <a:t>) = 5/6</a:t>
            </a:r>
          </a:p>
          <a:p>
            <a:pPr algn="l" defTabSz="685800" hangingPunct="1"/>
            <a:r>
              <a:rPr lang="en-US" sz="1800" kern="1200" dirty="0" err="1">
                <a:solidFill>
                  <a:srgbClr val="0070C0"/>
                </a:solidFill>
                <a:ea typeface="+mn-ea"/>
                <a:cs typeface="+mn-cs"/>
              </a:rPr>
              <a:t>Gini</a:t>
            </a:r>
            <a:r>
              <a:rPr lang="en-US" sz="1800" kern="1200" dirty="0">
                <a:solidFill>
                  <a:srgbClr val="0070C0"/>
                </a:solidFill>
                <a:ea typeface="+mn-ea"/>
                <a:cs typeface="+mn-cs"/>
              </a:rPr>
              <a:t> </a:t>
            </a:r>
            <a:r>
              <a:rPr lang="en-US" sz="1800" kern="1200" dirty="0">
                <a:solidFill>
                  <a:prstClr val="black"/>
                </a:solidFill>
                <a:ea typeface="+mn-ea"/>
                <a:cs typeface="+mn-cs"/>
              </a:rPr>
              <a:t>= 1 – (1/6)</a:t>
            </a:r>
            <a:r>
              <a:rPr lang="en-US" sz="1800" kern="1200" baseline="30000" dirty="0">
                <a:solidFill>
                  <a:prstClr val="black"/>
                </a:solidFill>
                <a:ea typeface="+mn-ea"/>
                <a:cs typeface="+mn-cs"/>
              </a:rPr>
              <a:t>2 </a:t>
            </a:r>
            <a:r>
              <a:rPr lang="en-US" sz="1800" kern="1200" dirty="0">
                <a:solidFill>
                  <a:prstClr val="black"/>
                </a:solidFill>
                <a:ea typeface="+mn-ea"/>
                <a:cs typeface="+mn-cs"/>
              </a:rPr>
              <a:t>– (5/6)</a:t>
            </a:r>
            <a:r>
              <a:rPr lang="en-US" sz="1800" kern="1200" baseline="30000" dirty="0">
                <a:solidFill>
                  <a:prstClr val="black"/>
                </a:solidFill>
                <a:ea typeface="+mn-ea"/>
                <a:cs typeface="+mn-cs"/>
              </a:rPr>
              <a:t>2</a:t>
            </a:r>
            <a:r>
              <a:rPr lang="en-US" sz="1800" kern="1200" dirty="0">
                <a:solidFill>
                  <a:prstClr val="black"/>
                </a:solidFill>
                <a:ea typeface="+mn-ea"/>
                <a:cs typeface="+mn-cs"/>
              </a:rPr>
              <a:t> = 0.278</a:t>
            </a:r>
          </a:p>
          <a:p>
            <a:pPr algn="l" defTabSz="685800" hangingPunct="1"/>
            <a:r>
              <a:rPr lang="en-US" sz="1800" kern="1200" dirty="0">
                <a:solidFill>
                  <a:srgbClr val="F79646">
                    <a:lumMod val="75000"/>
                  </a:srgbClr>
                </a:solidFill>
                <a:ea typeface="+mn-ea"/>
                <a:cs typeface="+mn-cs"/>
              </a:rPr>
              <a:t>Entropy</a:t>
            </a:r>
            <a:r>
              <a:rPr lang="en-US" sz="1800" kern="1200" dirty="0">
                <a:solidFill>
                  <a:prstClr val="black"/>
                </a:solidFill>
                <a:ea typeface="+mn-ea"/>
                <a:cs typeface="+mn-cs"/>
              </a:rPr>
              <a:t> = – (1/6) </a:t>
            </a:r>
            <a:r>
              <a:rPr lang="en-US" sz="1800" kern="1200" dirty="0" err="1">
                <a:solidFill>
                  <a:prstClr val="black"/>
                </a:solidFill>
                <a:ea typeface="+mn-ea"/>
                <a:cs typeface="+mn-cs"/>
              </a:rPr>
              <a:t>log</a:t>
            </a:r>
            <a:r>
              <a:rPr lang="en-US" sz="1800" kern="1200" baseline="-25000" dirty="0" err="1">
                <a:solidFill>
                  <a:prstClr val="black"/>
                </a:solidFill>
                <a:ea typeface="+mn-ea"/>
                <a:cs typeface="+mn-cs"/>
              </a:rPr>
              <a:t>2</a:t>
            </a:r>
            <a:r>
              <a:rPr lang="en-US" sz="1800" kern="1200" dirty="0">
                <a:solidFill>
                  <a:prstClr val="black"/>
                </a:solidFill>
                <a:ea typeface="+mn-ea"/>
                <a:cs typeface="+mn-cs"/>
              </a:rPr>
              <a:t> (1/6)</a:t>
            </a:r>
            <a:r>
              <a:rPr lang="en-US" sz="1800" kern="1200" baseline="30000" dirty="0">
                <a:solidFill>
                  <a:prstClr val="black"/>
                </a:solidFill>
                <a:ea typeface="+mn-ea"/>
                <a:cs typeface="+mn-cs"/>
              </a:rPr>
              <a:t> </a:t>
            </a:r>
            <a:r>
              <a:rPr lang="en-US" sz="1800" kern="1200" dirty="0">
                <a:solidFill>
                  <a:prstClr val="black"/>
                </a:solidFill>
                <a:ea typeface="+mn-ea"/>
                <a:cs typeface="+mn-cs"/>
              </a:rPr>
              <a:t>– (5/6) </a:t>
            </a:r>
            <a:r>
              <a:rPr lang="en-US" sz="1800" kern="1200" dirty="0" err="1">
                <a:solidFill>
                  <a:prstClr val="black"/>
                </a:solidFill>
                <a:ea typeface="+mn-ea"/>
                <a:cs typeface="+mn-cs"/>
              </a:rPr>
              <a:t>log</a:t>
            </a:r>
            <a:r>
              <a:rPr lang="en-US" sz="1800" kern="1200" baseline="-25000" dirty="0" err="1">
                <a:solidFill>
                  <a:prstClr val="black"/>
                </a:solidFill>
                <a:ea typeface="+mn-ea"/>
                <a:cs typeface="+mn-cs"/>
              </a:rPr>
              <a:t>2</a:t>
            </a:r>
            <a:r>
              <a:rPr lang="en-US" sz="1800" kern="1200" dirty="0">
                <a:solidFill>
                  <a:prstClr val="black"/>
                </a:solidFill>
                <a:ea typeface="+mn-ea"/>
                <a:cs typeface="+mn-cs"/>
              </a:rPr>
              <a:t> (1/6) = 0.65</a:t>
            </a:r>
          </a:p>
          <a:p>
            <a:pPr algn="l" defTabSz="685800" hangingPunct="1"/>
            <a:r>
              <a:rPr lang="en-US" sz="1800" kern="1200" dirty="0">
                <a:solidFill>
                  <a:srgbClr val="FF0000"/>
                </a:solidFill>
                <a:ea typeface="+mn-ea"/>
                <a:cs typeface="+mn-cs"/>
              </a:rPr>
              <a:t>Error </a:t>
            </a:r>
            <a:r>
              <a:rPr lang="en-US" sz="1800" kern="1200" dirty="0">
                <a:solidFill>
                  <a:prstClr val="black"/>
                </a:solidFill>
                <a:ea typeface="+mn-ea"/>
                <a:cs typeface="+mn-cs"/>
              </a:rPr>
              <a:t>= 1 – max (1/6, 5/6) = 1 – 5/6 = 1/6</a:t>
            </a:r>
          </a:p>
        </p:txBody>
      </p:sp>
      <p:sp>
        <p:nvSpPr>
          <p:cNvPr id="860173" name="Text Box 13"/>
          <p:cNvSpPr txBox="1">
            <a:spLocks noChangeArrowheads="1"/>
          </p:cNvSpPr>
          <p:nvPr/>
        </p:nvSpPr>
        <p:spPr bwMode="auto">
          <a:xfrm>
            <a:off x="2722011" y="3514377"/>
            <a:ext cx="487059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defTabSz="685800" hangingPunct="1"/>
            <a:r>
              <a:rPr lang="en-US" sz="1800" kern="1200" dirty="0">
                <a:solidFill>
                  <a:prstClr val="black"/>
                </a:solidFill>
                <a:ea typeface="+mn-ea"/>
                <a:cs typeface="+mn-cs"/>
              </a:rPr>
              <a:t>P(</a:t>
            </a:r>
            <a:r>
              <a:rPr lang="en-US" sz="1800" kern="1200" dirty="0" err="1">
                <a:solidFill>
                  <a:prstClr val="black"/>
                </a:solidFill>
                <a:ea typeface="+mn-ea"/>
                <a:cs typeface="+mn-cs"/>
              </a:rPr>
              <a:t>C1</a:t>
            </a:r>
            <a:r>
              <a:rPr lang="en-US" sz="1800" kern="1200" dirty="0">
                <a:solidFill>
                  <a:prstClr val="black"/>
                </a:solidFill>
                <a:ea typeface="+mn-ea"/>
                <a:cs typeface="+mn-cs"/>
              </a:rPr>
              <a:t>) = 2/6          P(</a:t>
            </a:r>
            <a:r>
              <a:rPr lang="en-US" sz="1800" kern="1200" dirty="0" err="1">
                <a:solidFill>
                  <a:prstClr val="black"/>
                </a:solidFill>
                <a:ea typeface="+mn-ea"/>
                <a:cs typeface="+mn-cs"/>
              </a:rPr>
              <a:t>C2</a:t>
            </a:r>
            <a:r>
              <a:rPr lang="en-US" sz="1800" kern="1200" dirty="0">
                <a:solidFill>
                  <a:prstClr val="black"/>
                </a:solidFill>
                <a:ea typeface="+mn-ea"/>
                <a:cs typeface="+mn-cs"/>
              </a:rPr>
              <a:t>) = 4/6</a:t>
            </a:r>
          </a:p>
          <a:p>
            <a:pPr algn="l" defTabSz="685800" hangingPunct="1"/>
            <a:r>
              <a:rPr lang="en-US" sz="1800" kern="1200" dirty="0" err="1">
                <a:solidFill>
                  <a:srgbClr val="0070C0"/>
                </a:solidFill>
                <a:ea typeface="+mn-ea"/>
                <a:cs typeface="+mn-cs"/>
              </a:rPr>
              <a:t>Gini</a:t>
            </a:r>
            <a:r>
              <a:rPr lang="en-US" sz="1800" kern="1200" dirty="0">
                <a:solidFill>
                  <a:srgbClr val="0070C0"/>
                </a:solidFill>
                <a:ea typeface="+mn-ea"/>
                <a:cs typeface="+mn-cs"/>
              </a:rPr>
              <a:t> </a:t>
            </a:r>
            <a:r>
              <a:rPr lang="en-US" sz="1800" kern="1200" dirty="0">
                <a:solidFill>
                  <a:prstClr val="black"/>
                </a:solidFill>
                <a:ea typeface="+mn-ea"/>
                <a:cs typeface="+mn-cs"/>
              </a:rPr>
              <a:t>= 1 – (2/6)</a:t>
            </a:r>
            <a:r>
              <a:rPr lang="en-US" sz="1800" kern="1200" baseline="30000" dirty="0">
                <a:solidFill>
                  <a:prstClr val="black"/>
                </a:solidFill>
                <a:ea typeface="+mn-ea"/>
                <a:cs typeface="+mn-cs"/>
              </a:rPr>
              <a:t>2 </a:t>
            </a:r>
            <a:r>
              <a:rPr lang="en-US" sz="1800" kern="1200" dirty="0">
                <a:solidFill>
                  <a:prstClr val="black"/>
                </a:solidFill>
                <a:ea typeface="+mn-ea"/>
                <a:cs typeface="+mn-cs"/>
              </a:rPr>
              <a:t>– (4/6)</a:t>
            </a:r>
            <a:r>
              <a:rPr lang="en-US" sz="1800" kern="1200" baseline="30000" dirty="0">
                <a:solidFill>
                  <a:prstClr val="black"/>
                </a:solidFill>
                <a:ea typeface="+mn-ea"/>
                <a:cs typeface="+mn-cs"/>
              </a:rPr>
              <a:t>2</a:t>
            </a:r>
            <a:r>
              <a:rPr lang="en-US" sz="1800" kern="1200" dirty="0">
                <a:solidFill>
                  <a:prstClr val="black"/>
                </a:solidFill>
                <a:ea typeface="+mn-ea"/>
                <a:cs typeface="+mn-cs"/>
              </a:rPr>
              <a:t> = 0.444</a:t>
            </a:r>
          </a:p>
          <a:p>
            <a:pPr algn="l" defTabSz="685800" hangingPunct="1"/>
            <a:r>
              <a:rPr lang="en-US" sz="1800" kern="1200" dirty="0">
                <a:solidFill>
                  <a:srgbClr val="F79646">
                    <a:lumMod val="75000"/>
                  </a:srgbClr>
                </a:solidFill>
                <a:ea typeface="+mn-ea"/>
                <a:cs typeface="+mn-cs"/>
              </a:rPr>
              <a:t>Entropy</a:t>
            </a:r>
            <a:r>
              <a:rPr lang="en-US" sz="1800" kern="1200" dirty="0">
                <a:solidFill>
                  <a:prstClr val="black"/>
                </a:solidFill>
                <a:ea typeface="+mn-ea"/>
                <a:cs typeface="+mn-cs"/>
              </a:rPr>
              <a:t> = – (2/6) </a:t>
            </a:r>
            <a:r>
              <a:rPr lang="en-US" sz="1800" kern="1200" dirty="0" err="1">
                <a:solidFill>
                  <a:prstClr val="black"/>
                </a:solidFill>
                <a:ea typeface="+mn-ea"/>
                <a:cs typeface="+mn-cs"/>
              </a:rPr>
              <a:t>log</a:t>
            </a:r>
            <a:r>
              <a:rPr lang="en-US" sz="1800" kern="1200" baseline="-25000" dirty="0" err="1">
                <a:solidFill>
                  <a:prstClr val="black"/>
                </a:solidFill>
                <a:ea typeface="+mn-ea"/>
                <a:cs typeface="+mn-cs"/>
              </a:rPr>
              <a:t>2</a:t>
            </a:r>
            <a:r>
              <a:rPr lang="en-US" sz="1800" kern="1200" dirty="0">
                <a:solidFill>
                  <a:prstClr val="black"/>
                </a:solidFill>
                <a:ea typeface="+mn-ea"/>
                <a:cs typeface="+mn-cs"/>
              </a:rPr>
              <a:t> (2/6)</a:t>
            </a:r>
            <a:r>
              <a:rPr lang="en-US" sz="1800" kern="1200" baseline="30000" dirty="0">
                <a:solidFill>
                  <a:prstClr val="black"/>
                </a:solidFill>
                <a:ea typeface="+mn-ea"/>
                <a:cs typeface="+mn-cs"/>
              </a:rPr>
              <a:t> </a:t>
            </a:r>
            <a:r>
              <a:rPr lang="en-US" sz="1800" kern="1200" dirty="0">
                <a:solidFill>
                  <a:prstClr val="black"/>
                </a:solidFill>
                <a:ea typeface="+mn-ea"/>
                <a:cs typeface="+mn-cs"/>
              </a:rPr>
              <a:t>– (4/6) </a:t>
            </a:r>
            <a:r>
              <a:rPr lang="en-US" sz="1800" kern="1200" dirty="0" err="1">
                <a:solidFill>
                  <a:prstClr val="black"/>
                </a:solidFill>
                <a:ea typeface="+mn-ea"/>
                <a:cs typeface="+mn-cs"/>
              </a:rPr>
              <a:t>log</a:t>
            </a:r>
            <a:r>
              <a:rPr lang="en-US" sz="1800" kern="1200" baseline="-25000" dirty="0" err="1">
                <a:solidFill>
                  <a:prstClr val="black"/>
                </a:solidFill>
                <a:ea typeface="+mn-ea"/>
                <a:cs typeface="+mn-cs"/>
              </a:rPr>
              <a:t>2</a:t>
            </a:r>
            <a:r>
              <a:rPr lang="en-US" sz="1800" kern="1200" dirty="0">
                <a:solidFill>
                  <a:prstClr val="black"/>
                </a:solidFill>
                <a:ea typeface="+mn-ea"/>
                <a:cs typeface="+mn-cs"/>
              </a:rPr>
              <a:t> (4/6) = 0.92</a:t>
            </a:r>
          </a:p>
          <a:p>
            <a:pPr algn="l" defTabSz="685800" hangingPunct="1"/>
            <a:r>
              <a:rPr lang="en-US" sz="1800" kern="1200" dirty="0">
                <a:solidFill>
                  <a:srgbClr val="FF0000"/>
                </a:solidFill>
                <a:ea typeface="+mn-ea"/>
                <a:cs typeface="+mn-cs"/>
              </a:rPr>
              <a:t>Error</a:t>
            </a:r>
            <a:r>
              <a:rPr lang="en-US" sz="1800" kern="1200" dirty="0">
                <a:solidFill>
                  <a:prstClr val="black"/>
                </a:solidFill>
                <a:ea typeface="+mn-ea"/>
                <a:cs typeface="+mn-cs"/>
              </a:rPr>
              <a:t> = 1 – max (2/6, 4/6) = 1 – 4/6 = 1/3</a:t>
            </a:r>
          </a:p>
        </p:txBody>
      </p:sp>
    </p:spTree>
    <p:extLst>
      <p:ext uri="{BB962C8B-B14F-4D97-AF65-F5344CB8AC3E}">
        <p14:creationId xmlns:p14="http://schemas.microsoft.com/office/powerpoint/2010/main" val="3416042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83B36D0A-2036-4D71-914C-82F886F18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Introduction to Data Mining, 2</a:t>
            </a:r>
            <a:r>
              <a:rPr lang="en-US" baseline="30000">
                <a:solidFill>
                  <a:srgbClr val="000000">
                    <a:tint val="75000"/>
                  </a:srgbClr>
                </a:solidFill>
              </a:rPr>
              <a:t>nd</a:t>
            </a:r>
            <a:r>
              <a:rPr lang="en-US">
                <a:solidFill>
                  <a:srgbClr val="000000">
                    <a:tint val="75000"/>
                  </a:srgbClr>
                </a:solidFill>
              </a:rPr>
              <a:t> Edition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FB19EBA-2491-4981-9445-6A292A42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3406A5-55CE-4E30-887A-CB23CAA2D1E5}" type="slidenum">
              <a:rPr 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64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8130" name="Rectangle 2">
            <a:extLst>
              <a:ext uri="{FF2B5EF4-FFF2-40B4-BE49-F238E27FC236}">
                <a16:creationId xmlns="" xmlns:a16="http://schemas.microsoft.com/office/drawing/2014/main" id="{B8CD58B2-C215-42EA-99AE-465A35C1990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14300"/>
            <a:ext cx="8280400" cy="40005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uk-UA" sz="3200" b="1" dirty="0" smtClean="0">
                <a:solidFill>
                  <a:schemeClr val="bg1"/>
                </a:solidFill>
                <a:latin typeface="+mn-lt"/>
                <a:cs typeface="+mj-cs"/>
              </a:rPr>
              <a:t>Порівняння оцінок</a:t>
            </a:r>
            <a:endParaRPr lang="en-US" sz="3200" b="1" dirty="0">
              <a:solidFill>
                <a:schemeClr val="bg1"/>
              </a:solidFill>
              <a:latin typeface="+mn-lt"/>
              <a:cs typeface="+mj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A612C0FD-1643-413F-A280-453E21802185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>
          <a:xfrm>
            <a:off x="0" y="4767263"/>
            <a:ext cx="2057400" cy="274637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09/21/2020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pic>
        <p:nvPicPr>
          <p:cNvPr id="59394" name="Picture 3">
            <a:extLst>
              <a:ext uri="{FF2B5EF4-FFF2-40B4-BE49-F238E27FC236}">
                <a16:creationId xmlns="" xmlns:a16="http://schemas.microsoft.com/office/drawing/2014/main" id="{82D9F279-81C1-4787-A9EE-E80B051BA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850" y="1200150"/>
            <a:ext cx="4686300" cy="351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5" name="Text Box 4">
            <a:extLst>
              <a:ext uri="{FF2B5EF4-FFF2-40B4-BE49-F238E27FC236}">
                <a16:creationId xmlns="" xmlns:a16="http://schemas.microsoft.com/office/drawing/2014/main" id="{71577A7D-B33F-45DB-BD8E-5BC6AF1E3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0" y="914400"/>
            <a:ext cx="35433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kern="1200">
                <a:solidFill>
                  <a:srgbClr val="000000"/>
                </a:solidFill>
                <a:cs typeface="+mn-cs"/>
              </a:rPr>
              <a:t>For a 2-class problem:</a:t>
            </a:r>
          </a:p>
        </p:txBody>
      </p:sp>
    </p:spTree>
    <p:extLst>
      <p:ext uri="{BB962C8B-B14F-4D97-AF65-F5344CB8AC3E}">
        <p14:creationId xmlns:p14="http://schemas.microsoft.com/office/powerpoint/2010/main" val="2990780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65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00187" y="832051"/>
            <a:ext cx="729979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2000" b="1" dirty="0" err="1">
                <a:solidFill>
                  <a:srgbClr val="0000CC"/>
                </a:solidFill>
                <a:latin typeface="+mn-lt"/>
              </a:rPr>
              <a:t>Переваги</a:t>
            </a:r>
            <a:r>
              <a:rPr lang="ru-RU" sz="2000" b="1" dirty="0">
                <a:solidFill>
                  <a:srgbClr val="0000CC"/>
                </a:solidFill>
                <a:latin typeface="+mn-lt"/>
              </a:rPr>
              <a:t>: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000" dirty="0">
                <a:latin typeface="+mn-lt"/>
              </a:rPr>
              <a:t>Недорого </a:t>
            </a:r>
            <a:r>
              <a:rPr lang="ru-RU" sz="2000" dirty="0" err="1">
                <a:latin typeface="+mn-lt"/>
              </a:rPr>
              <a:t>побудувати</a:t>
            </a:r>
            <a:endParaRPr lang="ru-RU" sz="2000" dirty="0">
              <a:latin typeface="+mn-lt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ru-RU" sz="2000" dirty="0" err="1">
                <a:latin typeface="+mn-lt"/>
              </a:rPr>
              <a:t>Надзвичайно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швидко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класифікує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невідомі</a:t>
            </a:r>
            <a:r>
              <a:rPr lang="ru-RU" sz="2000" dirty="0">
                <a:latin typeface="+mn-lt"/>
              </a:rPr>
              <a:t> записи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000" dirty="0">
                <a:latin typeface="+mn-lt"/>
              </a:rPr>
              <a:t>Легко </a:t>
            </a:r>
            <a:r>
              <a:rPr lang="ru-RU" sz="2000" dirty="0" err="1">
                <a:latin typeface="+mn-lt"/>
              </a:rPr>
              <a:t>інтерпретувати</a:t>
            </a:r>
            <a:r>
              <a:rPr lang="ru-RU" sz="2000" dirty="0">
                <a:latin typeface="+mn-lt"/>
              </a:rPr>
              <a:t> для невеликих дерев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000" dirty="0" err="1">
                <a:latin typeface="+mn-lt"/>
              </a:rPr>
              <a:t>Точність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порівнянна</a:t>
            </a:r>
            <a:r>
              <a:rPr lang="ru-RU" sz="2000" dirty="0">
                <a:latin typeface="+mn-lt"/>
              </a:rPr>
              <a:t> з </a:t>
            </a:r>
            <a:r>
              <a:rPr lang="ru-RU" sz="2000" dirty="0" err="1">
                <a:latin typeface="+mn-lt"/>
              </a:rPr>
              <a:t>іншими</a:t>
            </a:r>
            <a:r>
              <a:rPr lang="ru-RU" sz="2000" dirty="0">
                <a:latin typeface="+mn-lt"/>
              </a:rPr>
              <a:t> методами </a:t>
            </a:r>
            <a:r>
              <a:rPr lang="ru-RU" sz="2000" dirty="0" err="1">
                <a:latin typeface="+mn-lt"/>
              </a:rPr>
              <a:t>класифікації</a:t>
            </a:r>
            <a:r>
              <a:rPr lang="ru-RU" sz="2000" dirty="0">
                <a:latin typeface="+mn-lt"/>
              </a:rPr>
              <a:t> для </a:t>
            </a:r>
            <a:r>
              <a:rPr lang="ru-RU" sz="2000" dirty="0" err="1">
                <a:latin typeface="+mn-lt"/>
              </a:rPr>
              <a:t>багатьох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простих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наборів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 smtClean="0">
                <a:latin typeface="+mn-lt"/>
              </a:rPr>
              <a:t>даних</a:t>
            </a:r>
            <a:endParaRPr lang="ru-RU" sz="2000" dirty="0"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00187" y="6060"/>
            <a:ext cx="789190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Класифікація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на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основі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дерева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рішень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31010" y="2803885"/>
            <a:ext cx="8612990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b="1" dirty="0" err="1">
                <a:solidFill>
                  <a:srgbClr val="FF0000"/>
                </a:solidFill>
                <a:latin typeface="+mn-lt"/>
              </a:rPr>
              <a:t>Недоліки</a:t>
            </a:r>
            <a:r>
              <a:rPr lang="ru-RU" b="1" dirty="0">
                <a:solidFill>
                  <a:srgbClr val="0000CC"/>
                </a:solidFill>
                <a:latin typeface="+mn-lt"/>
              </a:rPr>
              <a:t>:.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dirty="0">
                <a:latin typeface="+mn-lt"/>
              </a:rPr>
              <a:t>Через </a:t>
            </a:r>
            <a:r>
              <a:rPr lang="ru-RU" dirty="0" err="1">
                <a:latin typeface="+mn-lt"/>
              </a:rPr>
              <a:t>жадібний</a:t>
            </a:r>
            <a:r>
              <a:rPr lang="ru-RU" dirty="0">
                <a:latin typeface="+mn-lt"/>
              </a:rPr>
              <a:t> характер </a:t>
            </a:r>
            <a:r>
              <a:rPr lang="ru-RU" dirty="0" err="1">
                <a:latin typeface="+mn-lt"/>
              </a:rPr>
              <a:t>критерію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розділення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взаємодіючі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атрибути</a:t>
            </a:r>
            <a:r>
              <a:rPr lang="ru-RU" dirty="0">
                <a:latin typeface="+mn-lt"/>
              </a:rPr>
              <a:t> (</a:t>
            </a:r>
            <a:r>
              <a:rPr lang="ru-RU" dirty="0" err="1">
                <a:latin typeface="+mn-lt"/>
              </a:rPr>
              <a:t>які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можуть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розрізняти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класи</a:t>
            </a:r>
            <a:r>
              <a:rPr lang="ru-RU" dirty="0">
                <a:latin typeface="+mn-lt"/>
              </a:rPr>
              <a:t> разом, але не </a:t>
            </a:r>
            <a:r>
              <a:rPr lang="ru-RU" dirty="0" err="1">
                <a:latin typeface="+mn-lt"/>
              </a:rPr>
              <a:t>окремо</a:t>
            </a:r>
            <a:r>
              <a:rPr lang="ru-RU" dirty="0">
                <a:latin typeface="+mn-lt"/>
              </a:rPr>
              <a:t>) </a:t>
            </a:r>
            <a:r>
              <a:rPr lang="ru-RU" dirty="0" err="1">
                <a:latin typeface="+mn-lt"/>
              </a:rPr>
              <a:t>можуть</a:t>
            </a:r>
            <a:r>
              <a:rPr lang="ru-RU" dirty="0">
                <a:latin typeface="+mn-lt"/>
              </a:rPr>
              <a:t> бути </a:t>
            </a:r>
            <a:r>
              <a:rPr lang="ru-RU" dirty="0" err="1">
                <a:latin typeface="+mn-lt"/>
              </a:rPr>
              <a:t>передані</a:t>
            </a:r>
            <a:r>
              <a:rPr lang="ru-RU" dirty="0">
                <a:latin typeface="+mn-lt"/>
              </a:rPr>
              <a:t> на </a:t>
            </a:r>
            <a:r>
              <a:rPr lang="ru-RU" dirty="0" err="1">
                <a:latin typeface="+mn-lt"/>
              </a:rPr>
              <a:t>користь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інших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атрибутів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які</a:t>
            </a:r>
            <a:r>
              <a:rPr lang="ru-RU" dirty="0">
                <a:latin typeface="+mn-lt"/>
              </a:rPr>
              <a:t> є </a:t>
            </a:r>
            <a:r>
              <a:rPr lang="ru-RU" dirty="0" err="1">
                <a:latin typeface="+mn-lt"/>
              </a:rPr>
              <a:t>менш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дискримінаційними</a:t>
            </a:r>
            <a:r>
              <a:rPr lang="ru-RU" dirty="0">
                <a:latin typeface="+mn-lt"/>
              </a:rPr>
              <a:t>.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dirty="0" err="1">
                <a:latin typeface="+mn-lt"/>
              </a:rPr>
              <a:t>Кожна</a:t>
            </a:r>
            <a:r>
              <a:rPr lang="ru-RU" dirty="0">
                <a:latin typeface="+mn-lt"/>
              </a:rPr>
              <a:t> межа </a:t>
            </a:r>
            <a:r>
              <a:rPr lang="ru-RU" dirty="0" err="1">
                <a:latin typeface="+mn-lt"/>
              </a:rPr>
              <a:t>рішення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включає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лише</a:t>
            </a:r>
            <a:r>
              <a:rPr lang="ru-RU" dirty="0">
                <a:latin typeface="+mn-lt"/>
              </a:rPr>
              <a:t> один атрибут</a:t>
            </a:r>
          </a:p>
        </p:txBody>
      </p:sp>
    </p:spTree>
    <p:extLst>
      <p:ext uri="{BB962C8B-B14F-4D97-AF65-F5344CB8AC3E}">
        <p14:creationId xmlns:p14="http://schemas.microsoft.com/office/powerpoint/2010/main" val="1515142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B178E8C8-2F8B-4FC4-81FC-9E5915D44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Introduction to Data Mining, 2</a:t>
            </a:r>
            <a:r>
              <a:rPr lang="en-US" baseline="30000">
                <a:solidFill>
                  <a:srgbClr val="000000">
                    <a:tint val="75000"/>
                  </a:srgbClr>
                </a:solidFill>
              </a:rPr>
              <a:t>nd</a:t>
            </a:r>
            <a:r>
              <a:rPr lang="en-US">
                <a:solidFill>
                  <a:srgbClr val="000000">
                    <a:tint val="75000"/>
                  </a:srgbClr>
                </a:solidFill>
              </a:rPr>
              <a:t> Edition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89D331A-700F-47F1-BA2F-C8A274721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8E6DBA-7726-4D4D-9332-A60DF1A4A5B7}" type="slidenum">
              <a:rPr 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66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2226" name="Title 1">
            <a:extLst>
              <a:ext uri="{FF2B5EF4-FFF2-40B4-BE49-F238E27FC236}">
                <a16:creationId xmlns="" xmlns:a16="http://schemas.microsoft.com/office/drawing/2014/main" id="{92B5CC71-6962-4F09-866D-0D9DB0ADE0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81100" y="81894"/>
            <a:ext cx="6210300" cy="490537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uk-UA" b="1" dirty="0" smtClean="0">
                <a:solidFill>
                  <a:schemeClr val="bg1"/>
                </a:solidFill>
                <a:latin typeface="+mn-lt"/>
                <a:cs typeface="+mj-cs"/>
              </a:rPr>
              <a:t>Обробка взаємодії</a:t>
            </a:r>
            <a:endParaRPr lang="en-US" b="1" dirty="0">
              <a:solidFill>
                <a:schemeClr val="bg1"/>
              </a:solidFill>
              <a:latin typeface="+mn-lt"/>
              <a:cs typeface="+mj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0BECBE18-74D9-43DA-9E87-15853FE7F49F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>
          <a:xfrm>
            <a:off x="0" y="4767263"/>
            <a:ext cx="2057400" cy="274637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09/21/2020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5" name="Группа 4"/>
          <p:cNvGrpSpPr/>
          <p:nvPr/>
        </p:nvGrpSpPr>
        <p:grpSpPr>
          <a:xfrm>
            <a:off x="838200" y="853939"/>
            <a:ext cx="3583877" cy="2814631"/>
            <a:chOff x="838200" y="853939"/>
            <a:chExt cx="3583877" cy="2814631"/>
          </a:xfrm>
        </p:grpSpPr>
        <p:pic>
          <p:nvPicPr>
            <p:cNvPr id="63490" name="Content Placeholder 1">
              <a:extLst>
                <a:ext uri="{FF2B5EF4-FFF2-40B4-BE49-F238E27FC236}">
                  <a16:creationId xmlns="" xmlns:a16="http://schemas.microsoft.com/office/drawing/2014/main" id="{3B3E73F0-959A-4FB4-AF44-A4C0FE0E1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543" b="4614"/>
            <a:stretch>
              <a:fillRect/>
            </a:stretch>
          </p:blipFill>
          <p:spPr bwMode="auto">
            <a:xfrm>
              <a:off x="1302830" y="853939"/>
              <a:ext cx="3119247" cy="2383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491" name="TextBox 14">
              <a:extLst>
                <a:ext uri="{FF2B5EF4-FFF2-40B4-BE49-F238E27FC236}">
                  <a16:creationId xmlns="" xmlns:a16="http://schemas.microsoft.com/office/drawing/2014/main" id="{2EFC5933-A3ED-4A1C-89CE-CCD7B56415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9553" y="3368488"/>
              <a:ext cx="342900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l" defTabSz="685800" eaLnBrk="0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350" b="1" kern="1200" dirty="0">
                  <a:solidFill>
                    <a:srgbClr val="000000"/>
                  </a:solidFill>
                  <a:cs typeface="+mn-cs"/>
                </a:rPr>
                <a:t>X </a:t>
              </a:r>
            </a:p>
          </p:txBody>
        </p:sp>
        <p:sp>
          <p:nvSpPr>
            <p:cNvPr id="63492" name="TextBox 15">
              <a:extLst>
                <a:ext uri="{FF2B5EF4-FFF2-40B4-BE49-F238E27FC236}">
                  <a16:creationId xmlns="" xmlns:a16="http://schemas.microsoft.com/office/drawing/2014/main" id="{85EBA5FD-5B67-47F2-85B9-749742CC2C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200" y="1543050"/>
              <a:ext cx="342900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l" defTabSz="685800" eaLnBrk="0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350" b="1" kern="1200" dirty="0">
                  <a:solidFill>
                    <a:srgbClr val="000000"/>
                  </a:solidFill>
                  <a:cs typeface="+mn-cs"/>
                </a:rPr>
                <a:t>Y</a:t>
              </a:r>
            </a:p>
          </p:txBody>
        </p:sp>
      </p:grpSp>
      <p:sp>
        <p:nvSpPr>
          <p:cNvPr id="63493" name="TextBox 16">
            <a:extLst>
              <a:ext uri="{FF2B5EF4-FFF2-40B4-BE49-F238E27FC236}">
                <a16:creationId xmlns="" xmlns:a16="http://schemas.microsoft.com/office/drawing/2014/main" id="{93B16D29-273C-4290-A7FA-A91354ADB7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914400"/>
            <a:ext cx="245638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350" b="1" kern="1200" dirty="0">
                <a:solidFill>
                  <a:srgbClr val="0070C0"/>
                </a:solidFill>
                <a:cs typeface="+mn-cs"/>
              </a:rPr>
              <a:t>+ : 1000 </a:t>
            </a:r>
            <a:r>
              <a:rPr lang="ru-RU" altLang="en-US" sz="1350" b="1" kern="1200" dirty="0" err="1" smtClean="0">
                <a:solidFill>
                  <a:srgbClr val="0070C0"/>
                </a:solidFill>
                <a:cs typeface="+mn-cs"/>
              </a:rPr>
              <a:t>екземплярів</a:t>
            </a:r>
            <a:endParaRPr lang="en-US" altLang="en-US" sz="1350" b="1" kern="1200" dirty="0">
              <a:solidFill>
                <a:srgbClr val="0070C0"/>
              </a:solidFill>
              <a:cs typeface="+mn-cs"/>
            </a:endParaRPr>
          </a:p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350" b="1" kern="1200" dirty="0">
              <a:solidFill>
                <a:srgbClr val="0070C0"/>
              </a:solidFill>
              <a:cs typeface="+mn-cs"/>
            </a:endParaRPr>
          </a:p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uk-UA" altLang="en-US" sz="1350" b="1" kern="1200" dirty="0" smtClean="0">
                <a:solidFill>
                  <a:srgbClr val="FF0000"/>
                </a:solidFill>
                <a:cs typeface="+mn-cs"/>
              </a:rPr>
              <a:t>-</a:t>
            </a:r>
            <a:r>
              <a:rPr lang="en-US" altLang="en-US" sz="1350" b="1" kern="1200" dirty="0" smtClean="0">
                <a:solidFill>
                  <a:srgbClr val="FF0000"/>
                </a:solidFill>
                <a:cs typeface="+mn-cs"/>
              </a:rPr>
              <a:t> </a:t>
            </a:r>
            <a:r>
              <a:rPr lang="en-US" altLang="en-US" sz="1350" b="1" kern="1200" dirty="0">
                <a:solidFill>
                  <a:srgbClr val="FF0000"/>
                </a:solidFill>
                <a:cs typeface="+mn-cs"/>
              </a:rPr>
              <a:t>: 1000 </a:t>
            </a:r>
            <a:r>
              <a:rPr lang="ru-RU" altLang="en-US" sz="1350" b="1" kern="1200" dirty="0" err="1" smtClean="0">
                <a:solidFill>
                  <a:srgbClr val="FF0000"/>
                </a:solidFill>
                <a:cs typeface="+mn-cs"/>
              </a:rPr>
              <a:t>екземплярів</a:t>
            </a:r>
            <a:endParaRPr lang="en-US" altLang="en-US" sz="1350" b="1" kern="1200" dirty="0">
              <a:solidFill>
                <a:srgbClr val="FF0000"/>
              </a:solidFill>
              <a:cs typeface="+mn-cs"/>
            </a:endParaRPr>
          </a:p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350" b="1" kern="1200" dirty="0">
              <a:solidFill>
                <a:srgbClr val="FF0000"/>
              </a:solidFill>
              <a:cs typeface="+mn-cs"/>
            </a:endParaRPr>
          </a:p>
        </p:txBody>
      </p:sp>
      <p:sp>
        <p:nvSpPr>
          <p:cNvPr id="63494" name="TextBox 17">
            <a:extLst>
              <a:ext uri="{FF2B5EF4-FFF2-40B4-BE49-F238E27FC236}">
                <a16:creationId xmlns="" xmlns:a16="http://schemas.microsoft.com/office/drawing/2014/main" id="{2377FC01-AA49-4CB2-8228-D58D50C2BF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6575" y="914399"/>
            <a:ext cx="1771650" cy="1131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350" b="1" kern="1200" dirty="0">
                <a:solidFill>
                  <a:srgbClr val="000000"/>
                </a:solidFill>
                <a:cs typeface="+mn-cs"/>
              </a:rPr>
              <a:t>Entropy (X) : 0.99 </a:t>
            </a:r>
          </a:p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350" b="1" kern="1200" dirty="0">
                <a:solidFill>
                  <a:srgbClr val="000000"/>
                </a:solidFill>
                <a:cs typeface="+mn-cs"/>
              </a:rPr>
              <a:t>Entropy (Y) : 0.99</a:t>
            </a:r>
          </a:p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350" b="1" kern="1200" dirty="0">
              <a:solidFill>
                <a:srgbClr val="000000"/>
              </a:solidFill>
              <a:cs typeface="+mn-cs"/>
            </a:endParaRPr>
          </a:p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350" b="1" kern="1200" dirty="0">
              <a:solidFill>
                <a:srgbClr val="000000"/>
              </a:solidFill>
              <a:cs typeface="+mn-cs"/>
            </a:endParaRPr>
          </a:p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350" b="1" kern="1200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="" xmlns:a16="http://schemas.microsoft.com/office/drawing/2014/main" id="{92B5CC71-6962-4F09-866D-0D9DB0ADE012}"/>
              </a:ext>
            </a:extLst>
          </p:cNvPr>
          <p:cNvSpPr txBox="1">
            <a:spLocks/>
          </p:cNvSpPr>
          <p:nvPr/>
        </p:nvSpPr>
        <p:spPr>
          <a:xfrm>
            <a:off x="-585597" y="656217"/>
            <a:ext cx="6210300" cy="49053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uk-UA" b="1" smtClean="0">
                <a:solidFill>
                  <a:schemeClr val="bg1"/>
                </a:solidFill>
                <a:latin typeface="+mn-lt"/>
              </a:rPr>
              <a:t>Обробка взаємодії</a:t>
            </a:r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71230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CFBFFAF9-FFF5-4B8D-9FDD-03B78D90D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963" y="781856"/>
            <a:ext cx="7243281" cy="39539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="" xmlns:a16="http://schemas.microsoft.com/office/drawing/2014/main" id="{92B5CC71-6962-4F09-866D-0D9DB0ADE012}"/>
              </a:ext>
            </a:extLst>
          </p:cNvPr>
          <p:cNvSpPr txBox="1">
            <a:spLocks/>
          </p:cNvSpPr>
          <p:nvPr/>
        </p:nvSpPr>
        <p:spPr>
          <a:xfrm>
            <a:off x="1181100" y="81894"/>
            <a:ext cx="6210300" cy="49053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uk-UA" b="1" smtClean="0">
                <a:solidFill>
                  <a:schemeClr val="bg1"/>
                </a:solidFill>
                <a:latin typeface="+mn-lt"/>
              </a:rPr>
              <a:t>Обробка взаємодії</a:t>
            </a:r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64916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5BEF8E4F-CBE2-4311-90C0-A43126853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Introduction to Data Mining, 2</a:t>
            </a:r>
            <a:r>
              <a:rPr lang="en-US" baseline="30000">
                <a:solidFill>
                  <a:srgbClr val="000000">
                    <a:tint val="75000"/>
                  </a:srgbClr>
                </a:solidFill>
              </a:rPr>
              <a:t>nd</a:t>
            </a:r>
            <a:r>
              <a:rPr lang="en-US">
                <a:solidFill>
                  <a:srgbClr val="000000">
                    <a:tint val="75000"/>
                  </a:srgbClr>
                </a:solidFill>
              </a:rPr>
              <a:t> Edition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1B2F92D-E9BA-4EEA-A6E9-24C8CA047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822617-F225-481C-ACCD-76CA721250CA}" type="slidenum">
              <a:rPr 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68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3250" name="Title 1">
            <a:extLst>
              <a:ext uri="{FF2B5EF4-FFF2-40B4-BE49-F238E27FC236}">
                <a16:creationId xmlns="" xmlns:a16="http://schemas.microsoft.com/office/drawing/2014/main" id="{442E29D4-5500-4AC3-923C-9BE1491B24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14300"/>
            <a:ext cx="9144000" cy="40005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ru-RU" sz="2400" b="1" dirty="0" err="1">
                <a:solidFill>
                  <a:schemeClr val="bg1"/>
                </a:solidFill>
                <a:latin typeface="+mn-lt"/>
              </a:rPr>
              <a:t>Обробка</a:t>
            </a:r>
            <a:r>
              <a:rPr lang="ru-RU" sz="24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2400" b="1" dirty="0" err="1">
                <a:solidFill>
                  <a:schemeClr val="bg1"/>
                </a:solidFill>
                <a:latin typeface="+mn-lt"/>
              </a:rPr>
              <a:t>взаємодій</a:t>
            </a:r>
            <a:r>
              <a:rPr lang="ru-RU" sz="24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2400" b="1" dirty="0" err="1">
                <a:solidFill>
                  <a:schemeClr val="bg1"/>
                </a:solidFill>
                <a:latin typeface="+mn-lt"/>
              </a:rPr>
              <a:t>із</a:t>
            </a:r>
            <a:r>
              <a:rPr lang="ru-RU" sz="24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2400" b="1" dirty="0" err="1">
                <a:solidFill>
                  <a:schemeClr val="bg1"/>
                </a:solidFill>
                <a:latin typeface="+mn-lt"/>
              </a:rPr>
              <a:t>заданими</a:t>
            </a:r>
            <a:r>
              <a:rPr lang="ru-RU" sz="24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2400" b="1" dirty="0" err="1">
                <a:solidFill>
                  <a:schemeClr val="bg1"/>
                </a:solidFill>
                <a:latin typeface="+mn-lt"/>
              </a:rPr>
              <a:t>нерелевантними</a:t>
            </a:r>
            <a:r>
              <a:rPr lang="ru-RU" sz="2400" b="1" dirty="0">
                <a:solidFill>
                  <a:schemeClr val="bg1"/>
                </a:solidFill>
                <a:latin typeface="+mn-lt"/>
              </a:rPr>
              <a:t> атрибутами</a:t>
            </a:r>
            <a:endParaRPr lang="en-US" sz="24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0291BD1B-5CAF-42B1-ADBE-CB5419515435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>
          <a:xfrm>
            <a:off x="0" y="4767263"/>
            <a:ext cx="2057400" cy="274637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09/21/2020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4515" name="TextBox 2">
            <a:extLst>
              <a:ext uri="{FF2B5EF4-FFF2-40B4-BE49-F238E27FC236}">
                <a16:creationId xmlns="" xmlns:a16="http://schemas.microsoft.com/office/drawing/2014/main" id="{F2DE8A23-4E6D-4D3E-836F-18200719B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9650" y="914400"/>
            <a:ext cx="2273000" cy="196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350" b="1" kern="1200" dirty="0">
                <a:solidFill>
                  <a:srgbClr val="0070C0"/>
                </a:solidFill>
                <a:cs typeface="+mn-cs"/>
              </a:rPr>
              <a:t>+ : 1000 instances</a:t>
            </a:r>
          </a:p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350" b="1" kern="1200" dirty="0">
              <a:solidFill>
                <a:srgbClr val="0070C0"/>
              </a:solidFill>
              <a:cs typeface="+mn-cs"/>
            </a:endParaRPr>
          </a:p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uk-UA" altLang="en-US" sz="1350" b="1" kern="1200" dirty="0" smtClean="0">
                <a:solidFill>
                  <a:srgbClr val="FF0000"/>
                </a:solidFill>
                <a:cs typeface="+mn-cs"/>
              </a:rPr>
              <a:t>-</a:t>
            </a:r>
            <a:r>
              <a:rPr lang="en-US" altLang="en-US" sz="1350" b="1" kern="1200" dirty="0" smtClean="0">
                <a:solidFill>
                  <a:srgbClr val="FF0000"/>
                </a:solidFill>
                <a:cs typeface="+mn-cs"/>
              </a:rPr>
              <a:t> </a:t>
            </a:r>
            <a:r>
              <a:rPr lang="en-US" altLang="en-US" sz="1350" b="1" kern="1200" dirty="0">
                <a:solidFill>
                  <a:srgbClr val="FF0000"/>
                </a:solidFill>
                <a:cs typeface="+mn-cs"/>
              </a:rPr>
              <a:t>: 1000 instances</a:t>
            </a:r>
          </a:p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350" b="1" kern="1200" dirty="0">
              <a:solidFill>
                <a:srgbClr val="FF0000"/>
              </a:solidFill>
              <a:cs typeface="+mn-cs"/>
            </a:endParaRPr>
          </a:p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en-US" sz="1350" b="1" kern="1200" dirty="0" err="1">
                <a:solidFill>
                  <a:srgbClr val="000000"/>
                </a:solidFill>
                <a:cs typeface="+mn-cs"/>
              </a:rPr>
              <a:t>Додавання</a:t>
            </a:r>
            <a:r>
              <a:rPr lang="ru-RU" altLang="en-US" sz="1350" b="1" kern="1200" dirty="0">
                <a:solidFill>
                  <a:srgbClr val="000000"/>
                </a:solidFill>
                <a:cs typeface="+mn-cs"/>
              </a:rPr>
              <a:t> Z як шумного атрибута, </a:t>
            </a:r>
            <a:r>
              <a:rPr lang="ru-RU" altLang="en-US" sz="1350" b="1" kern="1200" dirty="0" err="1">
                <a:solidFill>
                  <a:srgbClr val="000000"/>
                </a:solidFill>
                <a:cs typeface="+mn-cs"/>
              </a:rPr>
              <a:t>породженого</a:t>
            </a:r>
            <a:r>
              <a:rPr lang="ru-RU" altLang="en-US" sz="1350" b="1" kern="1200" dirty="0">
                <a:solidFill>
                  <a:srgbClr val="000000"/>
                </a:solidFill>
                <a:cs typeface="+mn-cs"/>
              </a:rPr>
              <a:t> </a:t>
            </a:r>
            <a:r>
              <a:rPr lang="ru-RU" altLang="en-US" sz="1350" b="1" kern="1200" dirty="0" err="1">
                <a:solidFill>
                  <a:srgbClr val="000000"/>
                </a:solidFill>
                <a:cs typeface="+mn-cs"/>
              </a:rPr>
              <a:t>рівномірним</a:t>
            </a:r>
            <a:r>
              <a:rPr lang="ru-RU" altLang="en-US" sz="1350" b="1" kern="1200" dirty="0">
                <a:solidFill>
                  <a:srgbClr val="000000"/>
                </a:solidFill>
                <a:cs typeface="+mn-cs"/>
              </a:rPr>
              <a:t> </a:t>
            </a:r>
            <a:r>
              <a:rPr lang="ru-RU" altLang="en-US" sz="1350" b="1" kern="1200" dirty="0" err="1">
                <a:solidFill>
                  <a:srgbClr val="000000"/>
                </a:solidFill>
                <a:cs typeface="+mn-cs"/>
              </a:rPr>
              <a:t>розподілом</a:t>
            </a:r>
            <a:endParaRPr lang="en-US" altLang="en-US" sz="1350" b="1" kern="1200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7BE1AEE2-4C10-471D-AA2C-BE286E89E6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0077" y="917127"/>
            <a:ext cx="1828800" cy="196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350" b="1" kern="1200" dirty="0">
                <a:solidFill>
                  <a:srgbClr val="000000"/>
                </a:solidFill>
                <a:cs typeface="+mn-cs"/>
              </a:rPr>
              <a:t>Entropy (X) : 0.99 </a:t>
            </a:r>
          </a:p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350" b="1" kern="1200" dirty="0">
                <a:solidFill>
                  <a:srgbClr val="000000"/>
                </a:solidFill>
                <a:cs typeface="+mn-cs"/>
              </a:rPr>
              <a:t>Entropy (Y) : 0.99</a:t>
            </a:r>
          </a:p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350" b="1" kern="1200" dirty="0">
                <a:solidFill>
                  <a:srgbClr val="000000"/>
                </a:solidFill>
                <a:cs typeface="+mn-cs"/>
              </a:rPr>
              <a:t>Entropy (Z) : 0.98</a:t>
            </a:r>
          </a:p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350" b="1" kern="1200" dirty="0">
              <a:solidFill>
                <a:srgbClr val="000000"/>
              </a:solidFill>
              <a:cs typeface="+mn-cs"/>
            </a:endParaRPr>
          </a:p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en-US" sz="1350" b="1" kern="1200" dirty="0">
                <a:solidFill>
                  <a:srgbClr val="00B050"/>
                </a:solidFill>
                <a:cs typeface="+mn-cs"/>
              </a:rPr>
              <a:t>Для </a:t>
            </a:r>
            <a:r>
              <a:rPr lang="ru-RU" altLang="en-US" sz="1350" b="1" kern="1200" dirty="0" err="1">
                <a:solidFill>
                  <a:srgbClr val="00B050"/>
                </a:solidFill>
                <a:cs typeface="+mn-cs"/>
              </a:rPr>
              <a:t>розділення</a:t>
            </a:r>
            <a:r>
              <a:rPr lang="ru-RU" altLang="en-US" sz="1350" b="1" kern="1200" dirty="0">
                <a:solidFill>
                  <a:srgbClr val="00B050"/>
                </a:solidFill>
                <a:cs typeface="+mn-cs"/>
              </a:rPr>
              <a:t> буде </a:t>
            </a:r>
            <a:r>
              <a:rPr lang="ru-RU" altLang="en-US" sz="1350" b="1" kern="1200" dirty="0" err="1">
                <a:solidFill>
                  <a:srgbClr val="00B050"/>
                </a:solidFill>
                <a:cs typeface="+mn-cs"/>
              </a:rPr>
              <a:t>вибрано</a:t>
            </a:r>
            <a:r>
              <a:rPr lang="ru-RU" altLang="en-US" sz="1350" b="1" kern="1200" dirty="0">
                <a:solidFill>
                  <a:srgbClr val="00B050"/>
                </a:solidFill>
                <a:cs typeface="+mn-cs"/>
              </a:rPr>
              <a:t> атрибут Z!</a:t>
            </a:r>
            <a:endParaRPr lang="en-US" altLang="en-US" sz="1350" b="1" kern="1200" dirty="0">
              <a:solidFill>
                <a:srgbClr val="000000"/>
              </a:solidFill>
              <a:cs typeface="+mn-cs"/>
            </a:endParaRPr>
          </a:p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350" b="1" kern="1200" dirty="0">
              <a:solidFill>
                <a:srgbClr val="000000"/>
              </a:solidFill>
              <a:cs typeface="+mn-cs"/>
            </a:endParaRPr>
          </a:p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350" b="1" kern="1200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64524" name="TextBox 14">
            <a:extLst>
              <a:ext uri="{FF2B5EF4-FFF2-40B4-BE49-F238E27FC236}">
                <a16:creationId xmlns="" xmlns:a16="http://schemas.microsoft.com/office/drawing/2014/main" id="{379E2861-FDF3-4B26-9EB0-58817002D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4709" y="2726435"/>
            <a:ext cx="34290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350" b="1" kern="1200" dirty="0">
                <a:solidFill>
                  <a:srgbClr val="000000"/>
                </a:solidFill>
                <a:cs typeface="+mn-cs"/>
              </a:rPr>
              <a:t>X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359" y="2641097"/>
            <a:ext cx="2543667" cy="2126165"/>
          </a:xfrm>
          <a:prstGeom prst="rect">
            <a:avLst/>
          </a:prstGeom>
        </p:spPr>
      </p:pic>
      <p:grpSp>
        <p:nvGrpSpPr>
          <p:cNvPr id="12" name="Группа 11"/>
          <p:cNvGrpSpPr/>
          <p:nvPr/>
        </p:nvGrpSpPr>
        <p:grpSpPr>
          <a:xfrm>
            <a:off x="105773" y="643435"/>
            <a:ext cx="3583877" cy="2383082"/>
            <a:chOff x="838200" y="853939"/>
            <a:chExt cx="3583877" cy="2383082"/>
          </a:xfrm>
        </p:grpSpPr>
        <p:pic>
          <p:nvPicPr>
            <p:cNvPr id="14" name="Content Placeholder 1">
              <a:extLst>
                <a:ext uri="{FF2B5EF4-FFF2-40B4-BE49-F238E27FC236}">
                  <a16:creationId xmlns="" xmlns:a16="http://schemas.microsoft.com/office/drawing/2014/main" id="{3B3E73F0-959A-4FB4-AF44-A4C0FE0E1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543" b="4614"/>
            <a:stretch>
              <a:fillRect/>
            </a:stretch>
          </p:blipFill>
          <p:spPr bwMode="auto">
            <a:xfrm>
              <a:off x="1302830" y="853939"/>
              <a:ext cx="3119247" cy="2383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85EBA5FD-5B67-47F2-85B9-749742CC2C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200" y="1543050"/>
              <a:ext cx="342900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l" defTabSz="685800" eaLnBrk="0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350" b="1" kern="1200" dirty="0">
                  <a:solidFill>
                    <a:srgbClr val="000000"/>
                  </a:solidFill>
                  <a:cs typeface="+mn-cs"/>
                </a:rPr>
                <a:t>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994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B41BCD97-90F3-4FDC-94D7-447FE190F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Introduction to Data Mining, 2</a:t>
            </a:r>
            <a:r>
              <a:rPr lang="en-US" baseline="30000">
                <a:solidFill>
                  <a:srgbClr val="000000">
                    <a:tint val="75000"/>
                  </a:srgbClr>
                </a:solidFill>
              </a:rPr>
              <a:t>nd</a:t>
            </a:r>
            <a:r>
              <a:rPr lang="en-US">
                <a:solidFill>
                  <a:srgbClr val="000000">
                    <a:tint val="75000"/>
                  </a:srgbClr>
                </a:solidFill>
              </a:rPr>
              <a:t> Edition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2BA9820-9662-46A6-ADDE-3DD2ED144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D22FE4-A033-49DE-ADF8-701A1E3A2782}" type="slidenum">
              <a:rPr 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69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4274" name="Title 1">
            <a:extLst>
              <a:ext uri="{FF2B5EF4-FFF2-40B4-BE49-F238E27FC236}">
                <a16:creationId xmlns="" xmlns:a16="http://schemas.microsoft.com/office/drawing/2014/main" id="{28B9DE5C-B1E5-46DA-8E9D-03027543955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99225"/>
            <a:ext cx="9144000" cy="400050"/>
          </a:xfrm>
          <a:prstGeom prst="rect">
            <a:avLst/>
          </a:prstGeom>
        </p:spPr>
        <p:txBody>
          <a:bodyPr/>
          <a:lstStyle/>
          <a:p>
            <a:pPr fontAlgn="t"/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Обмеження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меж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рішень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на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основі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атрибутів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E25289F7-C102-427A-AE70-6967FA4433CA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>
          <a:xfrm>
            <a:off x="0" y="4767263"/>
            <a:ext cx="2057400" cy="274637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00">
                    <a:tint val="75000"/>
                  </a:srgbClr>
                </a:solidFill>
              </a:rPr>
              <a:t>09/21/2020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5538" name="TextBox 6">
            <a:extLst>
              <a:ext uri="{FF2B5EF4-FFF2-40B4-BE49-F238E27FC236}">
                <a16:creationId xmlns="" xmlns:a16="http://schemas.microsoft.com/office/drawing/2014/main" id="{E95BB08C-0E14-45E2-AC8C-BC881E1BA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1743" y="1268860"/>
            <a:ext cx="3317321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685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en-US" sz="1800" kern="1200" dirty="0">
                <a:solidFill>
                  <a:srgbClr val="000000"/>
                </a:solidFill>
                <a:latin typeface="+mn-lt"/>
              </a:rPr>
              <a:t>Як </a:t>
            </a:r>
            <a:r>
              <a:rPr lang="ru-RU" altLang="en-US" sz="1800" kern="1200" dirty="0" err="1">
                <a:solidFill>
                  <a:srgbClr val="000000"/>
                </a:solidFill>
                <a:latin typeface="+mn-lt"/>
              </a:rPr>
              <a:t>позитивні</a:t>
            </a:r>
            <a:r>
              <a:rPr lang="ru-RU" altLang="en-US" sz="1800" kern="1200" dirty="0">
                <a:solidFill>
                  <a:srgbClr val="000000"/>
                </a:solidFill>
                <a:latin typeface="+mn-lt"/>
              </a:rPr>
              <a:t> (+), так і </a:t>
            </a:r>
            <a:r>
              <a:rPr lang="ru-RU" altLang="en-US" sz="1800" kern="1200" dirty="0" err="1">
                <a:solidFill>
                  <a:srgbClr val="000000"/>
                </a:solidFill>
                <a:latin typeface="+mn-lt"/>
              </a:rPr>
              <a:t>негативні</a:t>
            </a:r>
            <a:r>
              <a:rPr lang="ru-RU" altLang="en-US" sz="18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altLang="en-US" sz="1800" kern="1200" dirty="0" smtClean="0">
                <a:solidFill>
                  <a:srgbClr val="000000"/>
                </a:solidFill>
                <a:latin typeface="+mn-lt"/>
              </a:rPr>
              <a:t>(-) </a:t>
            </a:r>
            <a:r>
              <a:rPr lang="ru-RU" altLang="en-US" sz="1800" kern="1200" dirty="0" err="1">
                <a:solidFill>
                  <a:srgbClr val="000000"/>
                </a:solidFill>
                <a:latin typeface="+mn-lt"/>
              </a:rPr>
              <a:t>класи</a:t>
            </a:r>
            <a:r>
              <a:rPr lang="ru-RU" altLang="en-US" sz="18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altLang="en-US" sz="1800" kern="1200" dirty="0" err="1">
                <a:solidFill>
                  <a:srgbClr val="000000"/>
                </a:solidFill>
                <a:latin typeface="+mn-lt"/>
              </a:rPr>
              <a:t>породжуються</a:t>
            </a:r>
            <a:r>
              <a:rPr lang="ru-RU" altLang="en-US" sz="1800" kern="1200" dirty="0">
                <a:solidFill>
                  <a:srgbClr val="000000"/>
                </a:solidFill>
                <a:latin typeface="+mn-lt"/>
              </a:rPr>
              <a:t> з </a:t>
            </a:r>
            <a:r>
              <a:rPr lang="ru-RU" altLang="en-US" sz="1800" kern="1200" dirty="0" err="1">
                <a:solidFill>
                  <a:srgbClr val="000000"/>
                </a:solidFill>
                <a:latin typeface="+mn-lt"/>
              </a:rPr>
              <a:t>перекошених</a:t>
            </a:r>
            <a:r>
              <a:rPr lang="ru-RU" altLang="en-US" sz="18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altLang="en-US" sz="1800" kern="1200" dirty="0" err="1">
                <a:solidFill>
                  <a:srgbClr val="000000"/>
                </a:solidFill>
                <a:latin typeface="+mn-lt"/>
              </a:rPr>
              <a:t>гауссівських</a:t>
            </a:r>
            <a:r>
              <a:rPr lang="ru-RU" altLang="en-US" sz="18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altLang="en-US" sz="1800" kern="1200" dirty="0" err="1">
                <a:solidFill>
                  <a:srgbClr val="000000"/>
                </a:solidFill>
                <a:latin typeface="+mn-lt"/>
              </a:rPr>
              <a:t>центрів</a:t>
            </a:r>
            <a:r>
              <a:rPr lang="ru-RU" altLang="en-US" sz="1800" kern="1200" dirty="0">
                <a:solidFill>
                  <a:srgbClr val="000000"/>
                </a:solidFill>
                <a:latin typeface="+mn-lt"/>
              </a:rPr>
              <a:t> з (8,8) та (12,12) </a:t>
            </a:r>
            <a:r>
              <a:rPr lang="ru-RU" altLang="en-US" sz="1800" kern="1200" dirty="0" err="1">
                <a:solidFill>
                  <a:srgbClr val="000000"/>
                </a:solidFill>
                <a:latin typeface="+mn-lt"/>
              </a:rPr>
              <a:t>відповідно</a:t>
            </a:r>
            <a:r>
              <a:rPr lang="ru-RU" altLang="en-US" sz="1800" kern="1200" dirty="0">
                <a:solidFill>
                  <a:srgbClr val="000000"/>
                </a:solidFill>
                <a:latin typeface="+mn-lt"/>
              </a:rPr>
              <a:t>.</a:t>
            </a:r>
            <a:endParaRPr lang="en-US" altLang="en-US" sz="1800" kern="1200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54277" name="Picture 5" descr="C:\Users\Ankush\Desktop\oblique.png">
            <a:extLst>
              <a:ext uri="{FF2B5EF4-FFF2-40B4-BE49-F238E27FC236}">
                <a16:creationId xmlns="" xmlns:a16="http://schemas.microsoft.com/office/drawing/2014/main" id="{93784B9D-FD2B-40CC-9FDB-89EA55059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050" y="1143000"/>
            <a:ext cx="4648200" cy="348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8" name="Picture 6" descr="C:\Users\Ankush\Desktop\oblique2.png">
            <a:extLst>
              <a:ext uri="{FF2B5EF4-FFF2-40B4-BE49-F238E27FC236}">
                <a16:creationId xmlns="" xmlns:a16="http://schemas.microsoft.com/office/drawing/2014/main" id="{D841BE94-8CBB-42F3-8704-27D836DF4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813" y="1143001"/>
            <a:ext cx="4638675" cy="3479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8255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70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-12525" y="16333"/>
            <a:ext cx="90252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Приклад дерева </a:t>
            </a:r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рішень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для </a:t>
            </a:r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видачі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кредиту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43838" y="810650"/>
            <a:ext cx="8868865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dirty="0" err="1">
                <a:latin typeface="+mn-lt"/>
              </a:rPr>
              <a:t>Після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побудови</a:t>
            </a:r>
            <a:r>
              <a:rPr lang="ru-RU" dirty="0">
                <a:latin typeface="+mn-lt"/>
              </a:rPr>
              <a:t> дерева </a:t>
            </a:r>
            <a:r>
              <a:rPr lang="ru-RU" dirty="0" err="1" smtClean="0">
                <a:latin typeface="+mn-lt"/>
              </a:rPr>
              <a:t>рішень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отримуємо</a:t>
            </a:r>
            <a:r>
              <a:rPr lang="ru-RU" dirty="0" smtClean="0">
                <a:latin typeface="+mn-lt"/>
              </a:rPr>
              <a:t> </a:t>
            </a:r>
            <a:r>
              <a:rPr lang="ru-RU" dirty="0">
                <a:latin typeface="+mn-lt"/>
              </a:rPr>
              <a:t>модель </a:t>
            </a:r>
            <a:r>
              <a:rPr lang="ru-RU" dirty="0" err="1">
                <a:latin typeface="+mn-lt"/>
              </a:rPr>
              <a:t>оцінювання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кредитоспроможності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клієнтів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певного</a:t>
            </a:r>
            <a:r>
              <a:rPr lang="ru-RU" dirty="0">
                <a:latin typeface="+mn-lt"/>
              </a:rPr>
              <a:t> банку у </a:t>
            </a:r>
            <a:r>
              <a:rPr lang="ru-RU" dirty="0" err="1">
                <a:latin typeface="+mn-lt"/>
              </a:rPr>
              <a:t>вигляді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ієрархічної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структури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правил – дерева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рішень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.</a:t>
            </a:r>
          </a:p>
        </p:txBody>
      </p:sp>
      <p:grpSp>
        <p:nvGrpSpPr>
          <p:cNvPr id="6" name="Group 1"/>
          <p:cNvGrpSpPr>
            <a:grpSpLocks noChangeAspect="1"/>
          </p:cNvGrpSpPr>
          <p:nvPr/>
        </p:nvGrpSpPr>
        <p:grpSpPr bwMode="auto">
          <a:xfrm>
            <a:off x="1042058" y="1774022"/>
            <a:ext cx="7072424" cy="2833269"/>
            <a:chOff x="2726" y="6094"/>
            <a:chExt cx="8280" cy="3960"/>
          </a:xfrm>
        </p:grpSpPr>
        <p:sp>
          <p:nvSpPr>
            <p:cNvPr id="7" name="AutoShape 23"/>
            <p:cNvSpPr>
              <a:spLocks noChangeAspect="1" noChangeArrowheads="1" noTextEdit="1"/>
            </p:cNvSpPr>
            <p:nvPr/>
          </p:nvSpPr>
          <p:spPr bwMode="auto">
            <a:xfrm>
              <a:off x="2726" y="6094"/>
              <a:ext cx="8280" cy="39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600">
                <a:latin typeface="+mn-lt"/>
              </a:endParaRPr>
            </a:p>
          </p:txBody>
        </p:sp>
        <p:sp>
          <p:nvSpPr>
            <p:cNvPr id="8" name="Text Box 22"/>
            <p:cNvSpPr txBox="1">
              <a:spLocks noChangeArrowheads="1"/>
            </p:cNvSpPr>
            <p:nvPr/>
          </p:nvSpPr>
          <p:spPr bwMode="auto">
            <a:xfrm>
              <a:off x="4706" y="6274"/>
              <a:ext cx="27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uk-UA" altLang="ru-RU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  <a:ea typeface="Times New Roman" panose="02020603050405020304" pitchFamily="18" charset="0"/>
                  <a:cs typeface="Arial" panose="020B0604020202020204" pitchFamily="34" charset="0"/>
                </a:rPr>
                <a:t>Кредит під заставу</a:t>
              </a:r>
              <a:endParaRPr kumimoji="0" lang="uk-UA" altLang="ru-RU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uk-UA" altLang="ru-RU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9" name="Text Box 21"/>
            <p:cNvSpPr txBox="1">
              <a:spLocks noChangeArrowheads="1"/>
            </p:cNvSpPr>
            <p:nvPr/>
          </p:nvSpPr>
          <p:spPr bwMode="auto">
            <a:xfrm>
              <a:off x="6326" y="7354"/>
              <a:ext cx="27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uk-UA" altLang="ru-RU" sz="16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  <a:ea typeface="Times New Roman" panose="02020603050405020304" pitchFamily="18" charset="0"/>
                  <a:cs typeface="Arial" panose="020B0604020202020204" pitchFamily="34" charset="0"/>
                </a:rPr>
                <a:t>Наявність нерухомості</a:t>
              </a:r>
              <a:endParaRPr kumimoji="0" lang="uk-UA" alt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uk-UA" alt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0" name="Text Box 20"/>
            <p:cNvSpPr txBox="1">
              <a:spLocks noChangeArrowheads="1"/>
            </p:cNvSpPr>
            <p:nvPr/>
          </p:nvSpPr>
          <p:spPr bwMode="auto">
            <a:xfrm>
              <a:off x="4525" y="8254"/>
              <a:ext cx="2699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uk-UA" altLang="ru-RU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  <a:ea typeface="Times New Roman" panose="02020603050405020304" pitchFamily="18" charset="0"/>
                  <a:cs typeface="Arial" panose="020B0604020202020204" pitchFamily="34" charset="0"/>
                </a:rPr>
                <a:t>Освіта</a:t>
              </a:r>
              <a:endParaRPr kumimoji="0" lang="uk-UA" altLang="ru-RU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1" name="Text Box 19"/>
            <p:cNvSpPr txBox="1">
              <a:spLocks noChangeArrowheads="1"/>
            </p:cNvSpPr>
            <p:nvPr/>
          </p:nvSpPr>
          <p:spPr bwMode="auto">
            <a:xfrm>
              <a:off x="7766" y="8254"/>
              <a:ext cx="2699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uk-UA" altLang="ru-RU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  <a:ea typeface="Times New Roman" panose="02020603050405020304" pitchFamily="18" charset="0"/>
                  <a:cs typeface="Arial" panose="020B0604020202020204" pitchFamily="34" charset="0"/>
                </a:rPr>
                <a:t>Наявність страховки</a:t>
              </a:r>
              <a:endParaRPr kumimoji="0" lang="uk-UA" altLang="ru-RU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2" name="Text Box 18"/>
            <p:cNvSpPr txBox="1">
              <a:spLocks noChangeArrowheads="1"/>
            </p:cNvSpPr>
            <p:nvPr/>
          </p:nvSpPr>
          <p:spPr bwMode="auto">
            <a:xfrm>
              <a:off x="5246" y="9334"/>
              <a:ext cx="27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uk-UA" altLang="ru-RU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  <a:ea typeface="Times New Roman" panose="02020603050405020304" pitchFamily="18" charset="0"/>
                  <a:cs typeface="Arial" panose="020B0604020202020204" pitchFamily="34" charset="0"/>
                </a:rPr>
                <a:t>Відмовити у кредиті</a:t>
              </a:r>
              <a:endParaRPr kumimoji="0" lang="uk-UA" altLang="ru-RU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3" name="Text Box 17"/>
            <p:cNvSpPr txBox="1">
              <a:spLocks noChangeArrowheads="1"/>
            </p:cNvSpPr>
            <p:nvPr/>
          </p:nvSpPr>
          <p:spPr bwMode="auto">
            <a:xfrm>
              <a:off x="8306" y="9334"/>
              <a:ext cx="27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uk-UA" altLang="ru-RU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  <a:ea typeface="Times New Roman" panose="02020603050405020304" pitchFamily="18" charset="0"/>
                  <a:cs typeface="Arial" panose="020B0604020202020204" pitchFamily="34" charset="0"/>
                </a:rPr>
                <a:t>Надати кредит</a:t>
              </a:r>
              <a:endParaRPr kumimoji="0" lang="uk-UA" altLang="ru-RU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4" name="Line 16"/>
            <p:cNvSpPr>
              <a:spLocks noChangeShapeType="1"/>
            </p:cNvSpPr>
            <p:nvPr/>
          </p:nvSpPr>
          <p:spPr bwMode="auto">
            <a:xfrm flipH="1">
              <a:off x="5066" y="6814"/>
              <a:ext cx="108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600">
                <a:latin typeface="+mn-lt"/>
              </a:endParaRPr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6146" y="6814"/>
              <a:ext cx="126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600">
                <a:latin typeface="+mn-lt"/>
              </a:endParaRPr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H="1">
              <a:off x="5786" y="7894"/>
              <a:ext cx="144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600">
                <a:latin typeface="+mn-lt"/>
              </a:endParaRPr>
            </a:p>
          </p:txBody>
        </p:sp>
        <p:sp>
          <p:nvSpPr>
            <p:cNvPr id="17" name="Line 13"/>
            <p:cNvSpPr>
              <a:spLocks noChangeShapeType="1"/>
            </p:cNvSpPr>
            <p:nvPr/>
          </p:nvSpPr>
          <p:spPr bwMode="auto">
            <a:xfrm>
              <a:off x="7586" y="7894"/>
              <a:ext cx="108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600">
                <a:latin typeface="+mn-lt"/>
              </a:endParaRPr>
            </a:p>
          </p:txBody>
        </p:sp>
        <p:sp>
          <p:nvSpPr>
            <p:cNvPr id="18" name="Line 12"/>
            <p:cNvSpPr>
              <a:spLocks noChangeShapeType="1"/>
            </p:cNvSpPr>
            <p:nvPr/>
          </p:nvSpPr>
          <p:spPr bwMode="auto">
            <a:xfrm flipH="1">
              <a:off x="6685" y="8794"/>
              <a:ext cx="1261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600">
                <a:latin typeface="+mn-lt"/>
              </a:endParaRPr>
            </a:p>
          </p:txBody>
        </p:sp>
        <p:sp>
          <p:nvSpPr>
            <p:cNvPr id="19" name="Line 11"/>
            <p:cNvSpPr>
              <a:spLocks noChangeShapeType="1"/>
            </p:cNvSpPr>
            <p:nvPr/>
          </p:nvSpPr>
          <p:spPr bwMode="auto">
            <a:xfrm>
              <a:off x="8126" y="8794"/>
              <a:ext cx="126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600">
                <a:latin typeface="+mn-lt"/>
              </a:endParaRPr>
            </a:p>
          </p:txBody>
        </p:sp>
        <p:sp>
          <p:nvSpPr>
            <p:cNvPr id="20" name="Text Box 10"/>
            <p:cNvSpPr txBox="1">
              <a:spLocks noChangeArrowheads="1"/>
            </p:cNvSpPr>
            <p:nvPr/>
          </p:nvSpPr>
          <p:spPr bwMode="auto">
            <a:xfrm>
              <a:off x="6865" y="6814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uk-UA" altLang="ru-RU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  <a:ea typeface="Times New Roman" panose="02020603050405020304" pitchFamily="18" charset="0"/>
                  <a:cs typeface="Arial" panose="020B0604020202020204" pitchFamily="34" charset="0"/>
                </a:rPr>
                <a:t>так</a:t>
              </a:r>
              <a:endParaRPr kumimoji="0" lang="uk-UA" altLang="ru-RU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1" name="Text Box 9"/>
            <p:cNvSpPr txBox="1">
              <a:spLocks noChangeArrowheads="1"/>
            </p:cNvSpPr>
            <p:nvPr/>
          </p:nvSpPr>
          <p:spPr bwMode="auto">
            <a:xfrm>
              <a:off x="4527" y="6814"/>
              <a:ext cx="719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uk-UA" altLang="ru-RU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  <a:ea typeface="Times New Roman" panose="02020603050405020304" pitchFamily="18" charset="0"/>
                  <a:cs typeface="Arial" panose="020B0604020202020204" pitchFamily="34" charset="0"/>
                </a:rPr>
                <a:t>ні</a:t>
              </a:r>
              <a:endParaRPr kumimoji="0" lang="uk-UA" altLang="ru-RU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4" name="Text Box 6"/>
            <p:cNvSpPr txBox="1">
              <a:spLocks noChangeArrowheads="1"/>
            </p:cNvSpPr>
            <p:nvPr/>
          </p:nvSpPr>
          <p:spPr bwMode="auto">
            <a:xfrm>
              <a:off x="8486" y="7894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uk-UA" altLang="ru-RU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  <a:ea typeface="Times New Roman" panose="02020603050405020304" pitchFamily="18" charset="0"/>
                  <a:cs typeface="Arial" panose="020B0604020202020204" pitchFamily="34" charset="0"/>
                </a:rPr>
                <a:t>так</a:t>
              </a:r>
              <a:endParaRPr kumimoji="0" lang="uk-UA" altLang="ru-RU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5" name="Text Box 5"/>
            <p:cNvSpPr txBox="1">
              <a:spLocks noChangeArrowheads="1"/>
            </p:cNvSpPr>
            <p:nvPr/>
          </p:nvSpPr>
          <p:spPr bwMode="auto">
            <a:xfrm>
              <a:off x="5426" y="7894"/>
              <a:ext cx="719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uk-UA" altLang="ru-RU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  <a:ea typeface="Times New Roman" panose="02020603050405020304" pitchFamily="18" charset="0"/>
                  <a:cs typeface="Arial" panose="020B0604020202020204" pitchFamily="34" charset="0"/>
                </a:rPr>
                <a:t>ні</a:t>
              </a:r>
              <a:endParaRPr kumimoji="0" lang="uk-UA" altLang="ru-RU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6" name="Text Box 4"/>
            <p:cNvSpPr txBox="1">
              <a:spLocks noChangeArrowheads="1"/>
            </p:cNvSpPr>
            <p:nvPr/>
          </p:nvSpPr>
          <p:spPr bwMode="auto">
            <a:xfrm>
              <a:off x="8846" y="8794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uk-UA" altLang="ru-RU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  <a:ea typeface="Times New Roman" panose="02020603050405020304" pitchFamily="18" charset="0"/>
                  <a:cs typeface="Arial" panose="020B0604020202020204" pitchFamily="34" charset="0"/>
                </a:rPr>
                <a:t>так</a:t>
              </a:r>
              <a:endParaRPr kumimoji="0" lang="uk-UA" altLang="ru-RU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7" name="Text Box 3"/>
            <p:cNvSpPr txBox="1">
              <a:spLocks noChangeArrowheads="1"/>
            </p:cNvSpPr>
            <p:nvPr/>
          </p:nvSpPr>
          <p:spPr bwMode="auto">
            <a:xfrm>
              <a:off x="6669" y="8804"/>
              <a:ext cx="719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uk-UA" altLang="ru-RU" sz="16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  <a:ea typeface="Times New Roman" panose="02020603050405020304" pitchFamily="18" charset="0"/>
                  <a:cs typeface="Arial" panose="020B0604020202020204" pitchFamily="34" charset="0"/>
                </a:rPr>
                <a:t>ні</a:t>
              </a:r>
              <a:endParaRPr kumimoji="0" lang="uk-UA" alt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8" name="Text Box 2"/>
            <p:cNvSpPr txBox="1">
              <a:spLocks noChangeArrowheads="1"/>
            </p:cNvSpPr>
            <p:nvPr/>
          </p:nvSpPr>
          <p:spPr bwMode="auto">
            <a:xfrm>
              <a:off x="2726" y="7354"/>
              <a:ext cx="270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uk-UA" altLang="ru-RU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  <a:ea typeface="Times New Roman" panose="02020603050405020304" pitchFamily="18" charset="0"/>
                  <a:cs typeface="Arial" panose="020B0604020202020204" pitchFamily="34" charset="0"/>
                </a:rPr>
                <a:t>Відмовити</a:t>
              </a:r>
              <a:endParaRPr kumimoji="0" lang="uk-UA" altLang="ru-RU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8124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71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74661" y="909532"/>
            <a:ext cx="8650840" cy="272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dirty="0">
                <a:latin typeface="+mn-lt"/>
              </a:rPr>
              <a:t>Правила, за </a:t>
            </a:r>
            <a:r>
              <a:rPr lang="ru-RU" dirty="0" err="1">
                <a:latin typeface="+mn-lt"/>
              </a:rPr>
              <a:t>яким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визначається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належність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клієнта</a:t>
            </a:r>
            <a:r>
              <a:rPr lang="ru-RU" dirty="0">
                <a:latin typeface="+mn-lt"/>
              </a:rPr>
              <a:t> до </a:t>
            </a:r>
            <a:r>
              <a:rPr lang="ru-RU" dirty="0" err="1">
                <a:latin typeface="+mn-lt"/>
              </a:rPr>
              <a:t>певної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групи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записуються</a:t>
            </a:r>
            <a:r>
              <a:rPr lang="ru-RU" dirty="0">
                <a:latin typeface="+mn-lt"/>
              </a:rPr>
              <a:t> на </a:t>
            </a:r>
            <a:r>
              <a:rPr lang="ru-RU" dirty="0" err="1">
                <a:latin typeface="+mn-lt"/>
              </a:rPr>
              <a:t>природній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мові</a:t>
            </a:r>
            <a:r>
              <a:rPr lang="ru-RU" dirty="0" smtClean="0">
                <a:latin typeface="+mn-lt"/>
              </a:rPr>
              <a:t>:</a:t>
            </a:r>
          </a:p>
          <a:p>
            <a:pPr algn="l"/>
            <a:endParaRPr lang="ru-RU" dirty="0">
              <a:latin typeface="+mn-lt"/>
            </a:endParaRPr>
          </a:p>
          <a:p>
            <a:pPr algn="l"/>
            <a:r>
              <a:rPr lang="ru-RU" dirty="0" err="1">
                <a:solidFill>
                  <a:srgbClr val="0000CC"/>
                </a:solidFill>
                <a:latin typeface="+mn-lt"/>
              </a:rPr>
              <a:t>Якщо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«Кредит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під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заставу» - </a:t>
            </a:r>
            <a:r>
              <a:rPr lang="ru-RU" dirty="0">
                <a:solidFill>
                  <a:srgbClr val="FF0000"/>
                </a:solidFill>
                <a:latin typeface="+mn-lt"/>
              </a:rPr>
              <a:t>Так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і</a:t>
            </a:r>
          </a:p>
          <a:p>
            <a:pPr algn="l"/>
            <a:r>
              <a:rPr lang="ru-RU" dirty="0" smtClean="0">
                <a:solidFill>
                  <a:srgbClr val="0000CC"/>
                </a:solidFill>
                <a:latin typeface="+mn-lt"/>
              </a:rPr>
              <a:t>	«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Термін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проживання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в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цьому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місті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» &gt; 19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років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і</a:t>
            </a:r>
          </a:p>
          <a:p>
            <a:pPr algn="l"/>
            <a:r>
              <a:rPr lang="ru-RU" dirty="0" smtClean="0">
                <a:solidFill>
                  <a:srgbClr val="0000CC"/>
                </a:solidFill>
                <a:latin typeface="+mn-lt"/>
              </a:rPr>
              <a:t>		«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Наявність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нерухомості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» - </a:t>
            </a:r>
            <a:r>
              <a:rPr lang="ru-RU" dirty="0">
                <a:solidFill>
                  <a:srgbClr val="FF0000"/>
                </a:solidFill>
                <a:latin typeface="+mn-lt"/>
              </a:rPr>
              <a:t>Так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і </a:t>
            </a:r>
          </a:p>
          <a:p>
            <a:pPr algn="l"/>
            <a:r>
              <a:rPr lang="ru-RU" dirty="0" smtClean="0">
                <a:solidFill>
                  <a:srgbClr val="0000CC"/>
                </a:solidFill>
                <a:latin typeface="+mn-lt"/>
              </a:rPr>
              <a:t>				«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Наявність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банківського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розрахунку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» - </a:t>
            </a:r>
            <a:r>
              <a:rPr lang="ru-RU" dirty="0">
                <a:solidFill>
                  <a:srgbClr val="FF0000"/>
                </a:solidFill>
                <a:latin typeface="+mn-lt"/>
              </a:rPr>
              <a:t>Так </a:t>
            </a:r>
          </a:p>
          <a:p>
            <a:pPr algn="l"/>
            <a:r>
              <a:rPr lang="ru-RU" dirty="0" err="1">
                <a:solidFill>
                  <a:srgbClr val="0000CC"/>
                </a:solidFill>
                <a:latin typeface="+mn-lt"/>
              </a:rPr>
              <a:t>Тоді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«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Надати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кредит» - </a:t>
            </a:r>
            <a:r>
              <a:rPr lang="ru-RU" dirty="0">
                <a:solidFill>
                  <a:srgbClr val="FF0000"/>
                </a:solidFill>
                <a:latin typeface="+mn-lt"/>
              </a:rPr>
              <a:t>Так</a:t>
            </a:r>
          </a:p>
          <a:p>
            <a:pPr algn="l"/>
            <a:r>
              <a:rPr lang="ru-RU" dirty="0" err="1">
                <a:solidFill>
                  <a:srgbClr val="FF0000"/>
                </a:solidFill>
                <a:latin typeface="+mn-lt"/>
              </a:rPr>
              <a:t>Достовірність</a:t>
            </a:r>
            <a:r>
              <a:rPr lang="ru-RU" dirty="0">
                <a:solidFill>
                  <a:srgbClr val="FF0000"/>
                </a:solidFill>
                <a:latin typeface="+mn-lt"/>
              </a:rPr>
              <a:t> </a:t>
            </a:r>
            <a:r>
              <a:rPr lang="ru-RU" dirty="0">
                <a:latin typeface="+mn-lt"/>
              </a:rPr>
              <a:t>= 98%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261247" y="6061"/>
            <a:ext cx="49776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Правила дерева </a:t>
            </a:r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рішень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36379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72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896655"/>
            <a:ext cx="914399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ru-RU" sz="1400" dirty="0">
                <a:latin typeface="+mn-lt"/>
                <a:hlinkClick r:id="rId2"/>
              </a:rPr>
              <a:t>https://</a:t>
            </a:r>
            <a:r>
              <a:rPr lang="ru-RU" sz="1400" dirty="0" smtClean="0">
                <a:latin typeface="+mn-lt"/>
                <a:hlinkClick r:id="rId2"/>
              </a:rPr>
              <a:t>www.canva.com/design/DAEK_rvHAY8/CJ3cWEIfHe7kdF81X0h2Lw/edit?category=tADWs7ocEeY</a:t>
            </a:r>
            <a:r>
              <a:rPr lang="ru-RU" sz="1400" dirty="0" smtClean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online tools</a:t>
            </a:r>
            <a:endParaRPr lang="ru-RU" sz="1400" dirty="0">
              <a:latin typeface="+mn-lt"/>
            </a:endParaRPr>
          </a:p>
          <a:p>
            <a:pPr marL="342900" indent="-342900" algn="l">
              <a:buFont typeface="+mj-lt"/>
              <a:buAutoNum type="arabicPeriod"/>
            </a:pPr>
            <a:endParaRPr lang="ru-RU" sz="1500" dirty="0">
              <a:latin typeface="+mn-lt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-RU" sz="1500" dirty="0">
                <a:latin typeface="+mn-lt"/>
                <a:hlinkClick r:id="rId3"/>
              </a:rPr>
              <a:t>https://scikit-learn.org/stable</a:t>
            </a:r>
            <a:r>
              <a:rPr lang="ru-RU" sz="1500" dirty="0" smtClean="0">
                <a:latin typeface="+mn-lt"/>
                <a:hlinkClick r:id="rId3"/>
              </a:rPr>
              <a:t>/</a:t>
            </a:r>
            <a:r>
              <a:rPr lang="en-US" sz="1500" dirty="0" smtClean="0">
                <a:latin typeface="+mn-lt"/>
              </a:rPr>
              <a:t>   						Python library</a:t>
            </a:r>
            <a:endParaRPr lang="ru-RU" sz="1500" dirty="0">
              <a:latin typeface="+mn-lt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-RU" sz="1500" dirty="0">
                <a:latin typeface="+mn-lt"/>
              </a:rPr>
              <a:t>https://scikit-learn.org/stable/user_guide.html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-RU" sz="1500" dirty="0">
                <a:latin typeface="+mn-lt"/>
              </a:rPr>
              <a:t>https://scikit-learn.org/stable/tutorial/index.html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-RU" sz="1500" dirty="0">
                <a:latin typeface="+mn-lt"/>
              </a:rPr>
              <a:t>https://scikit-learn.org/stable/tutorial/index.html</a:t>
            </a:r>
          </a:p>
          <a:p>
            <a:pPr marL="342900" indent="-342900" algn="l">
              <a:buFont typeface="+mj-lt"/>
              <a:buAutoNum type="arabicPeriod"/>
            </a:pPr>
            <a:endParaRPr lang="ru-RU" sz="1500" dirty="0">
              <a:latin typeface="+mn-lt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-RU" sz="1500" dirty="0">
                <a:latin typeface="+mn-lt"/>
              </a:rPr>
              <a:t>https://www.matburo.ru/ex_emm.php?p1=emmdr   </a:t>
            </a:r>
            <a:r>
              <a:rPr lang="ru-RU" sz="1500" dirty="0" err="1" smtClean="0">
                <a:latin typeface="+mn-lt"/>
              </a:rPr>
              <a:t>Приклади</a:t>
            </a:r>
            <a:r>
              <a:rPr lang="ru-RU" sz="1500" dirty="0" smtClean="0">
                <a:latin typeface="+mn-lt"/>
              </a:rPr>
              <a:t> </a:t>
            </a:r>
            <a:r>
              <a:rPr lang="ru-RU" sz="1500" dirty="0" err="1" smtClean="0">
                <a:latin typeface="+mn-lt"/>
              </a:rPr>
              <a:t>рішень</a:t>
            </a:r>
            <a:r>
              <a:rPr lang="ru-RU" sz="1500" dirty="0" smtClean="0">
                <a:latin typeface="+mn-lt"/>
              </a:rPr>
              <a:t> задач</a:t>
            </a:r>
            <a:r>
              <a:rPr lang="ru-RU" sz="1500" dirty="0">
                <a:latin typeface="+mn-lt"/>
              </a:rPr>
              <a:t>: Дерево </a:t>
            </a:r>
            <a:r>
              <a:rPr lang="ru-RU" sz="1500" dirty="0" err="1" smtClean="0">
                <a:latin typeface="+mn-lt"/>
              </a:rPr>
              <a:t>рішень</a:t>
            </a:r>
            <a:endParaRPr lang="ru-RU" sz="1500" dirty="0">
              <a:latin typeface="+mn-lt"/>
            </a:endParaRPr>
          </a:p>
          <a:p>
            <a:pPr marL="342900" indent="-342900" algn="l">
              <a:buFont typeface="+mj-lt"/>
              <a:buAutoNum type="arabicPeriod"/>
            </a:pPr>
            <a:endParaRPr lang="ru-RU" sz="1500" dirty="0">
              <a:latin typeface="+mn-lt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-RU" sz="1500" dirty="0">
                <a:latin typeface="+mn-lt"/>
                <a:hlinkClick r:id="rId4"/>
              </a:rPr>
              <a:t>https://</a:t>
            </a:r>
            <a:r>
              <a:rPr lang="ru-RU" sz="1500" dirty="0" smtClean="0">
                <a:latin typeface="+mn-lt"/>
                <a:hlinkClick r:id="rId4"/>
              </a:rPr>
              <a:t>github.com/ageron/handson-ml</a:t>
            </a:r>
            <a:r>
              <a:rPr lang="en-US" sz="1500" dirty="0" smtClean="0">
                <a:latin typeface="+mn-lt"/>
              </a:rPr>
              <a:t> 		</a:t>
            </a:r>
            <a:r>
              <a:rPr lang="uk-UA" sz="1500" dirty="0" smtClean="0">
                <a:latin typeface="+mn-lt"/>
              </a:rPr>
              <a:t>БД та приклади</a:t>
            </a:r>
            <a:endParaRPr lang="ru-RU" sz="1500" dirty="0" smtClean="0">
              <a:latin typeface="+mn-lt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GB" sz="1500" dirty="0">
                <a:latin typeface="+mn-lt"/>
                <a:hlinkClick r:id="rId5"/>
              </a:rPr>
              <a:t>http://statsoft.ru</a:t>
            </a:r>
            <a:r>
              <a:rPr lang="en-GB" sz="1500" dirty="0" smtClean="0">
                <a:latin typeface="+mn-lt"/>
                <a:hlinkClick r:id="rId5"/>
              </a:rPr>
              <a:t>/</a:t>
            </a:r>
            <a:r>
              <a:rPr lang="uk-UA" sz="1500" dirty="0" smtClean="0">
                <a:latin typeface="+mn-lt"/>
              </a:rPr>
              <a:t>        							Статистика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sz="1500" dirty="0">
                <a:latin typeface="+mn-lt"/>
                <a:hlinkClick r:id="rId6"/>
              </a:rPr>
              <a:t>http://</a:t>
            </a:r>
            <a:r>
              <a:rPr lang="en-GB" sz="1500" dirty="0" smtClean="0">
                <a:latin typeface="+mn-lt"/>
                <a:hlinkClick r:id="rId6"/>
              </a:rPr>
              <a:t>statsoft.ru/home/textbook/default.htm</a:t>
            </a:r>
            <a:r>
              <a:rPr lang="uk-UA" sz="1500" dirty="0" smtClean="0">
                <a:latin typeface="+mn-lt"/>
              </a:rPr>
              <a:t>	</a:t>
            </a:r>
            <a:r>
              <a:rPr lang="ru-RU" sz="1600" dirty="0"/>
              <a:t>Учебник </a:t>
            </a:r>
            <a:r>
              <a:rPr lang="en-GB" sz="1600" dirty="0" err="1"/>
              <a:t>StatSoft</a:t>
            </a:r>
            <a:endParaRPr lang="uk-UA" sz="1500" dirty="0" smtClean="0">
              <a:latin typeface="+mn-lt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GB" sz="1500" dirty="0">
                <a:latin typeface="+mn-lt"/>
                <a:hlinkClick r:id="rId7"/>
              </a:rPr>
              <a:t>https://</a:t>
            </a:r>
            <a:r>
              <a:rPr lang="en-GB" sz="1500" dirty="0" smtClean="0">
                <a:latin typeface="+mn-lt"/>
                <a:hlinkClick r:id="rId7"/>
              </a:rPr>
              <a:t>basegroup.ru/deductor/description</a:t>
            </a:r>
            <a:r>
              <a:rPr lang="uk-UA" sz="1500" dirty="0" smtClean="0">
                <a:latin typeface="+mn-lt"/>
              </a:rPr>
              <a:t>		</a:t>
            </a:r>
            <a:r>
              <a:rPr lang="uk-UA" sz="1500" dirty="0" err="1" smtClean="0">
                <a:latin typeface="+mn-lt"/>
              </a:rPr>
              <a:t>Дедуктор</a:t>
            </a:r>
            <a:r>
              <a:rPr lang="uk-UA" sz="1500" dirty="0" smtClean="0">
                <a:latin typeface="+mn-lt"/>
              </a:rPr>
              <a:t> </a:t>
            </a:r>
            <a:endParaRPr lang="ru-RU" sz="1500" dirty="0"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51176" y="6061"/>
            <a:ext cx="89928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Джерела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програмних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інструментів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87186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73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84480" y="963444"/>
            <a:ext cx="842264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sz="2000" dirty="0" smtClean="0"/>
              <a:t>Tan </a:t>
            </a:r>
            <a:r>
              <a:rPr lang="en-US" sz="2000" dirty="0"/>
              <a:t>P. N., Steinbach M &amp; Kumar V. “Introduction to Data Mining” Pearson Education, </a:t>
            </a:r>
            <a:r>
              <a:rPr lang="en-US" sz="2000" dirty="0" smtClean="0"/>
              <a:t>2016 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000" dirty="0" err="1" smtClean="0">
                <a:latin typeface="+mn-lt"/>
              </a:rPr>
              <a:t>Чубукова</a:t>
            </a:r>
            <a:r>
              <a:rPr lang="ru-RU" sz="2000" dirty="0" smtClean="0">
                <a:latin typeface="+mn-lt"/>
              </a:rPr>
              <a:t> И. А. </a:t>
            </a:r>
            <a:r>
              <a:rPr lang="en-GB" sz="2000" dirty="0">
                <a:latin typeface="+mn-lt"/>
              </a:rPr>
              <a:t>Data Mining</a:t>
            </a:r>
            <a:endParaRPr lang="en-US" sz="2000" dirty="0"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51176" y="6061"/>
            <a:ext cx="89928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Підручники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14448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ctr" defTabSz="309563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9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ctr" defTabSz="309563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9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5260</TotalTime>
  <Words>4265</Words>
  <Application>Microsoft Office PowerPoint</Application>
  <PresentationFormat>Экран (16:9)</PresentationFormat>
  <Paragraphs>859</Paragraphs>
  <Slides>73</Slides>
  <Notes>4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4</vt:i4>
      </vt:variant>
      <vt:variant>
        <vt:lpstr>Заголовки слайдов</vt:lpstr>
      </vt:variant>
      <vt:variant>
        <vt:i4>73</vt:i4>
      </vt:variant>
    </vt:vector>
  </HeadingPairs>
  <TitlesOfParts>
    <vt:vector size="89" baseType="lpstr">
      <vt:lpstr>ＭＳ Ｐゴシック</vt:lpstr>
      <vt:lpstr>Arial</vt:lpstr>
      <vt:lpstr>Calibri</vt:lpstr>
      <vt:lpstr>Calibri Light</vt:lpstr>
      <vt:lpstr>Cambria Math</vt:lpstr>
      <vt:lpstr>DejaVu LGC Sans</vt:lpstr>
      <vt:lpstr>Helvetica Neue</vt:lpstr>
      <vt:lpstr>Monotype Sorts</vt:lpstr>
      <vt:lpstr>Symbol</vt:lpstr>
      <vt:lpstr>Times New Roman</vt:lpstr>
      <vt:lpstr>Wingdings</vt:lpstr>
      <vt:lpstr>1_Тема Office</vt:lpstr>
      <vt:lpstr>Document</vt:lpstr>
      <vt:lpstr>Visio</vt:lpstr>
      <vt:lpstr>Εξίσωση</vt:lpstr>
      <vt:lpstr>Equation</vt:lpstr>
      <vt:lpstr>Презентация PowerPoint</vt:lpstr>
      <vt:lpstr>Презентация PowerPoint</vt:lpstr>
      <vt:lpstr>Презентация PowerPoint</vt:lpstr>
      <vt:lpstr>Структура курса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Задача класифікації дерева рішень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Індукція дерева</vt:lpstr>
      <vt:lpstr>Презентация PowerPoint</vt:lpstr>
      <vt:lpstr>Розгалуження на основі номінальних атрибутів</vt:lpstr>
      <vt:lpstr>Презентация PowerPoint</vt:lpstr>
      <vt:lpstr>Розбиття на основі безперервних атрибутів</vt:lpstr>
      <vt:lpstr>Презентация PowerPoint</vt:lpstr>
      <vt:lpstr>Визначення найкращого розгалуження</vt:lpstr>
      <vt:lpstr>Презентация PowerPoint</vt:lpstr>
      <vt:lpstr>Оцінка домішків вузлів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Обчислення індексу Джині для набору вузлів</vt:lpstr>
      <vt:lpstr>Бінарні атрибути: обчислення GINI Index</vt:lpstr>
      <vt:lpstr>Категоріальні атрибути: обчислення індекса Джині</vt:lpstr>
      <vt:lpstr>Безперервні атрибути: обчислення індексу Джині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Міра домішки: Ентропія</vt:lpstr>
      <vt:lpstr>Презентация PowerPoint</vt:lpstr>
      <vt:lpstr>Обчислення збільшення інформації після розгалуження</vt:lpstr>
      <vt:lpstr>Презентация PowerPoint</vt:lpstr>
      <vt:lpstr>Міра домішки: Помилка класифікації</vt:lpstr>
      <vt:lpstr>Презентация PowerPoint</vt:lpstr>
      <vt:lpstr>Приклад </vt:lpstr>
      <vt:lpstr>Порівняння оцінок</vt:lpstr>
      <vt:lpstr>Презентация PowerPoint</vt:lpstr>
      <vt:lpstr>Обробка взаємодії</vt:lpstr>
      <vt:lpstr>Презентация PowerPoint</vt:lpstr>
      <vt:lpstr>Обробка взаємодій із заданими нерелевантними атрибутами</vt:lpstr>
      <vt:lpstr>Обмеження меж рішень на основі атрибутів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 1 Первичный анализ наборов данных</dc:title>
  <dc:creator>kmv</dc:creator>
  <cp:lastModifiedBy>Tetyana Kovalyuk</cp:lastModifiedBy>
  <cp:revision>121</cp:revision>
  <dcterms:modified xsi:type="dcterms:W3CDTF">2020-10-19T10:44:42Z</dcterms:modified>
</cp:coreProperties>
</file>