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8" r:id="rId3"/>
    <p:sldId id="279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32" r:id="rId20"/>
    <p:sldId id="333" r:id="rId21"/>
    <p:sldId id="303" r:id="rId22"/>
    <p:sldId id="331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660033"/>
    <a:srgbClr val="FD99D5"/>
    <a:srgbClr val="FED6EE"/>
    <a:srgbClr val="FFFF99"/>
    <a:srgbClr val="CCFF66"/>
    <a:srgbClr val="E5BBFD"/>
    <a:srgbClr val="C6B9FD"/>
    <a:srgbClr val="BFFDF1"/>
    <a:srgbClr val="CDF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F0170-9218-496E-AECF-8A82AEB85349}" type="datetimeFigureOut">
              <a:rPr lang="ru-RU" smtClean="0"/>
              <a:t>11.10.2020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780DED-A8D5-41EF-B1AF-A275F38F5EE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032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780DED-A8D5-41EF-B1AF-A275F38F5EE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1053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6967451" cy="50165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378738" y="6386705"/>
            <a:ext cx="813262" cy="365125"/>
          </a:xfrm>
        </p:spPr>
        <p:txBody>
          <a:bodyPr/>
          <a:lstStyle>
            <a:lvl1pPr algn="l">
              <a:defRPr sz="1600"/>
            </a:lvl1pPr>
          </a:lstStyle>
          <a:p>
            <a:fld id="{59AF118C-CD98-458A-88D0-71AEDA116907}" type="slidenum">
              <a:rPr lang="ru-RU" smtClean="0"/>
              <a:pPr/>
              <a:t>‹#›</a:t>
            </a:fld>
            <a:r>
              <a:rPr lang="en-US" dirty="0" smtClean="0"/>
              <a:t>/59</a:t>
            </a:r>
            <a:endParaRPr lang="ru-RU" dirty="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030778"/>
            <a:ext cx="12192000" cy="53255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 userDrawn="1"/>
        </p:nvSpPr>
        <p:spPr>
          <a:xfrm>
            <a:off x="166255" y="6462520"/>
            <a:ext cx="6588651" cy="28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uk-UA" sz="1600" dirty="0" err="1" smtClean="0">
                <a:solidFill>
                  <a:schemeClr val="bg1">
                    <a:lumMod val="95000"/>
                  </a:schemeClr>
                </a:solidFill>
              </a:rPr>
              <a:t>Ковалюк</a:t>
            </a:r>
            <a:r>
              <a:rPr lang="uk-UA" sz="1600" dirty="0" smtClean="0">
                <a:solidFill>
                  <a:schemeClr val="bg1">
                    <a:lumMod val="95000"/>
                  </a:schemeClr>
                </a:solidFill>
              </a:rPr>
              <a:t> Т.В. Програмні</a:t>
            </a:r>
            <a:r>
              <a:rPr lang="uk-UA" sz="1600" baseline="0" dirty="0" smtClean="0">
                <a:solidFill>
                  <a:schemeClr val="bg1">
                    <a:lumMod val="95000"/>
                  </a:schemeClr>
                </a:solidFill>
              </a:rPr>
              <a:t> Технології </a:t>
            </a:r>
            <a:r>
              <a:rPr lang="en-US" sz="1600" baseline="0" dirty="0" smtClean="0">
                <a:solidFill>
                  <a:schemeClr val="bg1">
                    <a:lumMod val="95000"/>
                  </a:schemeClr>
                </a:solidFill>
              </a:rPr>
              <a:t>Data Mining.</a:t>
            </a:r>
            <a:r>
              <a:rPr lang="uk-UA" sz="1600" baseline="0" dirty="0" smtClean="0">
                <a:solidFill>
                  <a:schemeClr val="bg1">
                    <a:lumMod val="95000"/>
                  </a:schemeClr>
                </a:solidFill>
              </a:rPr>
              <a:t> КНУ ім. Т. Шевченка</a:t>
            </a:r>
            <a:endParaRPr lang="ru-RU" sz="16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1358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767787" y="6356350"/>
            <a:ext cx="700314" cy="376324"/>
          </a:xfrm>
        </p:spPr>
        <p:txBody>
          <a:bodyPr/>
          <a:lstStyle>
            <a:lvl1pPr algn="l">
              <a:defRPr/>
            </a:lvl1pPr>
          </a:lstStyle>
          <a:p>
            <a:fld id="{59AF118C-CD98-458A-88D0-71AEDA116907}" type="slidenum">
              <a:rPr lang="ru-RU" smtClean="0"/>
              <a:pPr/>
              <a:t>‹#›</a:t>
            </a:fld>
            <a:r>
              <a:rPr lang="en-US" dirty="0" smtClean="0"/>
              <a:t>/59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16033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-36513"/>
            <a:ext cx="12192000" cy="6858000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252200" y="6456362"/>
            <a:ext cx="838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F118C-CD98-458A-88D0-71AEDA116907}" type="slidenum">
              <a:rPr lang="ru-RU" smtClean="0"/>
              <a:pPr/>
              <a:t>‹#›</a:t>
            </a:fld>
            <a:r>
              <a:rPr lang="en-US" dirty="0" smtClean="0"/>
              <a:t>/59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546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4.emf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nowldiscovery.com/" TargetMode="External"/><Relationship Id="rId2" Type="http://schemas.openxmlformats.org/officeDocument/2006/relationships/hyperlink" Target="http://www.kdnuggets.com/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ordArt 10"/>
          <p:cNvSpPr>
            <a:spLocks noChangeArrowheads="1" noChangeShapeType="1" noTextEdit="1"/>
          </p:cNvSpPr>
          <p:nvPr/>
        </p:nvSpPr>
        <p:spPr bwMode="auto">
          <a:xfrm>
            <a:off x="250825" y="260350"/>
            <a:ext cx="11941175" cy="395922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uk-UA" sz="3600" b="1" kern="10" dirty="0" smtClean="0">
                <a:solidFill>
                  <a:schemeClr val="bg1"/>
                </a:solidFill>
                <a:effectLst>
                  <a:outerShdw dist="107763" dir="18900000" algn="ctr" rotWithShape="0">
                    <a:schemeClr val="tx1">
                      <a:alpha val="50000"/>
                    </a:schemeClr>
                  </a:outerShdw>
                </a:effectLst>
                <a:latin typeface="Times New Roman"/>
                <a:cs typeface="Times New Roman"/>
              </a:rPr>
              <a:t>Програмні технології</a:t>
            </a:r>
            <a:br>
              <a:rPr lang="uk-UA" sz="3600" b="1" kern="10" dirty="0" smtClean="0">
                <a:solidFill>
                  <a:schemeClr val="bg1"/>
                </a:solidFill>
                <a:effectLst>
                  <a:outerShdw dist="107763" dir="18900000" algn="ctr" rotWithShape="0">
                    <a:schemeClr val="tx1">
                      <a:alpha val="50000"/>
                    </a:schemeClr>
                  </a:outerShdw>
                </a:effectLst>
                <a:latin typeface="Times New Roman"/>
                <a:cs typeface="Times New Roman"/>
              </a:rPr>
            </a:br>
            <a:r>
              <a:rPr lang="en-US" sz="3600" b="1" kern="10" dirty="0" smtClean="0">
                <a:solidFill>
                  <a:schemeClr val="bg1"/>
                </a:solidFill>
                <a:effectLst>
                  <a:outerShdw dist="107763" dir="18900000" algn="ctr" rotWithShape="0">
                    <a:schemeClr val="tx1">
                      <a:alpha val="50000"/>
                    </a:schemeClr>
                  </a:outerShdw>
                </a:effectLst>
                <a:latin typeface="Times New Roman"/>
                <a:cs typeface="Times New Roman"/>
              </a:rPr>
              <a:t>Data Mining</a:t>
            </a:r>
            <a:endParaRPr lang="ru-RU" sz="3600" b="1" kern="10" dirty="0">
              <a:solidFill>
                <a:schemeClr val="bg1"/>
              </a:solidFill>
              <a:effectLst>
                <a:outerShdw dist="107763" dir="18900000" algn="ctr" rotWithShape="0">
                  <a:schemeClr val="tx1">
                    <a:alpha val="50000"/>
                  </a:scheme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1896" y="4582839"/>
            <a:ext cx="10279032" cy="1200329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uk-UA" sz="3600" b="1" dirty="0" smtClean="0">
                <a:solidFill>
                  <a:schemeClr val="bg1"/>
                </a:solidFill>
              </a:rPr>
              <a:t>Лектор </a:t>
            </a:r>
            <a:r>
              <a:rPr lang="uk-UA" sz="3600" b="1" dirty="0" err="1" smtClean="0">
                <a:solidFill>
                  <a:schemeClr val="bg1"/>
                </a:solidFill>
              </a:rPr>
              <a:t>к.т.н</a:t>
            </a:r>
            <a:r>
              <a:rPr lang="uk-UA" sz="3600" b="1" dirty="0" smtClean="0">
                <a:solidFill>
                  <a:schemeClr val="bg1"/>
                </a:solidFill>
              </a:rPr>
              <a:t>. доц. </a:t>
            </a:r>
            <a:r>
              <a:rPr lang="uk-UA" sz="3600" b="1" dirty="0" err="1" smtClean="0">
                <a:solidFill>
                  <a:schemeClr val="bg1"/>
                </a:solidFill>
              </a:rPr>
              <a:t>Ковалюк</a:t>
            </a:r>
            <a:r>
              <a:rPr lang="uk-UA" sz="3600" b="1" dirty="0" smtClean="0">
                <a:solidFill>
                  <a:schemeClr val="bg1"/>
                </a:solidFill>
              </a:rPr>
              <a:t> Тетяна Володимирівна</a:t>
            </a:r>
          </a:p>
          <a:p>
            <a:pPr algn="ctr"/>
            <a:r>
              <a:rPr lang="uk-UA" sz="3600" b="1" dirty="0" smtClean="0">
                <a:solidFill>
                  <a:schemeClr val="bg1"/>
                </a:solidFill>
              </a:rPr>
              <a:t>КНУ ім. Тараса Шевченка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4714837" y="6158071"/>
            <a:ext cx="3405035" cy="584775"/>
          </a:xfrm>
          <a:prstGeom prst="rect">
            <a:avLst/>
          </a:prstGeom>
          <a:effectLst>
            <a:outerShdw blurRad="50800" dist="50800" dir="54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 dirty="0">
                <a:solidFill>
                  <a:schemeClr val="bg1"/>
                </a:solidFill>
              </a:rPr>
              <a:t>tkovalyuk@ukr.net</a:t>
            </a:r>
            <a:endParaRPr lang="ru-RU" sz="3200" b="1" dirty="0">
              <a:solidFill>
                <a:schemeClr val="bg1"/>
              </a:solidFill>
            </a:endParaRP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754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t>2</a:t>
            </a:fld>
            <a:endParaRPr lang="ru-RU"/>
          </a:p>
        </p:txBody>
      </p:sp>
      <p:sp>
        <p:nvSpPr>
          <p:cNvPr id="3" name="WordArt 10"/>
          <p:cNvSpPr>
            <a:spLocks noChangeArrowheads="1" noChangeShapeType="1" noTextEdit="1"/>
          </p:cNvSpPr>
          <p:nvPr/>
        </p:nvSpPr>
        <p:spPr bwMode="auto">
          <a:xfrm>
            <a:off x="660400" y="419100"/>
            <a:ext cx="10972800" cy="4736581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uk-UA" sz="3600" b="1" kern="10" dirty="0" smtClean="0">
                <a:solidFill>
                  <a:schemeClr val="bg1"/>
                </a:solidFill>
                <a:effectLst>
                  <a:outerShdw dist="107763" dir="18900000" algn="ctr" rotWithShape="0">
                    <a:schemeClr val="tx1">
                      <a:alpha val="50000"/>
                    </a:schemeClr>
                  </a:outerShdw>
                </a:effectLst>
                <a:latin typeface="Times New Roman"/>
                <a:cs typeface="Times New Roman"/>
              </a:rPr>
              <a:t>Лекція 2. </a:t>
            </a:r>
            <a:br>
              <a:rPr lang="uk-UA" sz="3600" b="1" kern="10" dirty="0" smtClean="0">
                <a:solidFill>
                  <a:schemeClr val="bg1"/>
                </a:solidFill>
                <a:effectLst>
                  <a:outerShdw dist="107763" dir="18900000" algn="ctr" rotWithShape="0">
                    <a:schemeClr val="tx1">
                      <a:alpha val="50000"/>
                    </a:schemeClr>
                  </a:outerShdw>
                </a:effectLst>
                <a:latin typeface="Times New Roman"/>
                <a:cs typeface="Times New Roman"/>
              </a:rPr>
            </a:br>
            <a:r>
              <a:rPr lang="uk-UA" sz="3600" b="1" kern="10" dirty="0" err="1" smtClean="0">
                <a:solidFill>
                  <a:schemeClr val="bg1"/>
                </a:solidFill>
                <a:effectLst>
                  <a:outerShdw dist="107763" dir="18900000" algn="ctr" rotWithShape="0">
                    <a:schemeClr val="tx1">
                      <a:alpha val="50000"/>
                    </a:schemeClr>
                  </a:outerShdw>
                </a:effectLst>
                <a:latin typeface="Times New Roman"/>
                <a:cs typeface="Times New Roman"/>
              </a:rPr>
              <a:t>Препроцесінг</a:t>
            </a:r>
            <a:r>
              <a:rPr lang="uk-UA" sz="3600" b="1" kern="10" dirty="0" smtClean="0">
                <a:solidFill>
                  <a:schemeClr val="bg1"/>
                </a:solidFill>
                <a:effectLst>
                  <a:outerShdw dist="107763" dir="18900000" algn="ctr" rotWithShape="0">
                    <a:schemeClr val="tx1">
                      <a:alpha val="50000"/>
                    </a:schemeClr>
                  </a:outerShdw>
                </a:effectLst>
                <a:latin typeface="Times New Roman"/>
                <a:cs typeface="Times New Roman"/>
              </a:rPr>
              <a:t> даних в </a:t>
            </a:r>
            <a:r>
              <a:rPr lang="en-US" sz="3600" b="1" kern="10" dirty="0" smtClean="0">
                <a:solidFill>
                  <a:schemeClr val="bg1"/>
                </a:solidFill>
                <a:effectLst>
                  <a:outerShdw dist="107763" dir="18900000" algn="ctr" rotWithShape="0">
                    <a:schemeClr val="tx1">
                      <a:alpha val="50000"/>
                    </a:schemeClr>
                  </a:outerShdw>
                </a:effectLst>
                <a:latin typeface="Times New Roman"/>
                <a:cs typeface="Times New Roman"/>
              </a:rPr>
              <a:t/>
            </a:r>
            <a:br>
              <a:rPr lang="en-US" sz="3600" b="1" kern="10" dirty="0" smtClean="0">
                <a:solidFill>
                  <a:schemeClr val="bg1"/>
                </a:solidFill>
                <a:effectLst>
                  <a:outerShdw dist="107763" dir="18900000" algn="ctr" rotWithShape="0">
                    <a:schemeClr val="tx1">
                      <a:alpha val="50000"/>
                    </a:schemeClr>
                  </a:outerShdw>
                </a:effectLst>
                <a:latin typeface="Times New Roman"/>
                <a:cs typeface="Times New Roman"/>
              </a:rPr>
            </a:br>
            <a:r>
              <a:rPr lang="en-US" sz="3600" b="1" kern="10" dirty="0" smtClean="0">
                <a:solidFill>
                  <a:schemeClr val="bg1"/>
                </a:solidFill>
                <a:effectLst>
                  <a:outerShdw dist="107763" dir="18900000" algn="ctr" rotWithShape="0">
                    <a:schemeClr val="tx1">
                      <a:alpha val="50000"/>
                    </a:schemeClr>
                  </a:outerShdw>
                </a:effectLst>
                <a:latin typeface="Times New Roman"/>
                <a:cs typeface="Times New Roman"/>
              </a:rPr>
              <a:t>Data </a:t>
            </a:r>
            <a:r>
              <a:rPr lang="en-US" sz="3600" b="1" kern="10" dirty="0" smtClean="0">
                <a:solidFill>
                  <a:schemeClr val="bg1"/>
                </a:solidFill>
                <a:effectLst>
                  <a:outerShdw dist="107763" dir="18900000" algn="ctr" rotWithShape="0">
                    <a:schemeClr val="tx1">
                      <a:alpha val="50000"/>
                    </a:schemeClr>
                  </a:outerShdw>
                </a:effectLst>
                <a:latin typeface="Times New Roman"/>
                <a:cs typeface="Times New Roman"/>
              </a:rPr>
              <a:t>Mining</a:t>
            </a:r>
            <a:r>
              <a:rPr lang="uk-UA" sz="3600" b="1" kern="10" dirty="0" smtClean="0">
                <a:solidFill>
                  <a:schemeClr val="bg1"/>
                </a:solidFill>
                <a:effectLst>
                  <a:outerShdw dist="107763" dir="18900000" algn="ctr" rotWithShape="0">
                    <a:schemeClr val="tx1">
                      <a:alpha val="50000"/>
                    </a:schemeClr>
                  </a:outerShdw>
                </a:effectLst>
                <a:latin typeface="Times New Roman"/>
                <a:cs typeface="Times New Roman"/>
              </a:rPr>
              <a:t> </a:t>
            </a:r>
            <a:br>
              <a:rPr lang="uk-UA" sz="3600" b="1" kern="10" dirty="0" smtClean="0">
                <a:solidFill>
                  <a:schemeClr val="bg1"/>
                </a:solidFill>
                <a:effectLst>
                  <a:outerShdw dist="107763" dir="18900000" algn="ctr" rotWithShape="0">
                    <a:schemeClr val="tx1">
                      <a:alpha val="50000"/>
                    </a:schemeClr>
                  </a:outerShdw>
                </a:effectLst>
                <a:latin typeface="Times New Roman"/>
                <a:cs typeface="Times New Roman"/>
              </a:rPr>
            </a:br>
            <a:r>
              <a:rPr lang="uk-UA" sz="3600" b="1" kern="10" dirty="0" smtClean="0">
                <a:solidFill>
                  <a:schemeClr val="bg1"/>
                </a:solidFill>
                <a:effectLst>
                  <a:outerShdw dist="107763" dir="18900000" algn="ctr" rotWithShape="0">
                    <a:schemeClr val="tx1">
                      <a:alpha val="50000"/>
                    </a:schemeClr>
                  </a:outerShdw>
                </a:effectLst>
                <a:latin typeface="Times New Roman"/>
                <a:cs typeface="Times New Roman"/>
              </a:rPr>
              <a:t>(первинний аналіз даних) </a:t>
            </a:r>
            <a:endParaRPr lang="ru-RU" sz="3600" b="1" kern="10" dirty="0">
              <a:solidFill>
                <a:schemeClr val="bg1"/>
              </a:solidFill>
              <a:effectLst>
                <a:outerShdw dist="107763" dir="18900000" algn="ctr" rotWithShape="0">
                  <a:schemeClr val="tx1">
                    <a:alpha val="50000"/>
                  </a:schemeClr>
                </a:outerShdw>
              </a:effectLs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3170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65266" y="224444"/>
            <a:ext cx="11626734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ru-RU" b="1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Структура курса</a:t>
            </a:r>
          </a:p>
        </p:txBody>
      </p:sp>
      <p:sp>
        <p:nvSpPr>
          <p:cNvPr id="5713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379912" y="1086248"/>
            <a:ext cx="9404466" cy="3026583"/>
          </a:xfrm>
          <a:prstGeom prst="rect">
            <a:avLst/>
          </a:prstGeom>
          <a:ln>
            <a:noFill/>
          </a:ln>
        </p:spPr>
        <p:txBody>
          <a:bodyPr/>
          <a:lstStyle/>
          <a:p>
            <a:r>
              <a:rPr lang="ru-RU" altLang="ru-RU" dirty="0" err="1" smtClean="0"/>
              <a:t>Лекц</a:t>
            </a:r>
            <a:r>
              <a:rPr lang="uk-UA" altLang="ru-RU" dirty="0" err="1" smtClean="0"/>
              <a:t>ії</a:t>
            </a:r>
            <a:r>
              <a:rPr lang="ru-RU" altLang="ru-RU" dirty="0" smtClean="0"/>
              <a:t> </a:t>
            </a:r>
            <a:r>
              <a:rPr lang="ru-RU" altLang="ru-RU" dirty="0"/>
              <a:t>– </a:t>
            </a:r>
            <a:r>
              <a:rPr lang="ru-RU" altLang="ru-RU" dirty="0" smtClean="0"/>
              <a:t>24 годин </a:t>
            </a:r>
            <a:endParaRPr lang="ru-RU" altLang="ru-RU" dirty="0"/>
          </a:p>
          <a:p>
            <a:r>
              <a:rPr lang="ru-RU" altLang="ru-RU" dirty="0" err="1" smtClean="0"/>
              <a:t>Лабораторні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заняття</a:t>
            </a:r>
            <a:r>
              <a:rPr lang="ru-RU" altLang="ru-RU" dirty="0" smtClean="0"/>
              <a:t> (</a:t>
            </a:r>
            <a:r>
              <a:rPr lang="ru-RU" altLang="ru-RU" dirty="0" err="1" smtClean="0"/>
              <a:t>проєктний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підхід</a:t>
            </a:r>
            <a:r>
              <a:rPr lang="ru-RU" altLang="ru-RU" dirty="0" smtClean="0"/>
              <a:t>) – 24 годин . </a:t>
            </a:r>
            <a:endParaRPr lang="ru-RU" altLang="ru-RU" dirty="0"/>
          </a:p>
          <a:p>
            <a:r>
              <a:rPr lang="ru-RU" altLang="ru-RU" dirty="0" err="1" smtClean="0"/>
              <a:t>Самостійна</a:t>
            </a:r>
            <a:r>
              <a:rPr lang="ru-RU" altLang="ru-RU" dirty="0" smtClean="0"/>
              <a:t> робота </a:t>
            </a:r>
            <a:r>
              <a:rPr lang="ru-RU" altLang="ru-RU" dirty="0"/>
              <a:t>– </a:t>
            </a:r>
            <a:r>
              <a:rPr lang="ru-RU" altLang="ru-RU" dirty="0" smtClean="0"/>
              <a:t>102 </a:t>
            </a:r>
            <a:r>
              <a:rPr lang="ru-RU" altLang="ru-RU" dirty="0" err="1" smtClean="0"/>
              <a:t>години</a:t>
            </a:r>
            <a:endParaRPr lang="ru-RU" altLang="ru-RU" dirty="0"/>
          </a:p>
          <a:p>
            <a:r>
              <a:rPr lang="ru-RU" altLang="ru-RU" dirty="0" err="1" smtClean="0"/>
              <a:t>Контрольні</a:t>
            </a:r>
            <a:r>
              <a:rPr lang="ru-RU" altLang="ru-RU" dirty="0" smtClean="0"/>
              <a:t> </a:t>
            </a:r>
            <a:r>
              <a:rPr lang="ru-RU" altLang="ru-RU" dirty="0" err="1" smtClean="0"/>
              <a:t>роботи</a:t>
            </a:r>
            <a:r>
              <a:rPr lang="ru-RU" altLang="ru-RU" dirty="0" smtClean="0"/>
              <a:t> - 2</a:t>
            </a:r>
            <a:endParaRPr lang="ru-RU" altLang="ru-RU" dirty="0"/>
          </a:p>
          <a:p>
            <a:r>
              <a:rPr lang="ru-RU" altLang="ru-RU" dirty="0" err="1" smtClean="0"/>
              <a:t>Іспит</a:t>
            </a:r>
            <a:endParaRPr lang="ru-RU" altLang="ru-RU" dirty="0"/>
          </a:p>
          <a:p>
            <a:r>
              <a:rPr lang="ru-RU" altLang="ru-RU" dirty="0" smtClean="0"/>
              <a:t>Разом– 150 годин (5 </a:t>
            </a:r>
            <a:r>
              <a:rPr lang="ru-RU" altLang="ru-RU" dirty="0" err="1" smtClean="0"/>
              <a:t>кредитів</a:t>
            </a:r>
            <a:r>
              <a:rPr lang="ru-RU" altLang="ru-RU" dirty="0" smtClean="0"/>
              <a:t>).</a:t>
            </a:r>
            <a:endParaRPr lang="ru-RU" alt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4575767" y="4272904"/>
            <a:ext cx="3605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800" b="1" dirty="0" smtClean="0"/>
              <a:t>Підвищення рейтингу</a:t>
            </a:r>
            <a:endParaRPr lang="ru-RU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014153" y="4908132"/>
            <a:ext cx="94765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uk-UA" sz="2400" dirty="0" smtClean="0">
                <a:solidFill>
                  <a:srgbClr val="C00000"/>
                </a:solidFill>
              </a:rPr>
              <a:t>Сертифікат курсу на </a:t>
            </a:r>
            <a:r>
              <a:rPr lang="en-US" sz="2400" dirty="0" err="1" smtClean="0">
                <a:solidFill>
                  <a:srgbClr val="C00000"/>
                </a:solidFill>
              </a:rPr>
              <a:t>Coursera</a:t>
            </a:r>
            <a:r>
              <a:rPr lang="uk-UA" sz="2400" dirty="0" smtClean="0">
                <a:solidFill>
                  <a:srgbClr val="C00000"/>
                </a:solidFill>
              </a:rPr>
              <a:t> або </a:t>
            </a:r>
            <a:r>
              <a:rPr lang="en-US" sz="2400" dirty="0" err="1" smtClean="0">
                <a:solidFill>
                  <a:srgbClr val="C00000"/>
                </a:solidFill>
              </a:rPr>
              <a:t>Prometeus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457200" indent="-457200">
              <a:buAutoNum type="arabicPeriod"/>
            </a:pPr>
            <a:r>
              <a:rPr lang="uk-UA" sz="2400" dirty="0" smtClean="0">
                <a:solidFill>
                  <a:srgbClr val="C00000"/>
                </a:solidFill>
              </a:rPr>
              <a:t>Індивідуальна творча робота з підготовкою </a:t>
            </a:r>
            <a:r>
              <a:rPr lang="uk-UA" sz="2400" dirty="0" err="1" smtClean="0">
                <a:solidFill>
                  <a:srgbClr val="C00000"/>
                </a:solidFill>
              </a:rPr>
              <a:t>студ</a:t>
            </a:r>
            <a:r>
              <a:rPr lang="uk-UA" sz="2400" dirty="0" smtClean="0">
                <a:solidFill>
                  <a:srgbClr val="C00000"/>
                </a:solidFill>
              </a:rPr>
              <a:t>. роботи на конкурс</a:t>
            </a:r>
          </a:p>
          <a:p>
            <a:pPr marL="457200" indent="-457200">
              <a:buAutoNum type="arabicPeriod"/>
            </a:pPr>
            <a:r>
              <a:rPr lang="uk-UA" sz="2400" dirty="0" smtClean="0">
                <a:solidFill>
                  <a:srgbClr val="C00000"/>
                </a:solidFill>
              </a:rPr>
              <a:t>Наукова робота з підготовкою наукової статті</a:t>
            </a:r>
            <a:endParaRPr lang="ru-RU" sz="2400" dirty="0">
              <a:solidFill>
                <a:srgbClr val="C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05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4</a:t>
            </a:fld>
            <a:r>
              <a:rPr lang="en-US" smtClean="0"/>
              <a:t>/59</a:t>
            </a:r>
            <a:endParaRPr lang="ru-RU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565266" y="224444"/>
            <a:ext cx="11626734" cy="70173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b="1" dirty="0" err="1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Поняття</a:t>
            </a:r>
            <a:r>
              <a:rPr lang="ru-RU" altLang="ru-RU" b="1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ru-RU" altLang="ru-RU" b="1" dirty="0" err="1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препроцесінгу</a:t>
            </a:r>
            <a:endParaRPr lang="ru-RU" altLang="ru-RU" b="1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52400" y="1158806"/>
            <a:ext cx="1176528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 smtClean="0">
                <a:solidFill>
                  <a:srgbClr val="0000CC"/>
                </a:solidFill>
              </a:rPr>
              <a:t>Препроцесінг</a:t>
            </a:r>
            <a:r>
              <a:rPr lang="ru-RU" sz="2400" dirty="0" smtClean="0">
                <a:solidFill>
                  <a:srgbClr val="0000CC"/>
                </a:solidFill>
              </a:rPr>
              <a:t> </a:t>
            </a:r>
            <a:r>
              <a:rPr lang="ru-RU" sz="2400" b="1" dirty="0" err="1" smtClean="0">
                <a:solidFill>
                  <a:srgbClr val="0000CC"/>
                </a:solidFill>
              </a:rPr>
              <a:t>даних</a:t>
            </a:r>
            <a:r>
              <a:rPr lang="ru-RU" sz="2400" dirty="0" smtClean="0">
                <a:solidFill>
                  <a:srgbClr val="0000CC"/>
                </a:solidFill>
              </a:rPr>
              <a:t> </a:t>
            </a:r>
            <a:r>
              <a:rPr lang="ru-RU" sz="2400" dirty="0" err="1" smtClean="0"/>
              <a:t>зводиться</a:t>
            </a:r>
            <a:r>
              <a:rPr lang="ru-RU" sz="2400" dirty="0" smtClean="0"/>
              <a:t> </a:t>
            </a:r>
            <a:r>
              <a:rPr lang="ru-RU" sz="2400" dirty="0"/>
              <a:t>до </a:t>
            </a:r>
            <a:r>
              <a:rPr lang="ru-RU" sz="2400" dirty="0" err="1"/>
              <a:t>визначення</a:t>
            </a:r>
            <a:r>
              <a:rPr lang="ru-RU" sz="2400" dirty="0"/>
              <a:t> </a:t>
            </a:r>
            <a:r>
              <a:rPr lang="ru-RU" sz="2400" dirty="0" err="1"/>
              <a:t>інформативних</a:t>
            </a:r>
            <a:r>
              <a:rPr lang="ru-RU" sz="2400" dirty="0"/>
              <a:t> </a:t>
            </a:r>
            <a:r>
              <a:rPr lang="ru-RU" sz="2400" dirty="0" err="1"/>
              <a:t>або</a:t>
            </a:r>
            <a:r>
              <a:rPr lang="ru-RU" sz="2400" dirty="0"/>
              <a:t> </a:t>
            </a:r>
            <a:r>
              <a:rPr lang="ru-RU" sz="2400" dirty="0" err="1"/>
              <a:t>вагомих</a:t>
            </a:r>
            <a:r>
              <a:rPr lang="ru-RU" sz="2400" dirty="0"/>
              <a:t> </a:t>
            </a:r>
            <a:r>
              <a:rPr lang="ru-RU" sz="2400" dirty="0" err="1"/>
              <a:t>параметрів</a:t>
            </a:r>
            <a:r>
              <a:rPr lang="ru-RU" sz="2400" dirty="0"/>
              <a:t> (</a:t>
            </a:r>
            <a:r>
              <a:rPr lang="ru-RU" sz="2400" dirty="0" err="1"/>
              <a:t>ознак</a:t>
            </a:r>
            <a:r>
              <a:rPr lang="ru-RU" sz="2400" dirty="0"/>
              <a:t>), </a:t>
            </a:r>
            <a:r>
              <a:rPr lang="ru-RU" sz="2400" dirty="0" err="1"/>
              <a:t>вирівнюванню</a:t>
            </a:r>
            <a:r>
              <a:rPr lang="ru-RU" sz="2400" dirty="0"/>
              <a:t> </a:t>
            </a:r>
            <a:r>
              <a:rPr lang="ru-RU" sz="2400" dirty="0" err="1"/>
              <a:t>їх</a:t>
            </a:r>
            <a:r>
              <a:rPr lang="ru-RU" sz="2400" dirty="0"/>
              <a:t> </a:t>
            </a:r>
            <a:r>
              <a:rPr lang="ru-RU" sz="2400" dirty="0" err="1"/>
              <a:t>розподілу</a:t>
            </a:r>
            <a:r>
              <a:rPr lang="ru-RU" sz="2400" dirty="0"/>
              <a:t> та </a:t>
            </a:r>
            <a:r>
              <a:rPr lang="ru-RU" sz="2400" dirty="0" err="1"/>
              <a:t>приведенню</a:t>
            </a:r>
            <a:r>
              <a:rPr lang="ru-RU" sz="2400" dirty="0"/>
              <a:t> до </a:t>
            </a:r>
            <a:r>
              <a:rPr lang="ru-RU" sz="2400" dirty="0" err="1" smtClean="0"/>
              <a:t>безвимірного</a:t>
            </a:r>
            <a:r>
              <a:rPr lang="ru-RU" sz="2400" dirty="0" smtClean="0"/>
              <a:t> </a:t>
            </a:r>
            <a:r>
              <a:rPr lang="ru-RU" sz="2400" dirty="0" err="1"/>
              <a:t>вигляду</a:t>
            </a:r>
            <a:r>
              <a:rPr lang="ru-RU" sz="2400" dirty="0"/>
              <a:t>. </a:t>
            </a:r>
            <a:endParaRPr lang="ru-RU" sz="2400" dirty="0" smtClean="0"/>
          </a:p>
          <a:p>
            <a:r>
              <a:rPr lang="ru-RU" sz="2400" dirty="0" err="1" smtClean="0"/>
              <a:t>Увага</a:t>
            </a:r>
            <a:r>
              <a:rPr lang="ru-RU" sz="2400" dirty="0" smtClean="0"/>
              <a:t> </a:t>
            </a:r>
            <a:r>
              <a:rPr lang="ru-RU" sz="2400" dirty="0"/>
              <a:t>до </a:t>
            </a:r>
            <a:r>
              <a:rPr lang="ru-RU" sz="2400" dirty="0" err="1"/>
              <a:t>релевантних</a:t>
            </a:r>
            <a:r>
              <a:rPr lang="ru-RU" sz="2400" dirty="0"/>
              <a:t> задач </a:t>
            </a:r>
            <a:r>
              <a:rPr lang="ru-RU" sz="2400" dirty="0" err="1"/>
              <a:t>викликана</a:t>
            </a:r>
            <a:r>
              <a:rPr lang="ru-RU" sz="2400" dirty="0"/>
              <a:t> </a:t>
            </a:r>
            <a:r>
              <a:rPr lang="ru-RU" sz="2400" dirty="0" err="1"/>
              <a:t>декількома</a:t>
            </a:r>
            <a:r>
              <a:rPr lang="ru-RU" sz="2400" dirty="0"/>
              <a:t> </a:t>
            </a:r>
            <a:r>
              <a:rPr lang="ru-RU" sz="2400" dirty="0" smtClean="0"/>
              <a:t>аспектами</a:t>
            </a:r>
            <a:r>
              <a:rPr lang="ru-RU" sz="2400" dirty="0"/>
              <a:t>: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ru-RU" sz="2400" b="1" dirty="0" smtClean="0"/>
              <a:t>«</a:t>
            </a:r>
            <a:r>
              <a:rPr lang="ru-RU" sz="2400" b="1" dirty="0" err="1"/>
              <a:t>прокляття</a:t>
            </a:r>
            <a:r>
              <a:rPr lang="ru-RU" sz="2400" b="1" dirty="0"/>
              <a:t> </a:t>
            </a:r>
            <a:r>
              <a:rPr lang="ru-RU" sz="2400" b="1" dirty="0" err="1"/>
              <a:t>розмірності</a:t>
            </a:r>
            <a:r>
              <a:rPr lang="ru-RU" sz="2400" b="1" dirty="0"/>
              <a:t>» </a:t>
            </a:r>
            <a:r>
              <a:rPr lang="ru-RU" sz="2400" dirty="0" err="1"/>
              <a:t>зумовлює</a:t>
            </a:r>
            <a:r>
              <a:rPr lang="ru-RU" sz="2400" dirty="0"/>
              <a:t> </a:t>
            </a:r>
            <a:r>
              <a:rPr lang="ru-RU" sz="2400" dirty="0" err="1"/>
              <a:t>необхідність</a:t>
            </a:r>
            <a:r>
              <a:rPr lang="ru-RU" sz="2400" dirty="0"/>
              <a:t> </a:t>
            </a:r>
            <a:r>
              <a:rPr lang="ru-RU" sz="2400" b="1" dirty="0" err="1">
                <a:solidFill>
                  <a:srgbClr val="C00000"/>
                </a:solidFill>
              </a:rPr>
              <a:t>скорочення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 err="1"/>
              <a:t>кількості</a:t>
            </a:r>
            <a:r>
              <a:rPr lang="ru-RU" sz="2400" dirty="0"/>
              <a:t> </a:t>
            </a:r>
            <a:r>
              <a:rPr lang="ru-RU" sz="2400" dirty="0" err="1"/>
              <a:t>вхідних</a:t>
            </a:r>
            <a:r>
              <a:rPr lang="ru-RU" sz="2400" dirty="0"/>
              <a:t> </a:t>
            </a:r>
            <a:r>
              <a:rPr lang="ru-RU" sz="2400" dirty="0" err="1"/>
              <a:t>факторів</a:t>
            </a:r>
            <a:r>
              <a:rPr lang="ru-RU" sz="2400" dirty="0"/>
              <a:t>;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ru-RU" sz="2400" b="1" dirty="0" err="1" smtClean="0"/>
              <a:t>вплив</a:t>
            </a:r>
            <a:r>
              <a:rPr lang="ru-RU" sz="2400" b="1" dirty="0" smtClean="0"/>
              <a:t> </a:t>
            </a:r>
            <a:r>
              <a:rPr lang="ru-RU" sz="2400" b="1" dirty="0" err="1"/>
              <a:t>шумових</a:t>
            </a:r>
            <a:r>
              <a:rPr lang="ru-RU" sz="2400" b="1" dirty="0"/>
              <a:t> </a:t>
            </a:r>
            <a:r>
              <a:rPr lang="ru-RU" sz="2400" b="1" dirty="0" err="1"/>
              <a:t>ефектів</a:t>
            </a:r>
            <a:r>
              <a:rPr lang="ru-RU" sz="2400" b="1" dirty="0"/>
              <a:t> </a:t>
            </a:r>
            <a:r>
              <a:rPr lang="ru-RU" sz="2400" dirty="0"/>
              <a:t>на </a:t>
            </a:r>
            <a:r>
              <a:rPr lang="ru-RU" sz="2400" dirty="0" err="1"/>
              <a:t>вхідні</a:t>
            </a:r>
            <a:r>
              <a:rPr lang="ru-RU" sz="2400" dirty="0"/>
              <a:t> </a:t>
            </a:r>
            <a:r>
              <a:rPr lang="ru-RU" sz="2400" dirty="0" err="1"/>
              <a:t>фактори</a:t>
            </a:r>
            <a:r>
              <a:rPr lang="ru-RU" sz="2400" dirty="0"/>
              <a:t> </a:t>
            </a:r>
            <a:r>
              <a:rPr lang="ru-RU" sz="2400" dirty="0" err="1"/>
              <a:t>спотворює</a:t>
            </a:r>
            <a:r>
              <a:rPr lang="ru-RU" sz="2400" dirty="0"/>
              <a:t> </a:t>
            </a:r>
            <a:r>
              <a:rPr lang="ru-RU" sz="2400" dirty="0" err="1"/>
              <a:t>їх</a:t>
            </a:r>
            <a:r>
              <a:rPr lang="ru-RU" sz="2400" dirty="0"/>
              <a:t> </a:t>
            </a:r>
            <a:r>
              <a:rPr lang="ru-RU" sz="2400" dirty="0" err="1"/>
              <a:t>значення</a:t>
            </a:r>
            <a:r>
              <a:rPr lang="ru-RU" sz="2400" dirty="0"/>
              <a:t> і, </a:t>
            </a:r>
            <a:r>
              <a:rPr lang="ru-RU" sz="2400" dirty="0" err="1" smtClean="0"/>
              <a:t>відповідно</a:t>
            </a:r>
            <a:r>
              <a:rPr lang="ru-RU" sz="2400" dirty="0"/>
              <a:t>, </a:t>
            </a:r>
            <a:r>
              <a:rPr lang="ru-RU" sz="2400" dirty="0" err="1"/>
              <a:t>значення</a:t>
            </a:r>
            <a:r>
              <a:rPr lang="ru-RU" sz="2400" dirty="0"/>
              <a:t> </a:t>
            </a:r>
            <a:r>
              <a:rPr lang="ru-RU" sz="2400" dirty="0" err="1"/>
              <a:t>результуючих</a:t>
            </a:r>
            <a:r>
              <a:rPr lang="ru-RU" sz="2400" dirty="0"/>
              <a:t> характеристик. Тому </a:t>
            </a:r>
            <a:r>
              <a:rPr lang="ru-RU" sz="2400" dirty="0" err="1"/>
              <a:t>необхідно</a:t>
            </a:r>
            <a:r>
              <a:rPr lang="ru-RU" sz="2400" dirty="0"/>
              <a:t> </a:t>
            </a:r>
            <a:r>
              <a:rPr lang="ru-RU" sz="2400" dirty="0" err="1"/>
              <a:t>вилучати</a:t>
            </a:r>
            <a:r>
              <a:rPr lang="ru-RU" sz="2400" dirty="0"/>
              <a:t> </a:t>
            </a:r>
            <a:r>
              <a:rPr lang="ru-RU" sz="2400" dirty="0" err="1" smtClean="0"/>
              <a:t>найбільш</a:t>
            </a:r>
            <a:r>
              <a:rPr lang="ru-RU" sz="2400" dirty="0" smtClean="0"/>
              <a:t> </a:t>
            </a:r>
            <a:r>
              <a:rPr lang="ru-RU" sz="2400" dirty="0" err="1"/>
              <a:t>зашумлені</a:t>
            </a:r>
            <a:r>
              <a:rPr lang="ru-RU" sz="2400" dirty="0"/>
              <a:t> </a:t>
            </a:r>
            <a:r>
              <a:rPr lang="ru-RU" sz="2400" dirty="0" err="1"/>
              <a:t>фактори</a:t>
            </a:r>
            <a:r>
              <a:rPr lang="ru-RU" sz="2400" dirty="0"/>
              <a:t> без </a:t>
            </a:r>
            <a:r>
              <a:rPr lang="ru-RU" sz="2400" dirty="0" err="1"/>
              <a:t>зниження</a:t>
            </a:r>
            <a:r>
              <a:rPr lang="ru-RU" sz="2400" dirty="0"/>
              <a:t> </a:t>
            </a:r>
            <a:r>
              <a:rPr lang="ru-RU" sz="2400" dirty="0" err="1"/>
              <a:t>загальної</a:t>
            </a:r>
            <a:r>
              <a:rPr lang="ru-RU" sz="2400" dirty="0"/>
              <a:t> </a:t>
            </a:r>
            <a:r>
              <a:rPr lang="ru-RU" sz="2400" dirty="0" err="1"/>
              <a:t>інформативності</a:t>
            </a:r>
            <a:r>
              <a:rPr lang="ru-RU" sz="2400" dirty="0"/>
              <a:t> та </a:t>
            </a:r>
            <a:r>
              <a:rPr lang="ru-RU" sz="2400" dirty="0" err="1"/>
              <a:t>визначати</a:t>
            </a:r>
            <a:r>
              <a:rPr lang="ru-RU" sz="2400" dirty="0"/>
              <a:t> і </a:t>
            </a:r>
            <a:r>
              <a:rPr lang="ru-RU" sz="2400" b="1" dirty="0" err="1">
                <a:solidFill>
                  <a:srgbClr val="C00000"/>
                </a:solidFill>
              </a:rPr>
              <a:t>зменшувати</a:t>
            </a:r>
            <a:r>
              <a:rPr lang="ru-RU" sz="2400" b="1" dirty="0">
                <a:solidFill>
                  <a:srgbClr val="C00000"/>
                </a:solidFill>
              </a:rPr>
              <a:t> </a:t>
            </a:r>
            <a:r>
              <a:rPr lang="ru-RU" sz="2400" b="1" dirty="0" err="1">
                <a:solidFill>
                  <a:srgbClr val="C00000"/>
                </a:solidFill>
              </a:rPr>
              <a:t>шумову</a:t>
            </a:r>
            <a:r>
              <a:rPr lang="ru-RU" sz="2400" b="1" dirty="0">
                <a:solidFill>
                  <a:srgbClr val="C00000"/>
                </a:solidFill>
              </a:rPr>
              <a:t> </a:t>
            </a:r>
            <a:r>
              <a:rPr lang="ru-RU" sz="2400" b="1" dirty="0" err="1">
                <a:solidFill>
                  <a:srgbClr val="C00000"/>
                </a:solidFill>
              </a:rPr>
              <a:t>присутність</a:t>
            </a:r>
            <a:r>
              <a:rPr lang="ru-RU" sz="2400" dirty="0"/>
              <a:t>;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ru-RU" sz="2400" dirty="0" err="1" smtClean="0"/>
              <a:t>необхідність</a:t>
            </a:r>
            <a:r>
              <a:rPr lang="ru-RU" sz="2400" dirty="0" smtClean="0"/>
              <a:t> </a:t>
            </a:r>
            <a:r>
              <a:rPr lang="ru-RU" sz="2400" b="1" dirty="0" err="1"/>
              <a:t>обробки</a:t>
            </a:r>
            <a:r>
              <a:rPr lang="ru-RU" sz="2400" b="1" dirty="0"/>
              <a:t> </a:t>
            </a:r>
            <a:r>
              <a:rPr lang="ru-RU" sz="2400" b="1" dirty="0" err="1"/>
              <a:t>різнотипних</a:t>
            </a:r>
            <a:r>
              <a:rPr lang="ru-RU" sz="2400" b="1" dirty="0"/>
              <a:t> </a:t>
            </a:r>
            <a:r>
              <a:rPr lang="ru-RU" sz="2400" b="1" dirty="0" err="1"/>
              <a:t>факторів</a:t>
            </a:r>
            <a:r>
              <a:rPr lang="ru-RU" sz="2400" b="1" dirty="0"/>
              <a:t> </a:t>
            </a:r>
            <a:r>
              <a:rPr lang="ru-RU" sz="2400" dirty="0" err="1"/>
              <a:t>визначає</a:t>
            </a:r>
            <a:r>
              <a:rPr lang="ru-RU" sz="2400" dirty="0"/>
              <a:t> </a:t>
            </a:r>
            <a:r>
              <a:rPr lang="ru-RU" sz="2400" dirty="0" err="1"/>
              <a:t>необхідність</a:t>
            </a:r>
            <a:r>
              <a:rPr lang="ru-RU" sz="2400" dirty="0"/>
              <a:t> </a:t>
            </a:r>
            <a:r>
              <a:rPr lang="ru-RU" sz="2400" b="1" dirty="0" err="1" smtClean="0">
                <a:solidFill>
                  <a:srgbClr val="C00000"/>
                </a:solidFill>
              </a:rPr>
              <a:t>нормалізації</a:t>
            </a:r>
            <a:r>
              <a:rPr lang="ru-RU" sz="2400" dirty="0" smtClean="0">
                <a:solidFill>
                  <a:srgbClr val="C00000"/>
                </a:solidFill>
              </a:rPr>
              <a:t> </a:t>
            </a:r>
            <a:r>
              <a:rPr lang="ru-RU" sz="2400" dirty="0"/>
              <a:t>та </a:t>
            </a:r>
            <a:r>
              <a:rPr lang="ru-RU" sz="2400" dirty="0" err="1"/>
              <a:t>стандартизації</a:t>
            </a:r>
            <a:r>
              <a:rPr lang="ru-RU" sz="2400" dirty="0"/>
              <a:t> </a:t>
            </a:r>
            <a:r>
              <a:rPr lang="ru-RU" sz="2400" dirty="0" err="1"/>
              <a:t>їх</a:t>
            </a:r>
            <a:r>
              <a:rPr lang="ru-RU" sz="2400" dirty="0"/>
              <a:t> </a:t>
            </a:r>
            <a:r>
              <a:rPr lang="ru-RU" sz="2400" dirty="0" err="1"/>
              <a:t>значень</a:t>
            </a:r>
            <a:r>
              <a:rPr lang="ru-RU" sz="2400" dirty="0"/>
              <a:t>;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ru-RU" sz="2400" b="1" dirty="0" err="1" smtClean="0"/>
              <a:t>нерівномірний</a:t>
            </a:r>
            <a:r>
              <a:rPr lang="ru-RU" sz="2400" b="1" dirty="0" smtClean="0"/>
              <a:t> </a:t>
            </a:r>
            <a:r>
              <a:rPr lang="ru-RU" sz="2400" b="1" dirty="0" err="1"/>
              <a:t>розподіл</a:t>
            </a:r>
            <a:r>
              <a:rPr lang="ru-RU" sz="2400" b="1" dirty="0"/>
              <a:t> </a:t>
            </a:r>
            <a:r>
              <a:rPr lang="ru-RU" sz="2400" dirty="0" err="1"/>
              <a:t>значень</a:t>
            </a:r>
            <a:r>
              <a:rPr lang="ru-RU" sz="2400" dirty="0"/>
              <a:t> </a:t>
            </a:r>
            <a:r>
              <a:rPr lang="ru-RU" sz="2400" dirty="0" err="1"/>
              <a:t>факторів</a:t>
            </a:r>
            <a:r>
              <a:rPr lang="ru-RU" sz="2400" dirty="0"/>
              <a:t> </a:t>
            </a:r>
            <a:r>
              <a:rPr lang="ru-RU" sz="2400" dirty="0" err="1"/>
              <a:t>зменшує</a:t>
            </a:r>
            <a:r>
              <a:rPr lang="ru-RU" sz="2400" dirty="0"/>
              <a:t> </a:t>
            </a:r>
            <a:r>
              <a:rPr lang="ru-RU" sz="2400" dirty="0" err="1"/>
              <a:t>точність</a:t>
            </a:r>
            <a:r>
              <a:rPr lang="ru-RU" sz="2400" dirty="0"/>
              <a:t> </a:t>
            </a:r>
            <a:r>
              <a:rPr lang="ru-RU" sz="2400" dirty="0" err="1"/>
              <a:t>ідентифікації</a:t>
            </a:r>
            <a:r>
              <a:rPr lang="ru-RU" sz="2400" dirty="0"/>
              <a:t> та </a:t>
            </a:r>
            <a:r>
              <a:rPr lang="ru-RU" sz="2400" dirty="0" err="1"/>
              <a:t>прогнозування</a:t>
            </a:r>
            <a:r>
              <a:rPr lang="ru-RU" sz="2400" dirty="0"/>
              <a:t>, тому актуальною є задача </a:t>
            </a:r>
            <a:r>
              <a:rPr lang="ru-RU" sz="2400" b="1" dirty="0" err="1">
                <a:solidFill>
                  <a:srgbClr val="C00000"/>
                </a:solidFill>
              </a:rPr>
              <a:t>вирівнювання</a:t>
            </a:r>
            <a:r>
              <a:rPr lang="ru-RU" sz="2400" b="1" dirty="0">
                <a:solidFill>
                  <a:srgbClr val="C00000"/>
                </a:solidFill>
              </a:rPr>
              <a:t> </a:t>
            </a:r>
            <a:r>
              <a:rPr lang="ru-RU" sz="2400" b="1" dirty="0" err="1">
                <a:solidFill>
                  <a:srgbClr val="C00000"/>
                </a:solidFill>
              </a:rPr>
              <a:t>їх</a:t>
            </a:r>
            <a:r>
              <a:rPr lang="ru-RU" sz="2400" b="1" dirty="0">
                <a:solidFill>
                  <a:srgbClr val="C00000"/>
                </a:solidFill>
              </a:rPr>
              <a:t> </a:t>
            </a:r>
            <a:r>
              <a:rPr lang="ru-RU" sz="2400" b="1" dirty="0" err="1">
                <a:solidFill>
                  <a:srgbClr val="C00000"/>
                </a:solidFill>
              </a:rPr>
              <a:t>розподілу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926822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5</a:t>
            </a:fld>
            <a:r>
              <a:rPr lang="en-US" smtClean="0"/>
              <a:t>/59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699692" y="0"/>
            <a:ext cx="71272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err="1">
                <a:solidFill>
                  <a:schemeClr val="bg1"/>
                </a:solidFill>
              </a:rPr>
              <a:t>Ентропія</a:t>
            </a:r>
            <a:r>
              <a:rPr lang="ru-RU" sz="4000" b="1" dirty="0">
                <a:solidFill>
                  <a:schemeClr val="bg1"/>
                </a:solidFill>
              </a:rPr>
              <a:t> і </a:t>
            </a:r>
            <a:r>
              <a:rPr lang="ru-RU" sz="4000" b="1" dirty="0" err="1">
                <a:solidFill>
                  <a:schemeClr val="bg1"/>
                </a:solidFill>
              </a:rPr>
              <a:t>кількість</a:t>
            </a:r>
            <a:r>
              <a:rPr lang="ru-RU" sz="4000" b="1" dirty="0">
                <a:solidFill>
                  <a:schemeClr val="bg1"/>
                </a:solidFill>
              </a:rPr>
              <a:t> </a:t>
            </a:r>
            <a:r>
              <a:rPr lang="ru-RU" sz="4000" b="1" dirty="0" err="1">
                <a:solidFill>
                  <a:schemeClr val="bg1"/>
                </a:solidFill>
              </a:rPr>
              <a:t>інформації</a:t>
            </a:r>
            <a:r>
              <a:rPr lang="ru-RU" sz="40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28155" y="1225034"/>
            <a:ext cx="28039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 smtClean="0"/>
              <a:t>Ентропія</a:t>
            </a:r>
            <a:r>
              <a:rPr lang="ru-RU" sz="2400" dirty="0" smtClean="0"/>
              <a:t> </a:t>
            </a:r>
            <a:r>
              <a:rPr lang="ru-RU" sz="2400" dirty="0" err="1"/>
              <a:t>інформації</a:t>
            </a:r>
            <a:endParaRPr lang="ru-RU" sz="24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419" y="1066000"/>
            <a:ext cx="3491081" cy="91759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90500" y="1983595"/>
            <a:ext cx="1183639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>
                <a:solidFill>
                  <a:srgbClr val="000000"/>
                </a:solidFill>
              </a:rPr>
              <a:t>Цей</a:t>
            </a:r>
            <a:r>
              <a:rPr lang="ru-RU" sz="2400" dirty="0">
                <a:solidFill>
                  <a:srgbClr val="000000"/>
                </a:solidFill>
              </a:rPr>
              <a:t> </a:t>
            </a:r>
            <a:r>
              <a:rPr lang="ru-RU" sz="2400" dirty="0" err="1">
                <a:solidFill>
                  <a:srgbClr val="000000"/>
                </a:solidFill>
              </a:rPr>
              <a:t>функціонал</a:t>
            </a:r>
            <a:r>
              <a:rPr lang="ru-RU" sz="2400" dirty="0">
                <a:solidFill>
                  <a:srgbClr val="000000"/>
                </a:solidFill>
              </a:rPr>
              <a:t> </a:t>
            </a:r>
            <a:r>
              <a:rPr lang="ru-RU" sz="2400" dirty="0" err="1">
                <a:solidFill>
                  <a:srgbClr val="000000"/>
                </a:solidFill>
              </a:rPr>
              <a:t>вказує</a:t>
            </a:r>
            <a:r>
              <a:rPr lang="ru-RU" sz="2400" dirty="0">
                <a:solidFill>
                  <a:srgbClr val="000000"/>
                </a:solidFill>
              </a:rPr>
              <a:t> на </a:t>
            </a:r>
            <a:r>
              <a:rPr lang="ru-RU" sz="2400" dirty="0" err="1">
                <a:solidFill>
                  <a:srgbClr val="000000"/>
                </a:solidFill>
              </a:rPr>
              <a:t>міру</a:t>
            </a:r>
            <a:r>
              <a:rPr lang="ru-RU" sz="2400" dirty="0">
                <a:solidFill>
                  <a:srgbClr val="000000"/>
                </a:solidFill>
              </a:rPr>
              <a:t> </a:t>
            </a:r>
            <a:r>
              <a:rPr lang="ru-RU" sz="2400" dirty="0" err="1">
                <a:solidFill>
                  <a:srgbClr val="000000"/>
                </a:solidFill>
              </a:rPr>
              <a:t>невизначеності</a:t>
            </a:r>
            <a:r>
              <a:rPr lang="ru-RU" sz="2400" dirty="0">
                <a:solidFill>
                  <a:srgbClr val="000000"/>
                </a:solidFill>
              </a:rPr>
              <a:t> </a:t>
            </a:r>
            <a:r>
              <a:rPr lang="ru-RU" sz="2400" dirty="0" err="1">
                <a:solidFill>
                  <a:srgbClr val="000000"/>
                </a:solidFill>
              </a:rPr>
              <a:t>вибору</a:t>
            </a:r>
            <a:r>
              <a:rPr lang="ru-RU" sz="2400" dirty="0">
                <a:solidFill>
                  <a:srgbClr val="000000"/>
                </a:solidFill>
              </a:rPr>
              <a:t> дискретного стану з ансамблю </a:t>
            </a:r>
            <a:r>
              <a:rPr lang="ru-RU" sz="2400" dirty="0" smtClean="0">
                <a:solidFill>
                  <a:srgbClr val="000000"/>
                </a:solidFill>
              </a:rPr>
              <a:t>U.</a:t>
            </a:r>
          </a:p>
          <a:p>
            <a:r>
              <a:rPr lang="ru-RU" sz="2400" dirty="0" err="1"/>
              <a:t>Якщо</a:t>
            </a:r>
            <a:r>
              <a:rPr lang="ru-RU" sz="2400" dirty="0"/>
              <a:t> для </a:t>
            </a:r>
            <a:r>
              <a:rPr lang="ru-RU" sz="2400" dirty="0" err="1"/>
              <a:t>системи</a:t>
            </a:r>
            <a:r>
              <a:rPr lang="ru-RU" sz="2400" dirty="0"/>
              <a:t> </a:t>
            </a:r>
            <a:r>
              <a:rPr lang="ru-RU" sz="2400" dirty="0" err="1"/>
              <a:t>можливі</a:t>
            </a:r>
            <a:r>
              <a:rPr lang="ru-RU" sz="2400" dirty="0"/>
              <a:t> </a:t>
            </a:r>
            <a:r>
              <a:rPr lang="en-US" sz="2400" dirty="0" smtClean="0"/>
              <a:t>n </a:t>
            </a:r>
            <a:r>
              <a:rPr lang="ru-RU" sz="2400" dirty="0" err="1" smtClean="0"/>
              <a:t>станів</a:t>
            </a:r>
            <a:r>
              <a:rPr lang="ru-RU" sz="2400" dirty="0" smtClean="0"/>
              <a:t> </a:t>
            </a:r>
            <a:r>
              <a:rPr lang="ru-RU" sz="2400" dirty="0"/>
              <a:t>і </a:t>
            </a:r>
            <a:r>
              <a:rPr lang="ru-RU" sz="2400" dirty="0" err="1"/>
              <a:t>відомі</a:t>
            </a:r>
            <a:r>
              <a:rPr lang="ru-RU" sz="2400" dirty="0"/>
              <a:t> </a:t>
            </a:r>
            <a:r>
              <a:rPr lang="ru-RU" sz="2400" dirty="0" err="1"/>
              <a:t>ймовірності</a:t>
            </a:r>
            <a:r>
              <a:rPr lang="ru-RU" sz="2400" dirty="0"/>
              <a:t> </a:t>
            </a:r>
            <a:r>
              <a:rPr lang="ru-RU" sz="2400" dirty="0" err="1"/>
              <a:t>настання</a:t>
            </a:r>
            <a:r>
              <a:rPr lang="ru-RU" sz="2400" dirty="0"/>
              <a:t> </a:t>
            </a:r>
            <a:r>
              <a:rPr lang="ru-RU" sz="2400" dirty="0" err="1"/>
              <a:t>цих</a:t>
            </a:r>
            <a:r>
              <a:rPr lang="ru-RU" sz="2400" dirty="0"/>
              <a:t> </a:t>
            </a:r>
            <a:r>
              <a:rPr lang="ru-RU" sz="2400" dirty="0" err="1" smtClean="0"/>
              <a:t>станів</a:t>
            </a:r>
            <a:r>
              <a:rPr lang="en-US" sz="2400" dirty="0" smtClean="0"/>
              <a:t> p1,p2,…,</a:t>
            </a:r>
            <a:r>
              <a:rPr lang="en-US" sz="2400" dirty="0" err="1" smtClean="0"/>
              <a:t>pn</a:t>
            </a:r>
            <a:r>
              <a:rPr lang="ru-RU" sz="2400" dirty="0" smtClean="0"/>
              <a:t> </a:t>
            </a:r>
            <a:r>
              <a:rPr lang="ru-RU" sz="2400" dirty="0"/>
              <a:t>, то </a:t>
            </a:r>
            <a:r>
              <a:rPr lang="ru-RU" sz="2400" dirty="0" err="1"/>
              <a:t>міра</a:t>
            </a:r>
            <a:r>
              <a:rPr lang="ru-RU" sz="2400" dirty="0"/>
              <a:t> </a:t>
            </a:r>
            <a:r>
              <a:rPr lang="ru-RU" sz="2400" dirty="0" err="1"/>
              <a:t>невизначеності</a:t>
            </a:r>
            <a:r>
              <a:rPr lang="ru-RU" sz="2400" dirty="0"/>
              <a:t> </a:t>
            </a:r>
            <a:r>
              <a:rPr lang="ru-RU" sz="2400" dirty="0" err="1"/>
              <a:t>має</a:t>
            </a:r>
            <a:r>
              <a:rPr lang="ru-RU" sz="2400" dirty="0"/>
              <a:t> </a:t>
            </a:r>
            <a:r>
              <a:rPr lang="ru-RU" sz="2400" dirty="0" err="1"/>
              <a:t>наступні</a:t>
            </a:r>
            <a:r>
              <a:rPr lang="ru-RU" sz="2400" dirty="0"/>
              <a:t> </a:t>
            </a:r>
            <a:r>
              <a:rPr lang="ru-RU" sz="2400" dirty="0" err="1" smtClean="0"/>
              <a:t>властивості</a:t>
            </a:r>
            <a:r>
              <a:rPr lang="en-US" sz="2400" dirty="0" smtClean="0"/>
              <a:t>:</a:t>
            </a:r>
            <a:endParaRPr lang="ru-RU" sz="240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50" y="3183924"/>
            <a:ext cx="10819788" cy="287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82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6</a:t>
            </a:fld>
            <a:r>
              <a:rPr lang="en-US" smtClean="0"/>
              <a:t>/59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699692" y="0"/>
            <a:ext cx="712727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 err="1">
                <a:solidFill>
                  <a:schemeClr val="bg1"/>
                </a:solidFill>
              </a:rPr>
              <a:t>Ентропія</a:t>
            </a:r>
            <a:r>
              <a:rPr lang="ru-RU" sz="4000" b="1" dirty="0">
                <a:solidFill>
                  <a:schemeClr val="bg1"/>
                </a:solidFill>
              </a:rPr>
              <a:t> і </a:t>
            </a:r>
            <a:r>
              <a:rPr lang="ru-RU" sz="4000" b="1" dirty="0" err="1">
                <a:solidFill>
                  <a:schemeClr val="bg1"/>
                </a:solidFill>
              </a:rPr>
              <a:t>кількість</a:t>
            </a:r>
            <a:r>
              <a:rPr lang="ru-RU" sz="4000" b="1" dirty="0">
                <a:solidFill>
                  <a:schemeClr val="bg1"/>
                </a:solidFill>
              </a:rPr>
              <a:t> </a:t>
            </a:r>
            <a:r>
              <a:rPr lang="ru-RU" sz="4000" b="1" dirty="0" err="1">
                <a:solidFill>
                  <a:schemeClr val="bg1"/>
                </a:solidFill>
              </a:rPr>
              <a:t>інформації</a:t>
            </a:r>
            <a:r>
              <a:rPr lang="ru-RU" sz="40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120203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/>
              <a:t>Міру</a:t>
            </a:r>
            <a:r>
              <a:rPr lang="ru-RU" sz="2400" dirty="0"/>
              <a:t> </a:t>
            </a:r>
            <a:r>
              <a:rPr lang="ru-RU" sz="2400" dirty="0" err="1"/>
              <a:t>знятої</a:t>
            </a:r>
            <a:r>
              <a:rPr lang="ru-RU" sz="2400" dirty="0"/>
              <a:t> (</a:t>
            </a:r>
            <a:r>
              <a:rPr lang="ru-RU" sz="2400" dirty="0" err="1"/>
              <a:t>виключеної</a:t>
            </a:r>
            <a:r>
              <a:rPr lang="ru-RU" sz="2400" dirty="0"/>
              <a:t>) </a:t>
            </a:r>
            <a:r>
              <a:rPr lang="ru-RU" sz="2400" dirty="0" err="1"/>
              <a:t>невизначеності</a:t>
            </a:r>
            <a:r>
              <a:rPr lang="ru-RU" sz="2400" dirty="0"/>
              <a:t> </a:t>
            </a:r>
            <a:r>
              <a:rPr lang="ru-RU" sz="2400" dirty="0" err="1"/>
              <a:t>називають</a:t>
            </a:r>
            <a:r>
              <a:rPr lang="ru-RU" sz="2400" dirty="0"/>
              <a:t> </a:t>
            </a:r>
            <a:r>
              <a:rPr lang="ru-RU" sz="2400" dirty="0" err="1"/>
              <a:t>кількістю</a:t>
            </a:r>
            <a:r>
              <a:rPr lang="ru-RU" sz="2400" dirty="0"/>
              <a:t> </a:t>
            </a:r>
            <a:r>
              <a:rPr lang="ru-RU" sz="2400" dirty="0" err="1" smtClean="0"/>
              <a:t>інформації</a:t>
            </a:r>
            <a:r>
              <a:rPr lang="en-US" sz="2400" dirty="0" smtClean="0"/>
              <a:t>  </a:t>
            </a:r>
            <a:r>
              <a:rPr lang="en-GB" sz="2400" dirty="0" smtClean="0"/>
              <a:t>I(U)</a:t>
            </a:r>
            <a:r>
              <a:rPr lang="ru-RU" sz="2400" dirty="0" smtClean="0"/>
              <a:t>та </a:t>
            </a:r>
            <a:r>
              <a:rPr lang="ru-RU" sz="2400" dirty="0" err="1"/>
              <a:t>обчислюють</a:t>
            </a:r>
            <a:r>
              <a:rPr lang="ru-RU" sz="2400" dirty="0"/>
              <a:t> як </a:t>
            </a:r>
            <a:r>
              <a:rPr lang="ru-RU" sz="2400" dirty="0" err="1" smtClean="0"/>
              <a:t>різницю</a:t>
            </a:r>
            <a:r>
              <a:rPr lang="en-US" sz="2400" dirty="0" smtClean="0"/>
              <a:t> </a:t>
            </a:r>
            <a:r>
              <a:rPr lang="ru-RU" sz="2400" dirty="0" err="1"/>
              <a:t>між</a:t>
            </a:r>
            <a:r>
              <a:rPr lang="ru-RU" sz="2400" dirty="0"/>
              <a:t> </a:t>
            </a:r>
            <a:r>
              <a:rPr lang="ru-RU" sz="2400" dirty="0" err="1"/>
              <a:t>ентропією</a:t>
            </a:r>
            <a:r>
              <a:rPr lang="ru-RU" sz="2400" dirty="0"/>
              <a:t> до </a:t>
            </a:r>
            <a:r>
              <a:rPr lang="ru-RU" sz="2400" dirty="0" err="1"/>
              <a:t>проведення</a:t>
            </a:r>
            <a:r>
              <a:rPr lang="ru-RU" sz="2400" dirty="0"/>
              <a:t> </a:t>
            </a:r>
            <a:r>
              <a:rPr lang="ru-RU" sz="2400" dirty="0" err="1"/>
              <a:t>досліду</a:t>
            </a:r>
            <a:r>
              <a:rPr lang="ru-RU" sz="2400" dirty="0"/>
              <a:t> та </a:t>
            </a:r>
            <a:r>
              <a:rPr lang="ru-RU" sz="2400" dirty="0" err="1"/>
              <a:t>її</a:t>
            </a:r>
            <a:r>
              <a:rPr lang="ru-RU" sz="2400" dirty="0"/>
              <a:t> ж </a:t>
            </a:r>
            <a:r>
              <a:rPr lang="ru-RU" sz="2400" dirty="0" err="1"/>
              <a:t>значенням</a:t>
            </a:r>
            <a:r>
              <a:rPr lang="ru-RU" sz="2400" dirty="0"/>
              <a:t> </a:t>
            </a:r>
            <a:r>
              <a:rPr lang="ru-RU" sz="2400" dirty="0" err="1"/>
              <a:t>після</a:t>
            </a:r>
            <a:r>
              <a:rPr lang="ru-RU" sz="2400" dirty="0"/>
              <a:t> </a:t>
            </a:r>
            <a:r>
              <a:rPr lang="ru-RU" sz="2400" dirty="0" err="1"/>
              <a:t>проведення</a:t>
            </a:r>
            <a:r>
              <a:rPr lang="ru-RU" sz="2400" dirty="0"/>
              <a:t> </a:t>
            </a:r>
            <a:r>
              <a:rPr lang="ru-RU" sz="2400" dirty="0" err="1"/>
              <a:t>досліду</a:t>
            </a:r>
            <a:r>
              <a:rPr lang="ru-RU" sz="2400" dirty="0"/>
              <a:t>.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919" y="2426576"/>
            <a:ext cx="4872961" cy="54696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0" y="3240372"/>
            <a:ext cx="1219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/>
              <a:t>Припустімо</a:t>
            </a:r>
            <a:r>
              <a:rPr lang="ru-RU" sz="2400" dirty="0"/>
              <a:t>, </a:t>
            </a:r>
            <a:r>
              <a:rPr lang="ru-RU" sz="2400" dirty="0" err="1"/>
              <a:t>початкові</a:t>
            </a:r>
            <a:r>
              <a:rPr lang="ru-RU" sz="2400" dirty="0"/>
              <a:t> </a:t>
            </a:r>
            <a:r>
              <a:rPr lang="ru-RU" sz="2400" dirty="0" err="1"/>
              <a:t>дані</a:t>
            </a:r>
            <a:r>
              <a:rPr lang="ru-RU" sz="2400" dirty="0"/>
              <a:t> </a:t>
            </a:r>
            <a:r>
              <a:rPr lang="ru-RU" sz="2400" dirty="0" err="1"/>
              <a:t>знаходяться</a:t>
            </a:r>
            <a:r>
              <a:rPr lang="ru-RU" sz="2400" dirty="0"/>
              <a:t> в </a:t>
            </a:r>
            <a:r>
              <a:rPr lang="ru-RU" sz="2400" dirty="0" err="1" smtClean="0"/>
              <a:t>табл</a:t>
            </a:r>
            <a:r>
              <a:rPr lang="uk-UA" sz="2400" dirty="0" err="1" smtClean="0"/>
              <a:t>иці</a:t>
            </a:r>
            <a:r>
              <a:rPr lang="uk-UA" sz="2400" dirty="0" smtClean="0"/>
              <a:t>, </a:t>
            </a:r>
            <a:r>
              <a:rPr lang="ru-RU" sz="2400" dirty="0" smtClean="0"/>
              <a:t>де </a:t>
            </a:r>
            <a:r>
              <a:rPr lang="en-US" sz="2400" dirty="0" smtClean="0"/>
              <a:t>X={X1,X2,…,</a:t>
            </a:r>
            <a:r>
              <a:rPr lang="en-US" sz="2400" dirty="0" err="1"/>
              <a:t>X</a:t>
            </a:r>
            <a:r>
              <a:rPr lang="en-US" sz="2400" dirty="0" err="1" smtClean="0"/>
              <a:t>n</a:t>
            </a:r>
            <a:r>
              <a:rPr lang="en-US" sz="2400" dirty="0" smtClean="0"/>
              <a:t>)</a:t>
            </a:r>
            <a:r>
              <a:rPr lang="en-GB" sz="2400" dirty="0" smtClean="0"/>
              <a:t> - </a:t>
            </a:r>
            <a:r>
              <a:rPr lang="ru-RU" sz="2400" dirty="0" smtClean="0"/>
              <a:t>вектор </a:t>
            </a:r>
            <a:r>
              <a:rPr lang="ru-RU" sz="2400" dirty="0" err="1"/>
              <a:t>вхідних</a:t>
            </a:r>
            <a:r>
              <a:rPr lang="ru-RU" sz="2400" dirty="0"/>
              <a:t> </a:t>
            </a:r>
            <a:r>
              <a:rPr lang="ru-RU" sz="2400" dirty="0" err="1"/>
              <a:t>факторів</a:t>
            </a:r>
            <a:r>
              <a:rPr lang="ru-RU" sz="2400" dirty="0"/>
              <a:t>, </a:t>
            </a:r>
            <a:r>
              <a:rPr lang="en-US" sz="2400" dirty="0" smtClean="0"/>
              <a:t>Xi={x1i, x2i,…,</a:t>
            </a:r>
            <a:r>
              <a:rPr lang="en-US" sz="2400" dirty="0" err="1" smtClean="0"/>
              <a:t>xmi</a:t>
            </a:r>
            <a:r>
              <a:rPr lang="en-US" sz="2400" dirty="0" smtClean="0"/>
              <a:t>}, </a:t>
            </a:r>
            <a:r>
              <a:rPr lang="ru-RU" sz="2400" dirty="0" smtClean="0"/>
              <a:t>а </a:t>
            </a:r>
            <a:r>
              <a:rPr lang="en-GB" sz="2400" dirty="0"/>
              <a:t>Y </a:t>
            </a:r>
            <a:r>
              <a:rPr lang="en-GB" sz="2400" dirty="0" smtClean="0"/>
              <a:t>={y1,y2,…</a:t>
            </a:r>
            <a:r>
              <a:rPr lang="en-GB" sz="2400" dirty="0" err="1" smtClean="0"/>
              <a:t>ym</a:t>
            </a:r>
            <a:r>
              <a:rPr lang="en-GB" sz="2400" dirty="0" smtClean="0"/>
              <a:t>} - </a:t>
            </a:r>
            <a:r>
              <a:rPr lang="ru-RU" sz="2400" dirty="0" err="1"/>
              <a:t>результуюча</a:t>
            </a:r>
            <a:r>
              <a:rPr lang="ru-RU" sz="2400" dirty="0"/>
              <a:t> характеристика. </a:t>
            </a:r>
            <a:endParaRPr lang="en-US" sz="2400" dirty="0" smtClean="0"/>
          </a:p>
          <a:p>
            <a:r>
              <a:rPr lang="ru-RU" sz="2400" dirty="0" err="1" smtClean="0"/>
              <a:t>Точність</a:t>
            </a:r>
            <a:r>
              <a:rPr lang="ru-RU" sz="2400" dirty="0" smtClean="0"/>
              <a:t> </a:t>
            </a:r>
            <a:r>
              <a:rPr lang="ru-RU" sz="2400" dirty="0" err="1" smtClean="0"/>
              <a:t>прогнозування</a:t>
            </a:r>
            <a:r>
              <a:rPr lang="ru-RU" sz="2400" dirty="0" smtClean="0"/>
              <a:t> </a:t>
            </a:r>
            <a:r>
              <a:rPr lang="ru-RU" sz="2400" dirty="0" err="1"/>
              <a:t>значення</a:t>
            </a:r>
            <a:r>
              <a:rPr lang="ru-RU" sz="2400" dirty="0"/>
              <a:t> </a:t>
            </a:r>
            <a:r>
              <a:rPr lang="en-GB" sz="2400" dirty="0" smtClean="0"/>
              <a:t>y</a:t>
            </a:r>
            <a:r>
              <a:rPr lang="en-GB" sz="2400" baseline="-25000" dirty="0" smtClean="0"/>
              <a:t>m+1</a:t>
            </a:r>
            <a:r>
              <a:rPr lang="en-GB" sz="2400" dirty="0" smtClean="0"/>
              <a:t> </a:t>
            </a:r>
            <a:r>
              <a:rPr lang="ru-RU" sz="2400" dirty="0" err="1"/>
              <a:t>залежатиме</a:t>
            </a:r>
            <a:r>
              <a:rPr lang="ru-RU" sz="2400" dirty="0"/>
              <a:t> </a:t>
            </a:r>
            <a:r>
              <a:rPr lang="ru-RU" sz="2400" dirty="0" err="1"/>
              <a:t>від</a:t>
            </a:r>
            <a:r>
              <a:rPr lang="ru-RU" sz="2400" dirty="0"/>
              <a:t> </a:t>
            </a:r>
            <a:r>
              <a:rPr lang="ru-RU" sz="2400" dirty="0" err="1"/>
              <a:t>інформативності</a:t>
            </a:r>
            <a:r>
              <a:rPr lang="ru-RU" sz="2400" dirty="0"/>
              <a:t> </a:t>
            </a:r>
            <a:r>
              <a:rPr lang="en-GB" sz="2400" dirty="0"/>
              <a:t>m </a:t>
            </a:r>
            <a:r>
              <a:rPr lang="ru-RU" sz="2400" dirty="0" err="1"/>
              <a:t>навчальних</a:t>
            </a:r>
            <a:r>
              <a:rPr lang="ru-RU" sz="2400" dirty="0"/>
              <a:t> </a:t>
            </a:r>
            <a:r>
              <a:rPr lang="ru-RU" sz="2400" dirty="0" err="1" smtClean="0"/>
              <a:t>образів</a:t>
            </a:r>
            <a:r>
              <a:rPr lang="ru-RU" sz="2400" dirty="0" smtClean="0"/>
              <a:t>,</a:t>
            </a:r>
            <a:r>
              <a:rPr lang="en-US" sz="2400" dirty="0" smtClean="0"/>
              <a:t> </a:t>
            </a:r>
            <a:r>
              <a:rPr lang="ru-RU" sz="2400" dirty="0" smtClean="0"/>
              <a:t>яка</a:t>
            </a:r>
            <a:r>
              <a:rPr lang="ru-RU" sz="2400" dirty="0"/>
              <a:t>, у свою </a:t>
            </a:r>
            <a:r>
              <a:rPr lang="ru-RU" sz="2400" dirty="0" err="1"/>
              <a:t>чергу</a:t>
            </a:r>
            <a:r>
              <a:rPr lang="ru-RU" sz="2400" dirty="0"/>
              <a:t>, </a:t>
            </a:r>
            <a:r>
              <a:rPr lang="ru-RU" sz="2400" dirty="0" err="1"/>
              <a:t>визначається</a:t>
            </a:r>
            <a:r>
              <a:rPr lang="ru-RU" sz="2400" dirty="0"/>
              <a:t> </a:t>
            </a:r>
            <a:r>
              <a:rPr lang="ru-RU" sz="2400" dirty="0" err="1"/>
              <a:t>існуванням</a:t>
            </a:r>
            <a:r>
              <a:rPr lang="ru-RU" sz="2400" dirty="0"/>
              <a:t> </a:t>
            </a:r>
            <a:r>
              <a:rPr lang="ru-RU" sz="2400" dirty="0" err="1"/>
              <a:t>залежностей</a:t>
            </a:r>
            <a:r>
              <a:rPr lang="ru-RU" sz="2400" dirty="0"/>
              <a:t> </a:t>
            </a:r>
            <a:r>
              <a:rPr lang="ru-RU" sz="2400" dirty="0" err="1"/>
              <a:t>між</a:t>
            </a:r>
            <a:r>
              <a:rPr lang="ru-RU" sz="2400" dirty="0"/>
              <a:t> факторами та </a:t>
            </a:r>
            <a:r>
              <a:rPr lang="ru-RU" sz="2400" dirty="0" err="1" smtClean="0"/>
              <a:t>виконанням</a:t>
            </a:r>
            <a:r>
              <a:rPr lang="ru-RU" sz="2400" dirty="0" smtClean="0"/>
              <a:t> </a:t>
            </a:r>
            <a:r>
              <a:rPr lang="ru-RU" sz="2400" dirty="0" err="1"/>
              <a:t>певних</a:t>
            </a:r>
            <a:r>
              <a:rPr lang="ru-RU" sz="2400" dirty="0"/>
              <a:t> </a:t>
            </a:r>
            <a:r>
              <a:rPr lang="ru-RU" sz="2400" dirty="0" err="1"/>
              <a:t>операцій</a:t>
            </a:r>
            <a:r>
              <a:rPr lang="ru-RU" sz="2400" dirty="0"/>
              <a:t>, </a:t>
            </a:r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становлять</a:t>
            </a:r>
            <a:r>
              <a:rPr lang="ru-RU" sz="2400" dirty="0"/>
              <a:t> </a:t>
            </a:r>
            <a:r>
              <a:rPr lang="ru-RU" sz="2400" dirty="0" err="1"/>
              <a:t>зміст</a:t>
            </a:r>
            <a:r>
              <a:rPr lang="ru-RU" sz="2400" dirty="0"/>
              <a:t> </a:t>
            </a:r>
            <a:r>
              <a:rPr lang="ru-RU" sz="2400" dirty="0" err="1"/>
              <a:t>процедури</a:t>
            </a:r>
            <a:r>
              <a:rPr lang="ru-RU" sz="2400" dirty="0"/>
              <a:t> </a:t>
            </a:r>
            <a:r>
              <a:rPr lang="ru-RU" sz="2400" dirty="0" err="1"/>
              <a:t>препроцесінгу</a:t>
            </a:r>
            <a:r>
              <a:rPr lang="ru-RU" sz="2400" dirty="0"/>
              <a:t> </a:t>
            </a:r>
            <a:r>
              <a:rPr lang="ru-RU" sz="2400" dirty="0" err="1" smtClean="0"/>
              <a:t>вихідн</a:t>
            </a:r>
            <a:r>
              <a:rPr lang="uk-UA" sz="2400" dirty="0" err="1" smtClean="0"/>
              <a:t>их</a:t>
            </a:r>
            <a:r>
              <a:rPr lang="uk-UA" sz="2400" dirty="0" smtClean="0"/>
              <a:t> даних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07991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7</a:t>
            </a:fld>
            <a:r>
              <a:rPr lang="en-US" smtClean="0"/>
              <a:t>/59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81000" y="1177836"/>
            <a:ext cx="11544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/>
              <a:t>Виходячи</a:t>
            </a:r>
            <a:r>
              <a:rPr lang="ru-RU" sz="2400" dirty="0"/>
              <a:t> з </a:t>
            </a:r>
            <a:r>
              <a:rPr lang="ru-RU" sz="2400" dirty="0" err="1"/>
              <a:t>викладеного</a:t>
            </a:r>
            <a:r>
              <a:rPr lang="ru-RU" sz="2400" dirty="0"/>
              <a:t>, на початковому </a:t>
            </a:r>
            <a:r>
              <a:rPr lang="ru-RU" sz="2400" dirty="0" err="1"/>
              <a:t>етапі</a:t>
            </a:r>
            <a:r>
              <a:rPr lang="ru-RU" sz="2400" dirty="0"/>
              <a:t> </a:t>
            </a:r>
            <a:r>
              <a:rPr lang="ru-RU" sz="2400" dirty="0" err="1"/>
              <a:t>інтелектуального</a:t>
            </a:r>
            <a:r>
              <a:rPr lang="ru-RU" sz="2400" dirty="0"/>
              <a:t> </a:t>
            </a:r>
            <a:r>
              <a:rPr lang="ru-RU" sz="2400" dirty="0" err="1" smtClean="0"/>
              <a:t>аналізу</a:t>
            </a:r>
            <a:r>
              <a:rPr lang="ru-RU" sz="2400" dirty="0" smtClean="0"/>
              <a:t> </a:t>
            </a:r>
            <a:r>
              <a:rPr lang="ru-RU" sz="2400" dirty="0" err="1" smtClean="0"/>
              <a:t>даних</a:t>
            </a:r>
            <a:r>
              <a:rPr lang="ru-RU" sz="2400" dirty="0" smtClean="0"/>
              <a:t> </a:t>
            </a:r>
            <a:r>
              <a:rPr lang="ru-RU" sz="2400" dirty="0" err="1"/>
              <a:t>необхідно</a:t>
            </a:r>
            <a:r>
              <a:rPr lang="ru-RU" sz="2400" dirty="0"/>
              <a:t> </a:t>
            </a:r>
            <a:r>
              <a:rPr lang="ru-RU" sz="2400" dirty="0" err="1"/>
              <a:t>виконати</a:t>
            </a:r>
            <a:r>
              <a:rPr lang="ru-RU" sz="2400" dirty="0"/>
              <a:t> 4 </a:t>
            </a:r>
            <a:r>
              <a:rPr lang="ru-RU" sz="2400" dirty="0" err="1"/>
              <a:t>задачі</a:t>
            </a:r>
            <a:r>
              <a:rPr lang="ru-RU" sz="24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 err="1" smtClean="0"/>
              <a:t>Нормалізація</a:t>
            </a:r>
            <a:r>
              <a:rPr lang="ru-RU" sz="2400" dirty="0" smtClean="0"/>
              <a:t>  </a:t>
            </a:r>
            <a:r>
              <a:rPr lang="ru-RU" sz="2400" dirty="0" err="1"/>
              <a:t>факторів</a:t>
            </a:r>
            <a:r>
              <a:rPr lang="ru-RU" sz="2400" dirty="0"/>
              <a:t> і </a:t>
            </a:r>
            <a:r>
              <a:rPr lang="ru-RU" sz="2400" dirty="0" err="1"/>
              <a:t>приведення</a:t>
            </a:r>
            <a:r>
              <a:rPr lang="ru-RU" sz="2400" dirty="0"/>
              <a:t> </a:t>
            </a:r>
            <a:r>
              <a:rPr lang="ru-RU" sz="2400" dirty="0" err="1"/>
              <a:t>їх</a:t>
            </a:r>
            <a:r>
              <a:rPr lang="ru-RU" sz="2400" dirty="0"/>
              <a:t> до </a:t>
            </a:r>
            <a:r>
              <a:rPr lang="ru-RU" sz="2400" dirty="0" err="1"/>
              <a:t>єдиної</a:t>
            </a:r>
            <a:r>
              <a:rPr lang="ru-RU" sz="2400" dirty="0"/>
              <a:t> </a:t>
            </a:r>
            <a:r>
              <a:rPr lang="ru-RU" sz="2400" dirty="0" err="1"/>
              <a:t>шкали</a:t>
            </a:r>
            <a:r>
              <a:rPr lang="ru-RU" sz="2400" dirty="0" smtClean="0"/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 err="1" smtClean="0"/>
              <a:t>Перевірка</a:t>
            </a:r>
            <a:r>
              <a:rPr lang="ru-RU" sz="2400" dirty="0" smtClean="0"/>
              <a:t>  </a:t>
            </a:r>
            <a:r>
              <a:rPr lang="ru-RU" sz="2400" dirty="0"/>
              <a:t>на </a:t>
            </a:r>
            <a:r>
              <a:rPr lang="ru-RU" sz="2400" dirty="0" err="1"/>
              <a:t>мультиколінеарність</a:t>
            </a:r>
            <a:r>
              <a:rPr lang="ru-RU" sz="2400" dirty="0"/>
              <a:t> та </a:t>
            </a:r>
            <a:r>
              <a:rPr lang="ru-RU" sz="2400" dirty="0" err="1"/>
              <a:t>гетероскедастичність</a:t>
            </a:r>
            <a:r>
              <a:rPr lang="ru-RU" sz="2400" dirty="0"/>
              <a:t>;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 err="1" smtClean="0"/>
              <a:t>Вибір</a:t>
            </a:r>
            <a:r>
              <a:rPr lang="ru-RU" sz="2400" dirty="0" smtClean="0"/>
              <a:t>  </a:t>
            </a:r>
            <a:r>
              <a:rPr lang="ru-RU" sz="2400" dirty="0"/>
              <a:t>оптимального набору </a:t>
            </a:r>
            <a:r>
              <a:rPr lang="ru-RU" sz="2400" dirty="0" err="1"/>
              <a:t>факторів</a:t>
            </a:r>
            <a:r>
              <a:rPr lang="ru-RU" sz="2400" dirty="0"/>
              <a:t>, </a:t>
            </a:r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описують</a:t>
            </a:r>
            <a:r>
              <a:rPr lang="ru-RU" sz="2400" dirty="0"/>
              <a:t> </a:t>
            </a:r>
            <a:r>
              <a:rPr lang="ru-RU" sz="2400" dirty="0" err="1"/>
              <a:t>досліджуване</a:t>
            </a:r>
            <a:r>
              <a:rPr lang="ru-RU" sz="2400" dirty="0"/>
              <a:t> </a:t>
            </a:r>
            <a:r>
              <a:rPr lang="ru-RU" sz="2400" dirty="0" err="1"/>
              <a:t>явище</a:t>
            </a:r>
            <a:r>
              <a:rPr lang="ru-RU" sz="2400" dirty="0"/>
              <a:t>;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 err="1" smtClean="0"/>
              <a:t>Підвищення</a:t>
            </a:r>
            <a:r>
              <a:rPr lang="ru-RU" sz="2400" dirty="0" smtClean="0"/>
              <a:t>  </a:t>
            </a:r>
            <a:r>
              <a:rPr lang="ru-RU" sz="2400" dirty="0" err="1"/>
              <a:t>інформативності</a:t>
            </a:r>
            <a:r>
              <a:rPr lang="ru-RU" sz="2400" dirty="0"/>
              <a:t> </a:t>
            </a:r>
            <a:r>
              <a:rPr lang="ru-RU" sz="2400" dirty="0" err="1"/>
              <a:t>ознак</a:t>
            </a:r>
            <a:r>
              <a:rPr lang="ru-RU" sz="2400" dirty="0"/>
              <a:t>, </a:t>
            </a:r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 smtClean="0"/>
              <a:t>лишилися</a:t>
            </a:r>
            <a:r>
              <a:rPr lang="ru-RU" sz="2400" dirty="0"/>
              <a:t>.</a:t>
            </a:r>
            <a:r>
              <a:rPr lang="ru-RU" sz="2400" dirty="0" smtClean="0"/>
              <a:t> </a:t>
            </a:r>
            <a:endParaRPr lang="ru-RU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 err="1" smtClean="0">
                <a:solidFill>
                  <a:schemeClr val="bg1"/>
                </a:solidFill>
              </a:rPr>
              <a:t>Задачі</a:t>
            </a:r>
            <a:r>
              <a:rPr lang="ru-RU" sz="4000" b="1" dirty="0" smtClean="0">
                <a:solidFill>
                  <a:schemeClr val="bg1"/>
                </a:solidFill>
              </a:rPr>
              <a:t> </a:t>
            </a:r>
            <a:r>
              <a:rPr lang="en-US" sz="4000" b="1" dirty="0" smtClean="0">
                <a:solidFill>
                  <a:schemeClr val="bg1"/>
                </a:solidFill>
              </a:rPr>
              <a:t>Data Mining</a:t>
            </a:r>
            <a:r>
              <a:rPr lang="uk-UA" sz="4000" b="1" dirty="0" smtClean="0">
                <a:solidFill>
                  <a:schemeClr val="bg1"/>
                </a:solidFill>
              </a:rPr>
              <a:t> на початковому етапі</a:t>
            </a:r>
            <a:endParaRPr lang="ru-RU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210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8</a:t>
            </a:fld>
            <a:r>
              <a:rPr lang="en-US" smtClean="0"/>
              <a:t>/59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0134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 err="1">
                <a:solidFill>
                  <a:schemeClr val="bg1"/>
                </a:solidFill>
              </a:rPr>
              <a:t>Нормалізація</a:t>
            </a:r>
            <a:r>
              <a:rPr lang="ru-RU" sz="4000" b="1" dirty="0">
                <a:solidFill>
                  <a:schemeClr val="bg1"/>
                </a:solidFill>
              </a:rPr>
              <a:t> і </a:t>
            </a:r>
            <a:r>
              <a:rPr lang="ru-RU" sz="4000" b="1" dirty="0" err="1">
                <a:solidFill>
                  <a:schemeClr val="bg1"/>
                </a:solidFill>
              </a:rPr>
              <a:t>стандартизація</a:t>
            </a:r>
            <a:r>
              <a:rPr lang="ru-RU" sz="4000" b="1" dirty="0">
                <a:solidFill>
                  <a:schemeClr val="bg1"/>
                </a:solidFill>
              </a:rPr>
              <a:t> </a:t>
            </a:r>
            <a:r>
              <a:rPr lang="ru-RU" sz="4000" b="1" dirty="0" err="1">
                <a:solidFill>
                  <a:schemeClr val="bg1"/>
                </a:solidFill>
              </a:rPr>
              <a:t>вихідних</a:t>
            </a:r>
            <a:r>
              <a:rPr lang="ru-RU" sz="4000" b="1" dirty="0">
                <a:solidFill>
                  <a:schemeClr val="bg1"/>
                </a:solidFill>
              </a:rPr>
              <a:t> </a:t>
            </a:r>
            <a:r>
              <a:rPr lang="ru-RU" sz="4000" b="1" dirty="0" err="1">
                <a:solidFill>
                  <a:schemeClr val="bg1"/>
                </a:solidFill>
              </a:rPr>
              <a:t>значень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27000" y="1146939"/>
            <a:ext cx="11836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/>
              <a:t>Оскільки</a:t>
            </a:r>
            <a:r>
              <a:rPr lang="ru-RU" sz="2400" dirty="0"/>
              <a:t> </a:t>
            </a:r>
            <a:r>
              <a:rPr lang="ru-RU" sz="2400" dirty="0" err="1"/>
              <a:t>значення</a:t>
            </a:r>
            <a:r>
              <a:rPr lang="ru-RU" sz="2400" dirty="0"/>
              <a:t> </a:t>
            </a:r>
            <a:r>
              <a:rPr lang="ru-RU" sz="2400" dirty="0" err="1"/>
              <a:t>векторів</a:t>
            </a:r>
            <a:r>
              <a:rPr lang="ru-RU" sz="2400" dirty="0"/>
              <a:t> </a:t>
            </a:r>
            <a:r>
              <a:rPr lang="ru-RU" sz="2400" dirty="0" smtClean="0"/>
              <a:t>Х=( </a:t>
            </a:r>
            <a:r>
              <a:rPr lang="ru-RU" sz="2400" dirty="0"/>
              <a:t>x1, x2,..., </a:t>
            </a:r>
            <a:r>
              <a:rPr lang="ru-RU" sz="2400" dirty="0" err="1" smtClean="0"/>
              <a:t>xn</a:t>
            </a:r>
            <a:r>
              <a:rPr lang="ru-RU" sz="2400" dirty="0" smtClean="0"/>
              <a:t>) </a:t>
            </a:r>
            <a:r>
              <a:rPr lang="ru-RU" sz="2400" dirty="0"/>
              <a:t>у </a:t>
            </a:r>
            <a:r>
              <a:rPr lang="ru-RU" sz="2400" dirty="0" err="1"/>
              <a:t>загальному</a:t>
            </a:r>
            <a:r>
              <a:rPr lang="ru-RU" sz="2400" dirty="0"/>
              <a:t> </a:t>
            </a:r>
            <a:r>
              <a:rPr lang="ru-RU" sz="2400" dirty="0" err="1"/>
              <a:t>випадку</a:t>
            </a:r>
            <a:r>
              <a:rPr lang="ru-RU" sz="2400" dirty="0"/>
              <a:t> </a:t>
            </a:r>
            <a:r>
              <a:rPr lang="ru-RU" sz="2400" dirty="0" err="1" smtClean="0"/>
              <a:t>різнотипні</a:t>
            </a:r>
            <a:r>
              <a:rPr lang="ru-RU" sz="2400" dirty="0"/>
              <a:t>, то </a:t>
            </a:r>
            <a:r>
              <a:rPr lang="ru-RU" sz="2400" dirty="0" err="1"/>
              <a:t>їх</a:t>
            </a:r>
            <a:r>
              <a:rPr lang="ru-RU" sz="2400" dirty="0"/>
              <a:t> </a:t>
            </a:r>
            <a:r>
              <a:rPr lang="ru-RU" sz="2400" dirty="0" err="1"/>
              <a:t>необхідно</a:t>
            </a:r>
            <a:r>
              <a:rPr lang="ru-RU" sz="2400" dirty="0"/>
              <a:t> </a:t>
            </a:r>
            <a:r>
              <a:rPr lang="ru-RU" sz="2400" b="1" dirty="0">
                <a:solidFill>
                  <a:srgbClr val="0000CC"/>
                </a:solidFill>
              </a:rPr>
              <a:t>привести до </a:t>
            </a:r>
            <a:r>
              <a:rPr lang="ru-RU" sz="2400" b="1" dirty="0" err="1">
                <a:solidFill>
                  <a:srgbClr val="0000CC"/>
                </a:solidFill>
              </a:rPr>
              <a:t>єдиної</a:t>
            </a:r>
            <a:r>
              <a:rPr lang="ru-RU" sz="2400" b="1" dirty="0">
                <a:solidFill>
                  <a:srgbClr val="0000CC"/>
                </a:solidFill>
              </a:rPr>
              <a:t> </a:t>
            </a:r>
            <a:r>
              <a:rPr lang="ru-RU" sz="2400" b="1" dirty="0" err="1">
                <a:solidFill>
                  <a:srgbClr val="0000CC"/>
                </a:solidFill>
              </a:rPr>
              <a:t>шкали</a:t>
            </a:r>
            <a:r>
              <a:rPr lang="ru-RU" sz="2400" dirty="0"/>
              <a:t>. </a:t>
            </a:r>
            <a:endParaRPr lang="ru-RU" sz="2400" dirty="0" smtClean="0"/>
          </a:p>
          <a:p>
            <a:r>
              <a:rPr lang="ru-RU" sz="2400" dirty="0" err="1" smtClean="0"/>
              <a:t>Це</a:t>
            </a:r>
            <a:r>
              <a:rPr lang="ru-RU" sz="2400" dirty="0" smtClean="0"/>
              <a:t> </a:t>
            </a:r>
            <a:r>
              <a:rPr lang="ru-RU" sz="2400" dirty="0" err="1"/>
              <a:t>потрібно</a:t>
            </a:r>
            <a:r>
              <a:rPr lang="ru-RU" sz="2400" dirty="0"/>
              <a:t> </a:t>
            </a:r>
            <a:r>
              <a:rPr lang="ru-RU" sz="2400" dirty="0" smtClean="0"/>
              <a:t>для: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 smtClean="0"/>
              <a:t>адекватного </a:t>
            </a:r>
            <a:r>
              <a:rPr lang="ru-RU" sz="2400" dirty="0" err="1" smtClean="0"/>
              <a:t>застосування</a:t>
            </a:r>
            <a:r>
              <a:rPr lang="ru-RU" sz="2400" dirty="0" smtClean="0"/>
              <a:t> </a:t>
            </a:r>
            <a:r>
              <a:rPr lang="ru-RU" sz="2400" dirty="0" err="1"/>
              <a:t>математичних</a:t>
            </a:r>
            <a:r>
              <a:rPr lang="ru-RU" sz="2400" dirty="0"/>
              <a:t> </a:t>
            </a:r>
            <a:r>
              <a:rPr lang="ru-RU" sz="2400" dirty="0" err="1"/>
              <a:t>методів</a:t>
            </a:r>
            <a:r>
              <a:rPr lang="ru-RU" sz="2400" dirty="0"/>
              <a:t> і </a:t>
            </a:r>
            <a:r>
              <a:rPr lang="ru-RU" sz="2400" dirty="0" err="1"/>
              <a:t>комп'ютерних</a:t>
            </a:r>
            <a:r>
              <a:rPr lang="ru-RU" sz="2400" dirty="0"/>
              <a:t> </a:t>
            </a:r>
            <a:r>
              <a:rPr lang="ru-RU" sz="2400" dirty="0" err="1"/>
              <a:t>розрахунків</a:t>
            </a:r>
            <a:r>
              <a:rPr lang="ru-RU" sz="2400" dirty="0"/>
              <a:t> при </a:t>
            </a:r>
            <a:r>
              <a:rPr lang="ru-RU" sz="2400" dirty="0" err="1" smtClean="0"/>
              <a:t>пов'язаних</a:t>
            </a:r>
            <a:r>
              <a:rPr lang="ru-RU" sz="2400" dirty="0" smtClean="0"/>
              <a:t> </a:t>
            </a:r>
            <a:r>
              <a:rPr lang="ru-RU" sz="2400" dirty="0" err="1" smtClean="0"/>
              <a:t>із</a:t>
            </a:r>
            <a:r>
              <a:rPr lang="ru-RU" sz="2400" dirty="0" smtClean="0"/>
              <a:t> </a:t>
            </a:r>
            <a:r>
              <a:rPr lang="ru-RU" sz="2400" dirty="0"/>
              <a:t>великими і </a:t>
            </a:r>
            <a:r>
              <a:rPr lang="ru-RU" sz="2400" dirty="0" err="1"/>
              <a:t>малими</a:t>
            </a:r>
            <a:r>
              <a:rPr lang="ru-RU" sz="2400" dirty="0"/>
              <a:t> </a:t>
            </a:r>
            <a:r>
              <a:rPr lang="ru-RU" sz="2400" dirty="0" err="1"/>
              <a:t>абсолютними</a:t>
            </a:r>
            <a:r>
              <a:rPr lang="ru-RU" sz="2400" dirty="0"/>
              <a:t> величинами </a:t>
            </a:r>
            <a:r>
              <a:rPr lang="ru-RU" sz="2400" dirty="0" err="1"/>
              <a:t>обчисленнях</a:t>
            </a:r>
            <a:r>
              <a:rPr lang="ru-RU" sz="2400" dirty="0"/>
              <a:t>, </a:t>
            </a:r>
            <a:endParaRPr lang="ru-RU" sz="2400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 smtClean="0"/>
              <a:t>для того, </a:t>
            </a:r>
            <a:r>
              <a:rPr lang="ru-RU" sz="2400" dirty="0" err="1" smtClean="0"/>
              <a:t>щоб</a:t>
            </a:r>
            <a:r>
              <a:rPr lang="ru-RU" sz="2400" dirty="0" smtClean="0"/>
              <a:t> </a:t>
            </a:r>
            <a:r>
              <a:rPr lang="ru-RU" sz="2400" dirty="0" err="1" smtClean="0"/>
              <a:t>встановити</a:t>
            </a:r>
            <a:r>
              <a:rPr lang="ru-RU" sz="2400" dirty="0" smtClean="0"/>
              <a:t> </a:t>
            </a:r>
            <a:r>
              <a:rPr lang="ru-RU" sz="2400" dirty="0" err="1"/>
              <a:t>відповідність</a:t>
            </a:r>
            <a:r>
              <a:rPr lang="ru-RU" sz="2400" dirty="0"/>
              <a:t> </a:t>
            </a:r>
            <a:r>
              <a:rPr lang="ru-RU" sz="2400" dirty="0" err="1"/>
              <a:t>між</a:t>
            </a:r>
            <a:r>
              <a:rPr lang="ru-RU" sz="2400" dirty="0"/>
              <a:t> </a:t>
            </a:r>
            <a:r>
              <a:rPr lang="ru-RU" sz="2400" dirty="0" err="1"/>
              <a:t>кількісними</a:t>
            </a:r>
            <a:r>
              <a:rPr lang="ru-RU" sz="2400" dirty="0"/>
              <a:t> та </a:t>
            </a:r>
            <a:r>
              <a:rPr lang="ru-RU" sz="2400" dirty="0" err="1"/>
              <a:t>якісними</a:t>
            </a:r>
            <a:r>
              <a:rPr lang="ru-RU" sz="2400" dirty="0"/>
              <a:t> </a:t>
            </a:r>
            <a:r>
              <a:rPr lang="ru-RU" sz="2400" dirty="0" err="1"/>
              <a:t>значеннями</a:t>
            </a:r>
            <a:r>
              <a:rPr lang="ru-RU" sz="2400" dirty="0"/>
              <a:t>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04338" y="3455263"/>
            <a:ext cx="11074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err="1"/>
              <a:t>Важливим</a:t>
            </a:r>
            <a:r>
              <a:rPr lang="ru-RU" sz="2400" dirty="0"/>
              <a:t> </a:t>
            </a:r>
            <a:r>
              <a:rPr lang="ru-RU" sz="2400" dirty="0" err="1"/>
              <a:t>кроком</a:t>
            </a:r>
            <a:r>
              <a:rPr lang="ru-RU" sz="2400" dirty="0"/>
              <a:t>, </a:t>
            </a:r>
            <a:r>
              <a:rPr lang="ru-RU" sz="2400" dirty="0" err="1"/>
              <a:t>який</a:t>
            </a:r>
            <a:r>
              <a:rPr lang="ru-RU" sz="2400" dirty="0"/>
              <a:t> </a:t>
            </a:r>
            <a:r>
              <a:rPr lang="ru-RU" sz="2400" dirty="0" err="1"/>
              <a:t>дає</a:t>
            </a:r>
            <a:r>
              <a:rPr lang="ru-RU" sz="2400" dirty="0"/>
              <a:t> </a:t>
            </a:r>
            <a:r>
              <a:rPr lang="ru-RU" sz="2400" dirty="0" err="1"/>
              <a:t>можливість</a:t>
            </a:r>
            <a:r>
              <a:rPr lang="ru-RU" sz="2400" dirty="0"/>
              <a:t> </a:t>
            </a:r>
            <a:r>
              <a:rPr lang="ru-RU" sz="2400" dirty="0" err="1"/>
              <a:t>порівняння</a:t>
            </a:r>
            <a:r>
              <a:rPr lang="ru-RU" sz="2400" dirty="0"/>
              <a:t>, є </a:t>
            </a:r>
            <a:r>
              <a:rPr lang="ru-RU" sz="2400" b="1" dirty="0" err="1" smtClean="0">
                <a:solidFill>
                  <a:srgbClr val="0000CC"/>
                </a:solidFill>
              </a:rPr>
              <a:t>нормування</a:t>
            </a:r>
            <a:r>
              <a:rPr lang="ru-RU" sz="2400" b="1" dirty="0" smtClean="0">
                <a:solidFill>
                  <a:srgbClr val="0000CC"/>
                </a:solidFill>
              </a:rPr>
              <a:t>:</a:t>
            </a:r>
            <a:endParaRPr lang="ru-RU" sz="2400" b="1" dirty="0">
              <a:solidFill>
                <a:srgbClr val="0000CC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06400" y="3980907"/>
            <a:ext cx="114427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i="1" dirty="0" smtClean="0">
                <a:solidFill>
                  <a:srgbClr val="0000CC"/>
                </a:solidFill>
              </a:rPr>
              <a:t>Формула 1. </a:t>
            </a:r>
            <a:r>
              <a:rPr lang="ru-RU" sz="2400" dirty="0" smtClean="0"/>
              <a:t>Область </a:t>
            </a:r>
            <a:r>
              <a:rPr lang="ru-RU" sz="2400" dirty="0" err="1"/>
              <a:t>значень</a:t>
            </a:r>
            <a:r>
              <a:rPr lang="ru-RU" sz="2400" dirty="0"/>
              <a:t> - [0,1]. </a:t>
            </a:r>
            <a:r>
              <a:rPr lang="ru-RU" sz="2400" dirty="0" err="1"/>
              <a:t>Рекомендується</a:t>
            </a:r>
            <a:r>
              <a:rPr lang="ru-RU" sz="2400" dirty="0"/>
              <a:t> </a:t>
            </a:r>
            <a:r>
              <a:rPr lang="ru-RU" sz="2400" dirty="0" err="1" smtClean="0"/>
              <a:t>використовувати</a:t>
            </a:r>
            <a:r>
              <a:rPr lang="ru-RU" sz="2400" dirty="0"/>
              <a:t>, </a:t>
            </a:r>
            <a:r>
              <a:rPr lang="ru-RU" sz="2400" dirty="0" err="1"/>
              <a:t>якщо</a:t>
            </a:r>
            <a:r>
              <a:rPr lang="ru-RU" sz="2400" dirty="0"/>
              <a:t> </a:t>
            </a:r>
            <a:r>
              <a:rPr lang="ru-RU" sz="2400" dirty="0" err="1"/>
              <a:t>значення</a:t>
            </a:r>
            <a:r>
              <a:rPr lang="ru-RU" sz="2400" dirty="0"/>
              <a:t> </a:t>
            </a:r>
            <a:r>
              <a:rPr lang="ru-RU" sz="2400" dirty="0" err="1"/>
              <a:t>початкових</a:t>
            </a:r>
            <a:r>
              <a:rPr lang="ru-RU" sz="2400" dirty="0"/>
              <a:t> </a:t>
            </a:r>
            <a:r>
              <a:rPr lang="ru-RU" sz="2400" dirty="0" err="1"/>
              <a:t>даних</a:t>
            </a:r>
            <a:r>
              <a:rPr lang="ru-RU" sz="2400" dirty="0"/>
              <a:t> </a:t>
            </a:r>
            <a:r>
              <a:rPr lang="ru-RU" sz="2400" dirty="0" err="1"/>
              <a:t>рівномірно</a:t>
            </a:r>
            <a:r>
              <a:rPr lang="ru-RU" sz="2400" dirty="0"/>
              <a:t> </a:t>
            </a:r>
            <a:r>
              <a:rPr lang="ru-RU" sz="2400" dirty="0" err="1"/>
              <a:t>заповнюють</a:t>
            </a:r>
            <a:r>
              <a:rPr lang="ru-RU" sz="2400" dirty="0"/>
              <a:t> область </a:t>
            </a:r>
            <a:r>
              <a:rPr lang="ru-RU" sz="2400" dirty="0" err="1" smtClean="0"/>
              <a:t>дослідження</a:t>
            </a:r>
            <a:r>
              <a:rPr lang="ru-RU" sz="2400" dirty="0"/>
              <a:t>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717" y="5071424"/>
            <a:ext cx="4517641" cy="105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939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9</a:t>
            </a:fld>
            <a:r>
              <a:rPr lang="en-US" smtClean="0"/>
              <a:t>/59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20134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 err="1">
                <a:solidFill>
                  <a:schemeClr val="bg1"/>
                </a:solidFill>
              </a:rPr>
              <a:t>Нормалізація</a:t>
            </a:r>
            <a:r>
              <a:rPr lang="ru-RU" sz="4000" b="1" dirty="0">
                <a:solidFill>
                  <a:schemeClr val="bg1"/>
                </a:solidFill>
              </a:rPr>
              <a:t> і </a:t>
            </a:r>
            <a:r>
              <a:rPr lang="ru-RU" sz="4000" b="1" dirty="0" err="1">
                <a:solidFill>
                  <a:schemeClr val="bg1"/>
                </a:solidFill>
              </a:rPr>
              <a:t>стандартизація</a:t>
            </a:r>
            <a:r>
              <a:rPr lang="ru-RU" sz="4000" b="1" dirty="0">
                <a:solidFill>
                  <a:schemeClr val="bg1"/>
                </a:solidFill>
              </a:rPr>
              <a:t> </a:t>
            </a:r>
            <a:r>
              <a:rPr lang="ru-RU" sz="4000" b="1" dirty="0" err="1">
                <a:solidFill>
                  <a:schemeClr val="bg1"/>
                </a:solidFill>
              </a:rPr>
              <a:t>вихідних</a:t>
            </a:r>
            <a:r>
              <a:rPr lang="ru-RU" sz="4000" b="1" dirty="0">
                <a:solidFill>
                  <a:schemeClr val="bg1"/>
                </a:solidFill>
              </a:rPr>
              <a:t> </a:t>
            </a:r>
            <a:r>
              <a:rPr lang="ru-RU" sz="4000" b="1" dirty="0" err="1">
                <a:solidFill>
                  <a:schemeClr val="bg1"/>
                </a:solidFill>
              </a:rPr>
              <a:t>значень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8900" y="1039486"/>
            <a:ext cx="8255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i="1" dirty="0" smtClean="0">
                <a:solidFill>
                  <a:srgbClr val="0000CC"/>
                </a:solidFill>
              </a:rPr>
              <a:t>Формула 2</a:t>
            </a:r>
            <a:r>
              <a:rPr lang="ru-RU" sz="2200" i="1" dirty="0" smtClean="0">
                <a:solidFill>
                  <a:srgbClr val="000000"/>
                </a:solidFill>
              </a:rPr>
              <a:t>. </a:t>
            </a:r>
            <a:r>
              <a:rPr lang="ru-RU" sz="2200" dirty="0" err="1" smtClean="0">
                <a:solidFill>
                  <a:srgbClr val="000000"/>
                </a:solidFill>
              </a:rPr>
              <a:t>Дозволяє</a:t>
            </a:r>
            <a:r>
              <a:rPr lang="ru-RU" sz="2200" dirty="0" smtClean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зворотно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 smtClean="0">
                <a:solidFill>
                  <a:srgbClr val="000000"/>
                </a:solidFill>
              </a:rPr>
              <a:t>пропорційно</a:t>
            </a:r>
            <a:r>
              <a:rPr lang="ru-RU" sz="2200" dirty="0" smtClean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розвернути</a:t>
            </a:r>
            <a:r>
              <a:rPr lang="ru-RU" sz="2200" dirty="0">
                <a:solidFill>
                  <a:srgbClr val="000000"/>
                </a:solidFill>
              </a:rPr>
              <a:t> шкалу, </a:t>
            </a:r>
            <a:r>
              <a:rPr lang="ru-RU" sz="2200" dirty="0" err="1">
                <a:solidFill>
                  <a:srgbClr val="000000"/>
                </a:solidFill>
              </a:rPr>
              <a:t>що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зручно</a:t>
            </a:r>
            <a:r>
              <a:rPr lang="ru-RU" sz="2200" dirty="0">
                <a:solidFill>
                  <a:srgbClr val="000000"/>
                </a:solidFill>
              </a:rPr>
              <a:t> у </a:t>
            </a:r>
            <a:r>
              <a:rPr lang="ru-RU" sz="2200" dirty="0" err="1">
                <a:solidFill>
                  <a:srgbClr val="000000"/>
                </a:solidFill>
              </a:rPr>
              <a:t>випадках</a:t>
            </a:r>
            <a:r>
              <a:rPr lang="ru-RU" sz="2200" dirty="0">
                <a:solidFill>
                  <a:srgbClr val="000000"/>
                </a:solidFill>
              </a:rPr>
              <a:t>, коли </a:t>
            </a:r>
            <a:r>
              <a:rPr lang="ru-RU" sz="2200" dirty="0" err="1">
                <a:solidFill>
                  <a:srgbClr val="000000"/>
                </a:solidFill>
              </a:rPr>
              <a:t>більшість</a:t>
            </a:r>
            <a:r>
              <a:rPr lang="ru-RU" sz="2200" dirty="0">
                <a:solidFill>
                  <a:srgbClr val="000000"/>
                </a:solidFill>
              </a:rPr>
              <a:t> характеристик </a:t>
            </a:r>
            <a:r>
              <a:rPr lang="ru-RU" sz="2200" dirty="0" err="1">
                <a:solidFill>
                  <a:srgbClr val="000000"/>
                </a:solidFill>
              </a:rPr>
              <a:t>мають</a:t>
            </a:r>
            <a:r>
              <a:rPr lang="ru-RU" sz="2200" dirty="0">
                <a:solidFill>
                  <a:srgbClr val="000000"/>
                </a:solidFill>
              </a:rPr>
              <a:t> </a:t>
            </a:r>
            <a:r>
              <a:rPr lang="ru-RU" sz="2200" dirty="0" err="1">
                <a:solidFill>
                  <a:srgbClr val="000000"/>
                </a:solidFill>
              </a:rPr>
              <a:t>максимізуватися</a:t>
            </a:r>
            <a:r>
              <a:rPr lang="ru-RU" sz="2200" dirty="0">
                <a:solidFill>
                  <a:srgbClr val="000000"/>
                </a:solidFill>
              </a:rPr>
              <a:t>, а дана характеристика - </a:t>
            </a:r>
            <a:r>
              <a:rPr lang="ru-RU" sz="2200" dirty="0" err="1">
                <a:solidFill>
                  <a:srgbClr val="000000"/>
                </a:solidFill>
              </a:rPr>
              <a:t>мінімізуватися</a:t>
            </a:r>
            <a:r>
              <a:rPr lang="ru-RU" sz="2200" dirty="0">
                <a:solidFill>
                  <a:srgbClr val="000000"/>
                </a:solidFill>
              </a:rPr>
              <a:t>. </a:t>
            </a:r>
            <a:endParaRPr lang="ru-RU" sz="22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9559" y="1084771"/>
            <a:ext cx="3502441" cy="103032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8900" y="2214616"/>
            <a:ext cx="8480618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i="1" dirty="0" smtClean="0">
                <a:solidFill>
                  <a:srgbClr val="0000CC"/>
                </a:solidFill>
              </a:rPr>
              <a:t>Формула 3. </a:t>
            </a:r>
            <a:r>
              <a:rPr lang="ru-RU" sz="2200" dirty="0" err="1" smtClean="0"/>
              <a:t>Отримані</a:t>
            </a:r>
            <a:r>
              <a:rPr lang="ru-RU" sz="2200" dirty="0" smtClean="0"/>
              <a:t> </a:t>
            </a:r>
            <a:r>
              <a:rPr lang="ru-RU" sz="2200" dirty="0"/>
              <a:t>в </a:t>
            </a:r>
            <a:r>
              <a:rPr lang="ru-RU" sz="2200" dirty="0" err="1"/>
              <a:t>результаті</a:t>
            </a:r>
            <a:r>
              <a:rPr lang="ru-RU" sz="2200" dirty="0"/>
              <a:t> </a:t>
            </a:r>
            <a:r>
              <a:rPr lang="ru-RU" sz="2200" dirty="0" err="1" smtClean="0"/>
              <a:t>її</a:t>
            </a:r>
            <a:r>
              <a:rPr lang="ru-RU" sz="2200" dirty="0" smtClean="0"/>
              <a:t> </a:t>
            </a:r>
            <a:r>
              <a:rPr lang="ru-RU" sz="2200" dirty="0" err="1" smtClean="0"/>
              <a:t>застосування</a:t>
            </a:r>
            <a:r>
              <a:rPr lang="ru-RU" sz="2200" dirty="0" smtClean="0"/>
              <a:t> </a:t>
            </a:r>
            <a:r>
              <a:rPr lang="ru-RU" sz="2200" dirty="0" err="1"/>
              <a:t>значення</a:t>
            </a:r>
            <a:r>
              <a:rPr lang="ru-RU" sz="2200" dirty="0"/>
              <a:t> є </a:t>
            </a:r>
            <a:r>
              <a:rPr lang="ru-RU" sz="2200" dirty="0" err="1"/>
              <a:t>безрозмірними</a:t>
            </a:r>
            <a:r>
              <a:rPr lang="ru-RU" sz="2200" dirty="0"/>
              <a:t>, </a:t>
            </a:r>
            <a:r>
              <a:rPr lang="ru-RU" sz="2200" dirty="0" err="1"/>
              <a:t>знаходяться</a:t>
            </a:r>
            <a:r>
              <a:rPr lang="ru-RU" sz="2200" dirty="0"/>
              <a:t> з </a:t>
            </a:r>
            <a:r>
              <a:rPr lang="ru-RU" sz="2200" dirty="0" err="1"/>
              <a:t>дисперсією</a:t>
            </a:r>
            <a:r>
              <a:rPr lang="ru-RU" sz="2200" dirty="0"/>
              <a:t> та </a:t>
            </a:r>
            <a:r>
              <a:rPr lang="ru-RU" sz="2200" dirty="0" err="1" smtClean="0"/>
              <a:t>середнє</a:t>
            </a:r>
            <a:r>
              <a:rPr lang="ru-RU" sz="2200" dirty="0" smtClean="0"/>
              <a:t> </a:t>
            </a:r>
            <a:r>
              <a:rPr lang="ru-RU" sz="2200" dirty="0" err="1" smtClean="0"/>
              <a:t>квадратичним</a:t>
            </a:r>
            <a:r>
              <a:rPr lang="ru-RU" sz="2200" dirty="0" smtClean="0"/>
              <a:t> </a:t>
            </a:r>
            <a:r>
              <a:rPr lang="ru-RU" sz="2200" dirty="0" err="1" smtClean="0"/>
              <a:t>відхиленням</a:t>
            </a:r>
            <a:r>
              <a:rPr lang="ru-RU" sz="2200" dirty="0" smtClean="0"/>
              <a:t>, </a:t>
            </a:r>
            <a:r>
              <a:rPr lang="ru-RU" sz="2200" dirty="0" err="1" smtClean="0"/>
              <a:t>рівними</a:t>
            </a:r>
            <a:r>
              <a:rPr lang="ru-RU" sz="2200" dirty="0" smtClean="0"/>
              <a:t> </a:t>
            </a:r>
            <a:r>
              <a:rPr lang="ru-RU" sz="2200" dirty="0"/>
              <a:t>1, на </a:t>
            </a:r>
            <a:r>
              <a:rPr lang="ru-RU" sz="2200" dirty="0" err="1"/>
              <a:t>відрізку</a:t>
            </a:r>
            <a:r>
              <a:rPr lang="ru-RU" sz="2200" dirty="0"/>
              <a:t> </a:t>
            </a:r>
            <a:r>
              <a:rPr lang="ru-RU" sz="2200" dirty="0" err="1" smtClean="0"/>
              <a:t>переважно</a:t>
            </a:r>
            <a:r>
              <a:rPr lang="ru-RU" sz="2200" dirty="0" smtClean="0"/>
              <a:t> </a:t>
            </a:r>
            <a:r>
              <a:rPr lang="ru-RU" sz="2200" dirty="0"/>
              <a:t>в </a:t>
            </a:r>
            <a:r>
              <a:rPr lang="ru-RU" sz="2200" dirty="0" err="1"/>
              <a:t>околі</a:t>
            </a:r>
            <a:r>
              <a:rPr lang="ru-RU" sz="2200" dirty="0"/>
              <a:t> </a:t>
            </a:r>
            <a:r>
              <a:rPr lang="ru-RU" sz="2200" dirty="0" smtClean="0"/>
              <a:t>нуля.</a:t>
            </a:r>
            <a:endParaRPr lang="ru-RU" sz="22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9098" y="2400733"/>
            <a:ext cx="1979640" cy="105576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52400" y="3504781"/>
            <a:ext cx="848061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i="1" dirty="0" smtClean="0">
                <a:solidFill>
                  <a:srgbClr val="0000CC"/>
                </a:solidFill>
              </a:rPr>
              <a:t>Формула 4. </a:t>
            </a:r>
            <a:r>
              <a:rPr lang="ru-RU" sz="2200" dirty="0" smtClean="0"/>
              <a:t>Область </a:t>
            </a:r>
            <a:r>
              <a:rPr lang="ru-RU" sz="2200" dirty="0" err="1"/>
              <a:t>значень</a:t>
            </a:r>
            <a:r>
              <a:rPr lang="ru-RU" sz="2200" dirty="0"/>
              <a:t> </a:t>
            </a:r>
            <a:r>
              <a:rPr lang="en-US" sz="2200" dirty="0" smtClean="0"/>
              <a:t>[-</a:t>
            </a:r>
            <a:r>
              <a:rPr lang="ru-RU" sz="2200" dirty="0" smtClean="0"/>
              <a:t>1;1</a:t>
            </a:r>
            <a:r>
              <a:rPr lang="en-US" sz="2200" dirty="0" smtClean="0"/>
              <a:t>]</a:t>
            </a:r>
            <a:r>
              <a:rPr lang="ru-RU" sz="2200" dirty="0" smtClean="0"/>
              <a:t>. </a:t>
            </a:r>
            <a:r>
              <a:rPr lang="ru-RU" sz="2200" dirty="0"/>
              <a:t>Формула </a:t>
            </a:r>
            <a:r>
              <a:rPr lang="ru-RU" sz="2200" dirty="0" err="1"/>
              <a:t>зручна</a:t>
            </a:r>
            <a:r>
              <a:rPr lang="ru-RU" sz="2200" dirty="0"/>
              <a:t> для </a:t>
            </a:r>
            <a:r>
              <a:rPr lang="ru-RU" sz="2200" dirty="0" err="1" smtClean="0"/>
              <a:t>використання</a:t>
            </a:r>
            <a:r>
              <a:rPr lang="ru-RU" sz="2200" dirty="0" smtClean="0"/>
              <a:t> </a:t>
            </a:r>
            <a:r>
              <a:rPr lang="ru-RU" sz="2200" dirty="0"/>
              <a:t>при </a:t>
            </a:r>
            <a:r>
              <a:rPr lang="ru-RU" sz="2200" dirty="0" err="1"/>
              <a:t>прогнозуванні</a:t>
            </a:r>
            <a:r>
              <a:rPr lang="ru-RU" sz="2200" dirty="0"/>
              <a:t> </a:t>
            </a:r>
            <a:r>
              <a:rPr lang="ru-RU" sz="2200" dirty="0" err="1"/>
              <a:t>із</a:t>
            </a:r>
            <a:r>
              <a:rPr lang="ru-RU" sz="2200" dirty="0"/>
              <a:t> </a:t>
            </a:r>
            <a:r>
              <a:rPr lang="ru-RU" sz="2200" dirty="0" err="1"/>
              <a:t>застосуванням</a:t>
            </a:r>
            <a:r>
              <a:rPr lang="ru-RU" sz="2200" dirty="0"/>
              <a:t> </a:t>
            </a:r>
            <a:r>
              <a:rPr lang="ru-RU" sz="2200" dirty="0" err="1"/>
              <a:t>нейронних</a:t>
            </a:r>
            <a:r>
              <a:rPr lang="ru-RU" sz="2200" dirty="0"/>
              <a:t> мереж, в </a:t>
            </a:r>
            <a:r>
              <a:rPr lang="ru-RU" sz="2200" dirty="0" err="1"/>
              <a:t>яких</a:t>
            </a:r>
            <a:r>
              <a:rPr lang="ru-RU" sz="2200" dirty="0"/>
              <a:t> </a:t>
            </a:r>
            <a:r>
              <a:rPr lang="ru-RU" sz="2200" dirty="0" err="1" smtClean="0"/>
              <a:t>активаційною</a:t>
            </a:r>
            <a:r>
              <a:rPr lang="ru-RU" sz="2200" dirty="0" smtClean="0"/>
              <a:t> </a:t>
            </a:r>
            <a:r>
              <a:rPr lang="ru-RU" sz="2200" dirty="0" err="1"/>
              <a:t>функцією</a:t>
            </a:r>
            <a:r>
              <a:rPr lang="ru-RU" sz="2200" dirty="0"/>
              <a:t> є </a:t>
            </a:r>
            <a:r>
              <a:rPr lang="ru-RU" sz="2200" dirty="0" err="1"/>
              <a:t>гіперболічний</a:t>
            </a:r>
            <a:r>
              <a:rPr lang="ru-RU" sz="2200" dirty="0"/>
              <a:t> тангенс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9518" y="3504781"/>
            <a:ext cx="3605300" cy="927548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52400" y="4768930"/>
            <a:ext cx="118872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/>
              <a:t>Найбільшу</a:t>
            </a:r>
            <a:r>
              <a:rPr lang="ru-RU" sz="2200" dirty="0"/>
              <a:t> </a:t>
            </a:r>
            <a:r>
              <a:rPr lang="ru-RU" sz="2200" dirty="0" err="1"/>
              <a:t>інформативність</a:t>
            </a:r>
            <a:r>
              <a:rPr lang="ru-RU" sz="2200" dirty="0"/>
              <a:t> </a:t>
            </a:r>
            <a:r>
              <a:rPr lang="uk-UA" sz="2200" dirty="0" smtClean="0"/>
              <a:t>для</a:t>
            </a:r>
            <a:r>
              <a:rPr lang="ru-RU" sz="2200" dirty="0" smtClean="0"/>
              <a:t> </a:t>
            </a:r>
            <a:r>
              <a:rPr lang="ru-RU" sz="2200" dirty="0" err="1"/>
              <a:t>отримання</a:t>
            </a:r>
            <a:r>
              <a:rPr lang="ru-RU" sz="2200" dirty="0"/>
              <a:t> </a:t>
            </a:r>
            <a:r>
              <a:rPr lang="ru-RU" sz="2200" dirty="0" err="1"/>
              <a:t>більш</a:t>
            </a:r>
            <a:r>
              <a:rPr lang="ru-RU" sz="2200" dirty="0"/>
              <a:t> точного </a:t>
            </a:r>
            <a:r>
              <a:rPr lang="ru-RU" sz="2200" dirty="0" smtClean="0"/>
              <a:t>прогнозу </a:t>
            </a:r>
            <a:r>
              <a:rPr lang="ru-RU" sz="2200" dirty="0" err="1" smtClean="0"/>
              <a:t>мають</a:t>
            </a:r>
            <a:r>
              <a:rPr lang="ru-RU" sz="2200" dirty="0" smtClean="0"/>
              <a:t> </a:t>
            </a:r>
            <a:r>
              <a:rPr lang="ru-RU" sz="2200" dirty="0" err="1"/>
              <a:t>дані</a:t>
            </a:r>
            <a:r>
              <a:rPr lang="ru-RU" sz="2200" dirty="0"/>
              <a:t> з </a:t>
            </a:r>
            <a:r>
              <a:rPr lang="ru-RU" sz="2200" dirty="0" err="1"/>
              <a:t>рівномірним</a:t>
            </a:r>
            <a:r>
              <a:rPr lang="ru-RU" sz="2200" dirty="0"/>
              <a:t> </a:t>
            </a:r>
            <a:r>
              <a:rPr lang="ru-RU" sz="2200" dirty="0" err="1" smtClean="0"/>
              <a:t>розподілом</a:t>
            </a:r>
            <a:r>
              <a:rPr lang="ru-RU" sz="2200" dirty="0" smtClean="0"/>
              <a:t>, </a:t>
            </a:r>
            <a:r>
              <a:rPr lang="ru-RU" sz="2200" dirty="0" err="1" smtClean="0"/>
              <a:t>оскільки</a:t>
            </a:r>
            <a:r>
              <a:rPr lang="ru-RU" sz="2200" dirty="0" smtClean="0"/>
              <a:t> вони </a:t>
            </a:r>
            <a:r>
              <a:rPr lang="ru-RU" sz="2200" dirty="0" err="1"/>
              <a:t>мають</a:t>
            </a:r>
            <a:r>
              <a:rPr lang="ru-RU" sz="2200" dirty="0"/>
              <a:t> </a:t>
            </a:r>
            <a:r>
              <a:rPr lang="ru-RU" sz="2200" dirty="0" err="1"/>
              <a:t>найбільшу</a:t>
            </a:r>
            <a:r>
              <a:rPr lang="ru-RU" sz="2200" dirty="0"/>
              <a:t> </a:t>
            </a:r>
            <a:r>
              <a:rPr lang="ru-RU" sz="2200" dirty="0" err="1" smtClean="0"/>
              <a:t>ентропію</a:t>
            </a:r>
            <a:r>
              <a:rPr lang="ru-RU" sz="2200" dirty="0" smtClean="0"/>
              <a:t>.</a:t>
            </a:r>
          </a:p>
          <a:p>
            <a:pPr algn="ctr"/>
            <a:r>
              <a:rPr lang="ru-RU" sz="2200" dirty="0" smtClean="0"/>
              <a:t> </a:t>
            </a:r>
            <a:r>
              <a:rPr lang="ru-RU" sz="2400" dirty="0">
                <a:solidFill>
                  <a:srgbClr val="C00000"/>
                </a:solidFill>
              </a:rPr>
              <a:t>Таким чином, </a:t>
            </a:r>
            <a:r>
              <a:rPr lang="ru-RU" sz="2400" dirty="0" err="1">
                <a:solidFill>
                  <a:srgbClr val="C00000"/>
                </a:solidFill>
              </a:rPr>
              <a:t>однією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 err="1">
                <a:solidFill>
                  <a:srgbClr val="C00000"/>
                </a:solidFill>
              </a:rPr>
              <a:t>із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 err="1">
                <a:solidFill>
                  <a:srgbClr val="C00000"/>
                </a:solidFill>
              </a:rPr>
              <a:t>головних</a:t>
            </a:r>
            <a:r>
              <a:rPr lang="ru-RU" sz="2400" dirty="0">
                <a:solidFill>
                  <a:srgbClr val="C00000"/>
                </a:solidFill>
              </a:rPr>
              <a:t> задач </a:t>
            </a:r>
            <a:r>
              <a:rPr lang="ru-RU" sz="2400" dirty="0" err="1">
                <a:solidFill>
                  <a:srgbClr val="C00000"/>
                </a:solidFill>
              </a:rPr>
              <a:t>після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 err="1" smtClean="0">
                <a:solidFill>
                  <a:srgbClr val="C00000"/>
                </a:solidFill>
              </a:rPr>
              <a:t>одержання</a:t>
            </a:r>
            <a:r>
              <a:rPr lang="ru-RU" sz="2400" dirty="0" smtClean="0">
                <a:solidFill>
                  <a:srgbClr val="C00000"/>
                </a:solidFill>
              </a:rPr>
              <a:t> </a:t>
            </a:r>
            <a:r>
              <a:rPr lang="ru-RU" sz="2400" dirty="0" err="1">
                <a:solidFill>
                  <a:srgbClr val="C00000"/>
                </a:solidFill>
              </a:rPr>
              <a:t>безрозмірних</a:t>
            </a:r>
            <a:r>
              <a:rPr lang="ru-RU" sz="2400" dirty="0">
                <a:solidFill>
                  <a:srgbClr val="C00000"/>
                </a:solidFill>
              </a:rPr>
              <a:t> величин і </a:t>
            </a:r>
            <a:r>
              <a:rPr lang="ru-RU" sz="2400" dirty="0" err="1">
                <a:solidFill>
                  <a:srgbClr val="C00000"/>
                </a:solidFill>
              </a:rPr>
              <a:t>нормалізації</a:t>
            </a:r>
            <a:r>
              <a:rPr lang="ru-RU" sz="2400" dirty="0">
                <a:solidFill>
                  <a:srgbClr val="C00000"/>
                </a:solidFill>
              </a:rPr>
              <a:t> буде </a:t>
            </a:r>
            <a:r>
              <a:rPr lang="ru-RU" sz="2400" dirty="0" err="1">
                <a:solidFill>
                  <a:srgbClr val="C00000"/>
                </a:solidFill>
              </a:rPr>
              <a:t>максимізація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sz="2400" dirty="0" err="1" smtClean="0">
                <a:solidFill>
                  <a:srgbClr val="C00000"/>
                </a:solidFill>
              </a:rPr>
              <a:t>ентропії</a:t>
            </a:r>
            <a:r>
              <a:rPr lang="ru-RU" sz="2400" dirty="0" smtClean="0">
                <a:solidFill>
                  <a:srgbClr val="C00000"/>
                </a:solidFill>
              </a:rPr>
              <a:t>.</a:t>
            </a:r>
            <a:endParaRPr lang="ru-RU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022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10</a:t>
            </a:fld>
            <a:r>
              <a:rPr lang="en-US" smtClean="0"/>
              <a:t>/59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513000" y="0"/>
            <a:ext cx="73545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</a:rPr>
              <a:t>Алгоритм „</a:t>
            </a:r>
            <a:r>
              <a:rPr lang="ru-RU" sz="4000" b="1" dirty="0" err="1">
                <a:solidFill>
                  <a:schemeClr val="bg1"/>
                </a:solidFill>
              </a:rPr>
              <a:t>вибілювання</a:t>
            </a:r>
            <a:r>
              <a:rPr lang="ru-RU" sz="4000" b="1" dirty="0">
                <a:solidFill>
                  <a:schemeClr val="bg1"/>
                </a:solidFill>
              </a:rPr>
              <a:t>" </a:t>
            </a:r>
            <a:r>
              <a:rPr lang="ru-RU" sz="4000" b="1" dirty="0" err="1">
                <a:solidFill>
                  <a:schemeClr val="bg1"/>
                </a:solidFill>
              </a:rPr>
              <a:t>входів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1094939"/>
            <a:ext cx="1219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/>
              <a:t>У </a:t>
            </a:r>
            <a:r>
              <a:rPr lang="ru-RU" sz="2400" dirty="0" err="1"/>
              <a:t>результаті</a:t>
            </a:r>
            <a:r>
              <a:rPr lang="ru-RU" sz="2400" dirty="0"/>
              <a:t> </a:t>
            </a:r>
            <a:r>
              <a:rPr lang="ru-RU" sz="2400" dirty="0" err="1"/>
              <a:t>застосування</a:t>
            </a:r>
            <a:r>
              <a:rPr lang="ru-RU" sz="2400" dirty="0"/>
              <a:t> "</a:t>
            </a:r>
            <a:r>
              <a:rPr lang="ru-RU" sz="2400" dirty="0" err="1"/>
              <a:t>вибілювання</a:t>
            </a:r>
            <a:r>
              <a:rPr lang="ru-RU" sz="2400" dirty="0"/>
              <a:t>" </a:t>
            </a:r>
            <a:r>
              <a:rPr lang="ru-RU" sz="2400" dirty="0" err="1"/>
              <a:t>входів</a:t>
            </a:r>
            <a:r>
              <a:rPr lang="ru-RU" sz="2400" dirty="0"/>
              <a:t> </a:t>
            </a:r>
            <a:r>
              <a:rPr lang="ru-RU" sz="2400" dirty="0" err="1"/>
              <a:t>усі</a:t>
            </a:r>
            <a:r>
              <a:rPr lang="ru-RU" sz="2400" dirty="0"/>
              <a:t> </a:t>
            </a:r>
            <a:r>
              <a:rPr lang="ru-RU" sz="2400" dirty="0" err="1"/>
              <a:t>вхідні</a:t>
            </a:r>
            <a:r>
              <a:rPr lang="ru-RU" sz="2400" dirty="0"/>
              <a:t> </a:t>
            </a:r>
            <a:r>
              <a:rPr lang="ru-RU" sz="2400" dirty="0" err="1"/>
              <a:t>фактори</a:t>
            </a:r>
            <a:r>
              <a:rPr lang="ru-RU" sz="2400" dirty="0"/>
              <a:t> </a:t>
            </a:r>
            <a:r>
              <a:rPr lang="ru-RU" sz="2400" dirty="0" err="1" smtClean="0"/>
              <a:t>стають</a:t>
            </a:r>
            <a:r>
              <a:rPr lang="ru-RU" sz="2400" dirty="0" smtClean="0"/>
              <a:t> </a:t>
            </a:r>
            <a:r>
              <a:rPr lang="ru-RU" sz="2400" dirty="0" err="1" smtClean="0"/>
              <a:t>некорельованими</a:t>
            </a:r>
            <a:r>
              <a:rPr lang="ru-RU" sz="2400" dirty="0" smtClean="0"/>
              <a:t> </a:t>
            </a:r>
            <a:r>
              <a:rPr lang="ru-RU" sz="2400" dirty="0"/>
              <a:t>і </a:t>
            </a:r>
            <a:r>
              <a:rPr lang="ru-RU" sz="2400" dirty="0" err="1"/>
              <a:t>мають</a:t>
            </a:r>
            <a:r>
              <a:rPr lang="ru-RU" sz="2400" dirty="0"/>
              <a:t> </a:t>
            </a:r>
            <a:r>
              <a:rPr lang="ru-RU" sz="2400" dirty="0" err="1"/>
              <a:t>дисперсію</a:t>
            </a:r>
            <a:r>
              <a:rPr lang="ru-RU" sz="2400" dirty="0"/>
              <a:t>, </a:t>
            </a:r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дорівнює</a:t>
            </a:r>
            <a:r>
              <a:rPr lang="ru-RU" sz="2400" dirty="0"/>
              <a:t> </a:t>
            </a:r>
            <a:r>
              <a:rPr lang="ru-RU" sz="2400" dirty="0" err="1"/>
              <a:t>одиниці</a:t>
            </a:r>
            <a:r>
              <a:rPr lang="ru-RU" sz="2400" dirty="0"/>
              <a:t>. Очевидно, </a:t>
            </a:r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 smtClean="0"/>
              <a:t>внаслідок</a:t>
            </a:r>
            <a:r>
              <a:rPr lang="ru-RU" sz="2400" dirty="0" smtClean="0"/>
              <a:t> </a:t>
            </a:r>
            <a:r>
              <a:rPr lang="ru-RU" sz="2400" dirty="0"/>
              <a:t>такого </a:t>
            </a:r>
            <a:r>
              <a:rPr lang="ru-RU" sz="2400" dirty="0" err="1"/>
              <a:t>перетворення</a:t>
            </a:r>
            <a:r>
              <a:rPr lang="ru-RU" sz="2400" dirty="0"/>
              <a:t> </a:t>
            </a:r>
            <a:r>
              <a:rPr lang="ru-RU" sz="2400" dirty="0" err="1"/>
              <a:t>сумісна</a:t>
            </a:r>
            <a:r>
              <a:rPr lang="ru-RU" sz="2400" dirty="0"/>
              <a:t> </a:t>
            </a:r>
            <a:r>
              <a:rPr lang="ru-RU" sz="2400" dirty="0" err="1"/>
              <a:t>ентропія</a:t>
            </a:r>
            <a:r>
              <a:rPr lang="ru-RU" sz="2400" dirty="0"/>
              <a:t> будь-</a:t>
            </a:r>
            <a:r>
              <a:rPr lang="ru-RU" sz="2400" dirty="0" err="1"/>
              <a:t>якої</a:t>
            </a:r>
            <a:r>
              <a:rPr lang="ru-RU" sz="2400" dirty="0"/>
              <a:t> пари </a:t>
            </a:r>
            <a:r>
              <a:rPr lang="ru-RU" sz="2400" dirty="0" err="1"/>
              <a:t>факторів</a:t>
            </a:r>
            <a:r>
              <a:rPr lang="ru-RU" sz="2400" dirty="0"/>
              <a:t> </a:t>
            </a:r>
            <a:r>
              <a:rPr lang="ru-RU" sz="2400" dirty="0" err="1" smtClean="0"/>
              <a:t>збільшується</a:t>
            </a:r>
            <a:r>
              <a:rPr lang="ru-RU" sz="2400" dirty="0"/>
              <a:t>, </a:t>
            </a:r>
            <a:r>
              <a:rPr lang="ru-RU" sz="2400" dirty="0" err="1"/>
              <a:t>оскільки</a:t>
            </a:r>
            <a:r>
              <a:rPr lang="ru-RU" sz="2400" dirty="0"/>
              <a:t> </a:t>
            </a:r>
            <a:r>
              <a:rPr lang="ru-RU" sz="2400" dirty="0" err="1"/>
              <a:t>розподіл</a:t>
            </a:r>
            <a:r>
              <a:rPr lang="ru-RU" sz="2400" dirty="0"/>
              <a:t> </a:t>
            </a:r>
            <a:r>
              <a:rPr lang="ru-RU" sz="2400" dirty="0" err="1"/>
              <a:t>елементів</a:t>
            </a:r>
            <a:r>
              <a:rPr lang="ru-RU" sz="2400" dirty="0"/>
              <a:t> у </a:t>
            </a:r>
            <a:r>
              <a:rPr lang="ru-RU" sz="2400" dirty="0" err="1"/>
              <a:t>вибірці</a:t>
            </a:r>
            <a:r>
              <a:rPr lang="ru-RU" sz="2400" dirty="0"/>
              <a:t> </a:t>
            </a:r>
            <a:r>
              <a:rPr lang="ru-RU" sz="2400" dirty="0" err="1"/>
              <a:t>вирівнюється</a:t>
            </a:r>
            <a:r>
              <a:rPr lang="ru-RU" sz="2400" dirty="0"/>
              <a:t> і </a:t>
            </a:r>
            <a:r>
              <a:rPr lang="ru-RU" sz="2400" dirty="0" err="1"/>
              <a:t>стає</a:t>
            </a:r>
            <a:r>
              <a:rPr lang="ru-RU" sz="2400" dirty="0"/>
              <a:t> </a:t>
            </a:r>
            <a:r>
              <a:rPr lang="ru-RU" sz="2400" dirty="0" err="1"/>
              <a:t>ближчим</a:t>
            </a:r>
            <a:r>
              <a:rPr lang="ru-RU" sz="2400" dirty="0"/>
              <a:t> </a:t>
            </a:r>
            <a:r>
              <a:rPr lang="ru-RU" sz="2400" dirty="0" smtClean="0"/>
              <a:t>до </a:t>
            </a:r>
            <a:r>
              <a:rPr lang="ru-RU" sz="2400" dirty="0" err="1" smtClean="0"/>
              <a:t>рівномірного</a:t>
            </a:r>
            <a:r>
              <a:rPr lang="ru-RU" sz="2400" dirty="0" smtClean="0"/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 err="1"/>
              <a:t>Досягнення</a:t>
            </a:r>
            <a:r>
              <a:rPr lang="ru-RU" sz="2400" dirty="0"/>
              <a:t> </a:t>
            </a:r>
            <a:r>
              <a:rPr lang="ru-RU" sz="2400" dirty="0" err="1"/>
              <a:t>статистичної</a:t>
            </a:r>
            <a:r>
              <a:rPr lang="ru-RU" sz="2400" dirty="0"/>
              <a:t> </a:t>
            </a:r>
            <a:r>
              <a:rPr lang="ru-RU" sz="2400" dirty="0" err="1"/>
              <a:t>незалежності</a:t>
            </a:r>
            <a:r>
              <a:rPr lang="ru-RU" sz="2400" dirty="0"/>
              <a:t> </a:t>
            </a:r>
            <a:r>
              <a:rPr lang="ru-RU" sz="2400" dirty="0" err="1"/>
              <a:t>входів</a:t>
            </a:r>
            <a:r>
              <a:rPr lang="ru-RU" sz="2400" dirty="0"/>
              <a:t> </a:t>
            </a:r>
            <a:r>
              <a:rPr lang="ru-RU" sz="2400" dirty="0" smtClean="0"/>
              <a:t>буде </a:t>
            </a:r>
            <a:r>
              <a:rPr lang="ru-RU" sz="2400" dirty="0" err="1" smtClean="0"/>
              <a:t>забезпечувати</a:t>
            </a:r>
            <a:r>
              <a:rPr lang="ru-RU" sz="2400" dirty="0" smtClean="0"/>
              <a:t> </a:t>
            </a:r>
            <a:r>
              <a:rPr lang="ru-RU" sz="2400" dirty="0" err="1"/>
              <a:t>максимальну</a:t>
            </a:r>
            <a:r>
              <a:rPr lang="ru-RU" sz="2400" dirty="0"/>
              <a:t> </a:t>
            </a:r>
            <a:r>
              <a:rPr lang="ru-RU" sz="2400" dirty="0" err="1"/>
              <a:t>інформаційну</a:t>
            </a:r>
            <a:r>
              <a:rPr lang="ru-RU" sz="2400" dirty="0"/>
              <a:t> </a:t>
            </a:r>
            <a:r>
              <a:rPr lang="ru-RU" sz="2400" dirty="0" err="1"/>
              <a:t>насиченість</a:t>
            </a:r>
            <a:r>
              <a:rPr lang="ru-RU" sz="2400" dirty="0"/>
              <a:t> кожного з </a:t>
            </a:r>
            <a:r>
              <a:rPr lang="ru-RU" sz="2400" dirty="0" err="1"/>
              <a:t>вхідних</a:t>
            </a:r>
            <a:r>
              <a:rPr lang="ru-RU" sz="2400" dirty="0"/>
              <a:t> </a:t>
            </a:r>
            <a:r>
              <a:rPr lang="ru-RU" sz="2400" dirty="0" err="1"/>
              <a:t>факторів</a:t>
            </a:r>
            <a:r>
              <a:rPr lang="ru-RU" sz="2400" dirty="0"/>
              <a:t> </a:t>
            </a:r>
            <a:r>
              <a:rPr lang="ru-RU" sz="2400" dirty="0" err="1" smtClean="0"/>
              <a:t>окремо</a:t>
            </a:r>
            <a:r>
              <a:rPr lang="ru-RU" sz="2400" dirty="0"/>
              <a:t>. </a:t>
            </a:r>
            <a:endParaRPr lang="ru-RU" sz="2400" dirty="0" smtClean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400" dirty="0" err="1" smtClean="0"/>
              <a:t>Статистичну</a:t>
            </a:r>
            <a:r>
              <a:rPr lang="ru-RU" sz="2400" dirty="0" smtClean="0"/>
              <a:t> </a:t>
            </a:r>
            <a:r>
              <a:rPr lang="ru-RU" sz="2400" dirty="0" err="1"/>
              <a:t>незалежність</a:t>
            </a:r>
            <a:r>
              <a:rPr lang="ru-RU" sz="2400" dirty="0"/>
              <a:t> </a:t>
            </a:r>
            <a:r>
              <a:rPr lang="ru-RU" sz="2400" dirty="0" smtClean="0"/>
              <a:t> </a:t>
            </a:r>
            <a:r>
              <a:rPr lang="ru-RU" sz="2400" dirty="0" err="1" smtClean="0"/>
              <a:t>досягти</a:t>
            </a:r>
            <a:r>
              <a:rPr lang="ru-RU" sz="2400" dirty="0" smtClean="0"/>
              <a:t> </a:t>
            </a:r>
            <a:r>
              <a:rPr lang="ru-RU" sz="2400" dirty="0" err="1" smtClean="0"/>
              <a:t>досить</a:t>
            </a:r>
            <a:r>
              <a:rPr lang="ru-RU" sz="2400" dirty="0" smtClean="0"/>
              <a:t> </a:t>
            </a:r>
            <a:r>
              <a:rPr lang="ru-RU" sz="2400" dirty="0"/>
              <a:t>складно, тому на </a:t>
            </a:r>
            <a:r>
              <a:rPr lang="ru-RU" sz="2400" dirty="0" err="1"/>
              <a:t>першому</a:t>
            </a:r>
            <a:r>
              <a:rPr lang="ru-RU" sz="2400" dirty="0"/>
              <a:t> </a:t>
            </a:r>
            <a:r>
              <a:rPr lang="ru-RU" sz="2400" dirty="0" err="1"/>
              <a:t>кроці</a:t>
            </a:r>
            <a:r>
              <a:rPr lang="ru-RU" sz="2400" dirty="0"/>
              <a:t> </a:t>
            </a:r>
            <a:r>
              <a:rPr lang="ru-RU" sz="2400" dirty="0" err="1" smtClean="0"/>
              <a:t>здійснюється</a:t>
            </a:r>
            <a:r>
              <a:rPr lang="ru-RU" sz="2400" dirty="0" smtClean="0"/>
              <a:t>  </a:t>
            </a:r>
            <a:r>
              <a:rPr lang="ru-RU" sz="2400" dirty="0" err="1"/>
              <a:t>декореляцію</a:t>
            </a:r>
            <a:r>
              <a:rPr lang="ru-RU" sz="2400" dirty="0"/>
              <a:t> </a:t>
            </a:r>
            <a:r>
              <a:rPr lang="ru-RU" sz="2400" dirty="0" err="1"/>
              <a:t>входів</a:t>
            </a:r>
            <a:r>
              <a:rPr lang="ru-RU" sz="2400" dirty="0"/>
              <a:t> за </a:t>
            </a:r>
            <a:r>
              <a:rPr lang="ru-RU" sz="2400" dirty="0" smtClean="0"/>
              <a:t>алгоритмом </a:t>
            </a:r>
            <a:r>
              <a:rPr lang="ru-RU" sz="2400" dirty="0"/>
              <a:t>„</a:t>
            </a:r>
            <a:r>
              <a:rPr lang="ru-RU" sz="2400" dirty="0" err="1" smtClean="0"/>
              <a:t>вибілювання</a:t>
            </a:r>
            <a:r>
              <a:rPr lang="ru-RU" sz="2400" dirty="0"/>
              <a:t>" </a:t>
            </a:r>
            <a:r>
              <a:rPr lang="ru-RU" sz="2400" dirty="0" err="1" smtClean="0"/>
              <a:t>входів</a:t>
            </a:r>
            <a:r>
              <a:rPr lang="ru-RU" sz="2400" dirty="0" smtClean="0"/>
              <a:t>: </a:t>
            </a:r>
            <a:endParaRPr lang="ru-RU" sz="24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368300" y="4141927"/>
            <a:ext cx="9702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/>
              <a:t>Крок</a:t>
            </a:r>
            <a:r>
              <a:rPr lang="ru-RU" sz="2200" dirty="0"/>
              <a:t> 1. Для кожного </a:t>
            </a:r>
            <a:r>
              <a:rPr lang="ru-RU" sz="2200" dirty="0" err="1"/>
              <a:t>вхідного</a:t>
            </a:r>
            <a:r>
              <a:rPr lang="ru-RU" sz="2200" dirty="0"/>
              <a:t> фактора </a:t>
            </a:r>
            <a:r>
              <a:rPr lang="ru-RU" sz="2200" dirty="0" err="1" smtClean="0"/>
              <a:t>знайдемо</a:t>
            </a:r>
            <a:r>
              <a:rPr lang="ru-RU" sz="2200" dirty="0" smtClean="0"/>
              <a:t> </a:t>
            </a:r>
            <a:r>
              <a:rPr lang="ru-RU" sz="2200" dirty="0" err="1"/>
              <a:t>його</a:t>
            </a:r>
            <a:r>
              <a:rPr lang="ru-RU" sz="2200" dirty="0"/>
              <a:t> </a:t>
            </a:r>
            <a:r>
              <a:rPr lang="ru-RU" sz="2200" dirty="0" err="1"/>
              <a:t>середнє</a:t>
            </a:r>
            <a:r>
              <a:rPr lang="ru-RU" sz="2200" dirty="0"/>
              <a:t> </a:t>
            </a:r>
            <a:r>
              <a:rPr lang="ru-RU" sz="2200" dirty="0" err="1"/>
              <a:t>значення</a:t>
            </a:r>
            <a:endParaRPr lang="ru-RU" sz="22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439" y="4685540"/>
            <a:ext cx="3400921" cy="96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39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11</a:t>
            </a:fld>
            <a:r>
              <a:rPr lang="en-US" smtClean="0"/>
              <a:t>/59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3000" y="0"/>
            <a:ext cx="735457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>
                <a:solidFill>
                  <a:schemeClr val="bg1"/>
                </a:solidFill>
              </a:rPr>
              <a:t>Алгоритм „</a:t>
            </a:r>
            <a:r>
              <a:rPr lang="ru-RU" sz="4000" b="1" dirty="0" err="1">
                <a:solidFill>
                  <a:schemeClr val="bg1"/>
                </a:solidFill>
              </a:rPr>
              <a:t>вибілювання</a:t>
            </a:r>
            <a:r>
              <a:rPr lang="ru-RU" sz="4000" b="1" dirty="0">
                <a:solidFill>
                  <a:schemeClr val="bg1"/>
                </a:solidFill>
              </a:rPr>
              <a:t>" </a:t>
            </a:r>
            <a:r>
              <a:rPr lang="ru-RU" sz="4000" b="1" dirty="0" err="1">
                <a:solidFill>
                  <a:schemeClr val="bg1"/>
                </a:solidFill>
              </a:rPr>
              <a:t>входів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93700" y="1240135"/>
            <a:ext cx="116713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/>
              <a:t>Крок</a:t>
            </a:r>
            <a:r>
              <a:rPr lang="ru-RU" sz="2200" dirty="0"/>
              <a:t> 2. </a:t>
            </a:r>
            <a:r>
              <a:rPr lang="ru-RU" sz="2200" dirty="0" err="1"/>
              <a:t>Обчислимо</a:t>
            </a:r>
            <a:r>
              <a:rPr lang="ru-RU" sz="2200" dirty="0"/>
              <a:t> </a:t>
            </a:r>
            <a:r>
              <a:rPr lang="ru-RU" sz="2200" dirty="0" err="1"/>
              <a:t>коваріаційну</a:t>
            </a:r>
            <a:r>
              <a:rPr lang="ru-RU" sz="2200" dirty="0"/>
              <a:t> </a:t>
            </a:r>
            <a:r>
              <a:rPr lang="ru-RU" sz="2200" dirty="0" err="1"/>
              <a:t>матрицю</a:t>
            </a:r>
            <a:r>
              <a:rPr lang="ru-RU" sz="2200" dirty="0"/>
              <a:t> K, </a:t>
            </a:r>
            <a:r>
              <a:rPr lang="ru-RU" sz="2200" dirty="0" err="1"/>
              <a:t>елементи</a:t>
            </a:r>
            <a:r>
              <a:rPr lang="ru-RU" sz="2200" dirty="0"/>
              <a:t> </a:t>
            </a:r>
            <a:r>
              <a:rPr lang="ru-RU" sz="2200" dirty="0" err="1"/>
              <a:t>якої</a:t>
            </a:r>
            <a:r>
              <a:rPr lang="ru-RU" sz="2200" dirty="0"/>
              <a:t> </a:t>
            </a:r>
            <a:r>
              <a:rPr lang="ru-RU" sz="2200" dirty="0" err="1"/>
              <a:t>розрахуємо</a:t>
            </a:r>
            <a:r>
              <a:rPr lang="ru-RU" sz="2200" dirty="0"/>
              <a:t> </a:t>
            </a:r>
            <a:r>
              <a:rPr lang="ru-RU" sz="2200" dirty="0" smtClean="0"/>
              <a:t>за формулою</a:t>
            </a:r>
            <a:r>
              <a:rPr lang="ru-RU" sz="2200" dirty="0"/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099" y="1671022"/>
            <a:ext cx="6345001" cy="110664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38150" y="2487778"/>
            <a:ext cx="11582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/>
              <a:t>Крок</a:t>
            </a:r>
            <a:r>
              <a:rPr lang="ru-RU" sz="2200" dirty="0"/>
              <a:t> 3. </a:t>
            </a:r>
            <a:r>
              <a:rPr lang="ru-RU" sz="2200" dirty="0" err="1"/>
              <a:t>Визначимо</a:t>
            </a:r>
            <a:r>
              <a:rPr lang="ru-RU" sz="2200" dirty="0"/>
              <a:t> </a:t>
            </a:r>
            <a:r>
              <a:rPr lang="ru-RU" sz="2200" dirty="0" err="1"/>
              <a:t>лінійне</a:t>
            </a:r>
            <a:r>
              <a:rPr lang="ru-RU" sz="2200" dirty="0"/>
              <a:t> </a:t>
            </a:r>
            <a:r>
              <a:rPr lang="ru-RU" sz="2200" dirty="0" err="1"/>
              <a:t>перетворення</a:t>
            </a:r>
            <a:r>
              <a:rPr lang="ru-RU" sz="2200" dirty="0"/>
              <a:t>, яке </a:t>
            </a:r>
            <a:r>
              <a:rPr lang="ru-RU" sz="2200" dirty="0" err="1"/>
              <a:t>діагоналізуватиме</a:t>
            </a:r>
            <a:r>
              <a:rPr lang="ru-RU" sz="2200" dirty="0"/>
              <a:t> </a:t>
            </a:r>
            <a:r>
              <a:rPr lang="ru-RU" sz="2200" dirty="0" err="1" smtClean="0"/>
              <a:t>коваріаційну</a:t>
            </a:r>
            <a:r>
              <a:rPr lang="ru-RU" sz="2200" dirty="0" smtClean="0"/>
              <a:t> </a:t>
            </a:r>
            <a:r>
              <a:rPr lang="ru-RU" sz="2200" dirty="0" err="1"/>
              <a:t>матрицю</a:t>
            </a:r>
            <a:r>
              <a:rPr lang="ru-RU" sz="2200" dirty="0"/>
              <a:t>. </a:t>
            </a:r>
            <a:r>
              <a:rPr lang="ru-RU" sz="2200" dirty="0" err="1"/>
              <a:t>Це</a:t>
            </a:r>
            <a:r>
              <a:rPr lang="ru-RU" sz="2200" dirty="0"/>
              <a:t> дозволить </a:t>
            </a:r>
            <a:r>
              <a:rPr lang="ru-RU" sz="2200" dirty="0" err="1"/>
              <a:t>зробити</a:t>
            </a:r>
            <a:r>
              <a:rPr lang="ru-RU" sz="2200" dirty="0"/>
              <a:t> </a:t>
            </a:r>
            <a:r>
              <a:rPr lang="ru-RU" sz="2200" dirty="0" err="1"/>
              <a:t>матриця</a:t>
            </a:r>
            <a:r>
              <a:rPr lang="ru-RU" sz="2200" dirty="0"/>
              <a:t>, </a:t>
            </a:r>
            <a:r>
              <a:rPr lang="ru-RU" sz="2200" dirty="0" err="1"/>
              <a:t>складена</a:t>
            </a:r>
            <a:r>
              <a:rPr lang="ru-RU" sz="2200" dirty="0"/>
              <a:t> </a:t>
            </a:r>
            <a:r>
              <a:rPr lang="ru-RU" sz="2200" dirty="0" err="1"/>
              <a:t>із</a:t>
            </a:r>
            <a:r>
              <a:rPr lang="ru-RU" sz="2200" dirty="0"/>
              <a:t> </a:t>
            </a:r>
            <a:r>
              <a:rPr lang="ru-RU" sz="2200" dirty="0" err="1"/>
              <a:t>стовпчиків</a:t>
            </a:r>
            <a:r>
              <a:rPr lang="ru-RU" sz="2200" dirty="0"/>
              <a:t>, </a:t>
            </a:r>
            <a:r>
              <a:rPr lang="ru-RU" sz="2200" dirty="0" err="1"/>
              <a:t>які</a:t>
            </a:r>
            <a:r>
              <a:rPr lang="ru-RU" sz="2200" dirty="0"/>
              <a:t> </a:t>
            </a:r>
            <a:r>
              <a:rPr lang="ru-RU" sz="2200" dirty="0" smtClean="0"/>
              <a:t> є </a:t>
            </a:r>
            <a:r>
              <a:rPr lang="ru-RU" sz="2200" dirty="0" err="1" smtClean="0"/>
              <a:t>власними</a:t>
            </a:r>
            <a:r>
              <a:rPr lang="ru-RU" sz="2200" dirty="0" smtClean="0"/>
              <a:t> </a:t>
            </a:r>
            <a:r>
              <a:rPr lang="ru-RU" sz="2200" dirty="0"/>
              <a:t>векторами </a:t>
            </a:r>
            <a:r>
              <a:rPr lang="ru-RU" sz="2200" dirty="0" err="1"/>
              <a:t>матриці</a:t>
            </a:r>
            <a:r>
              <a:rPr lang="ru-RU" sz="2200" dirty="0"/>
              <a:t> </a:t>
            </a:r>
            <a:r>
              <a:rPr lang="en-GB" sz="2200" dirty="0" smtClean="0"/>
              <a:t>K</a:t>
            </a:r>
            <a:r>
              <a:rPr lang="uk-UA" sz="2200" dirty="0" smtClean="0"/>
              <a:t>.</a:t>
            </a:r>
            <a:endParaRPr lang="ru-RU" sz="2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93700" y="3855264"/>
            <a:ext cx="419672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err="1"/>
              <a:t>Крок</a:t>
            </a:r>
            <a:r>
              <a:rPr lang="ru-RU" sz="2200" dirty="0"/>
              <a:t> 4. </a:t>
            </a:r>
            <a:r>
              <a:rPr lang="ru-RU" sz="2200" dirty="0" err="1"/>
              <a:t>Виконаємо</a:t>
            </a:r>
            <a:r>
              <a:rPr lang="ru-RU" sz="2200" dirty="0"/>
              <a:t> </a:t>
            </a:r>
            <a:r>
              <a:rPr lang="ru-RU" sz="2200" dirty="0" err="1"/>
              <a:t>перетворення</a:t>
            </a:r>
            <a:endParaRPr lang="ru-RU" sz="22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859" y="3855264"/>
            <a:ext cx="2944081" cy="52152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438150" y="4376784"/>
            <a:ext cx="116268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де </a:t>
            </a:r>
            <a:r>
              <a:rPr lang="ru-RU" sz="2200" dirty="0" err="1"/>
              <a:t>матрицю</a:t>
            </a:r>
            <a:r>
              <a:rPr lang="ru-RU" sz="2200" dirty="0"/>
              <a:t> </a:t>
            </a:r>
            <a:r>
              <a:rPr lang="ru-RU" sz="2200" dirty="0" err="1"/>
              <a:t>Xnorm</a:t>
            </a:r>
            <a:r>
              <a:rPr lang="ru-RU" sz="2200" dirty="0"/>
              <a:t> </a:t>
            </a:r>
            <a:r>
              <a:rPr lang="ru-RU" sz="2200" dirty="0" err="1"/>
              <a:t>одержують</a:t>
            </a:r>
            <a:r>
              <a:rPr lang="ru-RU" sz="2200" dirty="0"/>
              <a:t> з X </a:t>
            </a:r>
            <a:r>
              <a:rPr lang="ru-RU" sz="2200" dirty="0" smtClean="0"/>
              <a:t> </a:t>
            </a:r>
            <a:r>
              <a:rPr lang="ru-RU" sz="2200" dirty="0" err="1"/>
              <a:t>відніманням</a:t>
            </a:r>
            <a:r>
              <a:rPr lang="ru-RU" sz="2200" dirty="0"/>
              <a:t> </a:t>
            </a:r>
            <a:r>
              <a:rPr lang="ru-RU" sz="2200" dirty="0" err="1"/>
              <a:t>від</a:t>
            </a:r>
            <a:r>
              <a:rPr lang="ru-RU" sz="2200" dirty="0"/>
              <a:t> </a:t>
            </a:r>
            <a:r>
              <a:rPr lang="ru-RU" sz="2200" dirty="0" err="1"/>
              <a:t>елементів</a:t>
            </a:r>
            <a:r>
              <a:rPr lang="ru-RU" sz="2200" dirty="0"/>
              <a:t> </a:t>
            </a:r>
            <a:r>
              <a:rPr lang="ru-RU" sz="2200" dirty="0" smtClean="0"/>
              <a:t>кожного </a:t>
            </a:r>
            <a:r>
              <a:rPr lang="ru-RU" sz="2200" dirty="0" err="1"/>
              <a:t>стовпчика</a:t>
            </a:r>
            <a:r>
              <a:rPr lang="ru-RU" sz="2200" dirty="0"/>
              <a:t> </a:t>
            </a:r>
            <a:r>
              <a:rPr lang="ru-RU" sz="2200" dirty="0" err="1"/>
              <a:t>його</a:t>
            </a:r>
            <a:r>
              <a:rPr lang="ru-RU" sz="2200" dirty="0"/>
              <a:t> </a:t>
            </a:r>
            <a:r>
              <a:rPr lang="ru-RU" sz="2200" dirty="0" err="1"/>
              <a:t>середнього</a:t>
            </a:r>
            <a:r>
              <a:rPr lang="ru-RU" sz="2200" dirty="0"/>
              <a:t> </a:t>
            </a:r>
            <a:r>
              <a:rPr lang="ru-RU" sz="2200" dirty="0" err="1"/>
              <a:t>значення</a:t>
            </a:r>
            <a:r>
              <a:rPr lang="ru-RU" sz="2200" dirty="0"/>
              <a:t>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38150" y="5418734"/>
            <a:ext cx="374179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err="1"/>
              <a:t>Крок</a:t>
            </a:r>
            <a:r>
              <a:rPr lang="ru-RU" sz="2200" dirty="0"/>
              <a:t> 5. </a:t>
            </a:r>
            <a:r>
              <a:rPr lang="ru-RU" sz="2200" dirty="0" err="1"/>
              <a:t>Закінчення</a:t>
            </a:r>
            <a:r>
              <a:rPr lang="ru-RU" sz="2200" dirty="0"/>
              <a:t> алгоритму</a:t>
            </a:r>
          </a:p>
        </p:txBody>
      </p:sp>
    </p:spTree>
    <p:extLst>
      <p:ext uri="{BB962C8B-B14F-4D97-AF65-F5344CB8AC3E}">
        <p14:creationId xmlns:p14="http://schemas.microsoft.com/office/powerpoint/2010/main" val="2786234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12</a:t>
            </a:fld>
            <a:r>
              <a:rPr lang="en-US" smtClean="0"/>
              <a:t>/59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 err="1">
                <a:solidFill>
                  <a:schemeClr val="bg1"/>
                </a:solidFill>
              </a:rPr>
              <a:t>Виключення</a:t>
            </a:r>
            <a:r>
              <a:rPr lang="ru-RU" sz="4000" b="1" dirty="0">
                <a:solidFill>
                  <a:schemeClr val="bg1"/>
                </a:solidFill>
              </a:rPr>
              <a:t> </a:t>
            </a:r>
            <a:r>
              <a:rPr lang="ru-RU" sz="4000" b="1" dirty="0" err="1">
                <a:solidFill>
                  <a:schemeClr val="bg1"/>
                </a:solidFill>
              </a:rPr>
              <a:t>неінформативних</a:t>
            </a:r>
            <a:r>
              <a:rPr lang="ru-RU" sz="4000" b="1" dirty="0">
                <a:solidFill>
                  <a:schemeClr val="bg1"/>
                </a:solidFill>
              </a:rPr>
              <a:t> </a:t>
            </a:r>
            <a:r>
              <a:rPr lang="ru-RU" sz="4000" b="1" dirty="0" err="1">
                <a:solidFill>
                  <a:schemeClr val="bg1"/>
                </a:solidFill>
              </a:rPr>
              <a:t>факторів</a:t>
            </a:r>
            <a:endParaRPr lang="ru-RU" sz="40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01600" y="1094939"/>
            <a:ext cx="119888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/>
              <a:t>Продовжуючи</a:t>
            </a:r>
            <a:r>
              <a:rPr lang="ru-RU" sz="2200" dirty="0"/>
              <a:t> </a:t>
            </a:r>
            <a:r>
              <a:rPr lang="ru-RU" sz="2200" dirty="0" err="1"/>
              <a:t>оптимізувати</a:t>
            </a:r>
            <a:r>
              <a:rPr lang="ru-RU" sz="2200" dirty="0"/>
              <a:t> структуру </a:t>
            </a:r>
            <a:r>
              <a:rPr lang="ru-RU" sz="2200" dirty="0" err="1"/>
              <a:t>початкової</a:t>
            </a:r>
            <a:r>
              <a:rPr lang="ru-RU" sz="2200" dirty="0"/>
              <a:t> </a:t>
            </a:r>
            <a:r>
              <a:rPr lang="ru-RU" sz="2200" dirty="0" err="1"/>
              <a:t>інформації</a:t>
            </a:r>
            <a:r>
              <a:rPr lang="ru-RU" sz="2200" dirty="0"/>
              <a:t>, </a:t>
            </a:r>
            <a:r>
              <a:rPr lang="ru-RU" sz="2200" dirty="0" err="1" smtClean="0"/>
              <a:t>необхідно</a:t>
            </a:r>
            <a:r>
              <a:rPr lang="ru-RU" sz="2200" dirty="0" smtClean="0"/>
              <a:t> </a:t>
            </a:r>
            <a:r>
              <a:rPr lang="ru-RU" sz="2200" dirty="0" err="1" smtClean="0"/>
              <a:t>розв'язувати</a:t>
            </a:r>
            <a:r>
              <a:rPr lang="ru-RU" sz="2200" dirty="0" smtClean="0"/>
              <a:t> </a:t>
            </a:r>
            <a:r>
              <a:rPr lang="ru-RU" sz="2200" dirty="0"/>
              <a:t>задачу </a:t>
            </a:r>
            <a:r>
              <a:rPr lang="ru-RU" sz="2200" dirty="0" err="1"/>
              <a:t>вилучення</a:t>
            </a:r>
            <a:r>
              <a:rPr lang="ru-RU" sz="2200" dirty="0"/>
              <a:t> </a:t>
            </a:r>
            <a:r>
              <a:rPr lang="ru-RU" sz="2200" dirty="0" err="1"/>
              <a:t>лінійної</a:t>
            </a:r>
            <a:r>
              <a:rPr lang="ru-RU" sz="2200" dirty="0"/>
              <a:t> </a:t>
            </a:r>
            <a:r>
              <a:rPr lang="ru-RU" sz="2200" dirty="0" err="1"/>
              <a:t>залежності</a:t>
            </a:r>
            <a:r>
              <a:rPr lang="ru-RU" sz="2200" dirty="0"/>
              <a:t> </a:t>
            </a:r>
            <a:r>
              <a:rPr lang="ru-RU" sz="2200" dirty="0" err="1"/>
              <a:t>серед</a:t>
            </a:r>
            <a:r>
              <a:rPr lang="ru-RU" sz="2200" dirty="0"/>
              <a:t> </a:t>
            </a:r>
            <a:r>
              <a:rPr lang="ru-RU" sz="2200" dirty="0" err="1"/>
              <a:t>вхідних</a:t>
            </a:r>
            <a:r>
              <a:rPr lang="ru-RU" sz="2200" dirty="0"/>
              <a:t> </a:t>
            </a:r>
            <a:r>
              <a:rPr lang="ru-RU" sz="2200" dirty="0" err="1"/>
              <a:t>факторів</a:t>
            </a:r>
            <a:r>
              <a:rPr lang="ru-RU" sz="2200" dirty="0"/>
              <a:t>. </a:t>
            </a:r>
            <a:r>
              <a:rPr lang="ru-RU" sz="2200" dirty="0" smtClean="0"/>
              <a:t>Одним </a:t>
            </a:r>
            <a:r>
              <a:rPr lang="ru-RU" sz="2200" dirty="0"/>
              <a:t>з </a:t>
            </a:r>
            <a:r>
              <a:rPr lang="ru-RU" sz="2200" dirty="0" err="1"/>
              <a:t>методів</a:t>
            </a:r>
            <a:r>
              <a:rPr lang="ru-RU" sz="2200" dirty="0"/>
              <a:t> </a:t>
            </a:r>
            <a:r>
              <a:rPr lang="ru-RU" sz="2200" dirty="0" err="1"/>
              <a:t>її</a:t>
            </a:r>
            <a:r>
              <a:rPr lang="ru-RU" sz="2200" dirty="0"/>
              <a:t> </a:t>
            </a:r>
            <a:r>
              <a:rPr lang="ru-RU" sz="2200" dirty="0" err="1"/>
              <a:t>розв'язання</a:t>
            </a:r>
            <a:r>
              <a:rPr lang="ru-RU" sz="2200" dirty="0"/>
              <a:t> є </a:t>
            </a:r>
            <a:r>
              <a:rPr lang="ru-RU" sz="2200" dirty="0" err="1"/>
              <a:t>універсальний</a:t>
            </a:r>
            <a:r>
              <a:rPr lang="ru-RU" sz="2200" dirty="0"/>
              <a:t> алгоритм </a:t>
            </a:r>
            <a:r>
              <a:rPr lang="ru-RU" sz="2200" b="1" dirty="0" err="1">
                <a:solidFill>
                  <a:srgbClr val="C00000"/>
                </a:solidFill>
              </a:rPr>
              <a:t>Фаррара-Глобера</a:t>
            </a:r>
            <a:r>
              <a:rPr lang="ru-RU" sz="2200" dirty="0"/>
              <a:t> </a:t>
            </a:r>
            <a:r>
              <a:rPr lang="ru-RU" sz="2200" dirty="0" err="1" smtClean="0"/>
              <a:t>щодо</a:t>
            </a:r>
            <a:r>
              <a:rPr lang="ru-RU" sz="2200" dirty="0" smtClean="0"/>
              <a:t> </a:t>
            </a:r>
            <a:r>
              <a:rPr lang="ru-RU" sz="2200" dirty="0" err="1" smtClean="0"/>
              <a:t>вилучення</a:t>
            </a:r>
            <a:r>
              <a:rPr lang="ru-RU" sz="2200" dirty="0" smtClean="0"/>
              <a:t> </a:t>
            </a:r>
            <a:r>
              <a:rPr lang="ru-RU" sz="2200" dirty="0" err="1"/>
              <a:t>мультиколінеарності</a:t>
            </a:r>
            <a:r>
              <a:rPr lang="ru-RU" sz="2200" dirty="0"/>
              <a:t>, </a:t>
            </a:r>
            <a:r>
              <a:rPr lang="ru-RU" sz="2200" dirty="0" err="1"/>
              <a:t>який</a:t>
            </a:r>
            <a:r>
              <a:rPr lang="ru-RU" sz="2200" dirty="0"/>
              <a:t> </a:t>
            </a:r>
            <a:r>
              <a:rPr lang="ru-RU" sz="2200" dirty="0" err="1"/>
              <a:t>базується</a:t>
            </a:r>
            <a:r>
              <a:rPr lang="ru-RU" sz="2200" dirty="0"/>
              <a:t> на </a:t>
            </a:r>
            <a:r>
              <a:rPr lang="ru-RU" sz="2200" dirty="0" err="1"/>
              <a:t>одночасній</a:t>
            </a:r>
            <a:r>
              <a:rPr lang="ru-RU" sz="2200" dirty="0"/>
              <a:t> </a:t>
            </a:r>
            <a:r>
              <a:rPr lang="ru-RU" sz="2200" dirty="0" err="1"/>
              <a:t>перевірці</a:t>
            </a:r>
            <a:r>
              <a:rPr lang="ru-RU" sz="2200" dirty="0"/>
              <a:t> </a:t>
            </a:r>
            <a:r>
              <a:rPr lang="ru-RU" sz="2200" dirty="0" err="1" smtClean="0"/>
              <a:t>критеріїв</a:t>
            </a:r>
            <a:r>
              <a:rPr lang="ru-RU" sz="2200" dirty="0" smtClean="0"/>
              <a:t> </a:t>
            </a:r>
            <a:r>
              <a:rPr lang="ru-RU" sz="2200" dirty="0" err="1">
                <a:solidFill>
                  <a:srgbClr val="0000CC"/>
                </a:solidFill>
              </a:rPr>
              <a:t>Пірсона</a:t>
            </a:r>
            <a:r>
              <a:rPr lang="ru-RU" sz="2200" dirty="0">
                <a:solidFill>
                  <a:srgbClr val="0000CC"/>
                </a:solidFill>
              </a:rPr>
              <a:t>, </a:t>
            </a:r>
            <a:r>
              <a:rPr lang="ru-RU" sz="2200" dirty="0" err="1">
                <a:solidFill>
                  <a:srgbClr val="0000CC"/>
                </a:solidFill>
              </a:rPr>
              <a:t>Фішера</a:t>
            </a:r>
            <a:r>
              <a:rPr lang="ru-RU" sz="2200" dirty="0">
                <a:solidFill>
                  <a:srgbClr val="0000CC"/>
                </a:solidFill>
              </a:rPr>
              <a:t> та Стьюдента</a:t>
            </a:r>
            <a:r>
              <a:rPr lang="ru-RU" sz="2200" dirty="0"/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69673" y="2932248"/>
            <a:ext cx="775712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 err="1" smtClean="0"/>
              <a:t>Крок</a:t>
            </a:r>
            <a:r>
              <a:rPr lang="ru-RU" sz="2200" dirty="0" smtClean="0"/>
              <a:t> </a:t>
            </a:r>
            <a:r>
              <a:rPr lang="ru-RU" sz="2200" dirty="0"/>
              <a:t>1. </a:t>
            </a:r>
            <a:r>
              <a:rPr lang="ru-RU" sz="2200" dirty="0" err="1"/>
              <a:t>Нормування</a:t>
            </a:r>
            <a:r>
              <a:rPr lang="ru-RU" sz="2200" dirty="0"/>
              <a:t> та </a:t>
            </a:r>
            <a:r>
              <a:rPr lang="ru-RU" sz="2200" dirty="0" err="1"/>
              <a:t>центрування</a:t>
            </a:r>
            <a:r>
              <a:rPr lang="ru-RU" sz="2200" dirty="0"/>
              <a:t> </a:t>
            </a:r>
            <a:r>
              <a:rPr lang="ru-RU" sz="2200" dirty="0" err="1" smtClean="0"/>
              <a:t>факторів</a:t>
            </a:r>
            <a:endParaRPr lang="ru-RU" sz="22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193" y="4898368"/>
            <a:ext cx="1941507" cy="8108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5395" y="3385833"/>
            <a:ext cx="1841405" cy="982038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254000" y="4424610"/>
            <a:ext cx="589430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err="1"/>
              <a:t>Крок</a:t>
            </a:r>
            <a:r>
              <a:rPr lang="ru-RU" sz="2200" dirty="0"/>
              <a:t> 2. </a:t>
            </a:r>
            <a:r>
              <a:rPr lang="ru-RU" sz="2200" dirty="0" err="1"/>
              <a:t>Знайти</a:t>
            </a:r>
            <a:r>
              <a:rPr lang="ru-RU" sz="2200" dirty="0"/>
              <a:t> </a:t>
            </a:r>
            <a:r>
              <a:rPr lang="ru-RU" sz="2200" dirty="0" err="1"/>
              <a:t>вибіркову</a:t>
            </a:r>
            <a:r>
              <a:rPr lang="ru-RU" sz="2200" dirty="0"/>
              <a:t> </a:t>
            </a:r>
            <a:r>
              <a:rPr lang="ru-RU" sz="2200" dirty="0" err="1"/>
              <a:t>кореляційну</a:t>
            </a:r>
            <a:r>
              <a:rPr lang="ru-RU" sz="2200" dirty="0"/>
              <a:t> </a:t>
            </a:r>
            <a:r>
              <a:rPr lang="ru-RU" sz="2200" dirty="0" err="1"/>
              <a:t>матрицю</a:t>
            </a:r>
            <a:endParaRPr lang="ru-RU" sz="22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096000" y="2928542"/>
            <a:ext cx="5916620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err="1"/>
              <a:t>Крок</a:t>
            </a:r>
            <a:r>
              <a:rPr lang="ru-RU" sz="2200" dirty="0"/>
              <a:t> 3. </a:t>
            </a:r>
            <a:r>
              <a:rPr lang="ru-RU" sz="2200" dirty="0" err="1"/>
              <a:t>Розрахувати</a:t>
            </a:r>
            <a:r>
              <a:rPr lang="ru-RU" sz="2200" dirty="0"/>
              <a:t> </a:t>
            </a:r>
            <a:r>
              <a:rPr lang="ru-RU" sz="2200" dirty="0" err="1"/>
              <a:t>значення</a:t>
            </a:r>
            <a:r>
              <a:rPr lang="ru-RU" sz="2200" dirty="0"/>
              <a:t> </a:t>
            </a:r>
            <a:r>
              <a:rPr lang="ru-RU" sz="2200" dirty="0" err="1"/>
              <a:t>критерію</a:t>
            </a:r>
            <a:r>
              <a:rPr lang="ru-RU" sz="2200" dirty="0"/>
              <a:t> </a:t>
            </a:r>
            <a:r>
              <a:rPr lang="ru-RU" sz="2200" dirty="0" err="1"/>
              <a:t>Пірсона</a:t>
            </a:r>
            <a:endParaRPr lang="ru-RU" sz="22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3201153" y="2496345"/>
            <a:ext cx="69927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/>
              <a:t>Алгоритм </a:t>
            </a:r>
            <a:r>
              <a:rPr lang="ru-RU" sz="2400" b="1" dirty="0" err="1"/>
              <a:t>передбачає</a:t>
            </a:r>
            <a:r>
              <a:rPr lang="ru-RU" sz="2400" b="1" dirty="0"/>
              <a:t> </a:t>
            </a:r>
            <a:r>
              <a:rPr lang="ru-RU" sz="2400" b="1" dirty="0" err="1"/>
              <a:t>виконання</a:t>
            </a:r>
            <a:r>
              <a:rPr lang="ru-RU" sz="2400" b="1" dirty="0"/>
              <a:t> </a:t>
            </a:r>
            <a:r>
              <a:rPr lang="ru-RU" sz="2400" b="1" dirty="0" err="1"/>
              <a:t>наступних</a:t>
            </a:r>
            <a:r>
              <a:rPr lang="ru-RU" sz="2400" b="1" dirty="0"/>
              <a:t> </a:t>
            </a:r>
            <a:r>
              <a:rPr lang="ru-RU" sz="2400" b="1" dirty="0" err="1"/>
              <a:t>кроків</a:t>
            </a:r>
            <a:endParaRPr lang="ru-RU" sz="2400" dirty="0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640" y="3435499"/>
            <a:ext cx="4341340" cy="728788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6527800" y="4198322"/>
            <a:ext cx="548482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dirty="0"/>
              <a:t>де n - </a:t>
            </a:r>
            <a:r>
              <a:rPr lang="ru-RU" sz="2200" dirty="0" err="1"/>
              <a:t>кількість</a:t>
            </a:r>
            <a:r>
              <a:rPr lang="ru-RU" sz="2200" dirty="0"/>
              <a:t> </a:t>
            </a:r>
            <a:r>
              <a:rPr lang="ru-RU" sz="2200" dirty="0" err="1"/>
              <a:t>факторів</a:t>
            </a:r>
            <a:r>
              <a:rPr lang="ru-RU" sz="2200" dirty="0"/>
              <a:t>; </a:t>
            </a:r>
            <a:endParaRPr lang="ru-RU" sz="2200" dirty="0" smtClean="0"/>
          </a:p>
          <a:p>
            <a:r>
              <a:rPr lang="ru-RU" sz="2200" dirty="0" smtClean="0"/>
              <a:t>m </a:t>
            </a:r>
            <a:r>
              <a:rPr lang="ru-RU" sz="2200" dirty="0"/>
              <a:t>- </a:t>
            </a:r>
            <a:r>
              <a:rPr lang="ru-RU" sz="2200" dirty="0" err="1"/>
              <a:t>кількість</a:t>
            </a:r>
            <a:r>
              <a:rPr lang="ru-RU" sz="2200" dirty="0"/>
              <a:t> </a:t>
            </a:r>
            <a:r>
              <a:rPr lang="ru-RU" sz="2200" dirty="0" err="1" smtClean="0"/>
              <a:t>спостережень</a:t>
            </a:r>
            <a:endParaRPr lang="ru-RU" sz="2200" dirty="0" smtClean="0"/>
          </a:p>
          <a:p>
            <a:r>
              <a:rPr lang="ru-RU" sz="2400" dirty="0" err="1" smtClean="0"/>
              <a:t>Якщо</a:t>
            </a:r>
            <a:r>
              <a:rPr lang="ru-RU" sz="2400" dirty="0" smtClean="0"/>
              <a:t>                          , </a:t>
            </a:r>
            <a:r>
              <a:rPr lang="ru-RU" sz="2400" dirty="0"/>
              <a:t>то </a:t>
            </a:r>
            <a:r>
              <a:rPr lang="ru-RU" sz="2400" dirty="0" err="1"/>
              <a:t>між</a:t>
            </a:r>
            <a:r>
              <a:rPr lang="ru-RU" sz="2400" dirty="0"/>
              <a:t> векторами </a:t>
            </a:r>
            <a:r>
              <a:rPr lang="ru-RU" sz="2400" dirty="0" err="1"/>
              <a:t>факторів</a:t>
            </a:r>
            <a:r>
              <a:rPr lang="ru-RU" sz="2400" dirty="0"/>
              <a:t> </a:t>
            </a:r>
            <a:r>
              <a:rPr lang="ru-RU" sz="2400" dirty="0" err="1"/>
              <a:t>має</a:t>
            </a:r>
            <a:r>
              <a:rPr lang="ru-RU" sz="2400" dirty="0"/>
              <a:t> </a:t>
            </a:r>
            <a:r>
              <a:rPr lang="ru-RU" sz="2400" dirty="0" err="1"/>
              <a:t>місце</a:t>
            </a:r>
            <a:r>
              <a:rPr lang="ru-RU" sz="2400" dirty="0"/>
              <a:t> </a:t>
            </a:r>
            <a:r>
              <a:rPr lang="ru-RU" sz="2400" dirty="0" err="1" smtClean="0"/>
              <a:t>мультиколінеарність</a:t>
            </a:r>
            <a:r>
              <a:rPr lang="ru-RU" sz="2400" dirty="0"/>
              <a:t>, </a:t>
            </a:r>
            <a:r>
              <a:rPr lang="ru-RU" sz="2400" dirty="0" err="1"/>
              <a:t>інакше</a:t>
            </a:r>
            <a:r>
              <a:rPr lang="ru-RU" sz="2400" dirty="0"/>
              <a:t> – </a:t>
            </a:r>
            <a:r>
              <a:rPr lang="ru-RU" sz="2400" dirty="0" err="1"/>
              <a:t>кінець</a:t>
            </a:r>
            <a:r>
              <a:rPr lang="ru-RU" sz="2400" dirty="0"/>
              <a:t> алгоритму. </a:t>
            </a:r>
            <a:endParaRPr lang="ru-RU" sz="2200" dirty="0"/>
          </a:p>
        </p:txBody>
      </p:sp>
      <p:graphicFrame>
        <p:nvGraphicFramePr>
          <p:cNvPr id="14" name="Объект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698513"/>
              </p:ext>
            </p:extLst>
          </p:nvPr>
        </p:nvGraphicFramePr>
        <p:xfrm>
          <a:off x="7560447" y="4801092"/>
          <a:ext cx="1469969" cy="520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Уравнение" r:id="rId6" imgW="609480" imgH="215640" progId="Equation.3">
                  <p:embed/>
                </p:oleObj>
              </mc:Choice>
              <mc:Fallback>
                <p:oleObj name="Уравнение" r:id="rId6" imgW="60948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60447" y="4801092"/>
                        <a:ext cx="1469969" cy="5206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0505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13</a:t>
            </a:fld>
            <a:r>
              <a:rPr lang="en-US" smtClean="0"/>
              <a:t>/59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 err="1">
                <a:solidFill>
                  <a:schemeClr val="bg1"/>
                </a:solidFill>
              </a:rPr>
              <a:t>Виключення</a:t>
            </a:r>
            <a:r>
              <a:rPr lang="ru-RU" sz="4000" b="1" dirty="0">
                <a:solidFill>
                  <a:schemeClr val="bg1"/>
                </a:solidFill>
              </a:rPr>
              <a:t> </a:t>
            </a:r>
            <a:r>
              <a:rPr lang="ru-RU" sz="4000" b="1" dirty="0" err="1">
                <a:solidFill>
                  <a:schemeClr val="bg1"/>
                </a:solidFill>
              </a:rPr>
              <a:t>неінформативних</a:t>
            </a:r>
            <a:r>
              <a:rPr lang="ru-RU" sz="4000" b="1" dirty="0">
                <a:solidFill>
                  <a:schemeClr val="bg1"/>
                </a:solidFill>
              </a:rPr>
              <a:t> </a:t>
            </a:r>
            <a:r>
              <a:rPr lang="ru-RU" sz="4000" b="1" dirty="0" err="1">
                <a:solidFill>
                  <a:schemeClr val="bg1"/>
                </a:solidFill>
              </a:rPr>
              <a:t>факторів</a:t>
            </a:r>
            <a:endParaRPr lang="ru-RU" sz="4000" b="1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3030"/>
            <a:ext cx="11378738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83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14</a:t>
            </a:fld>
            <a:r>
              <a:rPr lang="en-US" smtClean="0"/>
              <a:t>/59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219200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3600" b="1" dirty="0" err="1">
                <a:solidFill>
                  <a:schemeClr val="bg1"/>
                </a:solidFill>
              </a:rPr>
              <a:t>Аналітико-евристичні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алгоритми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визначення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вагомих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</a:rPr>
              <a:t>інформативних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ознак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1089529"/>
            <a:ext cx="11258550" cy="562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585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15</a:t>
            </a:fld>
            <a:r>
              <a:rPr lang="en-US" smtClean="0"/>
              <a:t>/59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3600" b="1" dirty="0" err="1">
                <a:solidFill>
                  <a:schemeClr val="bg1"/>
                </a:solidFill>
              </a:rPr>
              <a:t>Аналітико-евристичні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алгоритми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визначення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вагомих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</a:rPr>
              <a:t>інформативних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ознак</a:t>
            </a:r>
            <a:endParaRPr lang="ru-RU" sz="3600" b="1" dirty="0">
              <a:solidFill>
                <a:schemeClr val="bg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04" y="1089529"/>
            <a:ext cx="11019991" cy="566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056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16</a:t>
            </a:fld>
            <a:r>
              <a:rPr lang="en-US" smtClean="0"/>
              <a:t>/59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-101600"/>
            <a:ext cx="12192000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uk-UA" sz="3200" b="1" dirty="0" smtClean="0">
                <a:solidFill>
                  <a:schemeClr val="bg1"/>
                </a:solidFill>
              </a:rPr>
              <a:t>Приклад практичного </a:t>
            </a:r>
            <a:r>
              <a:rPr lang="uk-UA" sz="3200" b="1" dirty="0" err="1" smtClean="0">
                <a:solidFill>
                  <a:schemeClr val="bg1"/>
                </a:solidFill>
              </a:rPr>
              <a:t>застоування</a:t>
            </a:r>
            <a:r>
              <a:rPr lang="uk-UA" sz="3200" b="1" dirty="0" smtClean="0">
                <a:solidFill>
                  <a:schemeClr val="bg1"/>
                </a:solidFill>
              </a:rPr>
              <a:t> </a:t>
            </a:r>
            <a:r>
              <a:rPr lang="uk-UA" sz="3200" b="1" dirty="0" err="1" smtClean="0">
                <a:solidFill>
                  <a:schemeClr val="bg1"/>
                </a:solidFill>
              </a:rPr>
              <a:t>препроцесінгу</a:t>
            </a:r>
            <a:r>
              <a:rPr lang="uk-UA" sz="3200" b="1" dirty="0" smtClean="0">
                <a:solidFill>
                  <a:schemeClr val="bg1"/>
                </a:solidFill>
              </a:rPr>
              <a:t> ІАД: </a:t>
            </a:r>
            <a:r>
              <a:rPr lang="ru-RU" sz="3200" b="1" dirty="0" err="1" smtClean="0">
                <a:solidFill>
                  <a:schemeClr val="bg1"/>
                </a:solidFill>
              </a:rPr>
              <a:t>Перцептивний</a:t>
            </a:r>
            <a:r>
              <a:rPr lang="ru-RU" sz="3200" b="1" dirty="0" smtClean="0">
                <a:solidFill>
                  <a:schemeClr val="bg1"/>
                </a:solidFill>
              </a:rPr>
              <a:t>  </a:t>
            </a:r>
            <a:r>
              <a:rPr lang="ru-RU" sz="3200" b="1" dirty="0" err="1" smtClean="0">
                <a:solidFill>
                  <a:schemeClr val="bg1"/>
                </a:solidFill>
              </a:rPr>
              <a:t>хеш</a:t>
            </a:r>
            <a:r>
              <a:rPr lang="ru-RU" sz="3200" b="1" dirty="0" smtClean="0">
                <a:solidFill>
                  <a:schemeClr val="bg1"/>
                </a:solidFill>
              </a:rPr>
              <a:t>-алгоритм для </a:t>
            </a:r>
            <a:r>
              <a:rPr lang="ru-RU" sz="3200" b="1" dirty="0" err="1" smtClean="0">
                <a:solidFill>
                  <a:schemeClr val="bg1"/>
                </a:solidFill>
              </a:rPr>
              <a:t>пошуку</a:t>
            </a:r>
            <a:r>
              <a:rPr lang="ru-RU" sz="3200" b="1" dirty="0" smtClean="0">
                <a:solidFill>
                  <a:schemeClr val="bg1"/>
                </a:solidFill>
              </a:rPr>
              <a:t> та </a:t>
            </a:r>
            <a:r>
              <a:rPr lang="ru-RU" sz="3200" b="1" dirty="0" err="1" smtClean="0">
                <a:solidFill>
                  <a:schemeClr val="bg1"/>
                </a:solidFill>
              </a:rPr>
              <a:t>порівнянні</a:t>
            </a:r>
            <a:r>
              <a:rPr lang="ru-RU" sz="3200" b="1" dirty="0" smtClean="0">
                <a:solidFill>
                  <a:schemeClr val="bg1"/>
                </a:solidFill>
              </a:rPr>
              <a:t> </a:t>
            </a:r>
            <a:r>
              <a:rPr lang="ru-RU" sz="3200" b="1" dirty="0" err="1" smtClean="0">
                <a:solidFill>
                  <a:schemeClr val="bg1"/>
                </a:solidFill>
              </a:rPr>
              <a:t>зображень</a:t>
            </a:r>
            <a:endParaRPr lang="ru-RU" sz="3200" b="1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62" y="1062230"/>
            <a:ext cx="3876675" cy="532447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480718" y="1089529"/>
            <a:ext cx="771128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У </a:t>
            </a:r>
            <a:r>
              <a:rPr lang="ru-RU" sz="2400" dirty="0" err="1"/>
              <a:t>зображеннях</a:t>
            </a:r>
            <a:r>
              <a:rPr lang="ru-RU" sz="2400" dirty="0"/>
              <a:t> </a:t>
            </a:r>
            <a:r>
              <a:rPr lang="ru-RU" sz="2400" dirty="0" err="1"/>
              <a:t>високі</a:t>
            </a:r>
            <a:r>
              <a:rPr lang="ru-RU" sz="2400" dirty="0"/>
              <a:t> </a:t>
            </a:r>
            <a:r>
              <a:rPr lang="ru-RU" sz="2400" dirty="0" err="1"/>
              <a:t>частоти</a:t>
            </a:r>
            <a:r>
              <a:rPr lang="ru-RU" sz="2400" dirty="0"/>
              <a:t> </a:t>
            </a:r>
            <a:r>
              <a:rPr lang="ru-RU" sz="2400" dirty="0" err="1" smtClean="0"/>
              <a:t>забезпечують</a:t>
            </a:r>
            <a:r>
              <a:rPr lang="ru-RU" sz="2400" dirty="0" smtClean="0"/>
              <a:t> </a:t>
            </a:r>
            <a:r>
              <a:rPr lang="ru-RU" sz="2400" dirty="0" err="1" smtClean="0"/>
              <a:t>деталізацію</a:t>
            </a:r>
            <a:r>
              <a:rPr lang="ru-RU" sz="2400" dirty="0"/>
              <a:t>, а </a:t>
            </a:r>
            <a:r>
              <a:rPr lang="ru-RU" sz="2400" dirty="0" err="1"/>
              <a:t>низькі</a:t>
            </a:r>
            <a:r>
              <a:rPr lang="ru-RU" sz="2400" dirty="0"/>
              <a:t> – </a:t>
            </a:r>
            <a:r>
              <a:rPr lang="ru-RU" sz="2400" dirty="0" err="1"/>
              <a:t>показують</a:t>
            </a:r>
            <a:r>
              <a:rPr lang="ru-RU" sz="2400" dirty="0"/>
              <a:t> структуру. </a:t>
            </a:r>
            <a:r>
              <a:rPr lang="ru-RU" sz="2400" dirty="0" smtClean="0"/>
              <a:t>Тому </a:t>
            </a:r>
            <a:r>
              <a:rPr lang="ru-RU" sz="2400" dirty="0"/>
              <a:t>для </a:t>
            </a:r>
            <a:r>
              <a:rPr lang="ru-RU" sz="2400" dirty="0" err="1"/>
              <a:t>побудови</a:t>
            </a:r>
            <a:r>
              <a:rPr lang="ru-RU" sz="2400" dirty="0"/>
              <a:t> </a:t>
            </a:r>
            <a:r>
              <a:rPr lang="ru-RU" sz="2400" dirty="0" err="1"/>
              <a:t>такої</a:t>
            </a:r>
            <a:r>
              <a:rPr lang="ru-RU" sz="2400" dirty="0"/>
              <a:t> </a:t>
            </a:r>
            <a:r>
              <a:rPr lang="ru-RU" sz="2400" dirty="0" err="1"/>
              <a:t>хеш-функції</a:t>
            </a:r>
            <a:r>
              <a:rPr lang="ru-RU" sz="2400" dirty="0"/>
              <a:t>, </a:t>
            </a:r>
            <a:r>
              <a:rPr lang="ru-RU" sz="2400" dirty="0" smtClean="0"/>
              <a:t>яка для </a:t>
            </a:r>
            <a:r>
              <a:rPr lang="ru-RU" sz="2400" dirty="0"/>
              <a:t>схожих </a:t>
            </a:r>
            <a:r>
              <a:rPr lang="ru-RU" sz="2400" dirty="0" err="1" smtClean="0"/>
              <a:t>зображень</a:t>
            </a:r>
            <a:r>
              <a:rPr lang="ru-RU" sz="2400" dirty="0" smtClean="0"/>
              <a:t> </a:t>
            </a:r>
            <a:r>
              <a:rPr lang="ru-RU" sz="2400" dirty="0" err="1"/>
              <a:t>видаватиме</a:t>
            </a:r>
            <a:r>
              <a:rPr lang="ru-RU" sz="2400" dirty="0"/>
              <a:t> </a:t>
            </a:r>
            <a:r>
              <a:rPr lang="ru-RU" sz="2400" dirty="0" err="1"/>
              <a:t>близький</a:t>
            </a:r>
            <a:r>
              <a:rPr lang="ru-RU" sz="2400" dirty="0"/>
              <a:t> </a:t>
            </a:r>
            <a:r>
              <a:rPr lang="ru-RU" sz="2400" dirty="0" err="1"/>
              <a:t>хеш</a:t>
            </a:r>
            <a:r>
              <a:rPr lang="ru-RU" sz="2400" dirty="0"/>
              <a:t>-код, </a:t>
            </a:r>
            <a:r>
              <a:rPr lang="ru-RU" sz="2400" dirty="0" err="1"/>
              <a:t>доцільно</a:t>
            </a:r>
            <a:r>
              <a:rPr lang="ru-RU" sz="2400" dirty="0"/>
              <a:t> «</a:t>
            </a:r>
            <a:r>
              <a:rPr lang="ru-RU" sz="2400" dirty="0" err="1"/>
              <a:t>позбутися</a:t>
            </a:r>
            <a:r>
              <a:rPr lang="ru-RU" sz="2400" dirty="0"/>
              <a:t>» </a:t>
            </a:r>
            <a:r>
              <a:rPr lang="ru-RU" sz="2400" dirty="0" err="1"/>
              <a:t>високих</a:t>
            </a:r>
            <a:r>
              <a:rPr lang="ru-RU" sz="2400" dirty="0"/>
              <a:t> </a:t>
            </a:r>
            <a:r>
              <a:rPr lang="ru-RU" sz="2400" dirty="0" smtClean="0"/>
              <a:t>частот.</a:t>
            </a:r>
          </a:p>
          <a:p>
            <a:r>
              <a:rPr lang="ru-RU" sz="2400" b="1" dirty="0" err="1" smtClean="0"/>
              <a:t>Крок</a:t>
            </a:r>
            <a:r>
              <a:rPr lang="ru-RU" sz="2400" b="1" dirty="0" smtClean="0"/>
              <a:t> 1. </a:t>
            </a:r>
            <a:r>
              <a:rPr lang="ru-RU" sz="2400" dirty="0" err="1" smtClean="0"/>
              <a:t>Найшвидший</a:t>
            </a:r>
            <a:r>
              <a:rPr lang="ru-RU" sz="2400" dirty="0" smtClean="0"/>
              <a:t> </a:t>
            </a:r>
            <a:r>
              <a:rPr lang="ru-RU" sz="2400" dirty="0" err="1"/>
              <a:t>спосіб</a:t>
            </a:r>
            <a:r>
              <a:rPr lang="ru-RU" sz="2400" dirty="0"/>
              <a:t> </a:t>
            </a:r>
            <a:r>
              <a:rPr lang="ru-RU" sz="2400" dirty="0" err="1"/>
              <a:t>позбутися</a:t>
            </a:r>
            <a:r>
              <a:rPr lang="ru-RU" sz="2400" dirty="0"/>
              <a:t> </a:t>
            </a:r>
            <a:r>
              <a:rPr lang="ru-RU" sz="2400" dirty="0" err="1"/>
              <a:t>від</a:t>
            </a:r>
            <a:r>
              <a:rPr lang="ru-RU" sz="2400" dirty="0"/>
              <a:t> </a:t>
            </a:r>
            <a:r>
              <a:rPr lang="ru-RU" sz="2400" dirty="0" err="1"/>
              <a:t>високих</a:t>
            </a:r>
            <a:r>
              <a:rPr lang="ru-RU" sz="2400" dirty="0"/>
              <a:t> частот – </a:t>
            </a:r>
            <a:r>
              <a:rPr lang="ru-RU" sz="2400" dirty="0" err="1"/>
              <a:t>зменшити</a:t>
            </a:r>
            <a:r>
              <a:rPr lang="ru-RU" sz="2400" dirty="0"/>
              <a:t> </a:t>
            </a:r>
            <a:r>
              <a:rPr lang="ru-RU" sz="2400" dirty="0" err="1"/>
              <a:t>зображення</a:t>
            </a:r>
            <a:r>
              <a:rPr lang="ru-RU" sz="2400" dirty="0"/>
              <a:t> шляхом </a:t>
            </a:r>
            <a:r>
              <a:rPr lang="ru-RU" sz="2400" dirty="0" err="1" smtClean="0"/>
              <a:t>масштабування</a:t>
            </a:r>
            <a:r>
              <a:rPr lang="ru-RU" sz="2400" dirty="0" smtClean="0"/>
              <a:t> </a:t>
            </a:r>
            <a:r>
              <a:rPr lang="ru-RU" sz="2400" dirty="0" err="1" smtClean="0"/>
              <a:t>його</a:t>
            </a:r>
            <a:r>
              <a:rPr lang="ru-RU" sz="2400" dirty="0" smtClean="0"/>
              <a:t> </a:t>
            </a:r>
            <a:r>
              <a:rPr lang="ru-RU" sz="2400" dirty="0"/>
              <a:t>до </a:t>
            </a:r>
            <a:r>
              <a:rPr lang="ru-RU" sz="2400" dirty="0" err="1"/>
              <a:t>розміру</a:t>
            </a:r>
            <a:r>
              <a:rPr lang="ru-RU" sz="2400" dirty="0"/>
              <a:t> 8×8 </a:t>
            </a:r>
            <a:r>
              <a:rPr lang="ru-RU" sz="2400" dirty="0" err="1" smtClean="0"/>
              <a:t>пікселів</a:t>
            </a:r>
            <a:r>
              <a:rPr lang="ru-RU" sz="2400" dirty="0" smtClean="0"/>
              <a:t>. 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 smtClean="0"/>
          </a:p>
          <a:p>
            <a:endParaRPr lang="ru-RU" sz="24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900" y="3810716"/>
            <a:ext cx="4865716" cy="2322705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5216151" y="6017373"/>
            <a:ext cx="59575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err="1" smtClean="0"/>
              <a:t>Оригінальне</a:t>
            </a:r>
            <a:r>
              <a:rPr lang="ru-RU" sz="2000" dirty="0" smtClean="0"/>
              <a:t> </a:t>
            </a:r>
            <a:r>
              <a:rPr lang="ru-RU" sz="2000" dirty="0" err="1"/>
              <a:t>зображення</a:t>
            </a:r>
            <a:r>
              <a:rPr lang="ru-RU" sz="2000" dirty="0"/>
              <a:t>; </a:t>
            </a:r>
            <a:r>
              <a:rPr lang="ru-RU" sz="2000" dirty="0" smtClean="0"/>
              <a:t>      </a:t>
            </a:r>
            <a:r>
              <a:rPr lang="ru-RU" sz="2000" dirty="0" err="1" smtClean="0"/>
              <a:t>Зменшене</a:t>
            </a:r>
            <a:r>
              <a:rPr lang="ru-RU" sz="2000" dirty="0" smtClean="0"/>
              <a:t> </a:t>
            </a:r>
            <a:r>
              <a:rPr lang="ru-RU" sz="2000" dirty="0" err="1"/>
              <a:t>зображення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258875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17</a:t>
            </a:fld>
            <a:r>
              <a:rPr lang="en-US" smtClean="0"/>
              <a:t>/59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9073" y="2158054"/>
            <a:ext cx="9718027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2400" b="1" dirty="0" err="1" smtClean="0"/>
              <a:t>Крок</a:t>
            </a:r>
            <a:r>
              <a:rPr lang="ru-RU" sz="2400" b="1" dirty="0" smtClean="0"/>
              <a:t> </a:t>
            </a:r>
            <a:r>
              <a:rPr lang="ru-RU" sz="2400" b="1" dirty="0"/>
              <a:t>3. </a:t>
            </a:r>
            <a:r>
              <a:rPr lang="ru-RU" sz="2400" dirty="0" err="1"/>
              <a:t>Необхідно</a:t>
            </a:r>
            <a:r>
              <a:rPr lang="ru-RU" sz="2400" dirty="0"/>
              <a:t> </a:t>
            </a:r>
            <a:r>
              <a:rPr lang="ru-RU" sz="2400" dirty="0" err="1"/>
              <a:t>знайти</a:t>
            </a:r>
            <a:r>
              <a:rPr lang="ru-RU" sz="2400" dirty="0"/>
              <a:t> </a:t>
            </a:r>
            <a:r>
              <a:rPr lang="ru-RU" sz="2400" dirty="0" err="1"/>
              <a:t>середнє</a:t>
            </a:r>
            <a:r>
              <a:rPr lang="ru-RU" sz="2400" dirty="0"/>
              <a:t> </a:t>
            </a:r>
            <a:r>
              <a:rPr lang="ru-RU" sz="2400" dirty="0" err="1"/>
              <a:t>значення</a:t>
            </a:r>
            <a:r>
              <a:rPr lang="ru-RU" sz="2400" dirty="0"/>
              <a:t> </a:t>
            </a:r>
            <a:r>
              <a:rPr lang="ru-RU" sz="2400" dirty="0" err="1"/>
              <a:t>пікселів</a:t>
            </a:r>
            <a:r>
              <a:rPr lang="ru-RU" sz="2400" dirty="0"/>
              <a:t>. </a:t>
            </a:r>
            <a:r>
              <a:rPr lang="ru-RU" sz="2400" dirty="0" err="1"/>
              <a:t>Робимо</a:t>
            </a:r>
            <a:r>
              <a:rPr lang="ru-RU" sz="2400" dirty="0"/>
              <a:t> </a:t>
            </a:r>
            <a:r>
              <a:rPr lang="ru-RU" sz="2400" dirty="0" err="1"/>
              <a:t>це</a:t>
            </a:r>
            <a:r>
              <a:rPr lang="ru-RU" sz="2400" dirty="0"/>
              <a:t> </a:t>
            </a:r>
            <a:r>
              <a:rPr lang="ru-RU" sz="2400" dirty="0" smtClean="0"/>
              <a:t>шляхом </a:t>
            </a:r>
            <a:r>
              <a:rPr lang="ru-RU" sz="2400" dirty="0" err="1"/>
              <a:t>підсумовування</a:t>
            </a:r>
            <a:r>
              <a:rPr lang="ru-RU" sz="2400" dirty="0"/>
              <a:t> </a:t>
            </a:r>
            <a:r>
              <a:rPr lang="ru-RU" sz="2400" dirty="0" err="1"/>
              <a:t>всіх</a:t>
            </a:r>
            <a:r>
              <a:rPr lang="ru-RU" sz="2400" dirty="0"/>
              <a:t> </a:t>
            </a:r>
            <a:r>
              <a:rPr lang="ru-RU" sz="2400" dirty="0" err="1"/>
              <a:t>значень</a:t>
            </a:r>
            <a:r>
              <a:rPr lang="ru-RU" sz="2400" dirty="0"/>
              <a:t> </a:t>
            </a:r>
            <a:r>
              <a:rPr lang="ru-RU" sz="2400" dirty="0" err="1"/>
              <a:t>нашого</a:t>
            </a:r>
            <a:r>
              <a:rPr lang="ru-RU" sz="2400" dirty="0"/>
              <a:t> </a:t>
            </a:r>
            <a:r>
              <a:rPr lang="ru-RU" sz="2400" dirty="0" err="1"/>
              <a:t>зображення</a:t>
            </a:r>
            <a:r>
              <a:rPr lang="ru-RU" sz="2400" dirty="0"/>
              <a:t> і </a:t>
            </a:r>
            <a:r>
              <a:rPr lang="ru-RU" sz="2400" dirty="0" err="1"/>
              <a:t>ділення</a:t>
            </a:r>
            <a:r>
              <a:rPr lang="ru-RU" sz="2400" dirty="0"/>
              <a:t> результату на 64. </a:t>
            </a:r>
          </a:p>
          <a:p>
            <a:r>
              <a:rPr lang="ru-RU" sz="2400" b="1" dirty="0" err="1" smtClean="0"/>
              <a:t>Крок</a:t>
            </a:r>
            <a:r>
              <a:rPr lang="ru-RU" sz="2400" b="1" dirty="0" smtClean="0"/>
              <a:t> 4. </a:t>
            </a:r>
            <a:r>
              <a:rPr lang="ru-RU" sz="2400" dirty="0" smtClean="0"/>
              <a:t>На </a:t>
            </a:r>
            <a:r>
              <a:rPr lang="ru-RU" sz="2400" dirty="0" err="1"/>
              <a:t>наступному</a:t>
            </a:r>
            <a:r>
              <a:rPr lang="ru-RU" sz="2400" dirty="0"/>
              <a:t> </a:t>
            </a:r>
            <a:r>
              <a:rPr lang="ru-RU" sz="2400" dirty="0" err="1"/>
              <a:t>етапі</a:t>
            </a:r>
            <a:r>
              <a:rPr lang="ru-RU" sz="2400" dirty="0"/>
              <a:t> </a:t>
            </a:r>
            <a:r>
              <a:rPr lang="ru-RU" sz="2400" dirty="0" err="1"/>
              <a:t>необхідно</a:t>
            </a:r>
            <a:r>
              <a:rPr lang="ru-RU" sz="2400" dirty="0"/>
              <a:t> </a:t>
            </a:r>
            <a:r>
              <a:rPr lang="ru-RU" sz="2400" dirty="0" err="1"/>
              <a:t>побудувати</a:t>
            </a:r>
            <a:r>
              <a:rPr lang="ru-RU" sz="2400" dirty="0"/>
              <a:t> </a:t>
            </a:r>
            <a:r>
              <a:rPr lang="ru-RU" sz="2400" dirty="0" err="1"/>
              <a:t>ланцюжок</a:t>
            </a:r>
            <a:r>
              <a:rPr lang="ru-RU" sz="2400" dirty="0"/>
              <a:t> </a:t>
            </a:r>
            <a:r>
              <a:rPr lang="ru-RU" sz="2400" dirty="0" err="1"/>
              <a:t>бітів</a:t>
            </a:r>
            <a:r>
              <a:rPr lang="ru-RU" sz="2400" dirty="0"/>
              <a:t>. Для кожного </a:t>
            </a:r>
            <a:r>
              <a:rPr lang="ru-RU" sz="2400" dirty="0" err="1"/>
              <a:t>пікселя</a:t>
            </a:r>
            <a:r>
              <a:rPr lang="ru-RU" sz="2400" dirty="0"/>
              <a:t> </a:t>
            </a:r>
            <a:r>
              <a:rPr lang="ru-RU" sz="2400" dirty="0" err="1"/>
              <a:t>зображення</a:t>
            </a:r>
            <a:r>
              <a:rPr lang="ru-RU" sz="2400" dirty="0"/>
              <a:t> </a:t>
            </a:r>
            <a:r>
              <a:rPr lang="ru-RU" sz="2400" dirty="0" err="1"/>
              <a:t>робиться</a:t>
            </a:r>
            <a:r>
              <a:rPr lang="ru-RU" sz="2400" dirty="0"/>
              <a:t> </a:t>
            </a:r>
            <a:r>
              <a:rPr lang="ru-RU" sz="2400" dirty="0" err="1"/>
              <a:t>наступна</a:t>
            </a:r>
            <a:r>
              <a:rPr lang="ru-RU" sz="2400" dirty="0"/>
              <a:t> </a:t>
            </a:r>
            <a:r>
              <a:rPr lang="ru-RU" sz="2400" dirty="0" err="1"/>
              <a:t>заміна</a:t>
            </a:r>
            <a:r>
              <a:rPr lang="ru-RU" sz="2400" dirty="0"/>
              <a:t>. </a:t>
            </a:r>
            <a:r>
              <a:rPr lang="ru-RU" sz="2400" dirty="0" err="1"/>
              <a:t>Якщо</a:t>
            </a:r>
            <a:r>
              <a:rPr lang="ru-RU" sz="2400" dirty="0"/>
              <a:t> </a:t>
            </a:r>
            <a:r>
              <a:rPr lang="ru-RU" sz="2400" dirty="0" err="1"/>
              <a:t>значення</a:t>
            </a:r>
            <a:r>
              <a:rPr lang="ru-RU" sz="2400" dirty="0"/>
              <a:t> </a:t>
            </a:r>
            <a:r>
              <a:rPr lang="ru-RU" sz="2400" dirty="0" err="1"/>
              <a:t>пікселю</a:t>
            </a:r>
            <a:r>
              <a:rPr lang="ru-RU" sz="2400" dirty="0"/>
              <a:t> </a:t>
            </a:r>
            <a:r>
              <a:rPr lang="ru-RU" sz="2400" dirty="0" err="1"/>
              <a:t>більше</a:t>
            </a:r>
            <a:r>
              <a:rPr lang="ru-RU" sz="2400" dirty="0"/>
              <a:t> </a:t>
            </a:r>
            <a:r>
              <a:rPr lang="ru-RU" sz="2400" dirty="0" err="1"/>
              <a:t>середнього</a:t>
            </a:r>
            <a:r>
              <a:rPr lang="ru-RU" sz="2400" dirty="0"/>
              <a:t>, то </a:t>
            </a:r>
            <a:r>
              <a:rPr lang="ru-RU" sz="2400" dirty="0" err="1"/>
              <a:t>замість</a:t>
            </a:r>
            <a:r>
              <a:rPr lang="ru-RU" sz="2400" dirty="0"/>
              <a:t> </a:t>
            </a:r>
            <a:r>
              <a:rPr lang="ru-RU" sz="2400" dirty="0" err="1"/>
              <a:t>значення</a:t>
            </a:r>
            <a:r>
              <a:rPr lang="ru-RU" sz="2400" dirty="0"/>
              <a:t> </a:t>
            </a:r>
            <a:r>
              <a:rPr lang="ru-RU" sz="2400" dirty="0" err="1"/>
              <a:t>кольору</a:t>
            </a:r>
            <a:r>
              <a:rPr lang="ru-RU" sz="2400" dirty="0"/>
              <a:t> </a:t>
            </a:r>
            <a:r>
              <a:rPr lang="ru-RU" sz="2400" dirty="0" err="1"/>
              <a:t>ставимо</a:t>
            </a:r>
            <a:r>
              <a:rPr lang="ru-RU" sz="2400" dirty="0"/>
              <a:t> 1. </a:t>
            </a:r>
            <a:r>
              <a:rPr lang="ru-RU" sz="2400" dirty="0" err="1"/>
              <a:t>Аналогічно</a:t>
            </a:r>
            <a:r>
              <a:rPr lang="ru-RU" sz="2400" dirty="0"/>
              <a:t>, </a:t>
            </a:r>
            <a:r>
              <a:rPr lang="ru-RU" sz="2400" dirty="0" err="1"/>
              <a:t>якщо</a:t>
            </a:r>
            <a:r>
              <a:rPr lang="ru-RU" sz="2400" dirty="0"/>
              <a:t> </a:t>
            </a:r>
            <a:r>
              <a:rPr lang="ru-RU" sz="2400" dirty="0" err="1"/>
              <a:t>значення</a:t>
            </a:r>
            <a:r>
              <a:rPr lang="ru-RU" sz="2400" dirty="0"/>
              <a:t> </a:t>
            </a:r>
            <a:r>
              <a:rPr lang="ru-RU" sz="2400" dirty="0" err="1"/>
              <a:t>пікселю</a:t>
            </a:r>
            <a:r>
              <a:rPr lang="ru-RU" sz="2400" dirty="0"/>
              <a:t> </a:t>
            </a:r>
            <a:r>
              <a:rPr lang="ru-RU" sz="2400" dirty="0" err="1"/>
              <a:t>менше</a:t>
            </a:r>
            <a:r>
              <a:rPr lang="ru-RU" sz="2400" dirty="0"/>
              <a:t> </a:t>
            </a:r>
            <a:r>
              <a:rPr lang="ru-RU" sz="2400" dirty="0" err="1"/>
              <a:t>середнього</a:t>
            </a:r>
            <a:r>
              <a:rPr lang="ru-RU" sz="2400" dirty="0"/>
              <a:t> – </a:t>
            </a:r>
            <a:r>
              <a:rPr lang="ru-RU" sz="2400" dirty="0" err="1"/>
              <a:t>ставимо</a:t>
            </a:r>
            <a:r>
              <a:rPr lang="ru-RU" sz="2400" dirty="0"/>
              <a:t> 0 </a:t>
            </a:r>
            <a:r>
              <a:rPr lang="ru-RU" sz="2400" dirty="0" smtClean="0"/>
              <a:t>. </a:t>
            </a:r>
            <a:r>
              <a:rPr lang="ru-RU" sz="2400" dirty="0" err="1"/>
              <a:t>Записуємо</a:t>
            </a:r>
            <a:r>
              <a:rPr lang="ru-RU" sz="2400" dirty="0"/>
              <a:t> </a:t>
            </a:r>
            <a:r>
              <a:rPr lang="ru-RU" sz="2400" dirty="0" err="1"/>
              <a:t>значення</a:t>
            </a:r>
            <a:r>
              <a:rPr lang="ru-RU" sz="2400" dirty="0"/>
              <a:t> </a:t>
            </a:r>
            <a:r>
              <a:rPr lang="ru-RU" sz="2400" dirty="0" err="1"/>
              <a:t>отриманого</a:t>
            </a:r>
            <a:r>
              <a:rPr lang="ru-RU" sz="2400" dirty="0"/>
              <a:t> </a:t>
            </a:r>
            <a:r>
              <a:rPr lang="ru-RU" sz="2400" dirty="0" err="1"/>
              <a:t>бітового</a:t>
            </a:r>
            <a:r>
              <a:rPr lang="ru-RU" sz="2400" dirty="0"/>
              <a:t> </a:t>
            </a:r>
            <a:r>
              <a:rPr lang="ru-RU" sz="2400" dirty="0" err="1"/>
              <a:t>зображення</a:t>
            </a:r>
            <a:r>
              <a:rPr lang="ru-RU" sz="2400" dirty="0"/>
              <a:t> у </a:t>
            </a:r>
            <a:r>
              <a:rPr lang="ru-RU" sz="2400" dirty="0" err="1"/>
              <a:t>певній</a:t>
            </a:r>
            <a:r>
              <a:rPr lang="ru-RU" sz="2400" dirty="0"/>
              <a:t> </a:t>
            </a:r>
            <a:r>
              <a:rPr lang="ru-RU" sz="2400" dirty="0" err="1"/>
              <a:t>послідовності</a:t>
            </a:r>
            <a:r>
              <a:rPr lang="ru-RU" sz="2400" dirty="0"/>
              <a:t>, в </a:t>
            </a:r>
            <a:r>
              <a:rPr lang="ru-RU" sz="2400" dirty="0" err="1"/>
              <a:t>результаті</a:t>
            </a:r>
            <a:r>
              <a:rPr lang="ru-RU" sz="2400" dirty="0"/>
              <a:t> </a:t>
            </a:r>
            <a:r>
              <a:rPr lang="ru-RU" sz="2400" dirty="0" err="1"/>
              <a:t>чого</a:t>
            </a:r>
            <a:r>
              <a:rPr lang="ru-RU" sz="2400" dirty="0"/>
              <a:t> </a:t>
            </a:r>
            <a:r>
              <a:rPr lang="ru-RU" sz="2400" dirty="0" err="1"/>
              <a:t>отримаємо</a:t>
            </a:r>
            <a:r>
              <a:rPr lang="ru-RU" sz="2400" dirty="0"/>
              <a:t> </a:t>
            </a:r>
            <a:r>
              <a:rPr lang="ru-RU" sz="2400" dirty="0" err="1"/>
              <a:t>значення</a:t>
            </a:r>
            <a:r>
              <a:rPr lang="ru-RU" sz="2400" dirty="0"/>
              <a:t> </a:t>
            </a:r>
            <a:r>
              <a:rPr lang="ru-RU" sz="2400" dirty="0" err="1"/>
              <a:t>довжиною</a:t>
            </a:r>
            <a:r>
              <a:rPr lang="ru-RU" sz="2400" dirty="0"/>
              <a:t> 64 </a:t>
            </a:r>
            <a:r>
              <a:rPr lang="ru-RU" sz="2400" dirty="0" err="1"/>
              <a:t>біт</a:t>
            </a:r>
            <a:r>
              <a:rPr lang="ru-RU" sz="2400" dirty="0"/>
              <a:t>. </a:t>
            </a:r>
            <a:endParaRPr lang="ru-RU" sz="2400" dirty="0" smtClean="0"/>
          </a:p>
          <a:p>
            <a:r>
              <a:rPr lang="ru-RU" sz="2400" b="1" dirty="0" err="1" smtClean="0"/>
              <a:t>Крок</a:t>
            </a:r>
            <a:r>
              <a:rPr lang="ru-RU" sz="2400" b="1" dirty="0" smtClean="0"/>
              <a:t> 5</a:t>
            </a:r>
            <a:r>
              <a:rPr lang="ru-RU" sz="2400" dirty="0" smtClean="0"/>
              <a:t>. </a:t>
            </a:r>
            <a:r>
              <a:rPr lang="ru-RU" sz="2400" dirty="0" err="1" smtClean="0"/>
              <a:t>Побудова</a:t>
            </a:r>
            <a:r>
              <a:rPr lang="ru-RU" sz="2400" dirty="0" smtClean="0"/>
              <a:t> </a:t>
            </a:r>
            <a:r>
              <a:rPr lang="ru-RU" sz="2400" dirty="0" err="1"/>
              <a:t>хеш</a:t>
            </a:r>
            <a:r>
              <a:rPr lang="ru-RU" sz="2400" dirty="0"/>
              <a:t>-коду. За </a:t>
            </a:r>
            <a:r>
              <a:rPr lang="ru-RU" sz="2400" dirty="0" err="1"/>
              <a:t>допомогою</a:t>
            </a:r>
            <a:r>
              <a:rPr lang="ru-RU" sz="2400" dirty="0"/>
              <a:t> </a:t>
            </a:r>
            <a:r>
              <a:rPr lang="ru-RU" sz="2400" dirty="0" err="1"/>
              <a:t>хеш-функції</a:t>
            </a:r>
            <a:r>
              <a:rPr lang="ru-RU" sz="2400" dirty="0"/>
              <a:t> (</a:t>
            </a:r>
            <a:r>
              <a:rPr lang="ru-RU" sz="2400" dirty="0" err="1"/>
              <a:t>наприклад</a:t>
            </a:r>
            <a:r>
              <a:rPr lang="ru-RU" sz="2400" dirty="0"/>
              <a:t>, </a:t>
            </a:r>
            <a:r>
              <a:rPr lang="en-GB" sz="2400" dirty="0" smtClean="0"/>
              <a:t>SHA-3) </a:t>
            </a:r>
            <a:r>
              <a:rPr lang="ru-RU" sz="2400" dirty="0" err="1"/>
              <a:t>розрахуємо</a:t>
            </a:r>
            <a:r>
              <a:rPr lang="ru-RU" sz="2400" dirty="0"/>
              <a:t> </a:t>
            </a:r>
            <a:r>
              <a:rPr lang="ru-RU" sz="2400" dirty="0" err="1"/>
              <a:t>хеш</a:t>
            </a:r>
            <a:r>
              <a:rPr lang="ru-RU" sz="2400" dirty="0"/>
              <a:t>-код </a:t>
            </a:r>
            <a:r>
              <a:rPr lang="ru-RU" sz="2400" dirty="0" err="1"/>
              <a:t>бітової</a:t>
            </a:r>
            <a:r>
              <a:rPr lang="ru-RU" sz="2400" dirty="0"/>
              <a:t> </a:t>
            </a:r>
            <a:r>
              <a:rPr lang="ru-RU" sz="2400" dirty="0" err="1"/>
              <a:t>послідовності</a:t>
            </a:r>
            <a:r>
              <a:rPr lang="ru-RU" sz="2400" dirty="0"/>
              <a:t>, </a:t>
            </a:r>
            <a:r>
              <a:rPr lang="ru-RU" sz="2400" dirty="0" err="1"/>
              <a:t>отриманої</a:t>
            </a:r>
            <a:r>
              <a:rPr lang="ru-RU" sz="2400" dirty="0"/>
              <a:t> на </a:t>
            </a:r>
            <a:r>
              <a:rPr lang="ru-RU" sz="2400" dirty="0" err="1"/>
              <a:t>попередньому</a:t>
            </a:r>
            <a:r>
              <a:rPr lang="ru-RU" sz="2400" dirty="0"/>
              <a:t> </a:t>
            </a:r>
            <a:r>
              <a:rPr lang="ru-RU" sz="2400" dirty="0" err="1"/>
              <a:t>кроці</a:t>
            </a:r>
            <a:r>
              <a:rPr lang="ru-RU" sz="2400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783" y="1056719"/>
            <a:ext cx="2126217" cy="185158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9074" y="1056719"/>
            <a:ext cx="89513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err="1"/>
              <a:t>Крок</a:t>
            </a:r>
            <a:r>
              <a:rPr lang="ru-RU" sz="2400" b="1" dirty="0"/>
              <a:t> 2. </a:t>
            </a:r>
            <a:r>
              <a:rPr lang="ru-RU" sz="2400" dirty="0" err="1"/>
              <a:t>Необхідно</a:t>
            </a:r>
            <a:r>
              <a:rPr lang="ru-RU" sz="2400" dirty="0"/>
              <a:t> </a:t>
            </a:r>
            <a:r>
              <a:rPr lang="ru-RU" sz="2400" dirty="0" err="1"/>
              <a:t>прибрати</a:t>
            </a:r>
            <a:r>
              <a:rPr lang="ru-RU" sz="2400" dirty="0"/>
              <a:t> </a:t>
            </a:r>
            <a:r>
              <a:rPr lang="ru-RU" sz="2400" dirty="0" err="1"/>
              <a:t>колір</a:t>
            </a:r>
            <a:r>
              <a:rPr lang="ru-RU" sz="2400" dirty="0"/>
              <a:t>, </a:t>
            </a:r>
            <a:r>
              <a:rPr lang="ru-RU" sz="2400" dirty="0" err="1"/>
              <a:t>тобто</a:t>
            </a:r>
            <a:r>
              <a:rPr lang="ru-RU" sz="2400" dirty="0"/>
              <a:t> перевести </a:t>
            </a:r>
            <a:r>
              <a:rPr lang="ru-RU" sz="2400" dirty="0" err="1"/>
              <a:t>вхідне</a:t>
            </a:r>
            <a:r>
              <a:rPr lang="ru-RU" sz="2400" dirty="0"/>
              <a:t> </a:t>
            </a:r>
            <a:r>
              <a:rPr lang="ru-RU" sz="2400" dirty="0" err="1"/>
              <a:t>зображення</a:t>
            </a:r>
            <a:r>
              <a:rPr lang="ru-RU" sz="2400" dirty="0"/>
              <a:t> у </a:t>
            </a:r>
            <a:r>
              <a:rPr lang="ru-RU" sz="2400" dirty="0" err="1"/>
              <a:t>відтінки</a:t>
            </a:r>
            <a:r>
              <a:rPr lang="ru-RU" sz="2400" dirty="0"/>
              <a:t> </a:t>
            </a:r>
            <a:r>
              <a:rPr lang="ru-RU" sz="2400" dirty="0" err="1"/>
              <a:t>сірого</a:t>
            </a:r>
            <a:r>
              <a:rPr lang="ru-RU" sz="2400" dirty="0"/>
              <a:t>. </a:t>
            </a:r>
            <a:r>
              <a:rPr lang="ru-RU" sz="2400" dirty="0" err="1"/>
              <a:t>Цей</a:t>
            </a:r>
            <a:r>
              <a:rPr lang="ru-RU" sz="2400" dirty="0"/>
              <a:t> </a:t>
            </a:r>
            <a:r>
              <a:rPr lang="ru-RU" sz="2400" dirty="0" err="1"/>
              <a:t>крок</a:t>
            </a:r>
            <a:r>
              <a:rPr lang="ru-RU" sz="2400" dirty="0"/>
              <a:t> </a:t>
            </a:r>
            <a:r>
              <a:rPr lang="ru-RU" sz="2400" dirty="0" err="1"/>
              <a:t>значно</a:t>
            </a:r>
            <a:r>
              <a:rPr lang="ru-RU" sz="2400" dirty="0"/>
              <a:t> </a:t>
            </a:r>
            <a:r>
              <a:rPr lang="ru-RU" sz="2400" dirty="0" err="1"/>
              <a:t>підвищує</a:t>
            </a:r>
            <a:r>
              <a:rPr lang="ru-RU" sz="2400" dirty="0"/>
              <a:t> </a:t>
            </a:r>
            <a:r>
              <a:rPr lang="ru-RU" sz="2400" dirty="0" err="1"/>
              <a:t>швидкість</a:t>
            </a:r>
            <a:r>
              <a:rPr lang="ru-RU" sz="2400" dirty="0"/>
              <a:t> </a:t>
            </a:r>
            <a:r>
              <a:rPr lang="ru-RU" sz="2400" dirty="0" err="1"/>
              <a:t>роботи</a:t>
            </a:r>
            <a:r>
              <a:rPr lang="ru-RU" sz="2400" dirty="0"/>
              <a:t> алгоритму за </a:t>
            </a:r>
            <a:r>
              <a:rPr lang="ru-RU" sz="2400" dirty="0" err="1"/>
              <a:t>рахунок</a:t>
            </a:r>
            <a:r>
              <a:rPr lang="ru-RU" sz="2400" dirty="0"/>
              <a:t> </a:t>
            </a:r>
            <a:r>
              <a:rPr lang="ru-RU" sz="2400" dirty="0" err="1"/>
              <a:t>скорочення</a:t>
            </a:r>
            <a:r>
              <a:rPr lang="ru-RU" sz="2400" dirty="0"/>
              <a:t> </a:t>
            </a:r>
            <a:r>
              <a:rPr lang="ru-RU" sz="2400" dirty="0" err="1"/>
              <a:t>обсягу</a:t>
            </a:r>
            <a:r>
              <a:rPr lang="ru-RU" sz="2400" dirty="0"/>
              <a:t> </a:t>
            </a:r>
            <a:r>
              <a:rPr lang="ru-RU" sz="2400" dirty="0" err="1"/>
              <a:t>інформації</a:t>
            </a:r>
            <a:r>
              <a:rPr lang="ru-RU" sz="2400" dirty="0"/>
              <a:t>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783" y="3149600"/>
            <a:ext cx="1789400" cy="187008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0" y="0"/>
            <a:ext cx="1219200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3600" b="1" dirty="0" err="1" smtClean="0">
                <a:solidFill>
                  <a:schemeClr val="bg1"/>
                </a:solidFill>
              </a:rPr>
              <a:t>Перцептивний</a:t>
            </a:r>
            <a:r>
              <a:rPr lang="ru-RU" sz="3600" b="1" dirty="0" smtClean="0">
                <a:solidFill>
                  <a:schemeClr val="bg1"/>
                </a:solidFill>
              </a:rPr>
              <a:t>  </a:t>
            </a:r>
            <a:r>
              <a:rPr lang="ru-RU" sz="3600" b="1" dirty="0" err="1" smtClean="0">
                <a:solidFill>
                  <a:schemeClr val="bg1"/>
                </a:solidFill>
              </a:rPr>
              <a:t>хеш</a:t>
            </a:r>
            <a:r>
              <a:rPr lang="ru-RU" sz="3600" b="1" dirty="0" smtClean="0">
                <a:solidFill>
                  <a:schemeClr val="bg1"/>
                </a:solidFill>
              </a:rPr>
              <a:t>-алгоритм для </a:t>
            </a:r>
            <a:r>
              <a:rPr lang="ru-RU" sz="3600" b="1" dirty="0" err="1" smtClean="0">
                <a:solidFill>
                  <a:schemeClr val="bg1"/>
                </a:solidFill>
              </a:rPr>
              <a:t>пошуку</a:t>
            </a:r>
            <a:r>
              <a:rPr lang="ru-RU" sz="3600" b="1" dirty="0" smtClean="0">
                <a:solidFill>
                  <a:schemeClr val="bg1"/>
                </a:solidFill>
              </a:rPr>
              <a:t> та </a:t>
            </a:r>
            <a:r>
              <a:rPr lang="ru-RU" sz="3600" b="1" dirty="0" err="1" smtClean="0">
                <a:solidFill>
                  <a:schemeClr val="bg1"/>
                </a:solidFill>
              </a:rPr>
              <a:t>порівнянні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ru-RU" sz="3600" b="1" dirty="0" err="1" smtClean="0">
                <a:solidFill>
                  <a:schemeClr val="bg1"/>
                </a:solidFill>
              </a:rPr>
              <a:t>зображень</a:t>
            </a:r>
            <a:r>
              <a:rPr lang="ru-RU" sz="3600" b="1" dirty="0" smtClean="0">
                <a:solidFill>
                  <a:schemeClr val="bg1"/>
                </a:solidFill>
              </a:rPr>
              <a:t> як </a:t>
            </a:r>
            <a:r>
              <a:rPr lang="ru-RU" sz="3600" b="1" dirty="0" err="1" smtClean="0">
                <a:solidFill>
                  <a:schemeClr val="bg1"/>
                </a:solidFill>
              </a:rPr>
              <a:t>препроцесінг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r>
              <a:rPr lang="en-US" sz="3600" b="1" dirty="0" smtClean="0">
                <a:solidFill>
                  <a:schemeClr val="bg1"/>
                </a:solidFill>
              </a:rPr>
              <a:t>Data Mining</a:t>
            </a:r>
            <a:r>
              <a:rPr lang="ru-RU" sz="3600" b="1" dirty="0" smtClean="0">
                <a:solidFill>
                  <a:schemeClr val="bg1"/>
                </a:solidFill>
              </a:rPr>
              <a:t> </a:t>
            </a:r>
            <a:endParaRPr lang="ru-RU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9695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18</a:t>
            </a:fld>
            <a:r>
              <a:rPr lang="en-US" smtClean="0"/>
              <a:t>/59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646331"/>
            <a:ext cx="12280900" cy="62478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ru-RU" sz="2000" dirty="0" err="1" smtClean="0"/>
              <a:t>Власник</a:t>
            </a:r>
            <a:r>
              <a:rPr lang="ru-RU" sz="2000" dirty="0" smtClean="0"/>
              <a:t> заходу </a:t>
            </a:r>
            <a:r>
              <a:rPr lang="ru-RU" sz="2000" dirty="0" err="1"/>
              <a:t>видає</a:t>
            </a:r>
            <a:r>
              <a:rPr lang="ru-RU" sz="2000" dirty="0"/>
              <a:t> </a:t>
            </a:r>
            <a:r>
              <a:rPr lang="ru-RU" sz="2000" dirty="0" err="1"/>
              <a:t>дозвіл</a:t>
            </a:r>
            <a:r>
              <a:rPr lang="ru-RU" sz="2000" dirty="0"/>
              <a:t> на доступ до </a:t>
            </a:r>
            <a:r>
              <a:rPr lang="ru-RU" sz="2000" dirty="0" err="1"/>
              <a:t>свого</a:t>
            </a:r>
            <a:r>
              <a:rPr lang="ru-RU" sz="2000" dirty="0"/>
              <a:t> </a:t>
            </a:r>
            <a:r>
              <a:rPr lang="ru-RU" sz="2000" dirty="0" err="1"/>
              <a:t>інформаційного</a:t>
            </a:r>
            <a:r>
              <a:rPr lang="ru-RU" sz="2000" dirty="0"/>
              <a:t> каналу в </a:t>
            </a:r>
            <a:r>
              <a:rPr lang="ru-RU" sz="2000" dirty="0" err="1"/>
              <a:t>системі</a:t>
            </a:r>
            <a:r>
              <a:rPr lang="ru-RU" sz="2000" dirty="0"/>
              <a:t> </a:t>
            </a:r>
            <a:r>
              <a:rPr lang="ru-RU" sz="2000" dirty="0" err="1"/>
              <a:t>іншим</a:t>
            </a:r>
            <a:r>
              <a:rPr lang="ru-RU" sz="2000" dirty="0"/>
              <a:t> </a:t>
            </a:r>
            <a:r>
              <a:rPr lang="ru-RU" sz="2000" dirty="0" err="1"/>
              <a:t>користувачам</a:t>
            </a:r>
            <a:r>
              <a:rPr lang="ru-RU" sz="2000" dirty="0"/>
              <a:t>, </a:t>
            </a:r>
            <a:r>
              <a:rPr lang="ru-RU" sz="2000" dirty="0" err="1"/>
              <a:t>які</a:t>
            </a:r>
            <a:r>
              <a:rPr lang="ru-RU" sz="2000" dirty="0"/>
              <a:t> </a:t>
            </a:r>
            <a:r>
              <a:rPr lang="ru-RU" sz="2000" dirty="0" err="1"/>
              <a:t>знаходяться</a:t>
            </a:r>
            <a:r>
              <a:rPr lang="ru-RU" sz="2000" dirty="0"/>
              <a:t> в </a:t>
            </a:r>
            <a:r>
              <a:rPr lang="ru-RU" sz="2000" dirty="0" err="1"/>
              <a:t>обмеженому</a:t>
            </a:r>
            <a:r>
              <a:rPr lang="ru-RU" sz="2000" dirty="0"/>
              <a:t> рамками </a:t>
            </a:r>
            <a:r>
              <a:rPr lang="ru-RU" sz="2000" dirty="0" err="1"/>
              <a:t>даного</a:t>
            </a:r>
            <a:r>
              <a:rPr lang="ru-RU" sz="2000" dirty="0"/>
              <a:t> заходу </a:t>
            </a:r>
            <a:r>
              <a:rPr lang="ru-RU" sz="2000" dirty="0" err="1" smtClean="0"/>
              <a:t>просторі</a:t>
            </a:r>
            <a:r>
              <a:rPr lang="ru-RU" sz="2000" dirty="0"/>
              <a:t>. </a:t>
            </a:r>
            <a:endParaRPr lang="ru-RU" sz="2000" dirty="0" smtClean="0"/>
          </a:p>
          <a:p>
            <a:pPr marL="457200" indent="-457200">
              <a:buAutoNum type="arabicPeriod"/>
            </a:pPr>
            <a:r>
              <a:rPr lang="ru-RU" sz="2000" dirty="0" err="1" smtClean="0"/>
              <a:t>Головний</a:t>
            </a:r>
            <a:r>
              <a:rPr lang="ru-RU" sz="2000" dirty="0" smtClean="0"/>
              <a:t> </a:t>
            </a:r>
            <a:r>
              <a:rPr lang="ru-RU" sz="2000" dirty="0" err="1"/>
              <a:t>користувач</a:t>
            </a:r>
            <a:r>
              <a:rPr lang="ru-RU" sz="2000" dirty="0"/>
              <a:t> </a:t>
            </a:r>
            <a:r>
              <a:rPr lang="ru-RU" sz="2000" dirty="0" err="1"/>
              <a:t>веде</a:t>
            </a:r>
            <a:r>
              <a:rPr lang="ru-RU" sz="2000" dirty="0"/>
              <a:t> </a:t>
            </a:r>
            <a:r>
              <a:rPr lang="ru-RU" sz="2000" dirty="0" err="1"/>
              <a:t>фотоогляд</a:t>
            </a:r>
            <a:r>
              <a:rPr lang="ru-RU" sz="2000" dirty="0"/>
              <a:t> з </a:t>
            </a:r>
            <a:r>
              <a:rPr lang="ru-RU" sz="2000" dirty="0" err="1"/>
              <a:t>місця</a:t>
            </a:r>
            <a:r>
              <a:rPr lang="ru-RU" sz="2000" dirty="0"/>
              <a:t> </a:t>
            </a:r>
            <a:r>
              <a:rPr lang="ru-RU" sz="2000" dirty="0" err="1"/>
              <a:t>події</a:t>
            </a:r>
            <a:r>
              <a:rPr lang="ru-RU" sz="2000" dirty="0"/>
              <a:t>, до </a:t>
            </a:r>
            <a:r>
              <a:rPr lang="ru-RU" sz="2000" dirty="0" err="1"/>
              <a:t>нього</a:t>
            </a:r>
            <a:r>
              <a:rPr lang="ru-RU" sz="2000" dirty="0"/>
              <a:t> </a:t>
            </a:r>
            <a:r>
              <a:rPr lang="ru-RU" sz="2000" dirty="0" err="1"/>
              <a:t>підключаються</a:t>
            </a:r>
            <a:r>
              <a:rPr lang="ru-RU" sz="2000" dirty="0"/>
              <a:t> </a:t>
            </a:r>
            <a:r>
              <a:rPr lang="ru-RU" sz="2000" dirty="0" err="1"/>
              <a:t>інші</a:t>
            </a:r>
            <a:r>
              <a:rPr lang="ru-RU" sz="2000" dirty="0"/>
              <a:t>, і </a:t>
            </a:r>
            <a:r>
              <a:rPr lang="ru-RU" sz="2000" dirty="0" err="1"/>
              <a:t>відправляють</a:t>
            </a:r>
            <a:r>
              <a:rPr lang="ru-RU" sz="2000" dirty="0"/>
              <a:t> </a:t>
            </a:r>
            <a:r>
              <a:rPr lang="ru-RU" sz="2000" dirty="0" err="1"/>
              <a:t>свої</a:t>
            </a:r>
            <a:r>
              <a:rPr lang="ru-RU" sz="2000" dirty="0"/>
              <a:t> </a:t>
            </a:r>
            <a:r>
              <a:rPr lang="ru-RU" sz="2000" dirty="0" err="1"/>
              <a:t>зображення</a:t>
            </a:r>
            <a:r>
              <a:rPr lang="ru-RU" sz="2000" dirty="0"/>
              <a:t> в </a:t>
            </a:r>
            <a:r>
              <a:rPr lang="ru-RU" sz="2000" dirty="0" err="1"/>
              <a:t>головний</a:t>
            </a:r>
            <a:r>
              <a:rPr lang="ru-RU" sz="2000" dirty="0"/>
              <a:t> </a:t>
            </a:r>
            <a:r>
              <a:rPr lang="ru-RU" sz="2000" dirty="0" err="1" smtClean="0"/>
              <a:t>інформационного</a:t>
            </a:r>
            <a:r>
              <a:rPr lang="ru-RU" sz="2000" dirty="0" smtClean="0"/>
              <a:t> </a:t>
            </a:r>
            <a:r>
              <a:rPr lang="ru-RU" sz="2000" dirty="0"/>
              <a:t>канал. Для </a:t>
            </a:r>
            <a:r>
              <a:rPr lang="ru-RU" sz="2000" dirty="0" err="1"/>
              <a:t>підтвердження</a:t>
            </a:r>
            <a:r>
              <a:rPr lang="ru-RU" sz="2000" dirty="0"/>
              <a:t> </a:t>
            </a:r>
            <a:r>
              <a:rPr lang="ru-RU" sz="2000" dirty="0" err="1" smtClean="0"/>
              <a:t>істинности</a:t>
            </a:r>
            <a:r>
              <a:rPr lang="ru-RU" sz="2000" dirty="0"/>
              <a:t>, </a:t>
            </a:r>
            <a:r>
              <a:rPr lang="ru-RU" sz="2000" dirty="0" err="1"/>
              <a:t>зображення</a:t>
            </a:r>
            <a:r>
              <a:rPr lang="ru-RU" sz="2000" dirty="0"/>
              <a:t> </a:t>
            </a:r>
            <a:r>
              <a:rPr lang="ru-RU" sz="2000" dirty="0" err="1"/>
              <a:t>від</a:t>
            </a:r>
            <a:r>
              <a:rPr lang="ru-RU" sz="2000" dirty="0"/>
              <a:t> </a:t>
            </a:r>
            <a:r>
              <a:rPr lang="ru-RU" sz="2000" dirty="0" err="1"/>
              <a:t>спостерігачів</a:t>
            </a:r>
            <a:r>
              <a:rPr lang="ru-RU" sz="2000" dirty="0"/>
              <a:t> </a:t>
            </a:r>
            <a:r>
              <a:rPr lang="ru-RU" sz="2000" dirty="0" err="1"/>
              <a:t>порівнюються</a:t>
            </a:r>
            <a:r>
              <a:rPr lang="ru-RU" sz="2000" dirty="0"/>
              <a:t> з </a:t>
            </a:r>
            <a:r>
              <a:rPr lang="ru-RU" sz="2000" dirty="0" err="1"/>
              <a:t>еталонним</a:t>
            </a:r>
            <a:r>
              <a:rPr lang="ru-RU" sz="2000" dirty="0"/>
              <a:t> </a:t>
            </a:r>
            <a:r>
              <a:rPr lang="ru-RU" sz="2000" dirty="0" err="1"/>
              <a:t>зображенням</a:t>
            </a:r>
            <a:r>
              <a:rPr lang="ru-RU" sz="2000" dirty="0"/>
              <a:t> </a:t>
            </a:r>
            <a:r>
              <a:rPr lang="ru-RU" sz="2000" dirty="0" err="1"/>
              <a:t>власника</a:t>
            </a:r>
            <a:r>
              <a:rPr lang="ru-RU" sz="2000" dirty="0"/>
              <a:t> каналу, </a:t>
            </a:r>
            <a:r>
              <a:rPr lang="ru-RU" sz="2000" dirty="0" err="1"/>
              <a:t>відзнятим</a:t>
            </a:r>
            <a:r>
              <a:rPr lang="ru-RU" sz="2000" dirty="0"/>
              <a:t> з </a:t>
            </a:r>
            <a:r>
              <a:rPr lang="ru-RU" sz="2000" dirty="0" err="1"/>
              <a:t>найближчої</a:t>
            </a:r>
            <a:r>
              <a:rPr lang="ru-RU" sz="2000" dirty="0"/>
              <a:t> </a:t>
            </a:r>
            <a:r>
              <a:rPr lang="ru-RU" sz="2000" dirty="0" smtClean="0"/>
              <a:t>точки.</a:t>
            </a:r>
          </a:p>
          <a:p>
            <a:pPr marL="457200" indent="-457200">
              <a:buAutoNum type="arabicPeriod"/>
            </a:pPr>
            <a:r>
              <a:rPr lang="ru-RU" sz="2000" dirty="0" smtClean="0"/>
              <a:t>Для контролю </a:t>
            </a:r>
            <a:r>
              <a:rPr lang="ru-RU" sz="2000" dirty="0" err="1" smtClean="0"/>
              <a:t>зображеній</a:t>
            </a:r>
            <a:r>
              <a:rPr lang="ru-RU" sz="2000" dirty="0" smtClean="0"/>
              <a:t> </a:t>
            </a:r>
            <a:r>
              <a:rPr lang="ru-RU" sz="2000" dirty="0"/>
              <a:t>з </a:t>
            </a:r>
            <a:r>
              <a:rPr lang="ru-RU" sz="2000" dirty="0" err="1"/>
              <a:t>альтернативних</a:t>
            </a:r>
            <a:r>
              <a:rPr lang="ru-RU" sz="2000" dirty="0"/>
              <a:t> </a:t>
            </a:r>
            <a:r>
              <a:rPr lang="ru-RU" sz="2000" dirty="0" err="1"/>
              <a:t>джерел</a:t>
            </a:r>
            <a:r>
              <a:rPr lang="ru-RU" sz="2000" dirty="0"/>
              <a:t> </a:t>
            </a:r>
            <a:r>
              <a:rPr lang="ru-RU" sz="2000" dirty="0" err="1"/>
              <a:t>даних</a:t>
            </a:r>
            <a:r>
              <a:rPr lang="ru-RU" sz="2000" dirty="0"/>
              <a:t> для </a:t>
            </a:r>
            <a:r>
              <a:rPr lang="ru-RU" sz="2000" dirty="0" err="1"/>
              <a:t>об'єктивної</a:t>
            </a:r>
            <a:r>
              <a:rPr lang="ru-RU" sz="2000" dirty="0"/>
              <a:t> </a:t>
            </a:r>
            <a:r>
              <a:rPr lang="ru-RU" sz="2000" dirty="0" err="1"/>
              <a:t>оцінки</a:t>
            </a:r>
            <a:r>
              <a:rPr lang="ru-RU" sz="2000" dirty="0"/>
              <a:t> </a:t>
            </a:r>
            <a:r>
              <a:rPr lang="ru-RU" sz="2000" dirty="0" err="1" smtClean="0"/>
              <a:t>заходів</a:t>
            </a:r>
            <a:r>
              <a:rPr lang="ru-RU" sz="2000" dirty="0" smtClean="0"/>
              <a:t> </a:t>
            </a:r>
            <a:r>
              <a:rPr lang="ru-RU" sz="2000" dirty="0" err="1" smtClean="0"/>
              <a:t>здійснюється</a:t>
            </a:r>
            <a:r>
              <a:rPr lang="ru-RU" sz="2000" dirty="0" smtClean="0"/>
              <a:t> </a:t>
            </a:r>
            <a:r>
              <a:rPr lang="ru-RU" sz="2000" dirty="0" err="1" smtClean="0"/>
              <a:t>таке</a:t>
            </a:r>
            <a:r>
              <a:rPr lang="ru-RU" sz="2000" dirty="0" smtClean="0"/>
              <a:t>:</a:t>
            </a:r>
          </a:p>
          <a:p>
            <a:pPr marL="914400" lvl="1" indent="-457200">
              <a:buFont typeface="+mj-lt"/>
              <a:buAutoNum type="alphaLcParenR"/>
            </a:pPr>
            <a:r>
              <a:rPr lang="ru-RU" sz="2000" dirty="0" smtClean="0"/>
              <a:t>За </a:t>
            </a:r>
            <a:r>
              <a:rPr lang="ru-RU" sz="2000" dirty="0" err="1"/>
              <a:t>допомогою</a:t>
            </a:r>
            <a:r>
              <a:rPr lang="ru-RU" sz="2000" dirty="0"/>
              <a:t> </a:t>
            </a:r>
            <a:r>
              <a:rPr lang="ru-RU" sz="2000" dirty="0" err="1"/>
              <a:t>геолокації</a:t>
            </a:r>
            <a:r>
              <a:rPr lang="ru-RU" sz="2000" dirty="0"/>
              <a:t> </a:t>
            </a:r>
            <a:r>
              <a:rPr lang="ru-RU" sz="2000" dirty="0" err="1" smtClean="0"/>
              <a:t>може</a:t>
            </a:r>
            <a:r>
              <a:rPr lang="ru-RU" sz="2000" dirty="0" smtClean="0"/>
              <a:t> бути </a:t>
            </a:r>
            <a:r>
              <a:rPr lang="ru-RU" sz="2000" b="1" dirty="0" err="1" smtClean="0"/>
              <a:t>обмежена</a:t>
            </a:r>
            <a:r>
              <a:rPr lang="ru-RU" sz="2000" b="1" dirty="0" smtClean="0"/>
              <a:t> </a:t>
            </a:r>
            <a:r>
              <a:rPr lang="ru-RU" sz="2000" b="1" dirty="0"/>
              <a:t>зона</a:t>
            </a:r>
            <a:r>
              <a:rPr lang="ru-RU" sz="2000" dirty="0"/>
              <a:t>, з </a:t>
            </a:r>
            <a:r>
              <a:rPr lang="ru-RU" sz="2000" dirty="0" err="1"/>
              <a:t>якої</a:t>
            </a:r>
            <a:r>
              <a:rPr lang="ru-RU" sz="2000" dirty="0"/>
              <a:t> </a:t>
            </a:r>
            <a:r>
              <a:rPr lang="ru-RU" sz="2000" dirty="0" err="1"/>
              <a:t>можна</a:t>
            </a:r>
            <a:r>
              <a:rPr lang="ru-RU" sz="2000" dirty="0"/>
              <a:t> </a:t>
            </a:r>
            <a:r>
              <a:rPr lang="ru-RU" sz="2000" dirty="0" err="1"/>
              <a:t>передавати</a:t>
            </a:r>
            <a:r>
              <a:rPr lang="ru-RU" sz="2000" dirty="0"/>
              <a:t> </a:t>
            </a:r>
            <a:r>
              <a:rPr lang="ru-RU" sz="2000" dirty="0" err="1"/>
              <a:t>зображення</a:t>
            </a:r>
            <a:r>
              <a:rPr lang="ru-RU" sz="2000" dirty="0"/>
              <a:t> в канал </a:t>
            </a:r>
            <a:r>
              <a:rPr lang="ru-RU" sz="2000" dirty="0" err="1"/>
              <a:t>організатора</a:t>
            </a:r>
            <a:r>
              <a:rPr lang="ru-RU" sz="2000" dirty="0"/>
              <a:t> заходу. </a:t>
            </a:r>
            <a:r>
              <a:rPr lang="ru-RU" sz="2000" dirty="0" err="1"/>
              <a:t>Розмір</a:t>
            </a:r>
            <a:r>
              <a:rPr lang="ru-RU" sz="2000" dirty="0"/>
              <a:t> </a:t>
            </a:r>
            <a:r>
              <a:rPr lang="ru-RU" sz="2000" dirty="0" err="1"/>
              <a:t>зони</a:t>
            </a:r>
            <a:r>
              <a:rPr lang="ru-RU" sz="2000" dirty="0"/>
              <a:t> </a:t>
            </a:r>
            <a:r>
              <a:rPr lang="ru-RU" sz="2000" dirty="0" err="1"/>
              <a:t>задає</a:t>
            </a:r>
            <a:r>
              <a:rPr lang="ru-RU" sz="2000" dirty="0"/>
              <a:t> </a:t>
            </a:r>
            <a:r>
              <a:rPr lang="ru-RU" sz="2000" dirty="0" err="1"/>
              <a:t>організатор</a:t>
            </a:r>
            <a:r>
              <a:rPr lang="ru-RU" sz="2000" dirty="0"/>
              <a:t>. </a:t>
            </a:r>
            <a:endParaRPr lang="ru-RU" sz="2000" dirty="0" smtClean="0"/>
          </a:p>
          <a:p>
            <a:pPr marL="914400" lvl="1" indent="-457200">
              <a:buFont typeface="+mj-lt"/>
              <a:buAutoNum type="alphaLcParenR"/>
            </a:pPr>
            <a:r>
              <a:rPr lang="ru-RU" sz="2000" dirty="0" err="1" smtClean="0"/>
              <a:t>Альтернативні</a:t>
            </a:r>
            <a:r>
              <a:rPr lang="ru-RU" sz="2000" dirty="0" smtClean="0"/>
              <a:t> </a:t>
            </a:r>
            <a:r>
              <a:rPr lang="ru-RU" sz="2000" dirty="0" err="1"/>
              <a:t>джерела</a:t>
            </a:r>
            <a:r>
              <a:rPr lang="ru-RU" sz="2000" dirty="0"/>
              <a:t> </a:t>
            </a:r>
            <a:r>
              <a:rPr lang="ru-RU" sz="2000" dirty="0" err="1"/>
              <a:t>даних</a:t>
            </a:r>
            <a:r>
              <a:rPr lang="ru-RU" sz="2000" dirty="0"/>
              <a:t> </a:t>
            </a:r>
            <a:r>
              <a:rPr lang="ru-RU" sz="2000" dirty="0" err="1"/>
              <a:t>проходять</a:t>
            </a:r>
            <a:r>
              <a:rPr lang="ru-RU" sz="2000" dirty="0"/>
              <a:t> </a:t>
            </a:r>
            <a:r>
              <a:rPr lang="ru-RU" sz="2000" dirty="0" err="1"/>
              <a:t>відсіювання</a:t>
            </a:r>
            <a:r>
              <a:rPr lang="ru-RU" sz="2000" dirty="0"/>
              <a:t> по </a:t>
            </a:r>
            <a:r>
              <a:rPr lang="ru-RU" sz="2000" dirty="0" err="1"/>
              <a:t>зоні</a:t>
            </a:r>
            <a:r>
              <a:rPr lang="ru-RU" sz="2000" dirty="0"/>
              <a:t> заходу. </a:t>
            </a:r>
            <a:r>
              <a:rPr lang="ru-RU" sz="2000" dirty="0" err="1" smtClean="0"/>
              <a:t>Якщо</a:t>
            </a:r>
            <a:r>
              <a:rPr lang="ru-RU" sz="2000" dirty="0" smtClean="0"/>
              <a:t> </a:t>
            </a:r>
            <a:r>
              <a:rPr lang="ru-RU" sz="2000" dirty="0" err="1" smtClean="0"/>
              <a:t>джерело</a:t>
            </a:r>
            <a:r>
              <a:rPr lang="ru-RU" sz="2000" dirty="0" smtClean="0"/>
              <a:t> </a:t>
            </a:r>
            <a:r>
              <a:rPr lang="ru-RU" sz="2000" dirty="0" err="1"/>
              <a:t>виявиться</a:t>
            </a:r>
            <a:r>
              <a:rPr lang="ru-RU" sz="2000" dirty="0"/>
              <a:t> в </a:t>
            </a:r>
            <a:r>
              <a:rPr lang="ru-RU" sz="2000" dirty="0" err="1"/>
              <a:t>дозволеній</a:t>
            </a:r>
            <a:r>
              <a:rPr lang="ru-RU" sz="2000" dirty="0"/>
              <a:t> </a:t>
            </a:r>
            <a:r>
              <a:rPr lang="ru-RU" sz="2000" dirty="0" err="1"/>
              <a:t>зоні</a:t>
            </a:r>
            <a:r>
              <a:rPr lang="ru-RU" sz="2000" dirty="0"/>
              <a:t>, </a:t>
            </a:r>
            <a:r>
              <a:rPr lang="ru-RU" sz="2000" dirty="0" err="1" smtClean="0"/>
              <a:t>воно</a:t>
            </a:r>
            <a:r>
              <a:rPr lang="ru-RU" sz="2000" dirty="0" smtClean="0"/>
              <a:t> </a:t>
            </a:r>
            <a:r>
              <a:rPr lang="ru-RU" sz="2000" dirty="0" err="1"/>
              <a:t>має</a:t>
            </a:r>
            <a:r>
              <a:rPr lang="ru-RU" sz="2000" dirty="0"/>
              <a:t> право </a:t>
            </a:r>
            <a:r>
              <a:rPr lang="ru-RU" sz="2000" dirty="0" err="1"/>
              <a:t>відправляти</a:t>
            </a:r>
            <a:r>
              <a:rPr lang="ru-RU" sz="2000" dirty="0"/>
              <a:t> </a:t>
            </a:r>
            <a:r>
              <a:rPr lang="ru-RU" sz="2000" dirty="0" err="1"/>
              <a:t>свої</a:t>
            </a:r>
            <a:r>
              <a:rPr lang="ru-RU" sz="2000" dirty="0"/>
              <a:t> </a:t>
            </a:r>
            <a:r>
              <a:rPr lang="ru-RU" sz="2000" dirty="0" err="1"/>
              <a:t>зображення</a:t>
            </a:r>
            <a:r>
              <a:rPr lang="ru-RU" sz="2000" dirty="0"/>
              <a:t>, </a:t>
            </a:r>
            <a:r>
              <a:rPr lang="ru-RU" sz="2000" dirty="0" err="1"/>
              <a:t>зроблені</a:t>
            </a:r>
            <a:r>
              <a:rPr lang="ru-RU" sz="2000" dirty="0"/>
              <a:t> з </a:t>
            </a:r>
            <a:r>
              <a:rPr lang="ru-RU" sz="2000" dirty="0" err="1"/>
              <a:t>камери</a:t>
            </a:r>
            <a:r>
              <a:rPr lang="ru-RU" sz="2000" dirty="0"/>
              <a:t> </a:t>
            </a:r>
            <a:r>
              <a:rPr lang="ru-RU" sz="2000" dirty="0" err="1"/>
              <a:t>мобільного</a:t>
            </a:r>
            <a:r>
              <a:rPr lang="ru-RU" sz="2000" dirty="0"/>
              <a:t> пристрою, в </a:t>
            </a:r>
            <a:r>
              <a:rPr lang="ru-RU" sz="2000" dirty="0" err="1"/>
              <a:t>медіа</a:t>
            </a:r>
            <a:r>
              <a:rPr lang="ru-RU" sz="2000" dirty="0"/>
              <a:t>-канал </a:t>
            </a:r>
            <a:r>
              <a:rPr lang="ru-RU" sz="2000" dirty="0" err="1"/>
              <a:t>організатора</a:t>
            </a:r>
            <a:r>
              <a:rPr lang="ru-RU" sz="2000" dirty="0"/>
              <a:t> </a:t>
            </a:r>
            <a:r>
              <a:rPr lang="ru-RU" sz="2000" dirty="0" smtClean="0"/>
              <a:t>заходу.</a:t>
            </a:r>
          </a:p>
          <a:p>
            <a:pPr marL="914400" lvl="1" indent="-457200">
              <a:buFont typeface="+mj-lt"/>
              <a:buAutoNum type="alphaLcParenR"/>
            </a:pPr>
            <a:r>
              <a:rPr lang="ru-RU" sz="2000" dirty="0" err="1" smtClean="0"/>
              <a:t>Також</a:t>
            </a:r>
            <a:r>
              <a:rPr lang="ru-RU" sz="2000" dirty="0" smtClean="0"/>
              <a:t> </a:t>
            </a:r>
            <a:r>
              <a:rPr lang="ru-RU" sz="2000" dirty="0" err="1"/>
              <a:t>застосовується</a:t>
            </a:r>
            <a:r>
              <a:rPr lang="ru-RU" sz="2000" dirty="0"/>
              <a:t> </a:t>
            </a:r>
            <a:r>
              <a:rPr lang="ru-RU" sz="2000" dirty="0" err="1"/>
              <a:t>функція</a:t>
            </a:r>
            <a:r>
              <a:rPr lang="ru-RU" sz="2000" dirty="0"/>
              <a:t> </a:t>
            </a:r>
            <a:r>
              <a:rPr lang="ru-RU" sz="2000" b="1" dirty="0" err="1" smtClean="0"/>
              <a:t>фільтрації</a:t>
            </a:r>
            <a:r>
              <a:rPr lang="ru-RU" sz="2000" b="1" dirty="0" smtClean="0"/>
              <a:t> </a:t>
            </a:r>
            <a:r>
              <a:rPr lang="ru-RU" sz="2000" b="1" dirty="0" err="1"/>
              <a:t>від</a:t>
            </a:r>
            <a:r>
              <a:rPr lang="ru-RU" sz="2000" b="1" dirty="0"/>
              <a:t> </a:t>
            </a:r>
            <a:r>
              <a:rPr lang="ru-RU" sz="2000" b="1" dirty="0" err="1"/>
              <a:t>небажаних</a:t>
            </a:r>
            <a:r>
              <a:rPr lang="ru-RU" sz="2000" b="1" dirty="0"/>
              <a:t> </a:t>
            </a:r>
            <a:r>
              <a:rPr lang="ru-RU" sz="2000" b="1" dirty="0" err="1"/>
              <a:t>зображень</a:t>
            </a:r>
            <a:r>
              <a:rPr lang="ru-RU" sz="2000" dirty="0"/>
              <a:t>, </a:t>
            </a:r>
            <a:r>
              <a:rPr lang="ru-RU" sz="2000" dirty="0" err="1"/>
              <a:t>які</a:t>
            </a:r>
            <a:r>
              <a:rPr lang="ru-RU" sz="2000" dirty="0"/>
              <a:t> не належать до </a:t>
            </a:r>
            <a:r>
              <a:rPr lang="ru-RU" sz="2000" dirty="0" err="1"/>
              <a:t>даного</a:t>
            </a:r>
            <a:r>
              <a:rPr lang="ru-RU" sz="2000" dirty="0"/>
              <a:t> заходу. </a:t>
            </a:r>
            <a:endParaRPr lang="ru-RU" sz="2000" dirty="0" smtClean="0"/>
          </a:p>
          <a:p>
            <a:pPr marL="457200" indent="-457200">
              <a:buAutoNum type="arabicPeriod"/>
            </a:pPr>
            <a:r>
              <a:rPr lang="ru-RU" sz="2000" dirty="0" err="1" smtClean="0"/>
              <a:t>Після</a:t>
            </a:r>
            <a:r>
              <a:rPr lang="ru-RU" sz="2000" dirty="0" smtClean="0"/>
              <a:t> </a:t>
            </a:r>
            <a:r>
              <a:rPr lang="ru-RU" sz="2000" dirty="0" err="1"/>
              <a:t>зйомки</a:t>
            </a:r>
            <a:r>
              <a:rPr lang="ru-RU" sz="2000" dirty="0"/>
              <a:t> </a:t>
            </a:r>
            <a:r>
              <a:rPr lang="ru-RU" sz="2000" dirty="0" err="1"/>
              <a:t>зображення</a:t>
            </a:r>
            <a:r>
              <a:rPr lang="ru-RU" sz="2000" dirty="0"/>
              <a:t> проходить </a:t>
            </a:r>
            <a:r>
              <a:rPr lang="ru-RU" sz="2000" dirty="0" err="1"/>
              <a:t>порівняння</a:t>
            </a:r>
            <a:r>
              <a:rPr lang="ru-RU" sz="2000" dirty="0"/>
              <a:t> з </a:t>
            </a:r>
            <a:r>
              <a:rPr lang="ru-RU" sz="2000" dirty="0" err="1"/>
              <a:t>еталоном</a:t>
            </a:r>
            <a:r>
              <a:rPr lang="ru-RU" sz="2000" dirty="0"/>
              <a:t> </a:t>
            </a:r>
            <a:r>
              <a:rPr lang="ru-RU" sz="2000" dirty="0" err="1" smtClean="0"/>
              <a:t>організатора</a:t>
            </a:r>
            <a:r>
              <a:rPr lang="ru-RU" sz="2000" dirty="0"/>
              <a:t>. </a:t>
            </a:r>
            <a:endParaRPr lang="ru-RU" sz="2000" dirty="0" smtClean="0"/>
          </a:p>
          <a:p>
            <a:pPr marL="457200" indent="-457200">
              <a:buAutoNum type="arabicPeriod"/>
            </a:pPr>
            <a:r>
              <a:rPr lang="ru-RU" sz="2000" dirty="0" err="1" smtClean="0"/>
              <a:t>Функція</a:t>
            </a:r>
            <a:r>
              <a:rPr lang="ru-RU" sz="2000" dirty="0" smtClean="0"/>
              <a:t> </a:t>
            </a:r>
            <a:r>
              <a:rPr lang="ru-RU" sz="2000" dirty="0" err="1"/>
              <a:t>фільтрації</a:t>
            </a:r>
            <a:r>
              <a:rPr lang="ru-RU" sz="2000" dirty="0"/>
              <a:t> </a:t>
            </a:r>
            <a:r>
              <a:rPr lang="ru-RU" sz="2000" dirty="0" err="1"/>
              <a:t>реалізується</a:t>
            </a:r>
            <a:r>
              <a:rPr lang="ru-RU" sz="2000" dirty="0"/>
              <a:t> за </a:t>
            </a:r>
            <a:r>
              <a:rPr lang="ru-RU" sz="2000" dirty="0" err="1"/>
              <a:t>допомогою</a:t>
            </a:r>
            <a:r>
              <a:rPr lang="ru-RU" sz="2000" dirty="0"/>
              <a:t> </a:t>
            </a:r>
            <a:r>
              <a:rPr lang="ru-RU" sz="2000" dirty="0" err="1"/>
              <a:t>порівняння</a:t>
            </a:r>
            <a:r>
              <a:rPr lang="ru-RU" sz="2000" dirty="0"/>
              <a:t> </a:t>
            </a:r>
            <a:r>
              <a:rPr lang="ru-RU" sz="2000" dirty="0" err="1"/>
              <a:t>зображень</a:t>
            </a:r>
            <a:r>
              <a:rPr lang="ru-RU" sz="2000" dirty="0"/>
              <a:t> з </a:t>
            </a:r>
            <a:r>
              <a:rPr lang="ru-RU" sz="2000" dirty="0" err="1" smtClean="0"/>
              <a:t>альтернативних</a:t>
            </a:r>
            <a:r>
              <a:rPr lang="ru-RU" sz="2000" dirty="0" smtClean="0"/>
              <a:t> </a:t>
            </a:r>
            <a:r>
              <a:rPr lang="ru-RU" sz="2000" dirty="0" err="1"/>
              <a:t>джерел</a:t>
            </a:r>
            <a:r>
              <a:rPr lang="ru-RU" sz="2000" dirty="0"/>
              <a:t> </a:t>
            </a:r>
            <a:r>
              <a:rPr lang="ru-RU" sz="2000" dirty="0" err="1"/>
              <a:t>даних</a:t>
            </a:r>
            <a:r>
              <a:rPr lang="ru-RU" sz="2000" dirty="0"/>
              <a:t> з </a:t>
            </a:r>
            <a:r>
              <a:rPr lang="ru-RU" sz="2000" dirty="0" err="1"/>
              <a:t>еталоном</a:t>
            </a:r>
            <a:r>
              <a:rPr lang="ru-RU" sz="2000" dirty="0"/>
              <a:t>, </a:t>
            </a:r>
            <a:r>
              <a:rPr lang="ru-RU" sz="2000" dirty="0" err="1" smtClean="0"/>
              <a:t>зробленим</a:t>
            </a:r>
            <a:r>
              <a:rPr lang="ru-RU" sz="2000" dirty="0" smtClean="0"/>
              <a:t> </a:t>
            </a:r>
            <a:r>
              <a:rPr lang="ru-RU" sz="2000" dirty="0" err="1"/>
              <a:t>організатором</a:t>
            </a:r>
            <a:r>
              <a:rPr lang="ru-RU" sz="2000" dirty="0"/>
              <a:t> заходу. При </a:t>
            </a:r>
            <a:r>
              <a:rPr lang="ru-RU" sz="2000" dirty="0" err="1"/>
              <a:t>цьому</a:t>
            </a:r>
            <a:r>
              <a:rPr lang="ru-RU" sz="2000" dirty="0"/>
              <a:t> </a:t>
            </a:r>
            <a:r>
              <a:rPr lang="ru-RU" sz="2000" dirty="0" err="1" smtClean="0"/>
              <a:t>розраховуються</a:t>
            </a:r>
            <a:r>
              <a:rPr lang="ru-RU" sz="2000" dirty="0" smtClean="0"/>
              <a:t> </a:t>
            </a:r>
            <a:r>
              <a:rPr lang="ru-RU" sz="2000" dirty="0" err="1" smtClean="0"/>
              <a:t>відстані</a:t>
            </a:r>
            <a:r>
              <a:rPr lang="ru-RU" sz="2000" dirty="0" smtClean="0"/>
              <a:t> </a:t>
            </a:r>
            <a:r>
              <a:rPr lang="ru-RU" sz="2000" dirty="0" err="1"/>
              <a:t>Хеммінга</a:t>
            </a:r>
            <a:r>
              <a:rPr lang="ru-RU" sz="2000" dirty="0"/>
              <a:t> </a:t>
            </a:r>
            <a:r>
              <a:rPr lang="ru-RU" sz="2000" dirty="0" smtClean="0"/>
              <a:t>для </a:t>
            </a:r>
            <a:r>
              <a:rPr lang="ru-RU" sz="2000" dirty="0" err="1" smtClean="0"/>
              <a:t>визначення</a:t>
            </a:r>
            <a:r>
              <a:rPr lang="ru-RU" sz="2000" dirty="0" smtClean="0"/>
              <a:t> того, </a:t>
            </a:r>
            <a:r>
              <a:rPr lang="ru-RU" sz="2000" dirty="0" err="1" smtClean="0"/>
              <a:t>чи</a:t>
            </a:r>
            <a:r>
              <a:rPr lang="ru-RU" sz="2000" dirty="0" smtClean="0"/>
              <a:t> </a:t>
            </a:r>
            <a:r>
              <a:rPr lang="ru-RU" sz="2000" dirty="0" err="1" smtClean="0"/>
              <a:t>зображення</a:t>
            </a:r>
            <a:r>
              <a:rPr lang="ru-RU" sz="2000" dirty="0" smtClean="0"/>
              <a:t> </a:t>
            </a:r>
            <a:r>
              <a:rPr lang="ru-RU" sz="2000" dirty="0" err="1"/>
              <a:t>відносяться</a:t>
            </a:r>
            <a:r>
              <a:rPr lang="ru-RU" sz="2000" dirty="0"/>
              <a:t> </a:t>
            </a:r>
            <a:r>
              <a:rPr lang="ru-RU" sz="2000" dirty="0" err="1"/>
              <a:t>саме</a:t>
            </a:r>
            <a:r>
              <a:rPr lang="ru-RU" sz="2000" dirty="0"/>
              <a:t> до </a:t>
            </a:r>
            <a:r>
              <a:rPr lang="ru-RU" sz="2000" dirty="0" err="1"/>
              <a:t>даного</a:t>
            </a:r>
            <a:r>
              <a:rPr lang="ru-RU" sz="2000" dirty="0"/>
              <a:t> </a:t>
            </a:r>
            <a:r>
              <a:rPr lang="ru-RU" sz="2000" dirty="0" smtClean="0"/>
              <a:t>заходу.</a:t>
            </a:r>
          </a:p>
          <a:p>
            <a:pPr marL="457200" indent="-457200">
              <a:buAutoNum type="arabicPeriod"/>
            </a:pPr>
            <a:r>
              <a:rPr lang="ru-RU" sz="2000" dirty="0" smtClean="0"/>
              <a:t> </a:t>
            </a:r>
            <a:r>
              <a:rPr lang="ru-RU" sz="2000" dirty="0" err="1"/>
              <a:t>Якщо</a:t>
            </a:r>
            <a:r>
              <a:rPr lang="ru-RU" sz="2000" dirty="0"/>
              <a:t> </a:t>
            </a:r>
            <a:r>
              <a:rPr lang="ru-RU" sz="2000" dirty="0" err="1"/>
              <a:t>зображення</a:t>
            </a:r>
            <a:r>
              <a:rPr lang="ru-RU" sz="2000" dirty="0"/>
              <a:t> схоже </a:t>
            </a:r>
            <a:r>
              <a:rPr lang="ru-RU" sz="2000" dirty="0" smtClean="0"/>
              <a:t>з </a:t>
            </a:r>
            <a:r>
              <a:rPr lang="ru-RU" sz="2000" dirty="0" err="1" smtClean="0"/>
              <a:t>еталоном</a:t>
            </a:r>
            <a:r>
              <a:rPr lang="ru-RU" sz="2000" dirty="0" smtClean="0"/>
              <a:t>, </a:t>
            </a:r>
            <a:r>
              <a:rPr lang="ru-RU" sz="2000" dirty="0" err="1"/>
              <a:t>тобто</a:t>
            </a:r>
            <a:r>
              <a:rPr lang="ru-RU" sz="2000" dirty="0"/>
              <a:t> </a:t>
            </a:r>
            <a:r>
              <a:rPr lang="ru-RU" sz="2000" dirty="0" err="1"/>
              <a:t>потрапляє</a:t>
            </a:r>
            <a:r>
              <a:rPr lang="ru-RU" sz="2000" dirty="0"/>
              <a:t> в коридор процентного </a:t>
            </a:r>
            <a:r>
              <a:rPr lang="ru-RU" sz="2000" dirty="0" err="1"/>
              <a:t>співвідношення</a:t>
            </a:r>
            <a:r>
              <a:rPr lang="ru-RU" sz="2000" dirty="0"/>
              <a:t> </a:t>
            </a:r>
            <a:r>
              <a:rPr lang="ru-RU" sz="2000" dirty="0" err="1"/>
              <a:t>схожості</a:t>
            </a:r>
            <a:r>
              <a:rPr lang="ru-RU" sz="2000" dirty="0"/>
              <a:t>, то </a:t>
            </a:r>
            <a:r>
              <a:rPr lang="ru-RU" sz="2000" dirty="0" err="1"/>
              <a:t>воно</a:t>
            </a:r>
            <a:r>
              <a:rPr lang="ru-RU" sz="2000" dirty="0"/>
              <a:t> автоматично </a:t>
            </a:r>
            <a:r>
              <a:rPr lang="ru-RU" sz="2000" dirty="0" err="1"/>
              <a:t>відправляється</a:t>
            </a:r>
            <a:r>
              <a:rPr lang="ru-RU" sz="2000" dirty="0"/>
              <a:t> на сервер, і </a:t>
            </a:r>
            <a:r>
              <a:rPr lang="ru-RU" sz="2000" dirty="0" err="1"/>
              <a:t>його</a:t>
            </a:r>
            <a:r>
              <a:rPr lang="ru-RU" sz="2000" dirty="0"/>
              <a:t> </a:t>
            </a:r>
            <a:r>
              <a:rPr lang="ru-RU" sz="2000" dirty="0" err="1"/>
              <a:t>можна</a:t>
            </a:r>
            <a:r>
              <a:rPr lang="ru-RU" sz="2000" dirty="0"/>
              <a:t> буде </a:t>
            </a:r>
            <a:r>
              <a:rPr lang="ru-RU" sz="2000" dirty="0" err="1"/>
              <a:t>побачити</a:t>
            </a:r>
            <a:r>
              <a:rPr lang="ru-RU" sz="2000" dirty="0"/>
              <a:t> в </a:t>
            </a:r>
            <a:r>
              <a:rPr lang="ru-RU" sz="2000" dirty="0" err="1"/>
              <a:t>медіа-каналі</a:t>
            </a:r>
            <a:r>
              <a:rPr lang="ru-RU" sz="2000" dirty="0"/>
              <a:t> </a:t>
            </a:r>
            <a:r>
              <a:rPr lang="ru-RU" sz="2000" dirty="0" err="1"/>
              <a:t>організатора</a:t>
            </a:r>
            <a:r>
              <a:rPr lang="ru-RU" sz="2000" dirty="0"/>
              <a:t> на </a:t>
            </a:r>
            <a:r>
              <a:rPr lang="ru-RU" sz="2000" dirty="0" err="1"/>
              <a:t>сторінці</a:t>
            </a:r>
            <a:r>
              <a:rPr lang="ru-RU" sz="2000" dirty="0"/>
              <a:t> </a:t>
            </a:r>
            <a:r>
              <a:rPr lang="ru-RU" sz="2000" dirty="0" err="1"/>
              <a:t>даного</a:t>
            </a:r>
            <a:r>
              <a:rPr lang="ru-RU" sz="2000" dirty="0"/>
              <a:t> заходу.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-91352" y="0"/>
            <a:ext cx="122833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err="1">
                <a:solidFill>
                  <a:schemeClr val="bg1"/>
                </a:solidFill>
              </a:rPr>
              <a:t>Практичне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ru-RU" sz="3600" b="1" dirty="0" err="1">
                <a:solidFill>
                  <a:schemeClr val="bg1"/>
                </a:solidFill>
              </a:rPr>
              <a:t>застосування</a:t>
            </a:r>
            <a:r>
              <a:rPr lang="ru-RU" sz="3600" b="1" dirty="0">
                <a:solidFill>
                  <a:schemeClr val="bg1"/>
                </a:solidFill>
              </a:rPr>
              <a:t> </a:t>
            </a:r>
            <a:r>
              <a:rPr lang="uk-UA" sz="3600" b="1" dirty="0">
                <a:solidFill>
                  <a:schemeClr val="bg1"/>
                </a:solidFill>
              </a:rPr>
              <a:t>п</a:t>
            </a:r>
            <a:r>
              <a:rPr lang="ru-RU" sz="3600" b="1" dirty="0" err="1" smtClean="0">
                <a:solidFill>
                  <a:schemeClr val="bg1"/>
                </a:solidFill>
              </a:rPr>
              <a:t>ерцептивного</a:t>
            </a:r>
            <a:r>
              <a:rPr lang="ru-RU" sz="3600" b="1" dirty="0" smtClean="0">
                <a:solidFill>
                  <a:schemeClr val="bg1"/>
                </a:solidFill>
              </a:rPr>
              <a:t>  </a:t>
            </a:r>
            <a:r>
              <a:rPr lang="ru-RU" sz="3600" b="1" dirty="0" err="1" smtClean="0">
                <a:solidFill>
                  <a:schemeClr val="bg1"/>
                </a:solidFill>
              </a:rPr>
              <a:t>хеш</a:t>
            </a:r>
            <a:r>
              <a:rPr lang="ru-RU" sz="3600" b="1" dirty="0" smtClean="0">
                <a:solidFill>
                  <a:schemeClr val="bg1"/>
                </a:solidFill>
              </a:rPr>
              <a:t>-алгоритму </a:t>
            </a:r>
            <a:endParaRPr lang="ru-RU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406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t>19</a:t>
            </a:fld>
            <a:endParaRPr lang="ru-RU"/>
          </a:p>
        </p:txBody>
      </p:sp>
      <p:sp>
        <p:nvSpPr>
          <p:cNvPr id="3" name="object 4"/>
          <p:cNvSpPr txBox="1">
            <a:spLocks/>
          </p:cNvSpPr>
          <p:nvPr/>
        </p:nvSpPr>
        <p:spPr>
          <a:xfrm>
            <a:off x="0" y="28575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 err="1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Література</a:t>
            </a:r>
            <a:r>
              <a:rPr lang="ru-RU" sz="4000" b="1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 та </a:t>
            </a:r>
            <a:r>
              <a:rPr lang="ru-RU" sz="4000" b="1" dirty="0" err="1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Інтернет</a:t>
            </a:r>
            <a:r>
              <a:rPr lang="ru-RU" sz="4000" b="1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ru-RU" sz="4000" b="1" dirty="0" err="1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джерела</a:t>
            </a:r>
            <a:r>
              <a:rPr lang="ru-RU" sz="4000" b="1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 з </a:t>
            </a:r>
            <a:r>
              <a:rPr lang="ru-RU" sz="4000" b="1" dirty="0" err="1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Data</a:t>
            </a:r>
            <a:r>
              <a:rPr lang="ru-RU" sz="4000" b="1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ru-RU" sz="4000" b="1" dirty="0" err="1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Mining</a:t>
            </a:r>
            <a:endParaRPr lang="ru-RU" sz="4000" b="1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39" y="834798"/>
            <a:ext cx="2076450" cy="30003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570" y="834798"/>
            <a:ext cx="2168515" cy="2975202"/>
          </a:xfrm>
          <a:prstGeom prst="rect">
            <a:avLst/>
          </a:prstGeom>
        </p:spPr>
      </p:pic>
      <p:grpSp>
        <p:nvGrpSpPr>
          <p:cNvPr id="10" name="Группа 9"/>
          <p:cNvGrpSpPr/>
          <p:nvPr/>
        </p:nvGrpSpPr>
        <p:grpSpPr>
          <a:xfrm>
            <a:off x="5161189" y="859972"/>
            <a:ext cx="2291351" cy="2975201"/>
            <a:chOff x="5618850" y="1203098"/>
            <a:chExt cx="2291351" cy="2975201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5618850" y="1203098"/>
              <a:ext cx="2291351" cy="2975201"/>
            </a:xfrm>
            <a:prstGeom prst="rect">
              <a:avLst/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 w="139700" h="139700" prst="divo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00020" y="1268298"/>
              <a:ext cx="2190921" cy="28447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</p:pic>
      </p:grpSp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2136" y="794770"/>
            <a:ext cx="1948756" cy="297520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1713" y="794770"/>
            <a:ext cx="2087564" cy="297520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671" y="3835171"/>
            <a:ext cx="2250296" cy="298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04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t>20</a:t>
            </a:fld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159657" y="1265026"/>
            <a:ext cx="11858172" cy="3166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Паклин Н.Б., Орешков В.И. Бизнес-аналитика: от данных к знаниям: Учебное пособие. 2-е изд., </a:t>
            </a:r>
            <a:r>
              <a:rPr lang="ru-RU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испр</a:t>
            </a:r>
            <a:r>
              <a:rPr lang="ru-RU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– СПб: Питер, 2013. – 704 с.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Сайт </a:t>
            </a:r>
            <a:r>
              <a:rPr lang="ru-RU" sz="2400" u="heavy" dirty="0" smtClean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http://www.kdnuggets.com/ </a:t>
            </a:r>
            <a:r>
              <a:rPr lang="ru-RU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современные технологии использования </a:t>
            </a:r>
            <a:r>
              <a:rPr lang="ru-RU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  <a:r>
              <a:rPr lang="ru-RU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Mining</a:t>
            </a:r>
            <a:r>
              <a:rPr lang="ru-RU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 прикладных областях, особенности применения инструментария технологии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Сайт </a:t>
            </a:r>
            <a:r>
              <a:rPr lang="en-US" sz="2400" u="heavy" dirty="0" smtClean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http://www.knowldiscovery.com/</a:t>
            </a:r>
            <a:r>
              <a:rPr lang="ru-RU" sz="2400" u="heavy" dirty="0" smtClean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 </a:t>
            </a:r>
            <a:r>
              <a:rPr lang="en-US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ru-RU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периодические издания по </a:t>
            </a:r>
            <a:r>
              <a:rPr lang="en-US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Mining // </a:t>
            </a:r>
            <a:r>
              <a:rPr lang="en-US" sz="2400" i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Mining </a:t>
            </a:r>
            <a:r>
              <a:rPr lang="en-US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 </a:t>
            </a:r>
            <a:r>
              <a:rPr lang="en-US" sz="2400" i="1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Knowledge Discovery.</a:t>
            </a:r>
            <a:endParaRPr lang="uk-UA" sz="2400" i="1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ru-RU" sz="2400" b="1" dirty="0"/>
              <a:t>Иллюстрированный самоучитель по </a:t>
            </a:r>
            <a:r>
              <a:rPr lang="en-GB" sz="2400" b="1" dirty="0" smtClean="0"/>
              <a:t>SPSS</a:t>
            </a:r>
            <a:r>
              <a:rPr lang="uk-UA" sz="2400" b="1" dirty="0" smtClean="0"/>
              <a:t>. </a:t>
            </a:r>
            <a:r>
              <a:rPr lang="en-GB" sz="2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http://www.datuapstrade.lv/rus/spss/</a:t>
            </a: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bject 4"/>
          <p:cNvSpPr txBox="1">
            <a:spLocks/>
          </p:cNvSpPr>
          <p:nvPr/>
        </p:nvSpPr>
        <p:spPr>
          <a:xfrm>
            <a:off x="0" y="28575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b="1" dirty="0" err="1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Література</a:t>
            </a:r>
            <a:r>
              <a:rPr lang="ru-RU" sz="4000" b="1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 та </a:t>
            </a:r>
            <a:r>
              <a:rPr lang="ru-RU" sz="4000" b="1" dirty="0" err="1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Інтернет</a:t>
            </a:r>
            <a:r>
              <a:rPr lang="ru-RU" sz="4000" b="1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ru-RU" sz="4000" b="1" dirty="0" err="1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джерела</a:t>
            </a:r>
            <a:r>
              <a:rPr lang="ru-RU" sz="4000" b="1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 з </a:t>
            </a:r>
            <a:r>
              <a:rPr lang="ru-RU" sz="4000" b="1" dirty="0" err="1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Data</a:t>
            </a:r>
            <a:r>
              <a:rPr lang="ru-RU" sz="4000" b="1" dirty="0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ru-RU" sz="4000" b="1" dirty="0" err="1" smtClean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+mn-cs"/>
              </a:rPr>
              <a:t>Mining</a:t>
            </a:r>
            <a:endParaRPr lang="ru-RU" sz="4000" b="1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809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130628" y="130629"/>
            <a:ext cx="12061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 err="1" smtClean="0">
                <a:solidFill>
                  <a:schemeClr val="bg1"/>
                </a:solidFill>
              </a:rPr>
              <a:t>Проєктні</a:t>
            </a:r>
            <a:r>
              <a:rPr lang="uk-UA" sz="3600" b="1" dirty="0" smtClean="0">
                <a:solidFill>
                  <a:schemeClr val="bg1"/>
                </a:solidFill>
              </a:rPr>
              <a:t> завдання в рамках лабораторних занять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2683" y="1161143"/>
            <a:ext cx="114372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b="1" dirty="0" smtClean="0"/>
              <a:t>Форма виконання </a:t>
            </a:r>
            <a:r>
              <a:rPr lang="uk-UA" sz="2000" dirty="0" smtClean="0"/>
              <a:t>– командна робота: 2-3 особи</a:t>
            </a:r>
            <a:r>
              <a:rPr lang="en-US" sz="2000" dirty="0" smtClean="0"/>
              <a:t> </a:t>
            </a:r>
            <a:endParaRPr lang="uk-UA" sz="2000" dirty="0" smtClean="0"/>
          </a:p>
          <a:p>
            <a:r>
              <a:rPr lang="uk-UA" sz="2000" b="1" dirty="0" smtClean="0"/>
              <a:t>Ролі в команді</a:t>
            </a:r>
            <a:r>
              <a:rPr lang="uk-UA" sz="2000" dirty="0" smtClean="0"/>
              <a:t>: керівник, менеджер, бізнес-аналітик, розробник (програміст), </a:t>
            </a:r>
            <a:r>
              <a:rPr lang="uk-UA" sz="2000" dirty="0" err="1" smtClean="0"/>
              <a:t>тестувальник</a:t>
            </a:r>
            <a:r>
              <a:rPr lang="uk-UA" sz="2000" dirty="0" smtClean="0"/>
              <a:t>, фахівець з впровадження та супроводження </a:t>
            </a:r>
          </a:p>
          <a:p>
            <a:r>
              <a:rPr lang="uk-UA" sz="2000" b="1" dirty="0" smtClean="0"/>
              <a:t>Графік виконання: </a:t>
            </a:r>
            <a:endParaRPr lang="en-US" sz="2000" b="1" dirty="0" smtClean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uk-UA" sz="2000" dirty="0" smtClean="0">
                <a:solidFill>
                  <a:srgbClr val="0000CC"/>
                </a:solidFill>
              </a:rPr>
              <a:t>кожний тиждень – </a:t>
            </a:r>
            <a:r>
              <a:rPr lang="en-US" sz="2000" dirty="0" smtClean="0">
                <a:solidFill>
                  <a:srgbClr val="0000CC"/>
                </a:solidFill>
              </a:rPr>
              <a:t>weekly meeting,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00CC"/>
                </a:solidFill>
              </a:rPr>
              <a:t>sprint – 2 </a:t>
            </a:r>
            <a:r>
              <a:rPr lang="uk-UA" sz="2000" dirty="0" smtClean="0">
                <a:solidFill>
                  <a:srgbClr val="0000CC"/>
                </a:solidFill>
              </a:rPr>
              <a:t>-3 тижні, </a:t>
            </a:r>
            <a:endParaRPr lang="en-US" sz="2000" dirty="0" smtClean="0">
              <a:solidFill>
                <a:srgbClr val="0000CC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00CC"/>
                </a:solidFill>
              </a:rPr>
              <a:t>sprint deadline -  individual for each team,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solidFill>
                  <a:srgbClr val="0000CC"/>
                </a:solidFill>
              </a:rPr>
              <a:t>project deadline -  1 December </a:t>
            </a:r>
            <a:endParaRPr lang="ru-RU" sz="2000" dirty="0" smtClean="0">
              <a:solidFill>
                <a:srgbClr val="0000CC"/>
              </a:solidFill>
            </a:endParaRPr>
          </a:p>
          <a:p>
            <a:r>
              <a:rPr lang="ru-RU" sz="2000" b="1" dirty="0" smtClean="0"/>
              <a:t>Результат </a:t>
            </a:r>
            <a:r>
              <a:rPr lang="ru-RU" sz="2000" b="1" dirty="0" err="1" smtClean="0"/>
              <a:t>виконання</a:t>
            </a:r>
            <a:r>
              <a:rPr lang="ru-RU" sz="2000" b="1" dirty="0" smtClean="0"/>
              <a:t>: </a:t>
            </a:r>
            <a:r>
              <a:rPr lang="ru-RU" sz="2000" dirty="0" err="1" smtClean="0"/>
              <a:t>працючий</a:t>
            </a:r>
            <a:r>
              <a:rPr lang="ru-RU" sz="2000" dirty="0" smtClean="0"/>
              <a:t> код на </a:t>
            </a:r>
            <a:r>
              <a:rPr lang="ru-RU" sz="2000" dirty="0" err="1" smtClean="0"/>
              <a:t>вигаданих</a:t>
            </a:r>
            <a:r>
              <a:rPr lang="ru-RU" sz="2000" dirty="0" smtClean="0"/>
              <a:t> </a:t>
            </a:r>
            <a:r>
              <a:rPr lang="ru-RU" sz="2000" dirty="0" err="1" smtClean="0"/>
              <a:t>навчальних</a:t>
            </a:r>
            <a:r>
              <a:rPr lang="ru-RU" sz="2000" dirty="0" smtClean="0"/>
              <a:t> </a:t>
            </a:r>
            <a:r>
              <a:rPr lang="ru-RU" sz="2000" dirty="0" err="1" smtClean="0"/>
              <a:t>даних</a:t>
            </a:r>
            <a:r>
              <a:rPr lang="ru-RU" sz="2000" dirty="0" smtClean="0"/>
              <a:t>.</a:t>
            </a:r>
            <a:endParaRPr lang="uk-UA" sz="2000" dirty="0" smtClean="0"/>
          </a:p>
        </p:txBody>
      </p:sp>
    </p:spTree>
    <p:extLst>
      <p:ext uri="{BB962C8B-B14F-4D97-AF65-F5344CB8AC3E}">
        <p14:creationId xmlns:p14="http://schemas.microsoft.com/office/powerpoint/2010/main" val="106391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F118C-CD98-458A-88D0-71AEDA116907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130628" y="130629"/>
            <a:ext cx="12061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k-UA" sz="3600" b="1" dirty="0" err="1" smtClean="0">
                <a:solidFill>
                  <a:schemeClr val="bg1"/>
                </a:solidFill>
              </a:rPr>
              <a:t>Проєктні</a:t>
            </a:r>
            <a:r>
              <a:rPr lang="uk-UA" sz="3600" b="1" dirty="0" smtClean="0">
                <a:solidFill>
                  <a:schemeClr val="bg1"/>
                </a:solidFill>
              </a:rPr>
              <a:t> завдання в рамках лабораторних занять</a:t>
            </a:r>
            <a:endParaRPr lang="ru-RU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0629" y="1161143"/>
            <a:ext cx="12061370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uk-UA" sz="2000" dirty="0" err="1" smtClean="0">
                <a:solidFill>
                  <a:srgbClr val="0000CC"/>
                </a:solidFill>
              </a:rPr>
              <a:t>Проєкт</a:t>
            </a:r>
            <a:r>
              <a:rPr lang="uk-UA" sz="2000" dirty="0" smtClean="0">
                <a:solidFill>
                  <a:srgbClr val="0000CC"/>
                </a:solidFill>
              </a:rPr>
              <a:t> 1. Семантичний аналіз мотиваційних листів (резюме) при прийомі на роботу в ІТ компанію.</a:t>
            </a:r>
          </a:p>
          <a:p>
            <a:pPr>
              <a:spcAft>
                <a:spcPts val="600"/>
              </a:spcAft>
            </a:pPr>
            <a:r>
              <a:rPr lang="uk-UA" sz="2000" dirty="0" err="1" smtClean="0"/>
              <a:t>Проєкт</a:t>
            </a:r>
            <a:r>
              <a:rPr lang="uk-UA" sz="2000" dirty="0" smtClean="0"/>
              <a:t> 2. М</a:t>
            </a:r>
            <a:r>
              <a:rPr lang="ru-RU" sz="2000" dirty="0" err="1" smtClean="0"/>
              <a:t>аксимізація</a:t>
            </a:r>
            <a:r>
              <a:rPr lang="ru-RU" sz="2000" dirty="0" smtClean="0"/>
              <a:t> </a:t>
            </a:r>
            <a:r>
              <a:rPr lang="ru-RU" sz="2000" dirty="0" err="1" smtClean="0"/>
              <a:t>прибутку</a:t>
            </a:r>
            <a:r>
              <a:rPr lang="ru-RU" sz="2000" dirty="0" smtClean="0"/>
              <a:t> при </a:t>
            </a:r>
            <a:r>
              <a:rPr lang="ru-RU" sz="2000" dirty="0" err="1" smtClean="0"/>
              <a:t>торгівлі</a:t>
            </a:r>
            <a:r>
              <a:rPr lang="ru-RU" sz="2000" dirty="0" smtClean="0"/>
              <a:t> за </a:t>
            </a:r>
            <a:r>
              <a:rPr lang="ru-RU" sz="2000" dirty="0" err="1" smtClean="0"/>
              <a:t>допомогою</a:t>
            </a:r>
            <a:r>
              <a:rPr lang="ru-RU" sz="2000" dirty="0" smtClean="0"/>
              <a:t> </a:t>
            </a:r>
            <a:r>
              <a:rPr lang="ru-RU" sz="2000" dirty="0" err="1" smtClean="0"/>
              <a:t>підбору</a:t>
            </a:r>
            <a:r>
              <a:rPr lang="ru-RU" sz="2000" dirty="0" smtClean="0"/>
              <a:t> </a:t>
            </a:r>
            <a:r>
              <a:rPr lang="ru-RU" sz="2000" dirty="0" err="1" smtClean="0"/>
              <a:t>параметрів</a:t>
            </a:r>
            <a:r>
              <a:rPr lang="ru-RU" sz="2000" dirty="0" smtClean="0"/>
              <a:t> </a:t>
            </a:r>
            <a:r>
              <a:rPr lang="ru-RU" sz="2000" dirty="0" err="1" smtClean="0"/>
              <a:t>технічних</a:t>
            </a:r>
            <a:r>
              <a:rPr lang="ru-RU" sz="2000" dirty="0" smtClean="0"/>
              <a:t> </a:t>
            </a:r>
            <a:r>
              <a:rPr lang="ru-RU" sz="2000" dirty="0" err="1" smtClean="0"/>
              <a:t>індикаторів</a:t>
            </a:r>
            <a:r>
              <a:rPr lang="ru-RU" sz="2000" dirty="0" smtClean="0"/>
              <a:t>, </a:t>
            </a:r>
            <a:r>
              <a:rPr lang="ru-RU" sz="2000" dirty="0" err="1" smtClean="0"/>
              <a:t>що</a:t>
            </a:r>
            <a:r>
              <a:rPr lang="ru-RU" sz="2000" dirty="0" smtClean="0"/>
              <a:t> </a:t>
            </a:r>
            <a:r>
              <a:rPr lang="ru-RU" sz="2000" dirty="0" err="1" smtClean="0"/>
              <a:t>використовуються</a:t>
            </a:r>
            <a:r>
              <a:rPr lang="ru-RU" sz="2000" dirty="0" smtClean="0"/>
              <a:t> при </a:t>
            </a:r>
            <a:r>
              <a:rPr lang="ru-RU" sz="2000" dirty="0" err="1" smtClean="0"/>
              <a:t>побудові</a:t>
            </a:r>
            <a:r>
              <a:rPr lang="ru-RU" sz="2000" dirty="0" smtClean="0"/>
              <a:t> </a:t>
            </a:r>
            <a:r>
              <a:rPr lang="ru-RU" sz="2000" dirty="0" err="1" smtClean="0"/>
              <a:t>торгової</a:t>
            </a:r>
            <a:r>
              <a:rPr lang="ru-RU" sz="2000" dirty="0" smtClean="0"/>
              <a:t> </a:t>
            </a:r>
            <a:r>
              <a:rPr lang="ru-RU" sz="2000" dirty="0" err="1" smtClean="0"/>
              <a:t>стратегії</a:t>
            </a:r>
            <a:r>
              <a:rPr lang="ru-RU" sz="2000" dirty="0" smtClean="0"/>
              <a:t> з прогнозом </a:t>
            </a:r>
            <a:r>
              <a:rPr lang="ru-RU" sz="2000" dirty="0" err="1" smtClean="0"/>
              <a:t>ціни</a:t>
            </a:r>
            <a:r>
              <a:rPr lang="ru-RU" sz="2000" dirty="0" smtClean="0"/>
              <a:t> </a:t>
            </a:r>
            <a:r>
              <a:rPr lang="ru-RU" sz="2000" dirty="0" err="1" smtClean="0"/>
              <a:t>товарів</a:t>
            </a:r>
            <a:r>
              <a:rPr lang="ru-RU" sz="2000" dirty="0" smtClean="0"/>
              <a:t> (НМ </a:t>
            </a:r>
            <a:r>
              <a:rPr lang="en-GB" sz="2000" dirty="0" smtClean="0"/>
              <a:t>http://www.neuroproject.ru/download.htm</a:t>
            </a:r>
            <a:r>
              <a:rPr lang="ru-RU" sz="2000" dirty="0" smtClean="0"/>
              <a:t>)</a:t>
            </a:r>
          </a:p>
          <a:p>
            <a:pPr>
              <a:spcAft>
                <a:spcPts val="600"/>
              </a:spcAft>
            </a:pPr>
            <a:r>
              <a:rPr lang="uk-UA" sz="2000" dirty="0" err="1" smtClean="0">
                <a:solidFill>
                  <a:srgbClr val="0000CC"/>
                </a:solidFill>
              </a:rPr>
              <a:t>Проєкт</a:t>
            </a:r>
            <a:r>
              <a:rPr lang="uk-UA" sz="2000" dirty="0" smtClean="0">
                <a:solidFill>
                  <a:srgbClr val="0000CC"/>
                </a:solidFill>
              </a:rPr>
              <a:t> 3. Передбачення курсу валют та ціни на акції монополій (НМ </a:t>
            </a:r>
            <a:r>
              <a:rPr lang="en-GB" sz="2000" dirty="0" smtClean="0">
                <a:solidFill>
                  <a:srgbClr val="0000CC"/>
                </a:solidFill>
              </a:rPr>
              <a:t>http://www.neuroproject.ru/download.htm</a:t>
            </a:r>
            <a:r>
              <a:rPr lang="uk-UA" sz="2000" dirty="0" smtClean="0">
                <a:solidFill>
                  <a:srgbClr val="0000CC"/>
                </a:solidFill>
              </a:rPr>
              <a:t>) </a:t>
            </a:r>
          </a:p>
          <a:p>
            <a:pPr>
              <a:spcAft>
                <a:spcPts val="600"/>
              </a:spcAft>
            </a:pPr>
            <a:r>
              <a:rPr lang="uk-UA" sz="2000" dirty="0" err="1" smtClean="0">
                <a:solidFill>
                  <a:srgbClr val="660033"/>
                </a:solidFill>
              </a:rPr>
              <a:t>Проєкт</a:t>
            </a:r>
            <a:r>
              <a:rPr lang="uk-UA" sz="2000" dirty="0" smtClean="0">
                <a:solidFill>
                  <a:srgbClr val="660033"/>
                </a:solidFill>
              </a:rPr>
              <a:t> 4. Когнітивне моделювання ризиків економіки (освіти) у зв</a:t>
            </a:r>
            <a:r>
              <a:rPr lang="en-US" sz="2000" dirty="0" smtClean="0">
                <a:solidFill>
                  <a:srgbClr val="660033"/>
                </a:solidFill>
              </a:rPr>
              <a:t>’</a:t>
            </a:r>
            <a:r>
              <a:rPr lang="uk-UA" sz="2000" dirty="0" err="1" smtClean="0">
                <a:solidFill>
                  <a:srgbClr val="660033"/>
                </a:solidFill>
              </a:rPr>
              <a:t>язку</a:t>
            </a:r>
            <a:r>
              <a:rPr lang="uk-UA" sz="2000" dirty="0" smtClean="0">
                <a:solidFill>
                  <a:srgbClr val="660033"/>
                </a:solidFill>
              </a:rPr>
              <a:t> з пандемією</a:t>
            </a:r>
          </a:p>
          <a:p>
            <a:pPr>
              <a:spcAft>
                <a:spcPts val="600"/>
              </a:spcAft>
            </a:pPr>
            <a:r>
              <a:rPr lang="uk-UA" sz="2000" dirty="0" err="1" smtClean="0">
                <a:solidFill>
                  <a:srgbClr val="0000CC"/>
                </a:solidFill>
              </a:rPr>
              <a:t>Проєкт</a:t>
            </a:r>
            <a:r>
              <a:rPr lang="uk-UA" sz="2000" dirty="0">
                <a:solidFill>
                  <a:srgbClr val="0000CC"/>
                </a:solidFill>
              </a:rPr>
              <a:t> </a:t>
            </a:r>
            <a:r>
              <a:rPr lang="uk-UA" sz="2000" dirty="0" smtClean="0">
                <a:solidFill>
                  <a:srgbClr val="0000CC"/>
                </a:solidFill>
              </a:rPr>
              <a:t>5. </a:t>
            </a:r>
            <a:r>
              <a:rPr lang="uk-UA" sz="2000" dirty="0">
                <a:solidFill>
                  <a:srgbClr val="0000CC"/>
                </a:solidFill>
              </a:rPr>
              <a:t>Прогнозування епідемічної </a:t>
            </a:r>
            <a:r>
              <a:rPr lang="uk-UA" sz="2000" dirty="0" smtClean="0">
                <a:solidFill>
                  <a:srgbClr val="0000CC"/>
                </a:solidFill>
              </a:rPr>
              <a:t>ситуації, </a:t>
            </a:r>
            <a:r>
              <a:rPr lang="uk-UA" sz="2000" dirty="0">
                <a:solidFill>
                  <a:srgbClr val="0000CC"/>
                </a:solidFill>
              </a:rPr>
              <a:t>викликаної захворюванням covid-19 за допомогою методу аналізу часових рядів</a:t>
            </a:r>
            <a:endParaRPr lang="ru-RU" sz="2000" dirty="0">
              <a:solidFill>
                <a:srgbClr val="0000CC"/>
              </a:solidFill>
            </a:endParaRPr>
          </a:p>
          <a:p>
            <a:pPr>
              <a:spcAft>
                <a:spcPts val="600"/>
              </a:spcAft>
            </a:pPr>
            <a:r>
              <a:rPr lang="uk-UA" sz="2000" dirty="0" smtClean="0"/>
              <a:t> </a:t>
            </a:r>
            <a:r>
              <a:rPr lang="uk-UA" sz="2000" dirty="0" err="1" smtClean="0"/>
              <a:t>Проєкт</a:t>
            </a:r>
            <a:r>
              <a:rPr lang="uk-UA" sz="2000" dirty="0" smtClean="0"/>
              <a:t> 6. Аналіз новинних повідомлень методом сентимент аналізу</a:t>
            </a:r>
          </a:p>
          <a:p>
            <a:pPr>
              <a:spcAft>
                <a:spcPts val="600"/>
              </a:spcAft>
            </a:pPr>
            <a:r>
              <a:rPr lang="uk-UA" sz="2000" dirty="0" err="1" smtClean="0">
                <a:solidFill>
                  <a:srgbClr val="0000CC"/>
                </a:solidFill>
              </a:rPr>
              <a:t>Проєкт</a:t>
            </a:r>
            <a:r>
              <a:rPr lang="uk-UA" sz="2000" dirty="0" smtClean="0">
                <a:solidFill>
                  <a:srgbClr val="0000CC"/>
                </a:solidFill>
              </a:rPr>
              <a:t> 7. Прогнозування ситуації на автодорогах через введення </a:t>
            </a:r>
            <a:r>
              <a:rPr lang="uk-UA" sz="2000" dirty="0" err="1" smtClean="0">
                <a:solidFill>
                  <a:srgbClr val="0000CC"/>
                </a:solidFill>
              </a:rPr>
              <a:t>відноспостереження</a:t>
            </a:r>
            <a:endParaRPr lang="uk-UA" sz="2000" dirty="0" smtClean="0">
              <a:solidFill>
                <a:srgbClr val="0000CC"/>
              </a:solidFill>
            </a:endParaRPr>
          </a:p>
          <a:p>
            <a:pPr>
              <a:spcAft>
                <a:spcPts val="600"/>
              </a:spcAft>
            </a:pPr>
            <a:r>
              <a:rPr lang="uk-UA" sz="2000" dirty="0" err="1" smtClean="0"/>
              <a:t>Проєкт</a:t>
            </a:r>
            <a:r>
              <a:rPr lang="uk-UA" sz="2000" dirty="0" smtClean="0"/>
              <a:t> 8. Когнітивний аналіз якості підготовки фахівців 121 спеціальності</a:t>
            </a:r>
          </a:p>
          <a:p>
            <a:pPr>
              <a:spcAft>
                <a:spcPts val="600"/>
              </a:spcAft>
            </a:pPr>
            <a:r>
              <a:rPr lang="uk-UA" sz="2000" dirty="0" err="1" smtClean="0">
                <a:solidFill>
                  <a:srgbClr val="0000CC"/>
                </a:solidFill>
              </a:rPr>
              <a:t>Проєкт</a:t>
            </a:r>
            <a:r>
              <a:rPr lang="uk-UA" sz="2000" dirty="0" smtClean="0">
                <a:solidFill>
                  <a:srgbClr val="0000CC"/>
                </a:solidFill>
              </a:rPr>
              <a:t> 9. Прогноз розвитку ІТ освіти та ІТ індустрії України</a:t>
            </a:r>
          </a:p>
          <a:p>
            <a:pPr>
              <a:spcAft>
                <a:spcPts val="600"/>
              </a:spcAft>
            </a:pPr>
            <a:r>
              <a:rPr lang="uk-UA" sz="2000" dirty="0" err="1" smtClean="0"/>
              <a:t>Проєкт</a:t>
            </a:r>
            <a:r>
              <a:rPr lang="uk-UA" sz="2000" dirty="0" smtClean="0"/>
              <a:t> 10. Аналіз умов для формування цифрових екосистем України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89617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1446</TotalTime>
  <Words>1696</Words>
  <Application>Microsoft Office PowerPoint</Application>
  <PresentationFormat>Широкоэкранный</PresentationFormat>
  <Paragraphs>141</Paragraphs>
  <Slides>22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Arial</vt:lpstr>
      <vt:lpstr>Calibri</vt:lpstr>
      <vt:lpstr>Times New Roman</vt:lpstr>
      <vt:lpstr>Wingdings</vt:lpstr>
      <vt:lpstr>Тема Office</vt:lpstr>
      <vt:lpstr>Уравнение</vt:lpstr>
      <vt:lpstr>Презентация PowerPoint</vt:lpstr>
      <vt:lpstr>Презентация PowerPoint</vt:lpstr>
      <vt:lpstr>Структура курса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Tetyana Kovalyuk</dc:creator>
  <cp:lastModifiedBy>Tetyana Kovalyuk</cp:lastModifiedBy>
  <cp:revision>104</cp:revision>
  <dcterms:created xsi:type="dcterms:W3CDTF">2020-09-13T12:11:56Z</dcterms:created>
  <dcterms:modified xsi:type="dcterms:W3CDTF">2020-10-11T13:05:06Z</dcterms:modified>
</cp:coreProperties>
</file>