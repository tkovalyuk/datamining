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59"/>
  </p:notesMasterIdLst>
  <p:sldIdLst>
    <p:sldId id="308" r:id="rId2"/>
    <p:sldId id="30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10" r:id="rId54"/>
    <p:sldId id="311" r:id="rId55"/>
    <p:sldId id="312" r:id="rId56"/>
    <p:sldId id="313" r:id="rId57"/>
    <p:sldId id="314" r:id="rId5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3F4DA6-E327-4DA6-A6F2-36DEE7C66ACC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4BA9B1CB-2FA7-49FB-9EF0-C6F3DB730981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Если </a:t>
          </a:r>
          <a:r>
            <a:rPr lang="en-US" sz="1800" dirty="0" smtClean="0">
              <a:latin typeface="+mn-lt"/>
            </a:rPr>
            <a:t>X</a:t>
          </a:r>
          <a:r>
            <a:rPr lang="ru-RU" sz="1800" dirty="0" smtClean="0">
              <a:latin typeface="+mn-lt"/>
            </a:rPr>
            <a:t> и </a:t>
          </a:r>
          <a:r>
            <a:rPr lang="en-US" sz="1800" dirty="0" smtClean="0">
              <a:latin typeface="+mn-lt"/>
            </a:rPr>
            <a:t>Y</a:t>
          </a:r>
          <a:r>
            <a:rPr lang="ru-RU" sz="1800" dirty="0" smtClean="0">
              <a:latin typeface="+mn-lt"/>
            </a:rPr>
            <a:t> независимы между собой, то </a:t>
          </a:r>
          <a:r>
            <a:rPr lang="en-US" sz="1800" i="1" dirty="0" smtClean="0">
              <a:latin typeface="+mn-lt"/>
            </a:rPr>
            <a:t>ρ</a:t>
          </a:r>
          <a:r>
            <a:rPr lang="ru-RU" sz="1800" dirty="0" smtClean="0">
              <a:latin typeface="+mn-lt"/>
            </a:rPr>
            <a:t> = </a:t>
          </a:r>
          <a:r>
            <a:rPr lang="ru-RU" sz="1800" i="1" dirty="0" smtClean="0">
              <a:latin typeface="+mn-lt"/>
              <a:cs typeface="Times New Roman"/>
            </a:rPr>
            <a:t>0</a:t>
          </a:r>
          <a:r>
            <a:rPr lang="ru-RU" sz="1800" dirty="0" smtClean="0">
              <a:latin typeface="+mn-lt"/>
            </a:rPr>
            <a:t>. </a:t>
          </a:r>
          <a:endParaRPr lang="ru-RU" sz="1800" dirty="0">
            <a:latin typeface="+mn-lt"/>
          </a:endParaRPr>
        </a:p>
      </dgm:t>
    </dgm:pt>
    <dgm:pt modelId="{777BC8C4-F38C-4891-B25E-836ACDDA2419}" type="parTrans" cxnId="{66DCA1B2-19B0-41DF-986E-A769B5FD46D6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8EF3AD30-FC9A-4CB6-BFC2-4095F20FB9C9}" type="sibTrans" cxnId="{66DCA1B2-19B0-41DF-986E-A769B5FD46D6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CE484374-B480-41DA-871F-25A522A79383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Возможные значения коэффициента корреляции: -1 ≤ </a:t>
          </a:r>
          <a:r>
            <a:rPr lang="en-US" sz="1800" i="1" dirty="0" smtClean="0">
              <a:latin typeface="+mn-lt"/>
            </a:rPr>
            <a:t>ρ</a:t>
          </a:r>
          <a:r>
            <a:rPr lang="ru-RU" sz="1800" dirty="0" smtClean="0">
              <a:latin typeface="+mn-lt"/>
            </a:rPr>
            <a:t> ≤ 1.</a:t>
          </a:r>
          <a:endParaRPr lang="ru-RU" sz="1800" dirty="0">
            <a:latin typeface="+mn-lt"/>
          </a:endParaRPr>
        </a:p>
      </dgm:t>
    </dgm:pt>
    <dgm:pt modelId="{84B45AEE-4F24-46E1-AECE-558483EF4B2C}" type="parTrans" cxnId="{77505CE6-3F32-41ED-AFD7-7D2F575930ED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AD9F2A15-D0C6-4530-BCA8-79370095D4B5}" type="sibTrans" cxnId="{77505CE6-3F32-41ED-AFD7-7D2F575930ED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D67D85FC-F767-4670-A799-F94AD02E0F64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Если </a:t>
          </a:r>
          <a:r>
            <a:rPr lang="el-GR" sz="1800" i="1" dirty="0" smtClean="0">
              <a:latin typeface="+mn-lt"/>
            </a:rPr>
            <a:t>ρ</a:t>
          </a:r>
          <a:r>
            <a:rPr lang="el-GR" sz="1800" i="1" dirty="0" smtClean="0">
              <a:latin typeface="+mn-lt"/>
              <a:cs typeface="Times New Roman"/>
            </a:rPr>
            <a:t>≠</a:t>
          </a:r>
          <a:r>
            <a:rPr lang="ru-RU" sz="1800" i="1" dirty="0" smtClean="0">
              <a:latin typeface="+mn-lt"/>
              <a:cs typeface="Times New Roman"/>
            </a:rPr>
            <a:t>0</a:t>
          </a:r>
          <a:r>
            <a:rPr lang="ru-RU" sz="1800" dirty="0" smtClean="0">
              <a:latin typeface="+mn-lt"/>
            </a:rPr>
            <a:t>, то существует статистическая связь</a:t>
          </a:r>
          <a:endParaRPr lang="ru-RU" sz="1800" dirty="0">
            <a:latin typeface="+mn-lt"/>
          </a:endParaRPr>
        </a:p>
      </dgm:t>
    </dgm:pt>
    <dgm:pt modelId="{FE8E2D65-B29E-423F-995D-684ACDABD662}" type="parTrans" cxnId="{7E537241-7A2F-4676-9DBA-8EAE2CD0BF2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3E21AC67-02AC-4635-B682-7876B117853F}" type="sibTrans" cxnId="{7E537241-7A2F-4676-9DBA-8EAE2CD0BF2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4284C338-364D-4B07-BE50-B72D3EF06C39}">
      <dgm:prSet custT="1"/>
      <dgm:spPr/>
      <dgm:t>
        <a:bodyPr/>
        <a:lstStyle/>
        <a:p>
          <a:pPr rtl="0"/>
          <a:r>
            <a:rPr lang="ru-RU" sz="1800" i="0" dirty="0" smtClean="0">
              <a:latin typeface="+mn-lt"/>
            </a:rPr>
            <a:t>Таким образом </a:t>
          </a:r>
          <a:r>
            <a:rPr lang="ru-RU" sz="1800" i="1" dirty="0" smtClean="0">
              <a:latin typeface="+mn-lt"/>
            </a:rPr>
            <a:t>коэффициент корреляции</a:t>
          </a:r>
          <a:endParaRPr lang="ru-RU" sz="1800" dirty="0">
            <a:latin typeface="+mn-lt"/>
          </a:endParaRPr>
        </a:p>
      </dgm:t>
    </dgm:pt>
    <dgm:pt modelId="{72F24B08-6DD1-4523-9DD4-41057CDD1365}" type="parTrans" cxnId="{7C806369-406B-4E56-B742-A8925867740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46F30667-1291-4D10-A670-0E305AABD3CE}" type="sibTrans" cxnId="{7C806369-406B-4E56-B742-A8925867740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C250CC37-ECEE-4F99-AD34-FB955676BD45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Но </a:t>
          </a:r>
          <a:r>
            <a:rPr lang="en-US" sz="1800" i="1" dirty="0" smtClean="0">
              <a:latin typeface="+mn-lt"/>
            </a:rPr>
            <a:t>ρ</a:t>
          </a:r>
          <a:r>
            <a:rPr lang="en-US" sz="1800" dirty="0" smtClean="0">
              <a:latin typeface="+mn-lt"/>
            </a:rPr>
            <a:t> </a:t>
          </a:r>
          <a:r>
            <a:rPr lang="ru-RU" sz="1800" dirty="0" smtClean="0">
              <a:latin typeface="+mn-lt"/>
            </a:rPr>
            <a:t>= </a:t>
          </a:r>
          <a:r>
            <a:rPr lang="ru-RU" sz="1800" i="1" dirty="0" smtClean="0">
              <a:latin typeface="+mn-lt"/>
              <a:cs typeface="Times New Roman"/>
            </a:rPr>
            <a:t>0</a:t>
          </a:r>
          <a:r>
            <a:rPr lang="ru-RU" sz="1800" dirty="0" smtClean="0">
              <a:latin typeface="+mn-lt"/>
            </a:rPr>
            <a:t> и для некоторых зависимых величин, которые называются в этом случае </a:t>
          </a:r>
          <a:r>
            <a:rPr lang="ru-RU" sz="1800" i="1" dirty="0" smtClean="0">
              <a:latin typeface="+mn-lt"/>
            </a:rPr>
            <a:t>некоррелированными</a:t>
          </a:r>
          <a:r>
            <a:rPr lang="ru-RU" sz="1800" dirty="0" smtClean="0">
              <a:latin typeface="+mn-lt"/>
            </a:rPr>
            <a:t>. </a:t>
          </a:r>
          <a:endParaRPr lang="ru-RU" sz="1800" dirty="0">
            <a:latin typeface="+mn-lt"/>
          </a:endParaRPr>
        </a:p>
      </dgm:t>
    </dgm:pt>
    <dgm:pt modelId="{D545B6BE-6177-4523-B3FF-DB0EBB5C2BD4}" type="parTrans" cxnId="{EA7FF431-FA6A-4E67-85A6-C0A1BDA4D0A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A061CDFC-9BA3-4504-A949-802EFC3488CE}" type="sibTrans" cxnId="{EA7FF431-FA6A-4E67-85A6-C0A1BDA4D0A8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E1A7D719-FB12-42BD-BF49-EE7A2AB14007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чем больше ρ по модулю, тем сильнее связь;</a:t>
          </a:r>
          <a:endParaRPr lang="ru-RU" sz="1800" dirty="0">
            <a:latin typeface="+mn-lt"/>
          </a:endParaRPr>
        </a:p>
      </dgm:t>
    </dgm:pt>
    <dgm:pt modelId="{4778E947-FB5C-4659-B6AD-328360623197}" type="parTrans" cxnId="{7678A43E-11C0-4880-867D-C8914BDBF50D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D602E3F9-EC8C-4BB8-B314-50231DEA4E57}" type="sibTrans" cxnId="{7678A43E-11C0-4880-867D-C8914BDBF50D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C62C3063-11C5-442B-86FB-C4A26356CC40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Сила связи:</a:t>
          </a:r>
          <a:endParaRPr lang="ru-RU" sz="1800" dirty="0">
            <a:latin typeface="+mn-lt"/>
          </a:endParaRPr>
        </a:p>
      </dgm:t>
    </dgm:pt>
    <dgm:pt modelId="{669B9636-B344-4DFB-ADBD-E63C6B718593}" type="parTrans" cxnId="{879FE20F-64AE-4AA6-90C2-032CC792E17F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C81BAE33-EA2A-4757-BDD1-51DA4FD2A4D5}" type="sibTrans" cxnId="{879FE20F-64AE-4AA6-90C2-032CC792E17F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916B8E1A-34F4-46FC-AC02-F983CBF7F716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показатель того, насколько связь между величинами близка к строгой линейной зависимости. </a:t>
          </a:r>
          <a:endParaRPr lang="ru-RU" sz="1800" dirty="0">
            <a:latin typeface="+mn-lt"/>
          </a:endParaRPr>
        </a:p>
      </dgm:t>
    </dgm:pt>
    <dgm:pt modelId="{33BB256E-C01E-4454-8A28-557575EA0798}" type="parTrans" cxnId="{77DC0A9C-BF2C-4E99-87AC-9E879DDA08D3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7527F605-BF9A-4CF3-B9BC-E8FDDB9191A5}" type="sibTrans" cxnId="{77DC0A9C-BF2C-4E99-87AC-9E879DDA08D3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A843C486-40E1-45FA-83D1-48F547EF7320}">
      <dgm:prSet custT="1"/>
      <dgm:spPr/>
      <dgm:t>
        <a:bodyPr/>
        <a:lstStyle/>
        <a:p>
          <a:pPr rtl="0"/>
          <a:r>
            <a:rPr lang="ru-RU" sz="1800" dirty="0" smtClean="0">
              <a:latin typeface="+mn-lt"/>
            </a:rPr>
            <a:t>отмечает как долю случайности, так и степень близости к линейной зависимости</a:t>
          </a:r>
          <a:r>
            <a:rPr lang="ru-RU" sz="1500" dirty="0" smtClean="0">
              <a:latin typeface="+mn-lt"/>
            </a:rPr>
            <a:t>.</a:t>
          </a:r>
          <a:endParaRPr lang="ru-RU" sz="1500" dirty="0">
            <a:latin typeface="+mn-lt"/>
          </a:endParaRPr>
        </a:p>
      </dgm:t>
    </dgm:pt>
    <dgm:pt modelId="{3EDD28FB-C5EF-4761-B52E-EEAD5FED3F18}" type="parTrans" cxnId="{BCFEF8D0-0522-4EFC-9981-138B9C51F8D4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55845149-D0B1-4169-9BC8-F09D0C2E8E0F}" type="sibTrans" cxnId="{BCFEF8D0-0522-4EFC-9981-138B9C51F8D4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8CBD06A9-FE10-486E-9A91-1384EB0EF85F}">
      <dgm:prSet custT="1"/>
      <dgm:spPr/>
      <dgm:t>
        <a:bodyPr/>
        <a:lstStyle/>
        <a:p>
          <a:pPr rtl="0"/>
          <a:r>
            <a:rPr lang="ru-RU" sz="1800" i="1" dirty="0" smtClean="0">
              <a:latin typeface="+mn-lt"/>
            </a:rPr>
            <a:t>ρ = ±1 </a:t>
          </a:r>
          <a:r>
            <a:rPr lang="ru-RU" sz="1800" dirty="0" smtClean="0">
              <a:latin typeface="+mn-lt"/>
            </a:rPr>
            <a:t>означает, что между величинами существует функциональная связь, но не любая, а </a:t>
          </a:r>
          <a:r>
            <a:rPr lang="ru-RU" sz="1800" i="1" dirty="0" smtClean="0">
              <a:latin typeface="+mn-lt"/>
            </a:rPr>
            <a:t>строгая линейная зависимость</a:t>
          </a:r>
          <a:endParaRPr lang="ru-RU" sz="1800" dirty="0">
            <a:latin typeface="+mn-lt"/>
          </a:endParaRPr>
        </a:p>
      </dgm:t>
    </dgm:pt>
    <dgm:pt modelId="{3150CA59-8579-4587-BEB7-F4D733E2DEEE}" type="parTrans" cxnId="{4F37F041-17E6-406B-94EB-60D070E99383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F649BF49-CE30-4BB9-9C18-B6CFB7725B3A}" type="sibTrans" cxnId="{4F37F041-17E6-406B-94EB-60D070E99383}">
      <dgm:prSet/>
      <dgm:spPr/>
      <dgm:t>
        <a:bodyPr/>
        <a:lstStyle/>
        <a:p>
          <a:endParaRPr lang="ru-RU">
            <a:latin typeface="+mn-lt"/>
          </a:endParaRPr>
        </a:p>
      </dgm:t>
    </dgm:pt>
    <dgm:pt modelId="{36590B65-F611-4BDE-8096-D608D0C63270}" type="pres">
      <dgm:prSet presAssocID="{D53F4DA6-E327-4DA6-A6F2-36DEE7C66AC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2F98A7B-E3E6-4B18-B5C9-22CBB7C78603}" type="pres">
      <dgm:prSet presAssocID="{4BA9B1CB-2FA7-49FB-9EF0-C6F3DB730981}" presName="parentLin" presStyleCnt="0"/>
      <dgm:spPr/>
    </dgm:pt>
    <dgm:pt modelId="{3C2F8A75-7465-4700-B310-87DE516168B1}" type="pres">
      <dgm:prSet presAssocID="{4BA9B1CB-2FA7-49FB-9EF0-C6F3DB730981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65C32AE4-095E-4B69-89EE-2BFEF4A53F27}" type="pres">
      <dgm:prSet presAssocID="{4BA9B1CB-2FA7-49FB-9EF0-C6F3DB730981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D1E623-B3E7-4D3F-9589-16984C0F59A5}" type="pres">
      <dgm:prSet presAssocID="{4BA9B1CB-2FA7-49FB-9EF0-C6F3DB730981}" presName="negativeSpace" presStyleCnt="0"/>
      <dgm:spPr/>
    </dgm:pt>
    <dgm:pt modelId="{94369E73-7214-47F4-9D49-101D3E557ADB}" type="pres">
      <dgm:prSet presAssocID="{4BA9B1CB-2FA7-49FB-9EF0-C6F3DB730981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641946-FBF5-4801-AA8B-FB1716AF74A2}" type="pres">
      <dgm:prSet presAssocID="{8EF3AD30-FC9A-4CB6-BFC2-4095F20FB9C9}" presName="spaceBetweenRectangles" presStyleCnt="0"/>
      <dgm:spPr/>
    </dgm:pt>
    <dgm:pt modelId="{BA0EE280-E99A-49E6-9B9E-7440823D9F56}" type="pres">
      <dgm:prSet presAssocID="{CE484374-B480-41DA-871F-25A522A79383}" presName="parentLin" presStyleCnt="0"/>
      <dgm:spPr/>
    </dgm:pt>
    <dgm:pt modelId="{91028317-157E-4C4C-B1AF-466B530EB0E1}" type="pres">
      <dgm:prSet presAssocID="{CE484374-B480-41DA-871F-25A522A79383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A63B199D-E023-471C-B3AD-88034AE24586}" type="pres">
      <dgm:prSet presAssocID="{CE484374-B480-41DA-871F-25A522A79383}" presName="parentText" presStyleLbl="node1" presStyleIdx="1" presStyleCnt="5" custScaleX="111111" custScaleY="81459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4EB075-D7B6-43FC-9BA4-28079CE9C4F0}" type="pres">
      <dgm:prSet presAssocID="{CE484374-B480-41DA-871F-25A522A79383}" presName="negativeSpace" presStyleCnt="0"/>
      <dgm:spPr/>
    </dgm:pt>
    <dgm:pt modelId="{1A52549B-1781-4894-A4B3-BA5E25C46815}" type="pres">
      <dgm:prSet presAssocID="{CE484374-B480-41DA-871F-25A522A79383}" presName="childText" presStyleLbl="conFgAcc1" presStyleIdx="1" presStyleCnt="5">
        <dgm:presLayoutVars>
          <dgm:bulletEnabled val="1"/>
        </dgm:presLayoutVars>
      </dgm:prSet>
      <dgm:spPr/>
    </dgm:pt>
    <dgm:pt modelId="{85AF054A-5BF2-4901-97C9-265B41A9323D}" type="pres">
      <dgm:prSet presAssocID="{AD9F2A15-D0C6-4530-BCA8-79370095D4B5}" presName="spaceBetweenRectangles" presStyleCnt="0"/>
      <dgm:spPr/>
    </dgm:pt>
    <dgm:pt modelId="{76D560A5-9B71-4E7F-897B-9DA06990B8EA}" type="pres">
      <dgm:prSet presAssocID="{D67D85FC-F767-4670-A799-F94AD02E0F64}" presName="parentLin" presStyleCnt="0"/>
      <dgm:spPr/>
    </dgm:pt>
    <dgm:pt modelId="{8D475075-9C9F-497C-9721-6CCEEA21AA69}" type="pres">
      <dgm:prSet presAssocID="{D67D85FC-F767-4670-A799-F94AD02E0F64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47894362-4DFD-47E5-81C2-A50DA5E6177C}" type="pres">
      <dgm:prSet presAssocID="{D67D85FC-F767-4670-A799-F94AD02E0F64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2EBB65-769F-4941-9C1B-B4F84014FC7A}" type="pres">
      <dgm:prSet presAssocID="{D67D85FC-F767-4670-A799-F94AD02E0F64}" presName="negativeSpace" presStyleCnt="0"/>
      <dgm:spPr/>
    </dgm:pt>
    <dgm:pt modelId="{67900F57-FE63-49D2-8605-23C50517E536}" type="pres">
      <dgm:prSet presAssocID="{D67D85FC-F767-4670-A799-F94AD02E0F64}" presName="childText" presStyleLbl="conFgAcc1" presStyleIdx="2" presStyleCnt="5">
        <dgm:presLayoutVars>
          <dgm:bulletEnabled val="1"/>
        </dgm:presLayoutVars>
      </dgm:prSet>
      <dgm:spPr/>
    </dgm:pt>
    <dgm:pt modelId="{46D8ACB0-6D35-4993-B46C-15B20D294EEA}" type="pres">
      <dgm:prSet presAssocID="{3E21AC67-02AC-4635-B682-7876B117853F}" presName="spaceBetweenRectangles" presStyleCnt="0"/>
      <dgm:spPr/>
    </dgm:pt>
    <dgm:pt modelId="{5F1C2BC0-EF99-4F2B-93B0-FE9175663F48}" type="pres">
      <dgm:prSet presAssocID="{C62C3063-11C5-442B-86FB-C4A26356CC40}" presName="parentLin" presStyleCnt="0"/>
      <dgm:spPr/>
    </dgm:pt>
    <dgm:pt modelId="{D9CABF48-7A60-454E-808C-590BF59B182B}" type="pres">
      <dgm:prSet presAssocID="{C62C3063-11C5-442B-86FB-C4A26356CC40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4420F0E1-93A9-47FF-804D-B9068386D3AF}" type="pres">
      <dgm:prSet presAssocID="{C62C3063-11C5-442B-86FB-C4A26356CC40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C1B10F-CBF3-44DA-A127-46DE7A411117}" type="pres">
      <dgm:prSet presAssocID="{C62C3063-11C5-442B-86FB-C4A26356CC40}" presName="negativeSpace" presStyleCnt="0"/>
      <dgm:spPr/>
    </dgm:pt>
    <dgm:pt modelId="{93B3DA8E-AD7C-49A4-9193-420EFF2DC736}" type="pres">
      <dgm:prSet presAssocID="{C62C3063-11C5-442B-86FB-C4A26356CC40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1B9DC4-5781-46CA-BFA8-F5112A470B8A}" type="pres">
      <dgm:prSet presAssocID="{C81BAE33-EA2A-4757-BDD1-51DA4FD2A4D5}" presName="spaceBetweenRectangles" presStyleCnt="0"/>
      <dgm:spPr/>
    </dgm:pt>
    <dgm:pt modelId="{8F4C48A4-3756-47D8-9DCD-5D9F032386E1}" type="pres">
      <dgm:prSet presAssocID="{4284C338-364D-4B07-BE50-B72D3EF06C39}" presName="parentLin" presStyleCnt="0"/>
      <dgm:spPr/>
    </dgm:pt>
    <dgm:pt modelId="{59055478-92EE-4A8B-A75F-7AFF1B2B65B0}" type="pres">
      <dgm:prSet presAssocID="{4284C338-364D-4B07-BE50-B72D3EF06C39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5BC9AAE7-BED1-45E3-9BB4-9CEAB65EAA03}" type="pres">
      <dgm:prSet presAssocID="{4284C338-364D-4B07-BE50-B72D3EF06C39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39A8BE-9C63-4C2E-900B-395B40ED1EBF}" type="pres">
      <dgm:prSet presAssocID="{4284C338-364D-4B07-BE50-B72D3EF06C39}" presName="negativeSpace" presStyleCnt="0"/>
      <dgm:spPr/>
    </dgm:pt>
    <dgm:pt modelId="{FF546098-BA9C-4EDF-B442-F5ECD8181212}" type="pres">
      <dgm:prSet presAssocID="{4284C338-364D-4B07-BE50-B72D3EF06C39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2C9A850-8344-4FBC-B3D3-8631990E054F}" type="presOf" srcId="{A843C486-40E1-45FA-83D1-48F547EF7320}" destId="{FF546098-BA9C-4EDF-B442-F5ECD8181212}" srcOrd="0" destOrd="1" presId="urn:microsoft.com/office/officeart/2005/8/layout/list1"/>
    <dgm:cxn modelId="{879FE20F-64AE-4AA6-90C2-032CC792E17F}" srcId="{D53F4DA6-E327-4DA6-A6F2-36DEE7C66ACC}" destId="{C62C3063-11C5-442B-86FB-C4A26356CC40}" srcOrd="3" destOrd="0" parTransId="{669B9636-B344-4DFB-ADBD-E63C6B718593}" sibTransId="{C81BAE33-EA2A-4757-BDD1-51DA4FD2A4D5}"/>
    <dgm:cxn modelId="{4F37F041-17E6-406B-94EB-60D070E99383}" srcId="{C62C3063-11C5-442B-86FB-C4A26356CC40}" destId="{8CBD06A9-FE10-486E-9A91-1384EB0EF85F}" srcOrd="1" destOrd="0" parTransId="{3150CA59-8579-4587-BEB7-F4D733E2DEEE}" sibTransId="{F649BF49-CE30-4BB9-9C18-B6CFB7725B3A}"/>
    <dgm:cxn modelId="{7C806369-406B-4E56-B742-A89258677408}" srcId="{D53F4DA6-E327-4DA6-A6F2-36DEE7C66ACC}" destId="{4284C338-364D-4B07-BE50-B72D3EF06C39}" srcOrd="4" destOrd="0" parTransId="{72F24B08-6DD1-4523-9DD4-41057CDD1365}" sibTransId="{46F30667-1291-4D10-A670-0E305AABD3CE}"/>
    <dgm:cxn modelId="{6C553321-7998-44A1-B70A-5253A65498C4}" type="presOf" srcId="{CE484374-B480-41DA-871F-25A522A79383}" destId="{A63B199D-E023-471C-B3AD-88034AE24586}" srcOrd="1" destOrd="0" presId="urn:microsoft.com/office/officeart/2005/8/layout/list1"/>
    <dgm:cxn modelId="{7E537241-7A2F-4676-9DBA-8EAE2CD0BF28}" srcId="{D53F4DA6-E327-4DA6-A6F2-36DEE7C66ACC}" destId="{D67D85FC-F767-4670-A799-F94AD02E0F64}" srcOrd="2" destOrd="0" parTransId="{FE8E2D65-B29E-423F-995D-684ACDABD662}" sibTransId="{3E21AC67-02AC-4635-B682-7876B117853F}"/>
    <dgm:cxn modelId="{989D1041-D762-4A06-A3C8-3B482F3179CB}" type="presOf" srcId="{4BA9B1CB-2FA7-49FB-9EF0-C6F3DB730981}" destId="{65C32AE4-095E-4B69-89EE-2BFEF4A53F27}" srcOrd="1" destOrd="0" presId="urn:microsoft.com/office/officeart/2005/8/layout/list1"/>
    <dgm:cxn modelId="{BCFEF8D0-0522-4EFC-9981-138B9C51F8D4}" srcId="{4284C338-364D-4B07-BE50-B72D3EF06C39}" destId="{A843C486-40E1-45FA-83D1-48F547EF7320}" srcOrd="1" destOrd="0" parTransId="{3EDD28FB-C5EF-4761-B52E-EEAD5FED3F18}" sibTransId="{55845149-D0B1-4169-9BC8-F09D0C2E8E0F}"/>
    <dgm:cxn modelId="{CC669866-09A4-4413-8F49-C452BE264C74}" type="presOf" srcId="{C62C3063-11C5-442B-86FB-C4A26356CC40}" destId="{D9CABF48-7A60-454E-808C-590BF59B182B}" srcOrd="0" destOrd="0" presId="urn:microsoft.com/office/officeart/2005/8/layout/list1"/>
    <dgm:cxn modelId="{2D8CACC0-4308-483A-82A2-3BFA6598CA00}" type="presOf" srcId="{D67D85FC-F767-4670-A799-F94AD02E0F64}" destId="{8D475075-9C9F-497C-9721-6CCEEA21AA69}" srcOrd="0" destOrd="0" presId="urn:microsoft.com/office/officeart/2005/8/layout/list1"/>
    <dgm:cxn modelId="{77505CE6-3F32-41ED-AFD7-7D2F575930ED}" srcId="{D53F4DA6-E327-4DA6-A6F2-36DEE7C66ACC}" destId="{CE484374-B480-41DA-871F-25A522A79383}" srcOrd="1" destOrd="0" parTransId="{84B45AEE-4F24-46E1-AECE-558483EF4B2C}" sibTransId="{AD9F2A15-D0C6-4530-BCA8-79370095D4B5}"/>
    <dgm:cxn modelId="{1C26FE5A-FFD5-4FB6-907B-0986E4EA17A3}" type="presOf" srcId="{E1A7D719-FB12-42BD-BF49-EE7A2AB14007}" destId="{93B3DA8E-AD7C-49A4-9193-420EFF2DC736}" srcOrd="0" destOrd="0" presId="urn:microsoft.com/office/officeart/2005/8/layout/list1"/>
    <dgm:cxn modelId="{82388522-7D1A-4803-B054-75FF5849ECA4}" type="presOf" srcId="{D53F4DA6-E327-4DA6-A6F2-36DEE7C66ACC}" destId="{36590B65-F611-4BDE-8096-D608D0C63270}" srcOrd="0" destOrd="0" presId="urn:microsoft.com/office/officeart/2005/8/layout/list1"/>
    <dgm:cxn modelId="{66DCA1B2-19B0-41DF-986E-A769B5FD46D6}" srcId="{D53F4DA6-E327-4DA6-A6F2-36DEE7C66ACC}" destId="{4BA9B1CB-2FA7-49FB-9EF0-C6F3DB730981}" srcOrd="0" destOrd="0" parTransId="{777BC8C4-F38C-4891-B25E-836ACDDA2419}" sibTransId="{8EF3AD30-FC9A-4CB6-BFC2-4095F20FB9C9}"/>
    <dgm:cxn modelId="{B8E99C8F-7490-430B-9E04-1CB565BD07CB}" type="presOf" srcId="{4284C338-364D-4B07-BE50-B72D3EF06C39}" destId="{5BC9AAE7-BED1-45E3-9BB4-9CEAB65EAA03}" srcOrd="1" destOrd="0" presId="urn:microsoft.com/office/officeart/2005/8/layout/list1"/>
    <dgm:cxn modelId="{7678A43E-11C0-4880-867D-C8914BDBF50D}" srcId="{C62C3063-11C5-442B-86FB-C4A26356CC40}" destId="{E1A7D719-FB12-42BD-BF49-EE7A2AB14007}" srcOrd="0" destOrd="0" parTransId="{4778E947-FB5C-4659-B6AD-328360623197}" sibTransId="{D602E3F9-EC8C-4BB8-B314-50231DEA4E57}"/>
    <dgm:cxn modelId="{F8FDE696-357D-41F8-8764-219B590F7656}" type="presOf" srcId="{4284C338-364D-4B07-BE50-B72D3EF06C39}" destId="{59055478-92EE-4A8B-A75F-7AFF1B2B65B0}" srcOrd="0" destOrd="0" presId="urn:microsoft.com/office/officeart/2005/8/layout/list1"/>
    <dgm:cxn modelId="{77DC0A9C-BF2C-4E99-87AC-9E879DDA08D3}" srcId="{4284C338-364D-4B07-BE50-B72D3EF06C39}" destId="{916B8E1A-34F4-46FC-AC02-F983CBF7F716}" srcOrd="0" destOrd="0" parTransId="{33BB256E-C01E-4454-8A28-557575EA0798}" sibTransId="{7527F605-BF9A-4CF3-B9BC-E8FDDB9191A5}"/>
    <dgm:cxn modelId="{825DD2F6-41CC-4389-9E6A-1AABE223AB91}" type="presOf" srcId="{8CBD06A9-FE10-486E-9A91-1384EB0EF85F}" destId="{93B3DA8E-AD7C-49A4-9193-420EFF2DC736}" srcOrd="0" destOrd="1" presId="urn:microsoft.com/office/officeart/2005/8/layout/list1"/>
    <dgm:cxn modelId="{99484D9C-4248-4FB2-BDF4-89E6C79CAC56}" type="presOf" srcId="{C62C3063-11C5-442B-86FB-C4A26356CC40}" destId="{4420F0E1-93A9-47FF-804D-B9068386D3AF}" srcOrd="1" destOrd="0" presId="urn:microsoft.com/office/officeart/2005/8/layout/list1"/>
    <dgm:cxn modelId="{2F3BCFB9-9E77-45DC-B482-2C3D62C12363}" type="presOf" srcId="{CE484374-B480-41DA-871F-25A522A79383}" destId="{91028317-157E-4C4C-B1AF-466B530EB0E1}" srcOrd="0" destOrd="0" presId="urn:microsoft.com/office/officeart/2005/8/layout/list1"/>
    <dgm:cxn modelId="{2A4AA5B4-62F2-41E7-83E8-DE24B5228F45}" type="presOf" srcId="{C250CC37-ECEE-4F99-AD34-FB955676BD45}" destId="{94369E73-7214-47F4-9D49-101D3E557ADB}" srcOrd="0" destOrd="0" presId="urn:microsoft.com/office/officeart/2005/8/layout/list1"/>
    <dgm:cxn modelId="{3A4EF9AC-9183-4BEB-B8BC-D3215F9DEF2A}" type="presOf" srcId="{D67D85FC-F767-4670-A799-F94AD02E0F64}" destId="{47894362-4DFD-47E5-81C2-A50DA5E6177C}" srcOrd="1" destOrd="0" presId="urn:microsoft.com/office/officeart/2005/8/layout/list1"/>
    <dgm:cxn modelId="{C309DDF2-7574-4807-B98A-354CBE48E55E}" type="presOf" srcId="{4BA9B1CB-2FA7-49FB-9EF0-C6F3DB730981}" destId="{3C2F8A75-7465-4700-B310-87DE516168B1}" srcOrd="0" destOrd="0" presId="urn:microsoft.com/office/officeart/2005/8/layout/list1"/>
    <dgm:cxn modelId="{05858F76-C841-4A80-BBD1-C1074299026A}" type="presOf" srcId="{916B8E1A-34F4-46FC-AC02-F983CBF7F716}" destId="{FF546098-BA9C-4EDF-B442-F5ECD8181212}" srcOrd="0" destOrd="0" presId="urn:microsoft.com/office/officeart/2005/8/layout/list1"/>
    <dgm:cxn modelId="{EA7FF431-FA6A-4E67-85A6-C0A1BDA4D0A8}" srcId="{4BA9B1CB-2FA7-49FB-9EF0-C6F3DB730981}" destId="{C250CC37-ECEE-4F99-AD34-FB955676BD45}" srcOrd="0" destOrd="0" parTransId="{D545B6BE-6177-4523-B3FF-DB0EBB5C2BD4}" sibTransId="{A061CDFC-9BA3-4504-A949-802EFC3488CE}"/>
    <dgm:cxn modelId="{CF1386BA-2ED1-4DB7-90FA-2882C7FF831F}" type="presParOf" srcId="{36590B65-F611-4BDE-8096-D608D0C63270}" destId="{D2F98A7B-E3E6-4B18-B5C9-22CBB7C78603}" srcOrd="0" destOrd="0" presId="urn:microsoft.com/office/officeart/2005/8/layout/list1"/>
    <dgm:cxn modelId="{E4A264FC-AE0F-43A4-846E-07A3B678FF06}" type="presParOf" srcId="{D2F98A7B-E3E6-4B18-B5C9-22CBB7C78603}" destId="{3C2F8A75-7465-4700-B310-87DE516168B1}" srcOrd="0" destOrd="0" presId="urn:microsoft.com/office/officeart/2005/8/layout/list1"/>
    <dgm:cxn modelId="{DB6ACFDD-B8A0-4311-BDA0-95C48BCCE007}" type="presParOf" srcId="{D2F98A7B-E3E6-4B18-B5C9-22CBB7C78603}" destId="{65C32AE4-095E-4B69-89EE-2BFEF4A53F27}" srcOrd="1" destOrd="0" presId="urn:microsoft.com/office/officeart/2005/8/layout/list1"/>
    <dgm:cxn modelId="{34F6604F-9DFA-48DD-94CA-65F80BAA65BC}" type="presParOf" srcId="{36590B65-F611-4BDE-8096-D608D0C63270}" destId="{CDD1E623-B3E7-4D3F-9589-16984C0F59A5}" srcOrd="1" destOrd="0" presId="urn:microsoft.com/office/officeart/2005/8/layout/list1"/>
    <dgm:cxn modelId="{90AEF2DD-7DAC-4E54-8960-B98BA75C65D3}" type="presParOf" srcId="{36590B65-F611-4BDE-8096-D608D0C63270}" destId="{94369E73-7214-47F4-9D49-101D3E557ADB}" srcOrd="2" destOrd="0" presId="urn:microsoft.com/office/officeart/2005/8/layout/list1"/>
    <dgm:cxn modelId="{369BBCBB-394E-495F-B9AD-61CD53A09317}" type="presParOf" srcId="{36590B65-F611-4BDE-8096-D608D0C63270}" destId="{73641946-FBF5-4801-AA8B-FB1716AF74A2}" srcOrd="3" destOrd="0" presId="urn:microsoft.com/office/officeart/2005/8/layout/list1"/>
    <dgm:cxn modelId="{7BC792A2-5362-46E7-9E55-1027C960A1E4}" type="presParOf" srcId="{36590B65-F611-4BDE-8096-D608D0C63270}" destId="{BA0EE280-E99A-49E6-9B9E-7440823D9F56}" srcOrd="4" destOrd="0" presId="urn:microsoft.com/office/officeart/2005/8/layout/list1"/>
    <dgm:cxn modelId="{F154CBFE-B7D7-4030-B470-F07A493F55B3}" type="presParOf" srcId="{BA0EE280-E99A-49E6-9B9E-7440823D9F56}" destId="{91028317-157E-4C4C-B1AF-466B530EB0E1}" srcOrd="0" destOrd="0" presId="urn:microsoft.com/office/officeart/2005/8/layout/list1"/>
    <dgm:cxn modelId="{F236488B-9D63-43C6-A77D-0BB48EA2A883}" type="presParOf" srcId="{BA0EE280-E99A-49E6-9B9E-7440823D9F56}" destId="{A63B199D-E023-471C-B3AD-88034AE24586}" srcOrd="1" destOrd="0" presId="urn:microsoft.com/office/officeart/2005/8/layout/list1"/>
    <dgm:cxn modelId="{5704CD2F-41AF-4E0F-BEFF-23553C19E85A}" type="presParOf" srcId="{36590B65-F611-4BDE-8096-D608D0C63270}" destId="{EF4EB075-D7B6-43FC-9BA4-28079CE9C4F0}" srcOrd="5" destOrd="0" presId="urn:microsoft.com/office/officeart/2005/8/layout/list1"/>
    <dgm:cxn modelId="{358F9924-5956-4BCC-8EA1-FE73E2A0ACBD}" type="presParOf" srcId="{36590B65-F611-4BDE-8096-D608D0C63270}" destId="{1A52549B-1781-4894-A4B3-BA5E25C46815}" srcOrd="6" destOrd="0" presId="urn:microsoft.com/office/officeart/2005/8/layout/list1"/>
    <dgm:cxn modelId="{A567C9BC-F35A-4BA1-8444-4F3BADF7A07C}" type="presParOf" srcId="{36590B65-F611-4BDE-8096-D608D0C63270}" destId="{85AF054A-5BF2-4901-97C9-265B41A9323D}" srcOrd="7" destOrd="0" presId="urn:microsoft.com/office/officeart/2005/8/layout/list1"/>
    <dgm:cxn modelId="{2582D1A9-39DB-45E2-8479-B8D58E7718DD}" type="presParOf" srcId="{36590B65-F611-4BDE-8096-D608D0C63270}" destId="{76D560A5-9B71-4E7F-897B-9DA06990B8EA}" srcOrd="8" destOrd="0" presId="urn:microsoft.com/office/officeart/2005/8/layout/list1"/>
    <dgm:cxn modelId="{C9FA1AA9-194F-4771-9AA4-87AA304DE173}" type="presParOf" srcId="{76D560A5-9B71-4E7F-897B-9DA06990B8EA}" destId="{8D475075-9C9F-497C-9721-6CCEEA21AA69}" srcOrd="0" destOrd="0" presId="urn:microsoft.com/office/officeart/2005/8/layout/list1"/>
    <dgm:cxn modelId="{164E2ED1-45AB-41E0-8F5F-95A9876BF8D9}" type="presParOf" srcId="{76D560A5-9B71-4E7F-897B-9DA06990B8EA}" destId="{47894362-4DFD-47E5-81C2-A50DA5E6177C}" srcOrd="1" destOrd="0" presId="urn:microsoft.com/office/officeart/2005/8/layout/list1"/>
    <dgm:cxn modelId="{09E47711-4532-4551-A910-C6E065DE2F99}" type="presParOf" srcId="{36590B65-F611-4BDE-8096-D608D0C63270}" destId="{F12EBB65-769F-4941-9C1B-B4F84014FC7A}" srcOrd="9" destOrd="0" presId="urn:microsoft.com/office/officeart/2005/8/layout/list1"/>
    <dgm:cxn modelId="{BB886D14-4B99-4648-81A6-249B844CFE4A}" type="presParOf" srcId="{36590B65-F611-4BDE-8096-D608D0C63270}" destId="{67900F57-FE63-49D2-8605-23C50517E536}" srcOrd="10" destOrd="0" presId="urn:microsoft.com/office/officeart/2005/8/layout/list1"/>
    <dgm:cxn modelId="{AC33D6B0-ACC4-4CE0-B87A-28F61418B2FD}" type="presParOf" srcId="{36590B65-F611-4BDE-8096-D608D0C63270}" destId="{46D8ACB0-6D35-4993-B46C-15B20D294EEA}" srcOrd="11" destOrd="0" presId="urn:microsoft.com/office/officeart/2005/8/layout/list1"/>
    <dgm:cxn modelId="{CAC08DCB-DC15-4E02-B7A8-80CE4E1931DA}" type="presParOf" srcId="{36590B65-F611-4BDE-8096-D608D0C63270}" destId="{5F1C2BC0-EF99-4F2B-93B0-FE9175663F48}" srcOrd="12" destOrd="0" presId="urn:microsoft.com/office/officeart/2005/8/layout/list1"/>
    <dgm:cxn modelId="{2000214E-BFF2-4A3D-B695-C47D2963913C}" type="presParOf" srcId="{5F1C2BC0-EF99-4F2B-93B0-FE9175663F48}" destId="{D9CABF48-7A60-454E-808C-590BF59B182B}" srcOrd="0" destOrd="0" presId="urn:microsoft.com/office/officeart/2005/8/layout/list1"/>
    <dgm:cxn modelId="{1F5B11CA-115C-4911-AB09-B7981C362334}" type="presParOf" srcId="{5F1C2BC0-EF99-4F2B-93B0-FE9175663F48}" destId="{4420F0E1-93A9-47FF-804D-B9068386D3AF}" srcOrd="1" destOrd="0" presId="urn:microsoft.com/office/officeart/2005/8/layout/list1"/>
    <dgm:cxn modelId="{FADC020E-6DDF-48EE-B5DF-87165847C373}" type="presParOf" srcId="{36590B65-F611-4BDE-8096-D608D0C63270}" destId="{93C1B10F-CBF3-44DA-A127-46DE7A411117}" srcOrd="13" destOrd="0" presId="urn:microsoft.com/office/officeart/2005/8/layout/list1"/>
    <dgm:cxn modelId="{28DEF562-D76E-44EC-87BD-22EF52CFFEBD}" type="presParOf" srcId="{36590B65-F611-4BDE-8096-D608D0C63270}" destId="{93B3DA8E-AD7C-49A4-9193-420EFF2DC736}" srcOrd="14" destOrd="0" presId="urn:microsoft.com/office/officeart/2005/8/layout/list1"/>
    <dgm:cxn modelId="{2018A042-6BDA-46F8-B54A-44332AEA6901}" type="presParOf" srcId="{36590B65-F611-4BDE-8096-D608D0C63270}" destId="{341B9DC4-5781-46CA-BFA8-F5112A470B8A}" srcOrd="15" destOrd="0" presId="urn:microsoft.com/office/officeart/2005/8/layout/list1"/>
    <dgm:cxn modelId="{315D9400-CF9E-496D-A664-3F4B40F2812E}" type="presParOf" srcId="{36590B65-F611-4BDE-8096-D608D0C63270}" destId="{8F4C48A4-3756-47D8-9DCD-5D9F032386E1}" srcOrd="16" destOrd="0" presId="urn:microsoft.com/office/officeart/2005/8/layout/list1"/>
    <dgm:cxn modelId="{3AB64F18-BE44-4157-9375-A4811B0B011F}" type="presParOf" srcId="{8F4C48A4-3756-47D8-9DCD-5D9F032386E1}" destId="{59055478-92EE-4A8B-A75F-7AFF1B2B65B0}" srcOrd="0" destOrd="0" presId="urn:microsoft.com/office/officeart/2005/8/layout/list1"/>
    <dgm:cxn modelId="{C979C30D-5025-45E0-8E91-0DE2DD4043C7}" type="presParOf" srcId="{8F4C48A4-3756-47D8-9DCD-5D9F032386E1}" destId="{5BC9AAE7-BED1-45E3-9BB4-9CEAB65EAA03}" srcOrd="1" destOrd="0" presId="urn:microsoft.com/office/officeart/2005/8/layout/list1"/>
    <dgm:cxn modelId="{B79216B2-8BFE-4202-B53F-37A3845F25A5}" type="presParOf" srcId="{36590B65-F611-4BDE-8096-D608D0C63270}" destId="{BA39A8BE-9C63-4C2E-900B-395B40ED1EBF}" srcOrd="17" destOrd="0" presId="urn:microsoft.com/office/officeart/2005/8/layout/list1"/>
    <dgm:cxn modelId="{552AB080-9676-4E88-A286-56F329E191DC}" type="presParOf" srcId="{36590B65-F611-4BDE-8096-D608D0C63270}" destId="{FF546098-BA9C-4EDF-B442-F5ECD818121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35C74C-DC4A-4A41-BBF3-960F296F92F4}" type="doc">
      <dgm:prSet loTypeId="urn:microsoft.com/office/officeart/2005/8/layout/pyramid2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74C038F9-9A3D-4E36-9D92-6434D1E99436}">
      <dgm:prSet custT="1"/>
      <dgm:spPr/>
      <dgm:t>
        <a:bodyPr/>
        <a:lstStyle/>
        <a:p>
          <a:pPr rtl="0"/>
          <a:r>
            <a:rPr lang="ru-RU" sz="1800" dirty="0" smtClean="0"/>
            <a:t>слабая — от 0,1 до 0,2 </a:t>
          </a:r>
          <a:endParaRPr lang="ru-RU" sz="1800" dirty="0"/>
        </a:p>
      </dgm:t>
    </dgm:pt>
    <dgm:pt modelId="{010EC554-0904-490D-83E2-E256D6A5B779}" type="parTrans" cxnId="{7FF1512C-57A9-4954-8677-ABA5E296ABA7}">
      <dgm:prSet/>
      <dgm:spPr/>
      <dgm:t>
        <a:bodyPr/>
        <a:lstStyle/>
        <a:p>
          <a:endParaRPr lang="ru-RU"/>
        </a:p>
      </dgm:t>
    </dgm:pt>
    <dgm:pt modelId="{3BA3B767-DE74-443B-B838-2B89AFF28BE1}" type="sibTrans" cxnId="{7FF1512C-57A9-4954-8677-ABA5E296ABA7}">
      <dgm:prSet/>
      <dgm:spPr/>
      <dgm:t>
        <a:bodyPr/>
        <a:lstStyle/>
        <a:p>
          <a:endParaRPr lang="ru-RU"/>
        </a:p>
      </dgm:t>
    </dgm:pt>
    <dgm:pt modelId="{C88C3D1A-4422-4113-9499-44CDA348F42B}">
      <dgm:prSet custT="1"/>
      <dgm:spPr/>
      <dgm:t>
        <a:bodyPr/>
        <a:lstStyle/>
        <a:p>
          <a:pPr rtl="0"/>
          <a:r>
            <a:rPr lang="ru-RU" sz="1800" dirty="0" smtClean="0"/>
            <a:t>умеренная — от 0,2 до 0,5</a:t>
          </a:r>
          <a:endParaRPr lang="ru-RU" sz="1800" dirty="0"/>
        </a:p>
      </dgm:t>
    </dgm:pt>
    <dgm:pt modelId="{81D358E1-74C1-4C26-B689-A9C5ECDC94AB}" type="parTrans" cxnId="{AE77DFBA-CAE3-4BDB-AD80-189C4068DAE6}">
      <dgm:prSet/>
      <dgm:spPr/>
      <dgm:t>
        <a:bodyPr/>
        <a:lstStyle/>
        <a:p>
          <a:endParaRPr lang="ru-RU"/>
        </a:p>
      </dgm:t>
    </dgm:pt>
    <dgm:pt modelId="{EB82C986-8538-43D4-B540-92589C32BA69}" type="sibTrans" cxnId="{AE77DFBA-CAE3-4BDB-AD80-189C4068DAE6}">
      <dgm:prSet/>
      <dgm:spPr/>
      <dgm:t>
        <a:bodyPr/>
        <a:lstStyle/>
        <a:p>
          <a:endParaRPr lang="ru-RU"/>
        </a:p>
      </dgm:t>
    </dgm:pt>
    <dgm:pt modelId="{30FDB4CE-BCF1-449E-8EF3-600C0FDDEAC1}">
      <dgm:prSet custT="1"/>
      <dgm:spPr/>
      <dgm:t>
        <a:bodyPr/>
        <a:lstStyle/>
        <a:p>
          <a:pPr rtl="0"/>
          <a:r>
            <a:rPr lang="ru-RU" sz="1800" dirty="0" smtClean="0"/>
            <a:t> заметная — от 0,5 до 0,7</a:t>
          </a:r>
          <a:endParaRPr lang="ru-RU" sz="1800" dirty="0"/>
        </a:p>
      </dgm:t>
    </dgm:pt>
    <dgm:pt modelId="{4A3EFCA6-DA53-4844-B4AB-0287D4182D07}" type="parTrans" cxnId="{36F25A75-F0BF-4A92-843F-4B109880F62B}">
      <dgm:prSet/>
      <dgm:spPr/>
      <dgm:t>
        <a:bodyPr/>
        <a:lstStyle/>
        <a:p>
          <a:endParaRPr lang="ru-RU"/>
        </a:p>
      </dgm:t>
    </dgm:pt>
    <dgm:pt modelId="{A511F9BC-8713-4352-9A24-5BFF8F6FFA6B}" type="sibTrans" cxnId="{36F25A75-F0BF-4A92-843F-4B109880F62B}">
      <dgm:prSet/>
      <dgm:spPr/>
      <dgm:t>
        <a:bodyPr/>
        <a:lstStyle/>
        <a:p>
          <a:endParaRPr lang="ru-RU"/>
        </a:p>
      </dgm:t>
    </dgm:pt>
    <dgm:pt modelId="{5583DA2B-2EC1-4DD3-83F5-FC6482EE6539}">
      <dgm:prSet custT="1"/>
      <dgm:spPr/>
      <dgm:t>
        <a:bodyPr/>
        <a:lstStyle/>
        <a:p>
          <a:pPr rtl="0"/>
          <a:r>
            <a:rPr lang="ru-RU" sz="1800" dirty="0" smtClean="0"/>
            <a:t> высокая — от 0,7 до 0,9</a:t>
          </a:r>
          <a:endParaRPr lang="ru-RU" sz="1800" dirty="0"/>
        </a:p>
      </dgm:t>
    </dgm:pt>
    <dgm:pt modelId="{A86D550A-52AB-48BF-9474-D1E7FEE4284A}" type="parTrans" cxnId="{5D03D31B-95F6-4BA3-9D77-1F01EC9692D7}">
      <dgm:prSet/>
      <dgm:spPr/>
      <dgm:t>
        <a:bodyPr/>
        <a:lstStyle/>
        <a:p>
          <a:endParaRPr lang="ru-RU"/>
        </a:p>
      </dgm:t>
    </dgm:pt>
    <dgm:pt modelId="{11104F24-E52A-4AD2-87BA-35AFD11242A1}" type="sibTrans" cxnId="{5D03D31B-95F6-4BA3-9D77-1F01EC9692D7}">
      <dgm:prSet/>
      <dgm:spPr/>
      <dgm:t>
        <a:bodyPr/>
        <a:lstStyle/>
        <a:p>
          <a:endParaRPr lang="ru-RU"/>
        </a:p>
      </dgm:t>
    </dgm:pt>
    <dgm:pt modelId="{6F1B8757-37FF-434D-B87B-AD0214F77232}">
      <dgm:prSet custT="1"/>
      <dgm:spPr/>
      <dgm:t>
        <a:bodyPr/>
        <a:lstStyle/>
        <a:p>
          <a:pPr rtl="0"/>
          <a:r>
            <a:rPr lang="ru-RU" sz="1800" dirty="0" smtClean="0"/>
            <a:t>весьма высокая (сильная) — от 0,9 до 1,0. </a:t>
          </a:r>
          <a:endParaRPr lang="ru-RU" sz="1800" dirty="0"/>
        </a:p>
      </dgm:t>
    </dgm:pt>
    <dgm:pt modelId="{DD99C4B1-004E-426D-A6AB-43C8FA7E0A34}" type="parTrans" cxnId="{10FA6C7E-2279-403E-BABE-60616BCD4EAC}">
      <dgm:prSet/>
      <dgm:spPr/>
      <dgm:t>
        <a:bodyPr/>
        <a:lstStyle/>
        <a:p>
          <a:endParaRPr lang="ru-RU"/>
        </a:p>
      </dgm:t>
    </dgm:pt>
    <dgm:pt modelId="{79E957FA-C4D4-481D-BC25-BB0893795A36}" type="sibTrans" cxnId="{10FA6C7E-2279-403E-BABE-60616BCD4EAC}">
      <dgm:prSet/>
      <dgm:spPr/>
      <dgm:t>
        <a:bodyPr/>
        <a:lstStyle/>
        <a:p>
          <a:endParaRPr lang="ru-RU"/>
        </a:p>
      </dgm:t>
    </dgm:pt>
    <dgm:pt modelId="{17BC762F-9A9D-4126-80A9-6FA5C77FA246}">
      <dgm:prSet custT="1"/>
      <dgm:spPr/>
      <dgm:t>
        <a:bodyPr/>
        <a:lstStyle/>
        <a:p>
          <a:pPr rtl="0"/>
          <a:r>
            <a:rPr lang="ru-RU" sz="1800" dirty="0" smtClean="0"/>
            <a:t>отсутствие корреляции</a:t>
          </a:r>
          <a:endParaRPr lang="ru-RU" sz="1800" dirty="0"/>
        </a:p>
      </dgm:t>
    </dgm:pt>
    <dgm:pt modelId="{E41F7418-F159-46A9-AEDA-28D601EAA8F6}" type="parTrans" cxnId="{791F050B-BE8D-4BC3-8E88-57D96DB27E5F}">
      <dgm:prSet/>
      <dgm:spPr/>
      <dgm:t>
        <a:bodyPr/>
        <a:lstStyle/>
        <a:p>
          <a:endParaRPr lang="ru-RU"/>
        </a:p>
      </dgm:t>
    </dgm:pt>
    <dgm:pt modelId="{4AACB5FD-74DF-49B3-B01F-0A400D87EF4D}" type="sibTrans" cxnId="{791F050B-BE8D-4BC3-8E88-57D96DB27E5F}">
      <dgm:prSet/>
      <dgm:spPr/>
      <dgm:t>
        <a:bodyPr/>
        <a:lstStyle/>
        <a:p>
          <a:endParaRPr lang="ru-RU"/>
        </a:p>
      </dgm:t>
    </dgm:pt>
    <dgm:pt modelId="{560C3863-B5D0-4D0A-A5C6-5C2BA2C6BB6C}" type="pres">
      <dgm:prSet presAssocID="{1735C74C-DC4A-4A41-BBF3-960F296F92F4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ru-RU"/>
        </a:p>
      </dgm:t>
    </dgm:pt>
    <dgm:pt modelId="{54BD6083-81C0-458A-A06B-A78BFCA10FC1}" type="pres">
      <dgm:prSet presAssocID="{1735C74C-DC4A-4A41-BBF3-960F296F92F4}" presName="pyramid" presStyleLbl="node1" presStyleIdx="0" presStyleCnt="1"/>
      <dgm:spPr/>
    </dgm:pt>
    <dgm:pt modelId="{57524DB7-085B-42FF-9FDE-62DA6BB2E762}" type="pres">
      <dgm:prSet presAssocID="{1735C74C-DC4A-4A41-BBF3-960F296F92F4}" presName="theList" presStyleCnt="0"/>
      <dgm:spPr/>
    </dgm:pt>
    <dgm:pt modelId="{7B0ED550-C119-4186-AF16-0989687C50CB}" type="pres">
      <dgm:prSet presAssocID="{17BC762F-9A9D-4126-80A9-6FA5C77FA246}" presName="aNode" presStyleLbl="fgAcc1" presStyleIdx="0" presStyleCnt="6" custLinFactNeighborX="-12" custLinFactNeighborY="166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E136E5-9D8D-4975-875D-91E8345BA320}" type="pres">
      <dgm:prSet presAssocID="{17BC762F-9A9D-4126-80A9-6FA5C77FA246}" presName="aSpace" presStyleCnt="0"/>
      <dgm:spPr/>
    </dgm:pt>
    <dgm:pt modelId="{A17E4C9E-7104-40C3-8F2C-AD53BD1A7EFE}" type="pres">
      <dgm:prSet presAssocID="{74C038F9-9A3D-4E36-9D92-6434D1E99436}" presName="aNode" presStyleLbl="fgAcc1" presStyleIdx="1" presStyleCnt="6" custLinFactNeighborX="-12" custLinFactNeighborY="166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0B7B430-EC4F-4CC9-BCBF-0E8625113F5D}" type="pres">
      <dgm:prSet presAssocID="{74C038F9-9A3D-4E36-9D92-6434D1E99436}" presName="aSpace" presStyleCnt="0"/>
      <dgm:spPr/>
    </dgm:pt>
    <dgm:pt modelId="{F1C8728E-EF5A-4A6D-A306-40D2ABB5CCC2}" type="pres">
      <dgm:prSet presAssocID="{C88C3D1A-4422-4113-9499-44CDA348F42B}" presName="aNode" presStyleLbl="fgAcc1" presStyleIdx="2" presStyleCnt="6" custLinFactNeighborX="-12" custLinFactNeighborY="166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DB7664-F23A-443D-B02C-74FA76782243}" type="pres">
      <dgm:prSet presAssocID="{C88C3D1A-4422-4113-9499-44CDA348F42B}" presName="aSpace" presStyleCnt="0"/>
      <dgm:spPr/>
    </dgm:pt>
    <dgm:pt modelId="{18B7AD80-90FF-4CB6-9306-3A752D36F198}" type="pres">
      <dgm:prSet presAssocID="{30FDB4CE-BCF1-449E-8EF3-600C0FDDEAC1}" presName="aNode" presStyleLbl="fgAcc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F4557B-0ED4-435A-94B6-AB29CE686C28}" type="pres">
      <dgm:prSet presAssocID="{30FDB4CE-BCF1-449E-8EF3-600C0FDDEAC1}" presName="aSpace" presStyleCnt="0"/>
      <dgm:spPr/>
    </dgm:pt>
    <dgm:pt modelId="{06C7ED77-EC17-45FA-B4E5-CD74C054A135}" type="pres">
      <dgm:prSet presAssocID="{5583DA2B-2EC1-4DD3-83F5-FC6482EE6539}" presName="aNode" presStyleLbl="fgAcc1" presStyleIdx="4" presStyleCnt="6" custLinFactNeighborX="-12" custLinFactNeighborY="166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D03E68-9525-44DF-8380-1C46EEA1372D}" type="pres">
      <dgm:prSet presAssocID="{5583DA2B-2EC1-4DD3-83F5-FC6482EE6539}" presName="aSpace" presStyleCnt="0"/>
      <dgm:spPr/>
    </dgm:pt>
    <dgm:pt modelId="{50058F46-DAB1-41FB-AAF4-F3E49A10D8A1}" type="pres">
      <dgm:prSet presAssocID="{6F1B8757-37FF-434D-B87B-AD0214F77232}" presName="aNode" presStyleLbl="fgAcc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41A47F-4B10-423D-A9D6-043FC4CE0052}" type="pres">
      <dgm:prSet presAssocID="{6F1B8757-37FF-434D-B87B-AD0214F77232}" presName="aSpace" presStyleCnt="0"/>
      <dgm:spPr/>
    </dgm:pt>
  </dgm:ptLst>
  <dgm:cxnLst>
    <dgm:cxn modelId="{36F25A75-F0BF-4A92-843F-4B109880F62B}" srcId="{1735C74C-DC4A-4A41-BBF3-960F296F92F4}" destId="{30FDB4CE-BCF1-449E-8EF3-600C0FDDEAC1}" srcOrd="3" destOrd="0" parTransId="{4A3EFCA6-DA53-4844-B4AB-0287D4182D07}" sibTransId="{A511F9BC-8713-4352-9A24-5BFF8F6FFA6B}"/>
    <dgm:cxn modelId="{7FF1512C-57A9-4954-8677-ABA5E296ABA7}" srcId="{1735C74C-DC4A-4A41-BBF3-960F296F92F4}" destId="{74C038F9-9A3D-4E36-9D92-6434D1E99436}" srcOrd="1" destOrd="0" parTransId="{010EC554-0904-490D-83E2-E256D6A5B779}" sibTransId="{3BA3B767-DE74-443B-B838-2B89AFF28BE1}"/>
    <dgm:cxn modelId="{10FA6C7E-2279-403E-BABE-60616BCD4EAC}" srcId="{1735C74C-DC4A-4A41-BBF3-960F296F92F4}" destId="{6F1B8757-37FF-434D-B87B-AD0214F77232}" srcOrd="5" destOrd="0" parTransId="{DD99C4B1-004E-426D-A6AB-43C8FA7E0A34}" sibTransId="{79E957FA-C4D4-481D-BC25-BB0893795A36}"/>
    <dgm:cxn modelId="{1894FA6C-EAD5-4452-8270-FF5738D32571}" type="presOf" srcId="{30FDB4CE-BCF1-449E-8EF3-600C0FDDEAC1}" destId="{18B7AD80-90FF-4CB6-9306-3A752D36F198}" srcOrd="0" destOrd="0" presId="urn:microsoft.com/office/officeart/2005/8/layout/pyramid2"/>
    <dgm:cxn modelId="{E1AFD44D-19E5-4B94-A5EB-AB6C583D1DAA}" type="presOf" srcId="{6F1B8757-37FF-434D-B87B-AD0214F77232}" destId="{50058F46-DAB1-41FB-AAF4-F3E49A10D8A1}" srcOrd="0" destOrd="0" presId="urn:microsoft.com/office/officeart/2005/8/layout/pyramid2"/>
    <dgm:cxn modelId="{D6DBD8A6-B6FE-4B19-8C9C-C05E476CB2E3}" type="presOf" srcId="{1735C74C-DC4A-4A41-BBF3-960F296F92F4}" destId="{560C3863-B5D0-4D0A-A5C6-5C2BA2C6BB6C}" srcOrd="0" destOrd="0" presId="urn:microsoft.com/office/officeart/2005/8/layout/pyramid2"/>
    <dgm:cxn modelId="{791F050B-BE8D-4BC3-8E88-57D96DB27E5F}" srcId="{1735C74C-DC4A-4A41-BBF3-960F296F92F4}" destId="{17BC762F-9A9D-4126-80A9-6FA5C77FA246}" srcOrd="0" destOrd="0" parTransId="{E41F7418-F159-46A9-AEDA-28D601EAA8F6}" sibTransId="{4AACB5FD-74DF-49B3-B01F-0A400D87EF4D}"/>
    <dgm:cxn modelId="{7B8099C3-E280-4E0A-A469-5286097A992B}" type="presOf" srcId="{74C038F9-9A3D-4E36-9D92-6434D1E99436}" destId="{A17E4C9E-7104-40C3-8F2C-AD53BD1A7EFE}" srcOrd="0" destOrd="0" presId="urn:microsoft.com/office/officeart/2005/8/layout/pyramid2"/>
    <dgm:cxn modelId="{C733C2FF-97BB-4FB8-9072-FC5D340CA2DF}" type="presOf" srcId="{C88C3D1A-4422-4113-9499-44CDA348F42B}" destId="{F1C8728E-EF5A-4A6D-A306-40D2ABB5CCC2}" srcOrd="0" destOrd="0" presId="urn:microsoft.com/office/officeart/2005/8/layout/pyramid2"/>
    <dgm:cxn modelId="{AE77DFBA-CAE3-4BDB-AD80-189C4068DAE6}" srcId="{1735C74C-DC4A-4A41-BBF3-960F296F92F4}" destId="{C88C3D1A-4422-4113-9499-44CDA348F42B}" srcOrd="2" destOrd="0" parTransId="{81D358E1-74C1-4C26-B689-A9C5ECDC94AB}" sibTransId="{EB82C986-8538-43D4-B540-92589C32BA69}"/>
    <dgm:cxn modelId="{EE48F471-4AB3-44EC-AC54-99DB75AD85C9}" type="presOf" srcId="{17BC762F-9A9D-4126-80A9-6FA5C77FA246}" destId="{7B0ED550-C119-4186-AF16-0989687C50CB}" srcOrd="0" destOrd="0" presId="urn:microsoft.com/office/officeart/2005/8/layout/pyramid2"/>
    <dgm:cxn modelId="{DF157679-BD4D-4BA6-8141-9CEC738AFFEB}" type="presOf" srcId="{5583DA2B-2EC1-4DD3-83F5-FC6482EE6539}" destId="{06C7ED77-EC17-45FA-B4E5-CD74C054A135}" srcOrd="0" destOrd="0" presId="urn:microsoft.com/office/officeart/2005/8/layout/pyramid2"/>
    <dgm:cxn modelId="{5D03D31B-95F6-4BA3-9D77-1F01EC9692D7}" srcId="{1735C74C-DC4A-4A41-BBF3-960F296F92F4}" destId="{5583DA2B-2EC1-4DD3-83F5-FC6482EE6539}" srcOrd="4" destOrd="0" parTransId="{A86D550A-52AB-48BF-9474-D1E7FEE4284A}" sibTransId="{11104F24-E52A-4AD2-87BA-35AFD11242A1}"/>
    <dgm:cxn modelId="{4BA946E3-1D90-460D-877E-16EFCE9F2175}" type="presParOf" srcId="{560C3863-B5D0-4D0A-A5C6-5C2BA2C6BB6C}" destId="{54BD6083-81C0-458A-A06B-A78BFCA10FC1}" srcOrd="0" destOrd="0" presId="urn:microsoft.com/office/officeart/2005/8/layout/pyramid2"/>
    <dgm:cxn modelId="{B4F0673C-9F8E-41C1-937C-04A7D0560783}" type="presParOf" srcId="{560C3863-B5D0-4D0A-A5C6-5C2BA2C6BB6C}" destId="{57524DB7-085B-42FF-9FDE-62DA6BB2E762}" srcOrd="1" destOrd="0" presId="urn:microsoft.com/office/officeart/2005/8/layout/pyramid2"/>
    <dgm:cxn modelId="{A8F31E8A-2FEC-41DA-B141-9076CB50A8DC}" type="presParOf" srcId="{57524DB7-085B-42FF-9FDE-62DA6BB2E762}" destId="{7B0ED550-C119-4186-AF16-0989687C50CB}" srcOrd="0" destOrd="0" presId="urn:microsoft.com/office/officeart/2005/8/layout/pyramid2"/>
    <dgm:cxn modelId="{B77C3F9E-9D93-45F4-A63F-545D54616107}" type="presParOf" srcId="{57524DB7-085B-42FF-9FDE-62DA6BB2E762}" destId="{26E136E5-9D8D-4975-875D-91E8345BA320}" srcOrd="1" destOrd="0" presId="urn:microsoft.com/office/officeart/2005/8/layout/pyramid2"/>
    <dgm:cxn modelId="{BB38FA73-D28D-4C82-B56E-8D42334C8AF3}" type="presParOf" srcId="{57524DB7-085B-42FF-9FDE-62DA6BB2E762}" destId="{A17E4C9E-7104-40C3-8F2C-AD53BD1A7EFE}" srcOrd="2" destOrd="0" presId="urn:microsoft.com/office/officeart/2005/8/layout/pyramid2"/>
    <dgm:cxn modelId="{005ED30C-2749-4FD3-8359-4A81663A91B1}" type="presParOf" srcId="{57524DB7-085B-42FF-9FDE-62DA6BB2E762}" destId="{00B7B430-EC4F-4CC9-BCBF-0E8625113F5D}" srcOrd="3" destOrd="0" presId="urn:microsoft.com/office/officeart/2005/8/layout/pyramid2"/>
    <dgm:cxn modelId="{FE963537-E4DE-4826-BF5F-84629145D42B}" type="presParOf" srcId="{57524DB7-085B-42FF-9FDE-62DA6BB2E762}" destId="{F1C8728E-EF5A-4A6D-A306-40D2ABB5CCC2}" srcOrd="4" destOrd="0" presId="urn:microsoft.com/office/officeart/2005/8/layout/pyramid2"/>
    <dgm:cxn modelId="{EE95B6D2-B8F8-4482-BB29-61691444969B}" type="presParOf" srcId="{57524DB7-085B-42FF-9FDE-62DA6BB2E762}" destId="{ACDB7664-F23A-443D-B02C-74FA76782243}" srcOrd="5" destOrd="0" presId="urn:microsoft.com/office/officeart/2005/8/layout/pyramid2"/>
    <dgm:cxn modelId="{7A2398CD-11C5-4C0A-B078-96B79EEE804E}" type="presParOf" srcId="{57524DB7-085B-42FF-9FDE-62DA6BB2E762}" destId="{18B7AD80-90FF-4CB6-9306-3A752D36F198}" srcOrd="6" destOrd="0" presId="urn:microsoft.com/office/officeart/2005/8/layout/pyramid2"/>
    <dgm:cxn modelId="{12074E09-4408-49D4-91A2-D23F254007A3}" type="presParOf" srcId="{57524DB7-085B-42FF-9FDE-62DA6BB2E762}" destId="{F4F4557B-0ED4-435A-94B6-AB29CE686C28}" srcOrd="7" destOrd="0" presId="urn:microsoft.com/office/officeart/2005/8/layout/pyramid2"/>
    <dgm:cxn modelId="{BD1E808A-21E5-4A05-9B6D-408E91B6F325}" type="presParOf" srcId="{57524DB7-085B-42FF-9FDE-62DA6BB2E762}" destId="{06C7ED77-EC17-45FA-B4E5-CD74C054A135}" srcOrd="8" destOrd="0" presId="urn:microsoft.com/office/officeart/2005/8/layout/pyramid2"/>
    <dgm:cxn modelId="{73B78290-9C26-419A-B751-100964D8FAB5}" type="presParOf" srcId="{57524DB7-085B-42FF-9FDE-62DA6BB2E762}" destId="{B1D03E68-9525-44DF-8380-1C46EEA1372D}" srcOrd="9" destOrd="0" presId="urn:microsoft.com/office/officeart/2005/8/layout/pyramid2"/>
    <dgm:cxn modelId="{404F1D0A-40F3-4344-8FB1-3BC0EE8D9003}" type="presParOf" srcId="{57524DB7-085B-42FF-9FDE-62DA6BB2E762}" destId="{50058F46-DAB1-41FB-AAF4-F3E49A10D8A1}" srcOrd="10" destOrd="0" presId="urn:microsoft.com/office/officeart/2005/8/layout/pyramid2"/>
    <dgm:cxn modelId="{2CD3CDF3-7475-4B60-94F6-4A3D7816755C}" type="presParOf" srcId="{57524DB7-085B-42FF-9FDE-62DA6BB2E762}" destId="{F041A47F-4B10-423D-A9D6-043FC4CE0052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71257E-09A5-4F52-84D9-8AF354E15081}" type="doc">
      <dgm:prSet loTypeId="urn:microsoft.com/office/officeart/2005/8/layout/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236115C2-00B5-426D-9FE0-95BE0E24FC25}">
      <dgm:prSet custT="1"/>
      <dgm:spPr/>
      <dgm:t>
        <a:bodyPr/>
        <a:lstStyle/>
        <a:p>
          <a:pPr rtl="0"/>
          <a:r>
            <a:rPr lang="ru-RU" sz="2000" b="1" dirty="0" smtClean="0"/>
            <a:t>При достаточно объеме</a:t>
          </a:r>
          <a:endParaRPr lang="ru-RU" sz="2000" b="1" dirty="0"/>
        </a:p>
      </dgm:t>
    </dgm:pt>
    <dgm:pt modelId="{5D7579AB-AB0E-495C-9098-D77DF2D06EBF}" type="parTrans" cxnId="{2F6C36B4-646F-41A6-AD59-DEB3784A218E}">
      <dgm:prSet/>
      <dgm:spPr/>
      <dgm:t>
        <a:bodyPr/>
        <a:lstStyle/>
        <a:p>
          <a:endParaRPr lang="ru-RU" sz="2000"/>
        </a:p>
      </dgm:t>
    </dgm:pt>
    <dgm:pt modelId="{10DBB84C-9933-4B84-8A83-B0DBCCCEDFE6}" type="sibTrans" cxnId="{2F6C36B4-646F-41A6-AD59-DEB3784A218E}">
      <dgm:prSet/>
      <dgm:spPr/>
      <dgm:t>
        <a:bodyPr/>
        <a:lstStyle/>
        <a:p>
          <a:endParaRPr lang="ru-RU" sz="2000"/>
        </a:p>
      </dgm:t>
    </dgm:pt>
    <dgm:pt modelId="{FA128422-E168-4B96-BF75-E936FBA789A6}">
      <dgm:prSet custT="1"/>
      <dgm:spPr/>
      <dgm:t>
        <a:bodyPr/>
        <a:lstStyle/>
        <a:p>
          <a:pPr rtl="0"/>
          <a:r>
            <a:rPr lang="ru-RU" sz="2000" b="1" dirty="0" smtClean="0"/>
            <a:t>Критерий значимости при проверке нулевой гипотезы</a:t>
          </a:r>
          <a:endParaRPr lang="ru-RU" sz="2000" b="1" dirty="0"/>
        </a:p>
      </dgm:t>
    </dgm:pt>
    <dgm:pt modelId="{DC5EE062-5B0B-43FB-916D-27226FC4F9C6}" type="parTrans" cxnId="{5A6F9151-2647-423C-951D-A0AB3FDA5FB4}">
      <dgm:prSet/>
      <dgm:spPr/>
      <dgm:t>
        <a:bodyPr/>
        <a:lstStyle/>
        <a:p>
          <a:endParaRPr lang="ru-RU" sz="2000"/>
        </a:p>
      </dgm:t>
    </dgm:pt>
    <dgm:pt modelId="{6B3252A6-7A13-4CBF-94D4-1A4D7F0C7BFB}" type="sibTrans" cxnId="{5A6F9151-2647-423C-951D-A0AB3FDA5FB4}">
      <dgm:prSet/>
      <dgm:spPr/>
      <dgm:t>
        <a:bodyPr/>
        <a:lstStyle/>
        <a:p>
          <a:endParaRPr lang="ru-RU" sz="2000"/>
        </a:p>
      </dgm:t>
    </dgm:pt>
    <dgm:pt modelId="{DBC6AA3C-E622-45E9-B0A9-AAACC2EDCF63}">
      <dgm:prSet custT="1"/>
      <dgm:spPr/>
      <dgm:t>
        <a:bodyPr/>
        <a:lstStyle/>
        <a:p>
          <a:pPr rtl="0"/>
          <a:r>
            <a:rPr lang="ru-RU" sz="2000" dirty="0" smtClean="0"/>
            <a:t>выборочный коэффициент корреляции </a:t>
          </a:r>
          <a:r>
            <a:rPr lang="en-US" sz="2000" i="1" dirty="0" smtClean="0"/>
            <a:t>r</a:t>
          </a:r>
          <a:r>
            <a:rPr lang="ru-RU" sz="2000" dirty="0" smtClean="0"/>
            <a:t> приближается к истинному значению </a:t>
          </a:r>
          <a:r>
            <a:rPr lang="ru-RU" sz="2000" i="1" dirty="0" smtClean="0"/>
            <a:t>ρ</a:t>
          </a:r>
          <a:endParaRPr lang="ru-RU" sz="2000" dirty="0"/>
        </a:p>
      </dgm:t>
    </dgm:pt>
    <dgm:pt modelId="{4F524030-F7B7-4645-8430-86C7451606EF}" type="parTrans" cxnId="{DB2A90E3-6FF8-4727-BCC5-2F4FA3414590}">
      <dgm:prSet/>
      <dgm:spPr/>
      <dgm:t>
        <a:bodyPr/>
        <a:lstStyle/>
        <a:p>
          <a:endParaRPr lang="ru-RU" sz="2000"/>
        </a:p>
      </dgm:t>
    </dgm:pt>
    <dgm:pt modelId="{A3183009-65F5-406C-B9BE-906898A2ACFF}" type="sibTrans" cxnId="{DB2A90E3-6FF8-4727-BCC5-2F4FA3414590}">
      <dgm:prSet/>
      <dgm:spPr/>
      <dgm:t>
        <a:bodyPr/>
        <a:lstStyle/>
        <a:p>
          <a:endParaRPr lang="ru-RU" sz="2000"/>
        </a:p>
      </dgm:t>
    </dgm:pt>
    <dgm:pt modelId="{E2B6F887-E4C1-49BB-8864-FD9F59EF628B}">
      <dgm:prSet custT="1"/>
      <dgm:spPr/>
      <dgm:t>
        <a:bodyPr/>
        <a:lstStyle/>
        <a:p>
          <a:pPr rtl="0"/>
          <a:r>
            <a:rPr lang="ru-RU" sz="2000" b="1" dirty="0" smtClean="0"/>
            <a:t>Требуется проверка гипотезы о наличии корреляционной связи</a:t>
          </a:r>
          <a:endParaRPr lang="ru-RU" sz="2000" b="1" dirty="0"/>
        </a:p>
      </dgm:t>
    </dgm:pt>
    <dgm:pt modelId="{226B7DEE-E878-4B37-B1E9-32F8A1CC41D1}" type="parTrans" cxnId="{6CFAD930-DFBE-4C70-9D30-F785C2031918}">
      <dgm:prSet/>
      <dgm:spPr/>
      <dgm:t>
        <a:bodyPr/>
        <a:lstStyle/>
        <a:p>
          <a:endParaRPr lang="ru-RU" sz="2000"/>
        </a:p>
      </dgm:t>
    </dgm:pt>
    <dgm:pt modelId="{DF387FC2-55B6-4E71-9DDD-9935A4E9156D}" type="sibTrans" cxnId="{6CFAD930-DFBE-4C70-9D30-F785C2031918}">
      <dgm:prSet/>
      <dgm:spPr/>
      <dgm:t>
        <a:bodyPr/>
        <a:lstStyle/>
        <a:p>
          <a:endParaRPr lang="ru-RU" sz="2000"/>
        </a:p>
      </dgm:t>
    </dgm:pt>
    <dgm:pt modelId="{A625C65C-B192-4E55-BFBE-56805B2384E3}">
      <dgm:prSet custT="1"/>
      <dgm:spPr/>
      <dgm:t>
        <a:bodyPr/>
        <a:lstStyle/>
        <a:p>
          <a:pPr rtl="0"/>
          <a:r>
            <a:rPr lang="ru-RU" sz="2000" dirty="0" smtClean="0"/>
            <a:t>генеральный коэффициент корреляции равен нулю</a:t>
          </a:r>
          <a:endParaRPr lang="ru-RU" sz="2000" dirty="0"/>
        </a:p>
      </dgm:t>
    </dgm:pt>
    <dgm:pt modelId="{6679483F-0701-48B6-A14A-90BB1C1F7F78}" type="sibTrans" cxnId="{212AB32D-9B44-40F1-9ED6-FE9A36FA45C3}">
      <dgm:prSet/>
      <dgm:spPr/>
      <dgm:t>
        <a:bodyPr/>
        <a:lstStyle/>
        <a:p>
          <a:endParaRPr lang="ru-RU" sz="2000"/>
        </a:p>
      </dgm:t>
    </dgm:pt>
    <dgm:pt modelId="{20C325E2-5350-4708-A31B-79D97F61217B}" type="parTrans" cxnId="{212AB32D-9B44-40F1-9ED6-FE9A36FA45C3}">
      <dgm:prSet/>
      <dgm:spPr/>
      <dgm:t>
        <a:bodyPr/>
        <a:lstStyle/>
        <a:p>
          <a:endParaRPr lang="ru-RU" sz="2000"/>
        </a:p>
      </dgm:t>
    </dgm:pt>
    <dgm:pt modelId="{6F54FB9D-C6C6-43D2-AE4E-8F768B4EBC60}">
      <dgm:prSet custT="1"/>
      <dgm:spPr/>
      <dgm:t>
        <a:bodyPr/>
        <a:lstStyle/>
        <a:p>
          <a:pPr rtl="0"/>
          <a:r>
            <a:rPr lang="en-US" sz="2000" i="1" dirty="0" smtClean="0"/>
            <a:t>t</a:t>
          </a:r>
          <a:r>
            <a:rPr lang="ru-RU" sz="2000" b="1" dirty="0" smtClean="0"/>
            <a:t>-</a:t>
          </a:r>
          <a:r>
            <a:rPr lang="ru-RU" sz="2000" dirty="0" smtClean="0"/>
            <a:t>критерий</a:t>
          </a:r>
          <a:endParaRPr lang="ru-RU" sz="2000" dirty="0"/>
        </a:p>
      </dgm:t>
    </dgm:pt>
    <dgm:pt modelId="{CEF35FE2-500E-49F7-B4F4-266D41D85D1E}" type="parTrans" cxnId="{C682B63C-B4D6-486B-B254-37B9DA0B3800}">
      <dgm:prSet/>
      <dgm:spPr/>
      <dgm:t>
        <a:bodyPr/>
        <a:lstStyle/>
        <a:p>
          <a:endParaRPr lang="ru-RU" sz="2000"/>
        </a:p>
      </dgm:t>
    </dgm:pt>
    <dgm:pt modelId="{9EF3A288-3E29-4B98-A499-CF69CA9AC669}" type="sibTrans" cxnId="{C682B63C-B4D6-486B-B254-37B9DA0B3800}">
      <dgm:prSet/>
      <dgm:spPr/>
      <dgm:t>
        <a:bodyPr/>
        <a:lstStyle/>
        <a:p>
          <a:endParaRPr lang="ru-RU" sz="2000"/>
        </a:p>
      </dgm:t>
    </dgm:pt>
    <dgm:pt modelId="{31F56102-0421-491B-89A2-31DC414FDBDB}">
      <dgm:prSet custT="1"/>
      <dgm:spPr/>
      <dgm:t>
        <a:bodyPr/>
        <a:lstStyle/>
        <a:p>
          <a:pPr rtl="0"/>
          <a:r>
            <a:rPr lang="en-US" sz="2000" i="1" dirty="0" smtClean="0"/>
            <a:t>r</a:t>
          </a:r>
          <a:r>
            <a:rPr lang="ru-RU" sz="2000" b="1" dirty="0" smtClean="0"/>
            <a:t>-</a:t>
          </a:r>
          <a:r>
            <a:rPr lang="ru-RU" sz="2000" dirty="0" smtClean="0"/>
            <a:t>критерий</a:t>
          </a:r>
          <a:endParaRPr lang="ru-RU" sz="2000" dirty="0"/>
        </a:p>
      </dgm:t>
    </dgm:pt>
    <dgm:pt modelId="{9AFAB58A-CD26-42B8-9375-730EAC6D9110}" type="parTrans" cxnId="{682E0D37-1633-41F5-9F44-9BE9DC2460B3}">
      <dgm:prSet/>
      <dgm:spPr/>
      <dgm:t>
        <a:bodyPr/>
        <a:lstStyle/>
        <a:p>
          <a:endParaRPr lang="ru-RU" sz="2000"/>
        </a:p>
      </dgm:t>
    </dgm:pt>
    <dgm:pt modelId="{9FB845AB-A878-4A16-A106-BD4DF5A54B68}" type="sibTrans" cxnId="{682E0D37-1633-41F5-9F44-9BE9DC2460B3}">
      <dgm:prSet/>
      <dgm:spPr/>
      <dgm:t>
        <a:bodyPr/>
        <a:lstStyle/>
        <a:p>
          <a:endParaRPr lang="ru-RU" sz="2000"/>
        </a:p>
      </dgm:t>
    </dgm:pt>
    <dgm:pt modelId="{5F04EEF1-7296-43AD-822A-B04B5E4FC7D8}" type="pres">
      <dgm:prSet presAssocID="{8371257E-09A5-4F52-84D9-8AF354E1508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0C64960-10A0-4279-8194-E51E4DC39DD0}" type="pres">
      <dgm:prSet presAssocID="{236115C2-00B5-426D-9FE0-95BE0E24FC25}" presName="parentLin" presStyleCnt="0"/>
      <dgm:spPr/>
    </dgm:pt>
    <dgm:pt modelId="{8B5BEA0D-AB6F-481E-9B47-C2A3DAD70374}" type="pres">
      <dgm:prSet presAssocID="{236115C2-00B5-426D-9FE0-95BE0E24FC25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D586F239-A167-4379-8288-E1BF7DD88E33}" type="pres">
      <dgm:prSet presAssocID="{236115C2-00B5-426D-9FE0-95BE0E24FC2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093DC3-8D51-4C28-B79A-4DAB26273CEF}" type="pres">
      <dgm:prSet presAssocID="{236115C2-00B5-426D-9FE0-95BE0E24FC25}" presName="negativeSpace" presStyleCnt="0"/>
      <dgm:spPr/>
    </dgm:pt>
    <dgm:pt modelId="{3CC711D0-ED86-409D-8216-8F661CC07E2D}" type="pres">
      <dgm:prSet presAssocID="{236115C2-00B5-426D-9FE0-95BE0E24FC25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D9D082-DF48-4852-BB60-96563FE27434}" type="pres">
      <dgm:prSet presAssocID="{10DBB84C-9933-4B84-8A83-B0DBCCCEDFE6}" presName="spaceBetweenRectangles" presStyleCnt="0"/>
      <dgm:spPr/>
    </dgm:pt>
    <dgm:pt modelId="{9DC82400-C3A8-470E-853C-CE09EEF950BF}" type="pres">
      <dgm:prSet presAssocID="{E2B6F887-E4C1-49BB-8864-FD9F59EF628B}" presName="parentLin" presStyleCnt="0"/>
      <dgm:spPr/>
    </dgm:pt>
    <dgm:pt modelId="{EFBE4804-3541-4F73-B82A-EE9A3619B153}" type="pres">
      <dgm:prSet presAssocID="{E2B6F887-E4C1-49BB-8864-FD9F59EF628B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072AAEB1-0D86-4FC2-9DFA-D12DA7CA1DEE}" type="pres">
      <dgm:prSet presAssocID="{E2B6F887-E4C1-49BB-8864-FD9F59EF628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087B39-1FBA-4FEE-B7B6-12E02B78B33C}" type="pres">
      <dgm:prSet presAssocID="{E2B6F887-E4C1-49BB-8864-FD9F59EF628B}" presName="negativeSpace" presStyleCnt="0"/>
      <dgm:spPr/>
    </dgm:pt>
    <dgm:pt modelId="{F7ECAE33-5C3A-4348-AA5B-D9577F68BCE9}" type="pres">
      <dgm:prSet presAssocID="{E2B6F887-E4C1-49BB-8864-FD9F59EF628B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F3ED74-3AA4-4062-8502-3B41C95DB2F9}" type="pres">
      <dgm:prSet presAssocID="{DF387FC2-55B6-4E71-9DDD-9935A4E9156D}" presName="spaceBetweenRectangles" presStyleCnt="0"/>
      <dgm:spPr/>
    </dgm:pt>
    <dgm:pt modelId="{5C7A9E30-4E5B-458F-BE05-4D117BC1D2AC}" type="pres">
      <dgm:prSet presAssocID="{FA128422-E168-4B96-BF75-E936FBA789A6}" presName="parentLin" presStyleCnt="0"/>
      <dgm:spPr/>
    </dgm:pt>
    <dgm:pt modelId="{28512DE1-807E-44DB-A6C3-E03250892CEB}" type="pres">
      <dgm:prSet presAssocID="{FA128422-E168-4B96-BF75-E936FBA789A6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45777EA3-EA86-41AE-9D14-BC1B84CDCCC4}" type="pres">
      <dgm:prSet presAssocID="{FA128422-E168-4B96-BF75-E936FBA789A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398753-FB11-4E82-8373-240D23614138}" type="pres">
      <dgm:prSet presAssocID="{FA128422-E168-4B96-BF75-E936FBA789A6}" presName="negativeSpace" presStyleCnt="0"/>
      <dgm:spPr/>
    </dgm:pt>
    <dgm:pt modelId="{3020D090-395D-4B3D-961E-2EA6D2EE484C}" type="pres">
      <dgm:prSet presAssocID="{FA128422-E168-4B96-BF75-E936FBA789A6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9886E29-52CD-4DE9-B0BB-0817C64716CB}" type="presOf" srcId="{E2B6F887-E4C1-49BB-8864-FD9F59EF628B}" destId="{EFBE4804-3541-4F73-B82A-EE9A3619B153}" srcOrd="0" destOrd="0" presId="urn:microsoft.com/office/officeart/2005/8/layout/list1"/>
    <dgm:cxn modelId="{F9449BF8-C9DF-4FA6-B780-B675459BAA84}" type="presOf" srcId="{E2B6F887-E4C1-49BB-8864-FD9F59EF628B}" destId="{072AAEB1-0D86-4FC2-9DFA-D12DA7CA1DEE}" srcOrd="1" destOrd="0" presId="urn:microsoft.com/office/officeart/2005/8/layout/list1"/>
    <dgm:cxn modelId="{BE1C24F6-BF5E-4A48-BD73-8036FC78CFC9}" type="presOf" srcId="{31F56102-0421-491B-89A2-31DC414FDBDB}" destId="{3020D090-395D-4B3D-961E-2EA6D2EE484C}" srcOrd="0" destOrd="0" presId="urn:microsoft.com/office/officeart/2005/8/layout/list1"/>
    <dgm:cxn modelId="{6CFAD930-DFBE-4C70-9D30-F785C2031918}" srcId="{8371257E-09A5-4F52-84D9-8AF354E15081}" destId="{E2B6F887-E4C1-49BB-8864-FD9F59EF628B}" srcOrd="1" destOrd="0" parTransId="{226B7DEE-E878-4B37-B1E9-32F8A1CC41D1}" sibTransId="{DF387FC2-55B6-4E71-9DDD-9935A4E9156D}"/>
    <dgm:cxn modelId="{2573AA19-69D0-4077-9727-A05AEFDF5BED}" type="presOf" srcId="{DBC6AA3C-E622-45E9-B0A9-AAACC2EDCF63}" destId="{3CC711D0-ED86-409D-8216-8F661CC07E2D}" srcOrd="0" destOrd="0" presId="urn:microsoft.com/office/officeart/2005/8/layout/list1"/>
    <dgm:cxn modelId="{5A6F9151-2647-423C-951D-A0AB3FDA5FB4}" srcId="{8371257E-09A5-4F52-84D9-8AF354E15081}" destId="{FA128422-E168-4B96-BF75-E936FBA789A6}" srcOrd="2" destOrd="0" parTransId="{DC5EE062-5B0B-43FB-916D-27226FC4F9C6}" sibTransId="{6B3252A6-7A13-4CBF-94D4-1A4D7F0C7BFB}"/>
    <dgm:cxn modelId="{61120BD9-5C32-41E7-B25D-81F61DDD9A80}" type="presOf" srcId="{FA128422-E168-4B96-BF75-E936FBA789A6}" destId="{28512DE1-807E-44DB-A6C3-E03250892CEB}" srcOrd="0" destOrd="0" presId="urn:microsoft.com/office/officeart/2005/8/layout/list1"/>
    <dgm:cxn modelId="{2F6C36B4-646F-41A6-AD59-DEB3784A218E}" srcId="{8371257E-09A5-4F52-84D9-8AF354E15081}" destId="{236115C2-00B5-426D-9FE0-95BE0E24FC25}" srcOrd="0" destOrd="0" parTransId="{5D7579AB-AB0E-495C-9098-D77DF2D06EBF}" sibTransId="{10DBB84C-9933-4B84-8A83-B0DBCCCEDFE6}"/>
    <dgm:cxn modelId="{C682B63C-B4D6-486B-B254-37B9DA0B3800}" srcId="{FA128422-E168-4B96-BF75-E936FBA789A6}" destId="{6F54FB9D-C6C6-43D2-AE4E-8F768B4EBC60}" srcOrd="1" destOrd="0" parTransId="{CEF35FE2-500E-49F7-B4F4-266D41D85D1E}" sibTransId="{9EF3A288-3E29-4B98-A499-CF69CA9AC669}"/>
    <dgm:cxn modelId="{98C3C2DC-641C-4DB6-8922-8BF566B364DE}" type="presOf" srcId="{6F54FB9D-C6C6-43D2-AE4E-8F768B4EBC60}" destId="{3020D090-395D-4B3D-961E-2EA6D2EE484C}" srcOrd="0" destOrd="1" presId="urn:microsoft.com/office/officeart/2005/8/layout/list1"/>
    <dgm:cxn modelId="{C4D3F914-BC8B-4A73-A364-6BE2B922A711}" type="presOf" srcId="{236115C2-00B5-426D-9FE0-95BE0E24FC25}" destId="{D586F239-A167-4379-8288-E1BF7DD88E33}" srcOrd="1" destOrd="0" presId="urn:microsoft.com/office/officeart/2005/8/layout/list1"/>
    <dgm:cxn modelId="{682E0D37-1633-41F5-9F44-9BE9DC2460B3}" srcId="{FA128422-E168-4B96-BF75-E936FBA789A6}" destId="{31F56102-0421-491B-89A2-31DC414FDBDB}" srcOrd="0" destOrd="0" parTransId="{9AFAB58A-CD26-42B8-9375-730EAC6D9110}" sibTransId="{9FB845AB-A878-4A16-A106-BD4DF5A54B68}"/>
    <dgm:cxn modelId="{8C0083E6-41DD-4B18-9149-F33C9AD8C6BC}" type="presOf" srcId="{236115C2-00B5-426D-9FE0-95BE0E24FC25}" destId="{8B5BEA0D-AB6F-481E-9B47-C2A3DAD70374}" srcOrd="0" destOrd="0" presId="urn:microsoft.com/office/officeart/2005/8/layout/list1"/>
    <dgm:cxn modelId="{DB2A90E3-6FF8-4727-BCC5-2F4FA3414590}" srcId="{236115C2-00B5-426D-9FE0-95BE0E24FC25}" destId="{DBC6AA3C-E622-45E9-B0A9-AAACC2EDCF63}" srcOrd="0" destOrd="0" parTransId="{4F524030-F7B7-4645-8430-86C7451606EF}" sibTransId="{A3183009-65F5-406C-B9BE-906898A2ACFF}"/>
    <dgm:cxn modelId="{212AB32D-9B44-40F1-9ED6-FE9A36FA45C3}" srcId="{E2B6F887-E4C1-49BB-8864-FD9F59EF628B}" destId="{A625C65C-B192-4E55-BFBE-56805B2384E3}" srcOrd="0" destOrd="0" parTransId="{20C325E2-5350-4708-A31B-79D97F61217B}" sibTransId="{6679483F-0701-48B6-A14A-90BB1C1F7F78}"/>
    <dgm:cxn modelId="{61C345B8-AE64-4BAB-B266-2EEC323A00C1}" type="presOf" srcId="{8371257E-09A5-4F52-84D9-8AF354E15081}" destId="{5F04EEF1-7296-43AD-822A-B04B5E4FC7D8}" srcOrd="0" destOrd="0" presId="urn:microsoft.com/office/officeart/2005/8/layout/list1"/>
    <dgm:cxn modelId="{E5B3A1DC-2EDF-4111-BD74-DA345526C52C}" type="presOf" srcId="{A625C65C-B192-4E55-BFBE-56805B2384E3}" destId="{F7ECAE33-5C3A-4348-AA5B-D9577F68BCE9}" srcOrd="0" destOrd="0" presId="urn:microsoft.com/office/officeart/2005/8/layout/list1"/>
    <dgm:cxn modelId="{CB0979D1-FD85-423D-8699-BEFE8A48FD75}" type="presOf" srcId="{FA128422-E168-4B96-BF75-E936FBA789A6}" destId="{45777EA3-EA86-41AE-9D14-BC1B84CDCCC4}" srcOrd="1" destOrd="0" presId="urn:microsoft.com/office/officeart/2005/8/layout/list1"/>
    <dgm:cxn modelId="{8FEE9839-F33D-4CC2-B7F4-BBC579596440}" type="presParOf" srcId="{5F04EEF1-7296-43AD-822A-B04B5E4FC7D8}" destId="{B0C64960-10A0-4279-8194-E51E4DC39DD0}" srcOrd="0" destOrd="0" presId="urn:microsoft.com/office/officeart/2005/8/layout/list1"/>
    <dgm:cxn modelId="{31FB0A90-AD33-43F7-9BF4-A2D4AD55E57B}" type="presParOf" srcId="{B0C64960-10A0-4279-8194-E51E4DC39DD0}" destId="{8B5BEA0D-AB6F-481E-9B47-C2A3DAD70374}" srcOrd="0" destOrd="0" presId="urn:microsoft.com/office/officeart/2005/8/layout/list1"/>
    <dgm:cxn modelId="{6CDDCE91-904A-425D-B5FC-A27A01E0CC46}" type="presParOf" srcId="{B0C64960-10A0-4279-8194-E51E4DC39DD0}" destId="{D586F239-A167-4379-8288-E1BF7DD88E33}" srcOrd="1" destOrd="0" presId="urn:microsoft.com/office/officeart/2005/8/layout/list1"/>
    <dgm:cxn modelId="{57E72813-9C9F-4D8A-8A5B-BCF9CFFAB04A}" type="presParOf" srcId="{5F04EEF1-7296-43AD-822A-B04B5E4FC7D8}" destId="{88093DC3-8D51-4C28-B79A-4DAB26273CEF}" srcOrd="1" destOrd="0" presId="urn:microsoft.com/office/officeart/2005/8/layout/list1"/>
    <dgm:cxn modelId="{A83252CE-7226-4D50-8382-3936143075A0}" type="presParOf" srcId="{5F04EEF1-7296-43AD-822A-B04B5E4FC7D8}" destId="{3CC711D0-ED86-409D-8216-8F661CC07E2D}" srcOrd="2" destOrd="0" presId="urn:microsoft.com/office/officeart/2005/8/layout/list1"/>
    <dgm:cxn modelId="{FD81059B-34B9-4669-A4BE-7C539A31B929}" type="presParOf" srcId="{5F04EEF1-7296-43AD-822A-B04B5E4FC7D8}" destId="{38D9D082-DF48-4852-BB60-96563FE27434}" srcOrd="3" destOrd="0" presId="urn:microsoft.com/office/officeart/2005/8/layout/list1"/>
    <dgm:cxn modelId="{6C05EA06-A6C0-4220-BC1E-526D20CAA2B6}" type="presParOf" srcId="{5F04EEF1-7296-43AD-822A-B04B5E4FC7D8}" destId="{9DC82400-C3A8-470E-853C-CE09EEF950BF}" srcOrd="4" destOrd="0" presId="urn:microsoft.com/office/officeart/2005/8/layout/list1"/>
    <dgm:cxn modelId="{FD8FFD3E-3A44-41B8-9AFB-DD0B2A6CAE2B}" type="presParOf" srcId="{9DC82400-C3A8-470E-853C-CE09EEF950BF}" destId="{EFBE4804-3541-4F73-B82A-EE9A3619B153}" srcOrd="0" destOrd="0" presId="urn:microsoft.com/office/officeart/2005/8/layout/list1"/>
    <dgm:cxn modelId="{289D763D-347F-4B31-B628-C5EACF4E68A8}" type="presParOf" srcId="{9DC82400-C3A8-470E-853C-CE09EEF950BF}" destId="{072AAEB1-0D86-4FC2-9DFA-D12DA7CA1DEE}" srcOrd="1" destOrd="0" presId="urn:microsoft.com/office/officeart/2005/8/layout/list1"/>
    <dgm:cxn modelId="{8F018C2F-03BE-4D5B-88CF-88AB19215E6E}" type="presParOf" srcId="{5F04EEF1-7296-43AD-822A-B04B5E4FC7D8}" destId="{E6087B39-1FBA-4FEE-B7B6-12E02B78B33C}" srcOrd="5" destOrd="0" presId="urn:microsoft.com/office/officeart/2005/8/layout/list1"/>
    <dgm:cxn modelId="{2BC65C67-1972-4FDA-BA3C-E1DE83905ECA}" type="presParOf" srcId="{5F04EEF1-7296-43AD-822A-B04B5E4FC7D8}" destId="{F7ECAE33-5C3A-4348-AA5B-D9577F68BCE9}" srcOrd="6" destOrd="0" presId="urn:microsoft.com/office/officeart/2005/8/layout/list1"/>
    <dgm:cxn modelId="{5720365D-01E1-460F-B6AE-2B650FA3D894}" type="presParOf" srcId="{5F04EEF1-7296-43AD-822A-B04B5E4FC7D8}" destId="{04F3ED74-3AA4-4062-8502-3B41C95DB2F9}" srcOrd="7" destOrd="0" presId="urn:microsoft.com/office/officeart/2005/8/layout/list1"/>
    <dgm:cxn modelId="{A04B9CD4-A6F7-4B3E-A6E0-C5069209066E}" type="presParOf" srcId="{5F04EEF1-7296-43AD-822A-B04B5E4FC7D8}" destId="{5C7A9E30-4E5B-458F-BE05-4D117BC1D2AC}" srcOrd="8" destOrd="0" presId="urn:microsoft.com/office/officeart/2005/8/layout/list1"/>
    <dgm:cxn modelId="{1B4E7580-FDB5-4C54-91EB-8E51DDD3294A}" type="presParOf" srcId="{5C7A9E30-4E5B-458F-BE05-4D117BC1D2AC}" destId="{28512DE1-807E-44DB-A6C3-E03250892CEB}" srcOrd="0" destOrd="0" presId="urn:microsoft.com/office/officeart/2005/8/layout/list1"/>
    <dgm:cxn modelId="{9FB52966-80E6-4CA7-B93C-A3D1EE42908E}" type="presParOf" srcId="{5C7A9E30-4E5B-458F-BE05-4D117BC1D2AC}" destId="{45777EA3-EA86-41AE-9D14-BC1B84CDCCC4}" srcOrd="1" destOrd="0" presId="urn:microsoft.com/office/officeart/2005/8/layout/list1"/>
    <dgm:cxn modelId="{96217344-1DAD-4C02-AF60-42F035899EAA}" type="presParOf" srcId="{5F04EEF1-7296-43AD-822A-B04B5E4FC7D8}" destId="{DE398753-FB11-4E82-8373-240D23614138}" srcOrd="9" destOrd="0" presId="urn:microsoft.com/office/officeart/2005/8/layout/list1"/>
    <dgm:cxn modelId="{54CE4CBA-90AE-492C-B260-CD93E5B6605D}" type="presParOf" srcId="{5F04EEF1-7296-43AD-822A-B04B5E4FC7D8}" destId="{3020D090-395D-4B3D-961E-2EA6D2EE484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A3E95E-18B2-4F9A-B3BC-3D5BFF1AE0D2}" type="doc">
      <dgm:prSet loTypeId="urn:microsoft.com/office/officeart/2005/8/layout/bList2" loCatId="picture" qsTypeId="urn:microsoft.com/office/officeart/2005/8/quickstyle/simple3" qsCatId="simple" csTypeId="urn:microsoft.com/office/officeart/2005/8/colors/colorful5" csCatId="colorful" phldr="1"/>
      <dgm:spPr/>
    </dgm:pt>
    <dgm:pt modelId="{B0182ACF-758E-4349-856F-492EA3FADEAE}">
      <dgm:prSet phldrT="[Текст]" custT="1"/>
      <dgm:spPr/>
      <dgm:t>
        <a:bodyPr/>
        <a:lstStyle/>
        <a:p>
          <a:r>
            <a:rPr lang="ru-RU" sz="2000" b="0" i="0" u="none" dirty="0" smtClean="0"/>
            <a:t>Свободный член регрессии</a:t>
          </a:r>
          <a:endParaRPr lang="ru-RU" sz="2000" i="0" dirty="0"/>
        </a:p>
      </dgm:t>
    </dgm:pt>
    <dgm:pt modelId="{D0159C53-7293-4C97-B7D2-276F011D83E7}" type="parTrans" cxnId="{7146CD79-B0F3-456E-924B-513414F050BE}">
      <dgm:prSet/>
      <dgm:spPr/>
      <dgm:t>
        <a:bodyPr/>
        <a:lstStyle/>
        <a:p>
          <a:endParaRPr lang="ru-RU"/>
        </a:p>
      </dgm:t>
    </dgm:pt>
    <dgm:pt modelId="{227DA6A4-4037-49AF-B188-5832A25A3631}" type="sibTrans" cxnId="{7146CD79-B0F3-456E-924B-513414F050BE}">
      <dgm:prSet/>
      <dgm:spPr/>
      <dgm:t>
        <a:bodyPr/>
        <a:lstStyle/>
        <a:p>
          <a:endParaRPr lang="ru-RU"/>
        </a:p>
      </dgm:t>
    </dgm:pt>
    <dgm:pt modelId="{2D754480-5DFC-4F3E-9F35-DA61B6C7C557}">
      <dgm:prSet phldrT="[Текст]" custT="1"/>
      <dgm:spPr/>
      <dgm:t>
        <a:bodyPr/>
        <a:lstStyle/>
        <a:p>
          <a:r>
            <a:rPr lang="ru-RU" sz="2000" i="0" dirty="0" smtClean="0"/>
            <a:t>Коэффициент линейной регрессии</a:t>
          </a:r>
          <a:endParaRPr lang="ru-RU" sz="2000" i="0" dirty="0"/>
        </a:p>
      </dgm:t>
    </dgm:pt>
    <dgm:pt modelId="{BF51656B-531B-4222-BB23-47AEC6BDE662}" type="parTrans" cxnId="{2F03839C-4839-4AE0-A3D3-3EDB4719AE61}">
      <dgm:prSet/>
      <dgm:spPr/>
      <dgm:t>
        <a:bodyPr/>
        <a:lstStyle/>
        <a:p>
          <a:endParaRPr lang="ru-RU"/>
        </a:p>
      </dgm:t>
    </dgm:pt>
    <dgm:pt modelId="{135D87A3-247C-4514-927A-00360C45D297}" type="sibTrans" cxnId="{2F03839C-4839-4AE0-A3D3-3EDB4719AE61}">
      <dgm:prSet/>
      <dgm:spPr/>
      <dgm:t>
        <a:bodyPr/>
        <a:lstStyle/>
        <a:p>
          <a:endParaRPr lang="ru-RU"/>
        </a:p>
      </dgm:t>
    </dgm:pt>
    <dgm:pt modelId="{05E1DC49-5D00-4B29-929B-F6D6AFB1D09E}" type="pres">
      <dgm:prSet presAssocID="{61A3E95E-18B2-4F9A-B3BC-3D5BFF1AE0D2}" presName="diagram" presStyleCnt="0">
        <dgm:presLayoutVars>
          <dgm:dir/>
          <dgm:animLvl val="lvl"/>
          <dgm:resizeHandles val="exact"/>
        </dgm:presLayoutVars>
      </dgm:prSet>
      <dgm:spPr/>
    </dgm:pt>
    <dgm:pt modelId="{D65267F0-C4D8-488E-B218-4761D9E3A850}" type="pres">
      <dgm:prSet presAssocID="{B0182ACF-758E-4349-856F-492EA3FADEAE}" presName="compNode" presStyleCnt="0"/>
      <dgm:spPr/>
    </dgm:pt>
    <dgm:pt modelId="{0CFC2DED-7233-4D17-B063-42474DA4C784}" type="pres">
      <dgm:prSet presAssocID="{B0182ACF-758E-4349-856F-492EA3FADEAE}" presName="childRect" presStyleLbl="bgAcc1" presStyleIdx="0" presStyleCnt="2">
        <dgm:presLayoutVars>
          <dgm:bulletEnabled val="1"/>
        </dgm:presLayoutVars>
      </dgm:prSet>
      <dgm:spPr/>
    </dgm:pt>
    <dgm:pt modelId="{EFE04D3F-6EB5-41D6-8F0A-4430A3D704C4}" type="pres">
      <dgm:prSet presAssocID="{B0182ACF-758E-4349-856F-492EA3FADEAE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3DABD82-2424-4261-A074-3F9264AF4586}" type="pres">
      <dgm:prSet presAssocID="{B0182ACF-758E-4349-856F-492EA3FADEAE}" presName="parentRect" presStyleLbl="alignNode1" presStyleIdx="0" presStyleCnt="2"/>
      <dgm:spPr/>
      <dgm:t>
        <a:bodyPr/>
        <a:lstStyle/>
        <a:p>
          <a:endParaRPr lang="ru-RU"/>
        </a:p>
      </dgm:t>
    </dgm:pt>
    <dgm:pt modelId="{65D2195F-879D-43CD-8728-BCE24D9AA213}" type="pres">
      <dgm:prSet presAssocID="{B0182ACF-758E-4349-856F-492EA3FADEAE}" presName="adorn" presStyleLbl="fgAccFollowNode1" presStyleIdx="0" presStyleCnt="2" custLinFactNeighborX="-1100" custLinFactNeighborY="17887"/>
      <dgm:spPr/>
    </dgm:pt>
    <dgm:pt modelId="{B810DD4B-AB02-419F-8BE6-71A6102BBCFC}" type="pres">
      <dgm:prSet presAssocID="{227DA6A4-4037-49AF-B188-5832A25A3631}" presName="sibTrans" presStyleLbl="sibTrans2D1" presStyleIdx="0" presStyleCnt="0"/>
      <dgm:spPr/>
      <dgm:t>
        <a:bodyPr/>
        <a:lstStyle/>
        <a:p>
          <a:endParaRPr lang="ru-RU"/>
        </a:p>
      </dgm:t>
    </dgm:pt>
    <dgm:pt modelId="{5259518F-1D80-4724-A1FB-9A7D8B909FA2}" type="pres">
      <dgm:prSet presAssocID="{2D754480-5DFC-4F3E-9F35-DA61B6C7C557}" presName="compNode" presStyleCnt="0"/>
      <dgm:spPr/>
    </dgm:pt>
    <dgm:pt modelId="{979FDAB4-4AEB-4C26-8B1D-939F03322512}" type="pres">
      <dgm:prSet presAssocID="{2D754480-5DFC-4F3E-9F35-DA61B6C7C557}" presName="childRect" presStyleLbl="bgAcc1" presStyleIdx="1" presStyleCnt="2">
        <dgm:presLayoutVars>
          <dgm:bulletEnabled val="1"/>
        </dgm:presLayoutVars>
      </dgm:prSet>
      <dgm:spPr/>
    </dgm:pt>
    <dgm:pt modelId="{378214DE-96C2-4B33-A46B-77BFFEA86168}" type="pres">
      <dgm:prSet presAssocID="{2D754480-5DFC-4F3E-9F35-DA61B6C7C557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04EAD51-EE32-4FAB-BCB8-F45EE407BF94}" type="pres">
      <dgm:prSet presAssocID="{2D754480-5DFC-4F3E-9F35-DA61B6C7C557}" presName="parentRect" presStyleLbl="alignNode1" presStyleIdx="1" presStyleCnt="2"/>
      <dgm:spPr/>
      <dgm:t>
        <a:bodyPr/>
        <a:lstStyle/>
        <a:p>
          <a:endParaRPr lang="ru-RU"/>
        </a:p>
      </dgm:t>
    </dgm:pt>
    <dgm:pt modelId="{871D8D59-A3F9-4DA3-8014-F6285C562272}" type="pres">
      <dgm:prSet presAssocID="{2D754480-5DFC-4F3E-9F35-DA61B6C7C557}" presName="adorn" presStyleLbl="fgAccFollowNode1" presStyleIdx="1" presStyleCnt="2"/>
      <dgm:spPr/>
    </dgm:pt>
  </dgm:ptLst>
  <dgm:cxnLst>
    <dgm:cxn modelId="{44521179-4C7E-460D-9FBE-4DFF458FEC0D}" type="presOf" srcId="{B0182ACF-758E-4349-856F-492EA3FADEAE}" destId="{EFE04D3F-6EB5-41D6-8F0A-4430A3D704C4}" srcOrd="0" destOrd="0" presId="urn:microsoft.com/office/officeart/2005/8/layout/bList2"/>
    <dgm:cxn modelId="{2F03839C-4839-4AE0-A3D3-3EDB4719AE61}" srcId="{61A3E95E-18B2-4F9A-B3BC-3D5BFF1AE0D2}" destId="{2D754480-5DFC-4F3E-9F35-DA61B6C7C557}" srcOrd="1" destOrd="0" parTransId="{BF51656B-531B-4222-BB23-47AEC6BDE662}" sibTransId="{135D87A3-247C-4514-927A-00360C45D297}"/>
    <dgm:cxn modelId="{FFDBBD7E-F23D-4EF2-A130-9275157934DE}" type="presOf" srcId="{B0182ACF-758E-4349-856F-492EA3FADEAE}" destId="{83DABD82-2424-4261-A074-3F9264AF4586}" srcOrd="1" destOrd="0" presId="urn:microsoft.com/office/officeart/2005/8/layout/bList2"/>
    <dgm:cxn modelId="{41A9CF93-5ACB-4CFF-92E1-D020FED70A27}" type="presOf" srcId="{2D754480-5DFC-4F3E-9F35-DA61B6C7C557}" destId="{378214DE-96C2-4B33-A46B-77BFFEA86168}" srcOrd="0" destOrd="0" presId="urn:microsoft.com/office/officeart/2005/8/layout/bList2"/>
    <dgm:cxn modelId="{5D7B479E-0AAA-4FDE-AA3D-208A50FADD20}" type="presOf" srcId="{61A3E95E-18B2-4F9A-B3BC-3D5BFF1AE0D2}" destId="{05E1DC49-5D00-4B29-929B-F6D6AFB1D09E}" srcOrd="0" destOrd="0" presId="urn:microsoft.com/office/officeart/2005/8/layout/bList2"/>
    <dgm:cxn modelId="{3C22A1B1-F8F1-484E-8B7C-44178D1D6A6C}" type="presOf" srcId="{227DA6A4-4037-49AF-B188-5832A25A3631}" destId="{B810DD4B-AB02-419F-8BE6-71A6102BBCFC}" srcOrd="0" destOrd="0" presId="urn:microsoft.com/office/officeart/2005/8/layout/bList2"/>
    <dgm:cxn modelId="{7146CD79-B0F3-456E-924B-513414F050BE}" srcId="{61A3E95E-18B2-4F9A-B3BC-3D5BFF1AE0D2}" destId="{B0182ACF-758E-4349-856F-492EA3FADEAE}" srcOrd="0" destOrd="0" parTransId="{D0159C53-7293-4C97-B7D2-276F011D83E7}" sibTransId="{227DA6A4-4037-49AF-B188-5832A25A3631}"/>
    <dgm:cxn modelId="{BFBDBB97-3F67-46F6-A982-148E4BDA27AA}" type="presOf" srcId="{2D754480-5DFC-4F3E-9F35-DA61B6C7C557}" destId="{304EAD51-EE32-4FAB-BCB8-F45EE407BF94}" srcOrd="1" destOrd="0" presId="urn:microsoft.com/office/officeart/2005/8/layout/bList2"/>
    <dgm:cxn modelId="{DC10DE48-69F2-400E-A3CB-AC66E702D131}" type="presParOf" srcId="{05E1DC49-5D00-4B29-929B-F6D6AFB1D09E}" destId="{D65267F0-C4D8-488E-B218-4761D9E3A850}" srcOrd="0" destOrd="0" presId="urn:microsoft.com/office/officeart/2005/8/layout/bList2"/>
    <dgm:cxn modelId="{45134339-0F84-417A-888C-7852A42EB45C}" type="presParOf" srcId="{D65267F0-C4D8-488E-B218-4761D9E3A850}" destId="{0CFC2DED-7233-4D17-B063-42474DA4C784}" srcOrd="0" destOrd="0" presId="urn:microsoft.com/office/officeart/2005/8/layout/bList2"/>
    <dgm:cxn modelId="{1EA5B759-64A1-4706-B893-89481A38437D}" type="presParOf" srcId="{D65267F0-C4D8-488E-B218-4761D9E3A850}" destId="{EFE04D3F-6EB5-41D6-8F0A-4430A3D704C4}" srcOrd="1" destOrd="0" presId="urn:microsoft.com/office/officeart/2005/8/layout/bList2"/>
    <dgm:cxn modelId="{027EAE23-0D42-4B99-9335-ABE1726EC4F5}" type="presParOf" srcId="{D65267F0-C4D8-488E-B218-4761D9E3A850}" destId="{83DABD82-2424-4261-A074-3F9264AF4586}" srcOrd="2" destOrd="0" presId="urn:microsoft.com/office/officeart/2005/8/layout/bList2"/>
    <dgm:cxn modelId="{89E9D200-01F3-4F9E-80E3-62C31F29E0B7}" type="presParOf" srcId="{D65267F0-C4D8-488E-B218-4761D9E3A850}" destId="{65D2195F-879D-43CD-8728-BCE24D9AA213}" srcOrd="3" destOrd="0" presId="urn:microsoft.com/office/officeart/2005/8/layout/bList2"/>
    <dgm:cxn modelId="{4483622A-33AE-4D66-8214-C27525925BBF}" type="presParOf" srcId="{05E1DC49-5D00-4B29-929B-F6D6AFB1D09E}" destId="{B810DD4B-AB02-419F-8BE6-71A6102BBCFC}" srcOrd="1" destOrd="0" presId="urn:microsoft.com/office/officeart/2005/8/layout/bList2"/>
    <dgm:cxn modelId="{342B52AC-ECC5-467E-8A4D-74B81B36B8DF}" type="presParOf" srcId="{05E1DC49-5D00-4B29-929B-F6D6AFB1D09E}" destId="{5259518F-1D80-4724-A1FB-9A7D8B909FA2}" srcOrd="2" destOrd="0" presId="urn:microsoft.com/office/officeart/2005/8/layout/bList2"/>
    <dgm:cxn modelId="{7D4A2520-7F6E-4579-A235-CBBCA482574D}" type="presParOf" srcId="{5259518F-1D80-4724-A1FB-9A7D8B909FA2}" destId="{979FDAB4-4AEB-4C26-8B1D-939F03322512}" srcOrd="0" destOrd="0" presId="urn:microsoft.com/office/officeart/2005/8/layout/bList2"/>
    <dgm:cxn modelId="{661C0C18-1DA3-418F-BB64-62198F791324}" type="presParOf" srcId="{5259518F-1D80-4724-A1FB-9A7D8B909FA2}" destId="{378214DE-96C2-4B33-A46B-77BFFEA86168}" srcOrd="1" destOrd="0" presId="urn:microsoft.com/office/officeart/2005/8/layout/bList2"/>
    <dgm:cxn modelId="{6D98A24F-E126-4EF2-92A1-0C99AB1EE28B}" type="presParOf" srcId="{5259518F-1D80-4724-A1FB-9A7D8B909FA2}" destId="{304EAD51-EE32-4FAB-BCB8-F45EE407BF94}" srcOrd="2" destOrd="0" presId="urn:microsoft.com/office/officeart/2005/8/layout/bList2"/>
    <dgm:cxn modelId="{10C40DE8-33D9-46C7-94C5-3A990EC71ACB}" type="presParOf" srcId="{5259518F-1D80-4724-A1FB-9A7D8B909FA2}" destId="{871D8D59-A3F9-4DA3-8014-F6285C56227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6D997AE-4563-421E-BC08-D1459DA1C36B}" type="doc">
      <dgm:prSet loTypeId="urn:microsoft.com/office/officeart/2005/8/layout/list1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4260FF0E-BDC5-42B2-9D1D-890203511BE4}">
      <dgm:prSet custT="1"/>
      <dgm:spPr/>
      <dgm:t>
        <a:bodyPr/>
        <a:lstStyle/>
        <a:p>
          <a:pPr rtl="0"/>
          <a:r>
            <a:rPr lang="ru-RU" sz="2000" dirty="0" smtClean="0"/>
            <a:t>Задача регрессивного анализа</a:t>
          </a:r>
          <a:endParaRPr lang="ru-RU" sz="2000" dirty="0"/>
        </a:p>
      </dgm:t>
    </dgm:pt>
    <dgm:pt modelId="{52C4F242-078A-4AB7-B91A-A7C6502CA322}" type="parTrans" cxnId="{56DD270E-BC7E-419C-A445-995BA7B86B53}">
      <dgm:prSet/>
      <dgm:spPr/>
      <dgm:t>
        <a:bodyPr/>
        <a:lstStyle/>
        <a:p>
          <a:endParaRPr lang="ru-RU"/>
        </a:p>
      </dgm:t>
    </dgm:pt>
    <dgm:pt modelId="{34071263-19A9-42E0-BCFA-248C4D1CF10A}" type="sibTrans" cxnId="{56DD270E-BC7E-419C-A445-995BA7B86B53}">
      <dgm:prSet/>
      <dgm:spPr/>
      <dgm:t>
        <a:bodyPr/>
        <a:lstStyle/>
        <a:p>
          <a:endParaRPr lang="ru-RU"/>
        </a:p>
      </dgm:t>
    </dgm:pt>
    <dgm:pt modelId="{84BC9B9C-B135-4F7E-B733-AF13DFD5B37C}">
      <dgm:prSet custT="1"/>
      <dgm:spPr/>
      <dgm:t>
        <a:bodyPr/>
        <a:lstStyle/>
        <a:p>
          <a:pPr rtl="0"/>
          <a:r>
            <a:rPr lang="ru-RU" sz="2000" dirty="0" smtClean="0"/>
            <a:t>Установление параметров, которые  описывают экспериментальную зависимость.</a:t>
          </a:r>
          <a:endParaRPr lang="ru-RU" sz="2000" dirty="0"/>
        </a:p>
      </dgm:t>
    </dgm:pt>
    <dgm:pt modelId="{83A630DA-E47E-405F-A93B-16ED407965AB}" type="parTrans" cxnId="{A0241714-F6DD-4654-B1DA-73C78D416590}">
      <dgm:prSet/>
      <dgm:spPr/>
      <dgm:t>
        <a:bodyPr/>
        <a:lstStyle/>
        <a:p>
          <a:endParaRPr lang="ru-RU"/>
        </a:p>
      </dgm:t>
    </dgm:pt>
    <dgm:pt modelId="{09D1F96C-CF2B-4DDD-B479-FFF9D2EF3C3D}" type="sibTrans" cxnId="{A0241714-F6DD-4654-B1DA-73C78D416590}">
      <dgm:prSet/>
      <dgm:spPr/>
      <dgm:t>
        <a:bodyPr/>
        <a:lstStyle/>
        <a:p>
          <a:endParaRPr lang="ru-RU"/>
        </a:p>
      </dgm:t>
    </dgm:pt>
    <dgm:pt modelId="{583518DC-696D-4F2D-A0B8-CF0E43C53806}">
      <dgm:prSet custT="1"/>
      <dgm:spPr/>
      <dgm:t>
        <a:bodyPr/>
        <a:lstStyle/>
        <a:p>
          <a:pPr rtl="0"/>
          <a:r>
            <a:rPr lang="ru-RU" sz="2000" dirty="0" smtClean="0"/>
            <a:t>При условии, что эмпирические точки получены с некоторой погрешностью</a:t>
          </a:r>
          <a:endParaRPr lang="ru-RU" sz="2000" dirty="0"/>
        </a:p>
      </dgm:t>
    </dgm:pt>
    <dgm:pt modelId="{69DA40D1-0844-4C22-B765-33A1E049B0E5}" type="parTrans" cxnId="{6C72938F-997B-4545-B82B-17E607C4EBE0}">
      <dgm:prSet/>
      <dgm:spPr/>
      <dgm:t>
        <a:bodyPr/>
        <a:lstStyle/>
        <a:p>
          <a:endParaRPr lang="ru-RU"/>
        </a:p>
      </dgm:t>
    </dgm:pt>
    <dgm:pt modelId="{578DD49D-8B1B-4B06-B2C7-6EF2472613D6}" type="sibTrans" cxnId="{6C72938F-997B-4545-B82B-17E607C4EBE0}">
      <dgm:prSet/>
      <dgm:spPr/>
      <dgm:t>
        <a:bodyPr/>
        <a:lstStyle/>
        <a:p>
          <a:endParaRPr lang="ru-RU"/>
        </a:p>
      </dgm:t>
    </dgm:pt>
    <dgm:pt modelId="{5157DED4-5D59-4BD3-A780-33635151F74C}">
      <dgm:prSet custT="1"/>
      <dgm:spPr/>
      <dgm:t>
        <a:bodyPr/>
        <a:lstStyle/>
        <a:p>
          <a:pPr rtl="0"/>
          <a:r>
            <a:rPr lang="ru-RU" sz="2000" dirty="0" smtClean="0"/>
            <a:t>Регрессия</a:t>
          </a:r>
          <a:endParaRPr lang="ru-RU" sz="2000" dirty="0"/>
        </a:p>
      </dgm:t>
    </dgm:pt>
    <dgm:pt modelId="{F34FBB29-7331-4702-BB8F-42E16C2D71D1}" type="parTrans" cxnId="{07FE6E55-A6C1-4284-8788-7FF72205C83E}">
      <dgm:prSet/>
      <dgm:spPr/>
      <dgm:t>
        <a:bodyPr/>
        <a:lstStyle/>
        <a:p>
          <a:endParaRPr lang="ru-RU"/>
        </a:p>
      </dgm:t>
    </dgm:pt>
    <dgm:pt modelId="{C818F1D1-8B3C-43F1-81C7-941A77DF2B36}" type="sibTrans" cxnId="{07FE6E55-A6C1-4284-8788-7FF72205C83E}">
      <dgm:prSet/>
      <dgm:spPr/>
      <dgm:t>
        <a:bodyPr/>
        <a:lstStyle/>
        <a:p>
          <a:endParaRPr lang="ru-RU"/>
        </a:p>
      </dgm:t>
    </dgm:pt>
    <dgm:pt modelId="{F093659D-802D-421E-8032-1AEEF90789F9}">
      <dgm:prSet custT="1"/>
      <dgm:spPr/>
      <dgm:t>
        <a:bodyPr/>
        <a:lstStyle/>
        <a:p>
          <a:pPr rtl="0"/>
          <a:r>
            <a:rPr lang="ru-RU" sz="2000" dirty="0" smtClean="0"/>
            <a:t>Подбор неизвестных коэффициентов аналитической зависимости</a:t>
          </a:r>
          <a:r>
            <a:rPr lang="ru-RU" sz="2000" i="1" dirty="0" smtClean="0"/>
            <a:t> </a:t>
          </a:r>
          <a:r>
            <a:rPr lang="en-US" sz="2000" i="1" dirty="0" smtClean="0"/>
            <a:t>f(x</a:t>
          </a:r>
          <a:r>
            <a:rPr lang="en-US" sz="2000" dirty="0" smtClean="0"/>
            <a:t>)</a:t>
          </a:r>
          <a:endParaRPr lang="ru-RU" sz="2000" dirty="0"/>
        </a:p>
      </dgm:t>
    </dgm:pt>
    <dgm:pt modelId="{B5639188-D9CC-4651-A491-336D18654A36}" type="parTrans" cxnId="{F9E716EF-1474-41E5-B8D2-BEB028DAB9FC}">
      <dgm:prSet/>
      <dgm:spPr/>
      <dgm:t>
        <a:bodyPr/>
        <a:lstStyle/>
        <a:p>
          <a:endParaRPr lang="ru-RU"/>
        </a:p>
      </dgm:t>
    </dgm:pt>
    <dgm:pt modelId="{67E860FD-C308-4E10-A163-3C87525D56DD}" type="sibTrans" cxnId="{F9E716EF-1474-41E5-B8D2-BEB028DAB9FC}">
      <dgm:prSet/>
      <dgm:spPr/>
      <dgm:t>
        <a:bodyPr/>
        <a:lstStyle/>
        <a:p>
          <a:endParaRPr lang="ru-RU"/>
        </a:p>
      </dgm:t>
    </dgm:pt>
    <dgm:pt modelId="{5944CCB4-2921-4C87-9381-1CAD66FE3114}" type="pres">
      <dgm:prSet presAssocID="{86D997AE-4563-421E-BC08-D1459DA1C36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E659D17-CA7E-4594-A021-2FD6CB7C67BD}" type="pres">
      <dgm:prSet presAssocID="{4260FF0E-BDC5-42B2-9D1D-890203511BE4}" presName="parentLin" presStyleCnt="0"/>
      <dgm:spPr/>
    </dgm:pt>
    <dgm:pt modelId="{AD8151E8-5A0C-4CDB-A883-77DAEB3F85E4}" type="pres">
      <dgm:prSet presAssocID="{4260FF0E-BDC5-42B2-9D1D-890203511BE4}" presName="parentLeftMargin" presStyleLbl="node1" presStyleIdx="0" presStyleCnt="2"/>
      <dgm:spPr/>
      <dgm:t>
        <a:bodyPr/>
        <a:lstStyle/>
        <a:p>
          <a:endParaRPr lang="ru-RU"/>
        </a:p>
      </dgm:t>
    </dgm:pt>
    <dgm:pt modelId="{03BBD82C-A4E6-433D-8ECE-B35FF9C26AA7}" type="pres">
      <dgm:prSet presAssocID="{4260FF0E-BDC5-42B2-9D1D-890203511BE4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82AFE3-63AB-45C9-88ED-463C54E1AB10}" type="pres">
      <dgm:prSet presAssocID="{4260FF0E-BDC5-42B2-9D1D-890203511BE4}" presName="negativeSpace" presStyleCnt="0"/>
      <dgm:spPr/>
    </dgm:pt>
    <dgm:pt modelId="{E825A02B-63A8-4E41-B2BA-503625A09FF2}" type="pres">
      <dgm:prSet presAssocID="{4260FF0E-BDC5-42B2-9D1D-890203511BE4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4F3464-8CBF-4036-B4A0-7559D1AFD7D8}" type="pres">
      <dgm:prSet presAssocID="{34071263-19A9-42E0-BCFA-248C4D1CF10A}" presName="spaceBetweenRectangles" presStyleCnt="0"/>
      <dgm:spPr/>
    </dgm:pt>
    <dgm:pt modelId="{51A9E0F3-064E-487B-AD11-6E94E77256E5}" type="pres">
      <dgm:prSet presAssocID="{5157DED4-5D59-4BD3-A780-33635151F74C}" presName="parentLin" presStyleCnt="0"/>
      <dgm:spPr/>
    </dgm:pt>
    <dgm:pt modelId="{BAD775F6-B1CE-420D-A5D4-185C84C2FBF3}" type="pres">
      <dgm:prSet presAssocID="{5157DED4-5D59-4BD3-A780-33635151F74C}" presName="parentLeftMargin" presStyleLbl="node1" presStyleIdx="0" presStyleCnt="2"/>
      <dgm:spPr/>
      <dgm:t>
        <a:bodyPr/>
        <a:lstStyle/>
        <a:p>
          <a:endParaRPr lang="ru-RU"/>
        </a:p>
      </dgm:t>
    </dgm:pt>
    <dgm:pt modelId="{20277E1B-1341-48F4-8A29-F42EDD2F5D02}" type="pres">
      <dgm:prSet presAssocID="{5157DED4-5D59-4BD3-A780-33635151F74C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61C3C6-A54F-4474-A1CC-572A9A616621}" type="pres">
      <dgm:prSet presAssocID="{5157DED4-5D59-4BD3-A780-33635151F74C}" presName="negativeSpace" presStyleCnt="0"/>
      <dgm:spPr/>
    </dgm:pt>
    <dgm:pt modelId="{6D3DD044-0128-43BA-A35C-BBBFCDEAB268}" type="pres">
      <dgm:prSet presAssocID="{5157DED4-5D59-4BD3-A780-33635151F74C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C72938F-997B-4545-B82B-17E607C4EBE0}" srcId="{4260FF0E-BDC5-42B2-9D1D-890203511BE4}" destId="{583518DC-696D-4F2D-A0B8-CF0E43C53806}" srcOrd="1" destOrd="0" parTransId="{69DA40D1-0844-4C22-B765-33A1E049B0E5}" sibTransId="{578DD49D-8B1B-4B06-B2C7-6EF2472613D6}"/>
    <dgm:cxn modelId="{56DD270E-BC7E-419C-A445-995BA7B86B53}" srcId="{86D997AE-4563-421E-BC08-D1459DA1C36B}" destId="{4260FF0E-BDC5-42B2-9D1D-890203511BE4}" srcOrd="0" destOrd="0" parTransId="{52C4F242-078A-4AB7-B91A-A7C6502CA322}" sibTransId="{34071263-19A9-42E0-BCFA-248C4D1CF10A}"/>
    <dgm:cxn modelId="{0B8FB765-A2DB-4B17-B84E-4B3CBFBDFCA7}" type="presOf" srcId="{4260FF0E-BDC5-42B2-9D1D-890203511BE4}" destId="{AD8151E8-5A0C-4CDB-A883-77DAEB3F85E4}" srcOrd="0" destOrd="0" presId="urn:microsoft.com/office/officeart/2005/8/layout/list1"/>
    <dgm:cxn modelId="{07FE6E55-A6C1-4284-8788-7FF72205C83E}" srcId="{86D997AE-4563-421E-BC08-D1459DA1C36B}" destId="{5157DED4-5D59-4BD3-A780-33635151F74C}" srcOrd="1" destOrd="0" parTransId="{F34FBB29-7331-4702-BB8F-42E16C2D71D1}" sibTransId="{C818F1D1-8B3C-43F1-81C7-941A77DF2B36}"/>
    <dgm:cxn modelId="{3C1BCB64-9DE0-41F3-90F1-899A95895A14}" type="presOf" srcId="{583518DC-696D-4F2D-A0B8-CF0E43C53806}" destId="{E825A02B-63A8-4E41-B2BA-503625A09FF2}" srcOrd="0" destOrd="1" presId="urn:microsoft.com/office/officeart/2005/8/layout/list1"/>
    <dgm:cxn modelId="{12DC03E4-8338-4456-8E47-42E05C9A6641}" type="presOf" srcId="{5157DED4-5D59-4BD3-A780-33635151F74C}" destId="{20277E1B-1341-48F4-8A29-F42EDD2F5D02}" srcOrd="1" destOrd="0" presId="urn:microsoft.com/office/officeart/2005/8/layout/list1"/>
    <dgm:cxn modelId="{1AA78348-F10E-4913-BBFC-4EAFFECAB5B5}" type="presOf" srcId="{86D997AE-4563-421E-BC08-D1459DA1C36B}" destId="{5944CCB4-2921-4C87-9381-1CAD66FE3114}" srcOrd="0" destOrd="0" presId="urn:microsoft.com/office/officeart/2005/8/layout/list1"/>
    <dgm:cxn modelId="{33F2C74B-5840-4C5B-957B-A45C8C532D9F}" type="presOf" srcId="{5157DED4-5D59-4BD3-A780-33635151F74C}" destId="{BAD775F6-B1CE-420D-A5D4-185C84C2FBF3}" srcOrd="0" destOrd="0" presId="urn:microsoft.com/office/officeart/2005/8/layout/list1"/>
    <dgm:cxn modelId="{0898B109-5FB9-4925-B072-D16CF97511FF}" type="presOf" srcId="{4260FF0E-BDC5-42B2-9D1D-890203511BE4}" destId="{03BBD82C-A4E6-433D-8ECE-B35FF9C26AA7}" srcOrd="1" destOrd="0" presId="urn:microsoft.com/office/officeart/2005/8/layout/list1"/>
    <dgm:cxn modelId="{F9E716EF-1474-41E5-B8D2-BEB028DAB9FC}" srcId="{5157DED4-5D59-4BD3-A780-33635151F74C}" destId="{F093659D-802D-421E-8032-1AEEF90789F9}" srcOrd="0" destOrd="0" parTransId="{B5639188-D9CC-4651-A491-336D18654A36}" sibTransId="{67E860FD-C308-4E10-A163-3C87525D56DD}"/>
    <dgm:cxn modelId="{48A02402-8ABB-4DC3-AB79-4FA8AD77CE03}" type="presOf" srcId="{F093659D-802D-421E-8032-1AEEF90789F9}" destId="{6D3DD044-0128-43BA-A35C-BBBFCDEAB268}" srcOrd="0" destOrd="0" presId="urn:microsoft.com/office/officeart/2005/8/layout/list1"/>
    <dgm:cxn modelId="{AD5645E3-5B3F-4248-84D7-B1AAFEE90EED}" type="presOf" srcId="{84BC9B9C-B135-4F7E-B733-AF13DFD5B37C}" destId="{E825A02B-63A8-4E41-B2BA-503625A09FF2}" srcOrd="0" destOrd="0" presId="urn:microsoft.com/office/officeart/2005/8/layout/list1"/>
    <dgm:cxn modelId="{A0241714-F6DD-4654-B1DA-73C78D416590}" srcId="{4260FF0E-BDC5-42B2-9D1D-890203511BE4}" destId="{84BC9B9C-B135-4F7E-B733-AF13DFD5B37C}" srcOrd="0" destOrd="0" parTransId="{83A630DA-E47E-405F-A93B-16ED407965AB}" sibTransId="{09D1F96C-CF2B-4DDD-B479-FFF9D2EF3C3D}"/>
    <dgm:cxn modelId="{88F99DAC-4C6C-42B3-B8BE-AC7317722007}" type="presParOf" srcId="{5944CCB4-2921-4C87-9381-1CAD66FE3114}" destId="{8E659D17-CA7E-4594-A021-2FD6CB7C67BD}" srcOrd="0" destOrd="0" presId="urn:microsoft.com/office/officeart/2005/8/layout/list1"/>
    <dgm:cxn modelId="{BB8FCB73-7137-48FF-8D7A-2ADFBF90DEEE}" type="presParOf" srcId="{8E659D17-CA7E-4594-A021-2FD6CB7C67BD}" destId="{AD8151E8-5A0C-4CDB-A883-77DAEB3F85E4}" srcOrd="0" destOrd="0" presId="urn:microsoft.com/office/officeart/2005/8/layout/list1"/>
    <dgm:cxn modelId="{2314D31B-6408-449A-B2FD-61EB0603958C}" type="presParOf" srcId="{8E659D17-CA7E-4594-A021-2FD6CB7C67BD}" destId="{03BBD82C-A4E6-433D-8ECE-B35FF9C26AA7}" srcOrd="1" destOrd="0" presId="urn:microsoft.com/office/officeart/2005/8/layout/list1"/>
    <dgm:cxn modelId="{6CEC80A7-1930-405B-8F40-929BB8300FB8}" type="presParOf" srcId="{5944CCB4-2921-4C87-9381-1CAD66FE3114}" destId="{2C82AFE3-63AB-45C9-88ED-463C54E1AB10}" srcOrd="1" destOrd="0" presId="urn:microsoft.com/office/officeart/2005/8/layout/list1"/>
    <dgm:cxn modelId="{BA93DC33-C344-42A3-B4D6-89E85B9F01EA}" type="presParOf" srcId="{5944CCB4-2921-4C87-9381-1CAD66FE3114}" destId="{E825A02B-63A8-4E41-B2BA-503625A09FF2}" srcOrd="2" destOrd="0" presId="urn:microsoft.com/office/officeart/2005/8/layout/list1"/>
    <dgm:cxn modelId="{EC90F859-A437-47B9-99D5-4ABDD960B394}" type="presParOf" srcId="{5944CCB4-2921-4C87-9381-1CAD66FE3114}" destId="{CD4F3464-8CBF-4036-B4A0-7559D1AFD7D8}" srcOrd="3" destOrd="0" presId="urn:microsoft.com/office/officeart/2005/8/layout/list1"/>
    <dgm:cxn modelId="{A14021B0-ED88-4D27-BD46-4741B2633CCC}" type="presParOf" srcId="{5944CCB4-2921-4C87-9381-1CAD66FE3114}" destId="{51A9E0F3-064E-487B-AD11-6E94E77256E5}" srcOrd="4" destOrd="0" presId="urn:microsoft.com/office/officeart/2005/8/layout/list1"/>
    <dgm:cxn modelId="{9F3776F4-F9AA-4B03-B5A7-E60E0EBFC3CA}" type="presParOf" srcId="{51A9E0F3-064E-487B-AD11-6E94E77256E5}" destId="{BAD775F6-B1CE-420D-A5D4-185C84C2FBF3}" srcOrd="0" destOrd="0" presId="urn:microsoft.com/office/officeart/2005/8/layout/list1"/>
    <dgm:cxn modelId="{99FC43F5-87F7-4948-ADB9-908691EFB507}" type="presParOf" srcId="{51A9E0F3-064E-487B-AD11-6E94E77256E5}" destId="{20277E1B-1341-48F4-8A29-F42EDD2F5D02}" srcOrd="1" destOrd="0" presId="urn:microsoft.com/office/officeart/2005/8/layout/list1"/>
    <dgm:cxn modelId="{4F362E86-1EF9-4B6F-B614-5E6AC4E38DFE}" type="presParOf" srcId="{5944CCB4-2921-4C87-9381-1CAD66FE3114}" destId="{F461C3C6-A54F-4474-A1CC-572A9A616621}" srcOrd="5" destOrd="0" presId="urn:microsoft.com/office/officeart/2005/8/layout/list1"/>
    <dgm:cxn modelId="{A476C17C-B0EB-4418-8E99-A6EFAD3ADCAD}" type="presParOf" srcId="{5944CCB4-2921-4C87-9381-1CAD66FE3114}" destId="{6D3DD044-0128-43BA-A35C-BBBFCDEAB26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8F88F3C-F992-477F-A76B-B2CCD8B239DA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ru-RU"/>
        </a:p>
      </dgm:t>
    </dgm:pt>
    <dgm:pt modelId="{679DF267-CDFC-4FC3-8D24-9ED35C9F85D1}">
      <dgm:prSet/>
      <dgm:spPr/>
      <dgm:t>
        <a:bodyPr/>
        <a:lstStyle/>
        <a:p>
          <a:pPr rtl="0"/>
          <a:r>
            <a:rPr lang="ru-RU" dirty="0" smtClean="0"/>
            <a:t>предварительная обработка ЭД;</a:t>
          </a:r>
          <a:endParaRPr lang="ru-RU" dirty="0"/>
        </a:p>
      </dgm:t>
    </dgm:pt>
    <dgm:pt modelId="{62BF2603-AF80-4C21-8800-11177A2311C8}" type="parTrans" cxnId="{3E93548F-5608-43E1-9892-E7AD97824A7E}">
      <dgm:prSet/>
      <dgm:spPr/>
      <dgm:t>
        <a:bodyPr/>
        <a:lstStyle/>
        <a:p>
          <a:endParaRPr lang="ru-RU"/>
        </a:p>
      </dgm:t>
    </dgm:pt>
    <dgm:pt modelId="{58610BF3-36D6-49B8-8BB2-431D7FEC9558}" type="sibTrans" cxnId="{3E93548F-5608-43E1-9892-E7AD97824A7E}">
      <dgm:prSet/>
      <dgm:spPr/>
      <dgm:t>
        <a:bodyPr/>
        <a:lstStyle/>
        <a:p>
          <a:endParaRPr lang="ru-RU"/>
        </a:p>
      </dgm:t>
    </dgm:pt>
    <dgm:pt modelId="{DA862429-E83B-40D2-8EC9-7FFE5DE382C4}">
      <dgm:prSet/>
      <dgm:spPr/>
      <dgm:t>
        <a:bodyPr/>
        <a:lstStyle/>
        <a:p>
          <a:pPr rtl="0"/>
          <a:r>
            <a:rPr lang="ru-RU" dirty="0" smtClean="0"/>
            <a:t>выбор вида уравнений регрессии;</a:t>
          </a:r>
          <a:endParaRPr lang="ru-RU" dirty="0"/>
        </a:p>
      </dgm:t>
    </dgm:pt>
    <dgm:pt modelId="{80D1E94A-F450-4C9D-818E-0BB22B20EEBE}" type="parTrans" cxnId="{90290E9B-0CC6-4A2A-BE4C-7168F00E31BD}">
      <dgm:prSet/>
      <dgm:spPr/>
      <dgm:t>
        <a:bodyPr/>
        <a:lstStyle/>
        <a:p>
          <a:endParaRPr lang="ru-RU"/>
        </a:p>
      </dgm:t>
    </dgm:pt>
    <dgm:pt modelId="{89D85071-F449-40A6-92D9-53C1745ECBB7}" type="sibTrans" cxnId="{90290E9B-0CC6-4A2A-BE4C-7168F00E31BD}">
      <dgm:prSet/>
      <dgm:spPr/>
      <dgm:t>
        <a:bodyPr/>
        <a:lstStyle/>
        <a:p>
          <a:endParaRPr lang="ru-RU"/>
        </a:p>
      </dgm:t>
    </dgm:pt>
    <dgm:pt modelId="{0723B561-9181-442A-B50D-5986FD8DA658}">
      <dgm:prSet/>
      <dgm:spPr/>
      <dgm:t>
        <a:bodyPr/>
        <a:lstStyle/>
        <a:p>
          <a:pPr rtl="0"/>
          <a:r>
            <a:rPr lang="ru-RU" dirty="0" smtClean="0"/>
            <a:t>вычисление коэффициентов уравнения регрессии;</a:t>
          </a:r>
          <a:endParaRPr lang="ru-RU" dirty="0"/>
        </a:p>
      </dgm:t>
    </dgm:pt>
    <dgm:pt modelId="{826BBAAB-A3E1-4C41-A7CF-BAF89A2A0CC6}" type="parTrans" cxnId="{42BCEE6C-32F6-45A2-8532-A865E6B2F196}">
      <dgm:prSet/>
      <dgm:spPr/>
      <dgm:t>
        <a:bodyPr/>
        <a:lstStyle/>
        <a:p>
          <a:endParaRPr lang="ru-RU"/>
        </a:p>
      </dgm:t>
    </dgm:pt>
    <dgm:pt modelId="{4F99E35F-2141-4274-A90A-356CC6BF3EDD}" type="sibTrans" cxnId="{42BCEE6C-32F6-45A2-8532-A865E6B2F196}">
      <dgm:prSet/>
      <dgm:spPr/>
      <dgm:t>
        <a:bodyPr/>
        <a:lstStyle/>
        <a:p>
          <a:endParaRPr lang="ru-RU"/>
        </a:p>
      </dgm:t>
    </dgm:pt>
    <dgm:pt modelId="{5AB4F8E7-44BF-4ABF-8267-5A17C184A89A}">
      <dgm:prSet/>
      <dgm:spPr/>
      <dgm:t>
        <a:bodyPr/>
        <a:lstStyle/>
        <a:p>
          <a:pPr rtl="0"/>
          <a:r>
            <a:rPr lang="ru-RU" dirty="0" smtClean="0"/>
            <a:t>проверка адекватности построенной функции результатам наблюдений.</a:t>
          </a:r>
          <a:endParaRPr lang="ru-RU" dirty="0"/>
        </a:p>
      </dgm:t>
    </dgm:pt>
    <dgm:pt modelId="{720112D2-5D7A-4160-9E22-4E4ADA9E6112}" type="parTrans" cxnId="{ABB70A87-3C0A-48BC-87B8-EB09A11002D7}">
      <dgm:prSet/>
      <dgm:spPr/>
      <dgm:t>
        <a:bodyPr/>
        <a:lstStyle/>
        <a:p>
          <a:endParaRPr lang="ru-RU"/>
        </a:p>
      </dgm:t>
    </dgm:pt>
    <dgm:pt modelId="{34A977E3-68B3-4EDE-AA35-72A3A7CA370B}" type="sibTrans" cxnId="{ABB70A87-3C0A-48BC-87B8-EB09A11002D7}">
      <dgm:prSet/>
      <dgm:spPr/>
      <dgm:t>
        <a:bodyPr/>
        <a:lstStyle/>
        <a:p>
          <a:endParaRPr lang="ru-RU"/>
        </a:p>
      </dgm:t>
    </dgm:pt>
    <dgm:pt modelId="{BC8C6A17-59CD-4700-91B0-5C8B949FB97E}" type="pres">
      <dgm:prSet presAssocID="{18F88F3C-F992-477F-A76B-B2CCD8B239D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D36F660-70BF-4B0B-BAFE-D49397F0231C}" type="pres">
      <dgm:prSet presAssocID="{679DF267-CDFC-4FC3-8D24-9ED35C9F85D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1C62F4-99A6-48BA-96DA-677BC1A1A519}" type="pres">
      <dgm:prSet presAssocID="{58610BF3-36D6-49B8-8BB2-431D7FEC9558}" presName="spacer" presStyleCnt="0"/>
      <dgm:spPr/>
    </dgm:pt>
    <dgm:pt modelId="{C751DB81-C9DF-4B8E-A813-FE8E8FB509A5}" type="pres">
      <dgm:prSet presAssocID="{DA862429-E83B-40D2-8EC9-7FFE5DE382C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E94C23C-9140-4F0C-9A4A-0A8F6874EEAA}" type="pres">
      <dgm:prSet presAssocID="{89D85071-F449-40A6-92D9-53C1745ECBB7}" presName="spacer" presStyleCnt="0"/>
      <dgm:spPr/>
    </dgm:pt>
    <dgm:pt modelId="{D26E0792-EFFB-45E7-9FEF-E6A8FCC2EEAE}" type="pres">
      <dgm:prSet presAssocID="{0723B561-9181-442A-B50D-5986FD8DA65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DC1B5A-DAEE-4561-974F-1819FD067EA1}" type="pres">
      <dgm:prSet presAssocID="{4F99E35F-2141-4274-A90A-356CC6BF3EDD}" presName="spacer" presStyleCnt="0"/>
      <dgm:spPr/>
    </dgm:pt>
    <dgm:pt modelId="{489BB881-21C8-4611-B7D8-0FE4B5D21C75}" type="pres">
      <dgm:prSet presAssocID="{5AB4F8E7-44BF-4ABF-8267-5A17C184A89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F3DB05D-38B8-4783-AC3A-AD72CC81F719}" type="presOf" srcId="{18F88F3C-F992-477F-A76B-B2CCD8B239DA}" destId="{BC8C6A17-59CD-4700-91B0-5C8B949FB97E}" srcOrd="0" destOrd="0" presId="urn:microsoft.com/office/officeart/2005/8/layout/vList2"/>
    <dgm:cxn modelId="{1C5F5B88-15F8-44F9-A759-9D5ED5398A5F}" type="presOf" srcId="{DA862429-E83B-40D2-8EC9-7FFE5DE382C4}" destId="{C751DB81-C9DF-4B8E-A813-FE8E8FB509A5}" srcOrd="0" destOrd="0" presId="urn:microsoft.com/office/officeart/2005/8/layout/vList2"/>
    <dgm:cxn modelId="{55E217C3-3414-4649-823B-BBFF91FE5611}" type="presOf" srcId="{679DF267-CDFC-4FC3-8D24-9ED35C9F85D1}" destId="{2D36F660-70BF-4B0B-BAFE-D49397F0231C}" srcOrd="0" destOrd="0" presId="urn:microsoft.com/office/officeart/2005/8/layout/vList2"/>
    <dgm:cxn modelId="{42BCEE6C-32F6-45A2-8532-A865E6B2F196}" srcId="{18F88F3C-F992-477F-A76B-B2CCD8B239DA}" destId="{0723B561-9181-442A-B50D-5986FD8DA658}" srcOrd="2" destOrd="0" parTransId="{826BBAAB-A3E1-4C41-A7CF-BAF89A2A0CC6}" sibTransId="{4F99E35F-2141-4274-A90A-356CC6BF3EDD}"/>
    <dgm:cxn modelId="{90290E9B-0CC6-4A2A-BE4C-7168F00E31BD}" srcId="{18F88F3C-F992-477F-A76B-B2CCD8B239DA}" destId="{DA862429-E83B-40D2-8EC9-7FFE5DE382C4}" srcOrd="1" destOrd="0" parTransId="{80D1E94A-F450-4C9D-818E-0BB22B20EEBE}" sibTransId="{89D85071-F449-40A6-92D9-53C1745ECBB7}"/>
    <dgm:cxn modelId="{ABB70A87-3C0A-48BC-87B8-EB09A11002D7}" srcId="{18F88F3C-F992-477F-A76B-B2CCD8B239DA}" destId="{5AB4F8E7-44BF-4ABF-8267-5A17C184A89A}" srcOrd="3" destOrd="0" parTransId="{720112D2-5D7A-4160-9E22-4E4ADA9E6112}" sibTransId="{34A977E3-68B3-4EDE-AA35-72A3A7CA370B}"/>
    <dgm:cxn modelId="{6449EC64-89B1-44CF-B6FA-09D98158731D}" type="presOf" srcId="{5AB4F8E7-44BF-4ABF-8267-5A17C184A89A}" destId="{489BB881-21C8-4611-B7D8-0FE4B5D21C75}" srcOrd="0" destOrd="0" presId="urn:microsoft.com/office/officeart/2005/8/layout/vList2"/>
    <dgm:cxn modelId="{CA8A7C19-15DB-4FF1-BA4B-B46B99DB7353}" type="presOf" srcId="{0723B561-9181-442A-B50D-5986FD8DA658}" destId="{D26E0792-EFFB-45E7-9FEF-E6A8FCC2EEAE}" srcOrd="0" destOrd="0" presId="urn:microsoft.com/office/officeart/2005/8/layout/vList2"/>
    <dgm:cxn modelId="{3E93548F-5608-43E1-9892-E7AD97824A7E}" srcId="{18F88F3C-F992-477F-A76B-B2CCD8B239DA}" destId="{679DF267-CDFC-4FC3-8D24-9ED35C9F85D1}" srcOrd="0" destOrd="0" parTransId="{62BF2603-AF80-4C21-8800-11177A2311C8}" sibTransId="{58610BF3-36D6-49B8-8BB2-431D7FEC9558}"/>
    <dgm:cxn modelId="{B1E1EB00-9B57-4660-B7DC-955EFF7B6D31}" type="presParOf" srcId="{BC8C6A17-59CD-4700-91B0-5C8B949FB97E}" destId="{2D36F660-70BF-4B0B-BAFE-D49397F0231C}" srcOrd="0" destOrd="0" presId="urn:microsoft.com/office/officeart/2005/8/layout/vList2"/>
    <dgm:cxn modelId="{4D4A8429-428F-489D-9817-4C8CE6E6026C}" type="presParOf" srcId="{BC8C6A17-59CD-4700-91B0-5C8B949FB97E}" destId="{171C62F4-99A6-48BA-96DA-677BC1A1A519}" srcOrd="1" destOrd="0" presId="urn:microsoft.com/office/officeart/2005/8/layout/vList2"/>
    <dgm:cxn modelId="{453A3112-00C7-4507-92DA-8AD207AE0DAC}" type="presParOf" srcId="{BC8C6A17-59CD-4700-91B0-5C8B949FB97E}" destId="{C751DB81-C9DF-4B8E-A813-FE8E8FB509A5}" srcOrd="2" destOrd="0" presId="urn:microsoft.com/office/officeart/2005/8/layout/vList2"/>
    <dgm:cxn modelId="{E0360CC0-C34C-4698-9992-D0EB22BF94BD}" type="presParOf" srcId="{BC8C6A17-59CD-4700-91B0-5C8B949FB97E}" destId="{CE94C23C-9140-4F0C-9A4A-0A8F6874EEAA}" srcOrd="3" destOrd="0" presId="urn:microsoft.com/office/officeart/2005/8/layout/vList2"/>
    <dgm:cxn modelId="{F1E5667C-F33C-4A02-A207-1709AC5FBF94}" type="presParOf" srcId="{BC8C6A17-59CD-4700-91B0-5C8B949FB97E}" destId="{D26E0792-EFFB-45E7-9FEF-E6A8FCC2EEAE}" srcOrd="4" destOrd="0" presId="urn:microsoft.com/office/officeart/2005/8/layout/vList2"/>
    <dgm:cxn modelId="{5718ED74-412F-4923-8747-B90D4285061F}" type="presParOf" srcId="{BC8C6A17-59CD-4700-91B0-5C8B949FB97E}" destId="{81DC1B5A-DAEE-4561-974F-1819FD067EA1}" srcOrd="5" destOrd="0" presId="urn:microsoft.com/office/officeart/2005/8/layout/vList2"/>
    <dgm:cxn modelId="{6097E9CA-FA8E-419E-AEF1-C6E968911658}" type="presParOf" srcId="{BC8C6A17-59CD-4700-91B0-5C8B949FB97E}" destId="{489BB881-21C8-4611-B7D8-0FE4B5D21C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F20567-DF64-473C-B94C-B826120C63B2}" type="doc">
      <dgm:prSet loTypeId="urn:microsoft.com/office/officeart/2005/8/layout/target3" loCatId="relationship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ru-RU"/>
        </a:p>
      </dgm:t>
    </dgm:pt>
    <dgm:pt modelId="{058E74F9-753F-4DF1-B361-81BAF1155E03}">
      <dgm:prSet custT="1"/>
      <dgm:spPr/>
      <dgm:t>
        <a:bodyPr/>
        <a:lstStyle/>
        <a:p>
          <a:pPr rtl="0"/>
          <a:r>
            <a:rPr lang="ru-RU" sz="2500" dirty="0" smtClean="0"/>
            <a:t>Линейная регрессия</a:t>
          </a:r>
          <a:endParaRPr lang="ru-RU" sz="2500" dirty="0"/>
        </a:p>
      </dgm:t>
    </dgm:pt>
    <dgm:pt modelId="{B8E325C2-39A8-4243-AA62-FDBE8F43EAE5}" type="parTrans" cxnId="{F9DC7E0E-4B1A-4A95-92AD-586E9EDC4254}">
      <dgm:prSet/>
      <dgm:spPr/>
      <dgm:t>
        <a:bodyPr/>
        <a:lstStyle/>
        <a:p>
          <a:endParaRPr lang="ru-RU"/>
        </a:p>
      </dgm:t>
    </dgm:pt>
    <dgm:pt modelId="{5CBBF0AA-4086-43DC-89FF-CB87528D31AB}" type="sibTrans" cxnId="{F9DC7E0E-4B1A-4A95-92AD-586E9EDC4254}">
      <dgm:prSet/>
      <dgm:spPr/>
      <dgm:t>
        <a:bodyPr/>
        <a:lstStyle/>
        <a:p>
          <a:endParaRPr lang="ru-RU"/>
        </a:p>
      </dgm:t>
    </dgm:pt>
    <dgm:pt modelId="{4EE061E1-EC2B-4D5A-9B50-58B32DB047F8}">
      <dgm:prSet custT="1"/>
      <dgm:spPr/>
      <dgm:t>
        <a:bodyPr/>
        <a:lstStyle/>
        <a:p>
          <a:pPr rtl="0"/>
          <a:r>
            <a:rPr lang="ru-RU" sz="2500" dirty="0" smtClean="0"/>
            <a:t>Полиномиальная регрессия</a:t>
          </a:r>
          <a:endParaRPr lang="ru-RU" sz="2500" dirty="0"/>
        </a:p>
      </dgm:t>
    </dgm:pt>
    <dgm:pt modelId="{6FE86D6B-B125-42A0-83C0-3E42E03E59C5}" type="parTrans" cxnId="{AA0E675A-9024-4107-9E5D-9D16250E173F}">
      <dgm:prSet/>
      <dgm:spPr/>
      <dgm:t>
        <a:bodyPr/>
        <a:lstStyle/>
        <a:p>
          <a:endParaRPr lang="ru-RU"/>
        </a:p>
      </dgm:t>
    </dgm:pt>
    <dgm:pt modelId="{A35F75FB-6126-4F1A-B023-C0AB70EF7393}" type="sibTrans" cxnId="{AA0E675A-9024-4107-9E5D-9D16250E173F}">
      <dgm:prSet/>
      <dgm:spPr/>
      <dgm:t>
        <a:bodyPr/>
        <a:lstStyle/>
        <a:p>
          <a:endParaRPr lang="ru-RU"/>
        </a:p>
      </dgm:t>
    </dgm:pt>
    <dgm:pt modelId="{515A2CC5-9015-4983-80EE-9DC84B46CE7B}">
      <dgm:prSet custT="1"/>
      <dgm:spPr/>
      <dgm:t>
        <a:bodyPr/>
        <a:lstStyle/>
        <a:p>
          <a:pPr rtl="0"/>
          <a:r>
            <a:rPr lang="ru-RU" sz="2500" dirty="0" smtClean="0"/>
            <a:t>Обобщенная регрессия</a:t>
          </a:r>
          <a:endParaRPr lang="ru-RU" sz="2500" dirty="0"/>
        </a:p>
      </dgm:t>
    </dgm:pt>
    <dgm:pt modelId="{E2690397-8433-42AD-B14B-BD7CD50A4E33}" type="parTrans" cxnId="{00DF7E2B-F5A4-4373-AF9F-1A89FBE3597A}">
      <dgm:prSet/>
      <dgm:spPr/>
      <dgm:t>
        <a:bodyPr/>
        <a:lstStyle/>
        <a:p>
          <a:endParaRPr lang="ru-RU"/>
        </a:p>
      </dgm:t>
    </dgm:pt>
    <dgm:pt modelId="{613E07DC-4B96-4FE5-B5C3-BD430ED40AF6}" type="sibTrans" cxnId="{00DF7E2B-F5A4-4373-AF9F-1A89FBE3597A}">
      <dgm:prSet/>
      <dgm:spPr/>
      <dgm:t>
        <a:bodyPr/>
        <a:lstStyle/>
        <a:p>
          <a:endParaRPr lang="ru-RU"/>
        </a:p>
      </dgm:t>
    </dgm:pt>
    <dgm:pt modelId="{0D763D4F-F93C-4121-B68A-287065800F1B}" type="pres">
      <dgm:prSet presAssocID="{02F20567-DF64-473C-B94C-B826120C63B2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889E133-A906-418E-9800-F39323164030}" type="pres">
      <dgm:prSet presAssocID="{058E74F9-753F-4DF1-B361-81BAF1155E03}" presName="circle1" presStyleLbl="node1" presStyleIdx="0" presStyleCnt="3"/>
      <dgm:spPr/>
    </dgm:pt>
    <dgm:pt modelId="{6BEEDB02-F393-4B8C-9617-8C93857BC763}" type="pres">
      <dgm:prSet presAssocID="{058E74F9-753F-4DF1-B361-81BAF1155E03}" presName="space" presStyleCnt="0"/>
      <dgm:spPr/>
    </dgm:pt>
    <dgm:pt modelId="{0A49842F-CC1B-49E6-BB83-CCA48BD6E459}" type="pres">
      <dgm:prSet presAssocID="{058E74F9-753F-4DF1-B361-81BAF1155E03}" presName="rect1" presStyleLbl="alignAcc1" presStyleIdx="0" presStyleCnt="3"/>
      <dgm:spPr/>
      <dgm:t>
        <a:bodyPr/>
        <a:lstStyle/>
        <a:p>
          <a:endParaRPr lang="ru-RU"/>
        </a:p>
      </dgm:t>
    </dgm:pt>
    <dgm:pt modelId="{7E767E76-A8A9-47DD-A9E6-2C4CC0A205AB}" type="pres">
      <dgm:prSet presAssocID="{4EE061E1-EC2B-4D5A-9B50-58B32DB047F8}" presName="vertSpace2" presStyleLbl="node1" presStyleIdx="0" presStyleCnt="3"/>
      <dgm:spPr/>
    </dgm:pt>
    <dgm:pt modelId="{3D298D09-5EF0-48A2-9DB8-D8FE17F85D3B}" type="pres">
      <dgm:prSet presAssocID="{4EE061E1-EC2B-4D5A-9B50-58B32DB047F8}" presName="circle2" presStyleLbl="node1" presStyleIdx="1" presStyleCnt="3"/>
      <dgm:spPr/>
    </dgm:pt>
    <dgm:pt modelId="{FA2955C0-6A85-4CF7-949E-3847748848C7}" type="pres">
      <dgm:prSet presAssocID="{4EE061E1-EC2B-4D5A-9B50-58B32DB047F8}" presName="rect2" presStyleLbl="alignAcc1" presStyleIdx="1" presStyleCnt="3"/>
      <dgm:spPr/>
      <dgm:t>
        <a:bodyPr/>
        <a:lstStyle/>
        <a:p>
          <a:endParaRPr lang="ru-RU"/>
        </a:p>
      </dgm:t>
    </dgm:pt>
    <dgm:pt modelId="{F6F17745-8E26-4C9F-88CF-D1931CEBA83D}" type="pres">
      <dgm:prSet presAssocID="{515A2CC5-9015-4983-80EE-9DC84B46CE7B}" presName="vertSpace3" presStyleLbl="node1" presStyleIdx="1" presStyleCnt="3"/>
      <dgm:spPr/>
    </dgm:pt>
    <dgm:pt modelId="{E8CB5C86-50A7-49CB-A810-BB6A799B0DC5}" type="pres">
      <dgm:prSet presAssocID="{515A2CC5-9015-4983-80EE-9DC84B46CE7B}" presName="circle3" presStyleLbl="node1" presStyleIdx="2" presStyleCnt="3"/>
      <dgm:spPr/>
    </dgm:pt>
    <dgm:pt modelId="{9AF86FEC-6210-449D-ABDC-7DEDC6A8C60A}" type="pres">
      <dgm:prSet presAssocID="{515A2CC5-9015-4983-80EE-9DC84B46CE7B}" presName="rect3" presStyleLbl="alignAcc1" presStyleIdx="2" presStyleCnt="3"/>
      <dgm:spPr/>
      <dgm:t>
        <a:bodyPr/>
        <a:lstStyle/>
        <a:p>
          <a:endParaRPr lang="ru-RU"/>
        </a:p>
      </dgm:t>
    </dgm:pt>
    <dgm:pt modelId="{161819CE-AED4-4F4F-844B-EE5A9367E931}" type="pres">
      <dgm:prSet presAssocID="{058E74F9-753F-4DF1-B361-81BAF1155E03}" presName="rect1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E8B727-BC44-4333-8C5B-B13302E83FD0}" type="pres">
      <dgm:prSet presAssocID="{4EE061E1-EC2B-4D5A-9B50-58B32DB047F8}" presName="rect2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AD54B1-B314-49D7-B02F-56B3FCCC5478}" type="pres">
      <dgm:prSet presAssocID="{515A2CC5-9015-4983-80EE-9DC84B46CE7B}" presName="rect3ParTxNoCh" presStyleLbl="alignAcc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3D92C11-4080-48A4-93E9-63B325EAC20F}" type="presOf" srcId="{515A2CC5-9015-4983-80EE-9DC84B46CE7B}" destId="{4FAD54B1-B314-49D7-B02F-56B3FCCC5478}" srcOrd="1" destOrd="0" presId="urn:microsoft.com/office/officeart/2005/8/layout/target3"/>
    <dgm:cxn modelId="{58B1BA2E-EF36-4B12-91CF-7AA6492E69E6}" type="presOf" srcId="{058E74F9-753F-4DF1-B361-81BAF1155E03}" destId="{0A49842F-CC1B-49E6-BB83-CCA48BD6E459}" srcOrd="0" destOrd="0" presId="urn:microsoft.com/office/officeart/2005/8/layout/target3"/>
    <dgm:cxn modelId="{2A3AB20C-946C-4AFC-B6C3-679CE76EC269}" type="presOf" srcId="{4EE061E1-EC2B-4D5A-9B50-58B32DB047F8}" destId="{FA2955C0-6A85-4CF7-949E-3847748848C7}" srcOrd="0" destOrd="0" presId="urn:microsoft.com/office/officeart/2005/8/layout/target3"/>
    <dgm:cxn modelId="{F9DC7E0E-4B1A-4A95-92AD-586E9EDC4254}" srcId="{02F20567-DF64-473C-B94C-B826120C63B2}" destId="{058E74F9-753F-4DF1-B361-81BAF1155E03}" srcOrd="0" destOrd="0" parTransId="{B8E325C2-39A8-4243-AA62-FDBE8F43EAE5}" sibTransId="{5CBBF0AA-4086-43DC-89FF-CB87528D31AB}"/>
    <dgm:cxn modelId="{9876B463-00FD-4433-8334-6E67F1948B27}" type="presOf" srcId="{058E74F9-753F-4DF1-B361-81BAF1155E03}" destId="{161819CE-AED4-4F4F-844B-EE5A9367E931}" srcOrd="1" destOrd="0" presId="urn:microsoft.com/office/officeart/2005/8/layout/target3"/>
    <dgm:cxn modelId="{32BA1FB0-DDCC-4979-BBED-4EB9133F8433}" type="presOf" srcId="{4EE061E1-EC2B-4D5A-9B50-58B32DB047F8}" destId="{32E8B727-BC44-4333-8C5B-B13302E83FD0}" srcOrd="1" destOrd="0" presId="urn:microsoft.com/office/officeart/2005/8/layout/target3"/>
    <dgm:cxn modelId="{00DF7E2B-F5A4-4373-AF9F-1A89FBE3597A}" srcId="{02F20567-DF64-473C-B94C-B826120C63B2}" destId="{515A2CC5-9015-4983-80EE-9DC84B46CE7B}" srcOrd="2" destOrd="0" parTransId="{E2690397-8433-42AD-B14B-BD7CD50A4E33}" sibTransId="{613E07DC-4B96-4FE5-B5C3-BD430ED40AF6}"/>
    <dgm:cxn modelId="{D1ADDBD1-D095-4EF0-8692-30BC5853E67C}" type="presOf" srcId="{02F20567-DF64-473C-B94C-B826120C63B2}" destId="{0D763D4F-F93C-4121-B68A-287065800F1B}" srcOrd="0" destOrd="0" presId="urn:microsoft.com/office/officeart/2005/8/layout/target3"/>
    <dgm:cxn modelId="{CF1E398D-C902-4032-B8F0-C13D40EB0548}" type="presOf" srcId="{515A2CC5-9015-4983-80EE-9DC84B46CE7B}" destId="{9AF86FEC-6210-449D-ABDC-7DEDC6A8C60A}" srcOrd="0" destOrd="0" presId="urn:microsoft.com/office/officeart/2005/8/layout/target3"/>
    <dgm:cxn modelId="{AA0E675A-9024-4107-9E5D-9D16250E173F}" srcId="{02F20567-DF64-473C-B94C-B826120C63B2}" destId="{4EE061E1-EC2B-4D5A-9B50-58B32DB047F8}" srcOrd="1" destOrd="0" parTransId="{6FE86D6B-B125-42A0-83C0-3E42E03E59C5}" sibTransId="{A35F75FB-6126-4F1A-B023-C0AB70EF7393}"/>
    <dgm:cxn modelId="{FE4E4C81-0C7C-43AE-BBB4-82BDF20D3BC9}" type="presParOf" srcId="{0D763D4F-F93C-4121-B68A-287065800F1B}" destId="{F889E133-A906-418E-9800-F39323164030}" srcOrd="0" destOrd="0" presId="urn:microsoft.com/office/officeart/2005/8/layout/target3"/>
    <dgm:cxn modelId="{093611A7-4701-42BC-B07D-598DC63126B4}" type="presParOf" srcId="{0D763D4F-F93C-4121-B68A-287065800F1B}" destId="{6BEEDB02-F393-4B8C-9617-8C93857BC763}" srcOrd="1" destOrd="0" presId="urn:microsoft.com/office/officeart/2005/8/layout/target3"/>
    <dgm:cxn modelId="{50AB1518-9187-43DD-8FE2-58DD3DAFF45D}" type="presParOf" srcId="{0D763D4F-F93C-4121-B68A-287065800F1B}" destId="{0A49842F-CC1B-49E6-BB83-CCA48BD6E459}" srcOrd="2" destOrd="0" presId="urn:microsoft.com/office/officeart/2005/8/layout/target3"/>
    <dgm:cxn modelId="{02653ABE-ED91-47E1-A706-4BF0B9C96A42}" type="presParOf" srcId="{0D763D4F-F93C-4121-B68A-287065800F1B}" destId="{7E767E76-A8A9-47DD-A9E6-2C4CC0A205AB}" srcOrd="3" destOrd="0" presId="urn:microsoft.com/office/officeart/2005/8/layout/target3"/>
    <dgm:cxn modelId="{DE496062-1587-4CEF-8E0E-DC3E2D703374}" type="presParOf" srcId="{0D763D4F-F93C-4121-B68A-287065800F1B}" destId="{3D298D09-5EF0-48A2-9DB8-D8FE17F85D3B}" srcOrd="4" destOrd="0" presId="urn:microsoft.com/office/officeart/2005/8/layout/target3"/>
    <dgm:cxn modelId="{3C02508A-89A4-440D-8E52-25B02B5ED3EA}" type="presParOf" srcId="{0D763D4F-F93C-4121-B68A-287065800F1B}" destId="{FA2955C0-6A85-4CF7-949E-3847748848C7}" srcOrd="5" destOrd="0" presId="urn:microsoft.com/office/officeart/2005/8/layout/target3"/>
    <dgm:cxn modelId="{FB6B47C2-F8FB-4811-A7D5-2A09C6E4687E}" type="presParOf" srcId="{0D763D4F-F93C-4121-B68A-287065800F1B}" destId="{F6F17745-8E26-4C9F-88CF-D1931CEBA83D}" srcOrd="6" destOrd="0" presId="urn:microsoft.com/office/officeart/2005/8/layout/target3"/>
    <dgm:cxn modelId="{96F05E44-1E41-4B68-BF7C-0515FB6858A7}" type="presParOf" srcId="{0D763D4F-F93C-4121-B68A-287065800F1B}" destId="{E8CB5C86-50A7-49CB-A810-BB6A799B0DC5}" srcOrd="7" destOrd="0" presId="urn:microsoft.com/office/officeart/2005/8/layout/target3"/>
    <dgm:cxn modelId="{6888C104-62F8-416F-9C02-BAF937429776}" type="presParOf" srcId="{0D763D4F-F93C-4121-B68A-287065800F1B}" destId="{9AF86FEC-6210-449D-ABDC-7DEDC6A8C60A}" srcOrd="8" destOrd="0" presId="urn:microsoft.com/office/officeart/2005/8/layout/target3"/>
    <dgm:cxn modelId="{639EE3FD-D279-47B2-B70D-63E1703FCC4D}" type="presParOf" srcId="{0D763D4F-F93C-4121-B68A-287065800F1B}" destId="{161819CE-AED4-4F4F-844B-EE5A9367E931}" srcOrd="9" destOrd="0" presId="urn:microsoft.com/office/officeart/2005/8/layout/target3"/>
    <dgm:cxn modelId="{88131304-B15F-480F-B8D1-A0D30DD5EC80}" type="presParOf" srcId="{0D763D4F-F93C-4121-B68A-287065800F1B}" destId="{32E8B727-BC44-4333-8C5B-B13302E83FD0}" srcOrd="10" destOrd="0" presId="urn:microsoft.com/office/officeart/2005/8/layout/target3"/>
    <dgm:cxn modelId="{8787C4D4-5C57-4F33-8BE0-66F2A8D28E33}" type="presParOf" srcId="{0D763D4F-F93C-4121-B68A-287065800F1B}" destId="{4FAD54B1-B314-49D7-B02F-56B3FCCC5478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56E875-6B31-469E-990D-376B9C5C8D71}" type="doc">
      <dgm:prSet loTypeId="urn:microsoft.com/office/officeart/2005/8/layout/radial2" loCatId="relationship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DAD0AE0C-FFED-45A8-8137-14C1F4884FC6}">
      <dgm:prSet custT="1"/>
      <dgm:spPr/>
      <dgm:t>
        <a:bodyPr/>
        <a:lstStyle/>
        <a:p>
          <a:pPr rtl="0"/>
          <a:r>
            <a:rPr lang="ru-RU" sz="2000" dirty="0" smtClean="0"/>
            <a:t>Метод наименьших квадратов</a:t>
          </a:r>
          <a:endParaRPr lang="ru-RU" sz="2000" dirty="0"/>
        </a:p>
      </dgm:t>
    </dgm:pt>
    <dgm:pt modelId="{4416FB48-B629-4B95-A0C5-90FE6773821A}" type="parTrans" cxnId="{519F4C4B-2FCC-4C77-AAEC-F019B28B72E9}">
      <dgm:prSet/>
      <dgm:spPr/>
      <dgm:t>
        <a:bodyPr/>
        <a:lstStyle/>
        <a:p>
          <a:endParaRPr lang="ru-RU"/>
        </a:p>
      </dgm:t>
    </dgm:pt>
    <dgm:pt modelId="{CDB5096F-FE30-47DB-93FA-422DC8C3F374}" type="sibTrans" cxnId="{519F4C4B-2FCC-4C77-AAEC-F019B28B72E9}">
      <dgm:prSet/>
      <dgm:spPr/>
      <dgm:t>
        <a:bodyPr/>
        <a:lstStyle/>
        <a:p>
          <a:endParaRPr lang="ru-RU"/>
        </a:p>
      </dgm:t>
    </dgm:pt>
    <dgm:pt modelId="{A1C8A516-3206-4E02-8450-A9978E69233D}">
      <dgm:prSet custT="1"/>
      <dgm:spPr/>
      <dgm:t>
        <a:bodyPr/>
        <a:lstStyle/>
        <a:p>
          <a:pPr rtl="0"/>
          <a:r>
            <a:rPr lang="ru-RU" sz="2000" dirty="0" smtClean="0"/>
            <a:t>Метод медиан</a:t>
          </a:r>
          <a:endParaRPr lang="ru-RU" sz="2000" dirty="0"/>
        </a:p>
      </dgm:t>
    </dgm:pt>
    <dgm:pt modelId="{95FA386B-B729-4553-8EF0-CA9C1CDE305C}" type="parTrans" cxnId="{78C253C7-675D-48E7-A60A-020BCC216728}">
      <dgm:prSet/>
      <dgm:spPr/>
      <dgm:t>
        <a:bodyPr/>
        <a:lstStyle/>
        <a:p>
          <a:endParaRPr lang="ru-RU"/>
        </a:p>
      </dgm:t>
    </dgm:pt>
    <dgm:pt modelId="{3328FF0D-1ABB-4471-A043-AE8DF0F752AB}" type="sibTrans" cxnId="{78C253C7-675D-48E7-A60A-020BCC216728}">
      <dgm:prSet/>
      <dgm:spPr/>
      <dgm:t>
        <a:bodyPr/>
        <a:lstStyle/>
        <a:p>
          <a:endParaRPr lang="ru-RU"/>
        </a:p>
      </dgm:t>
    </dgm:pt>
    <dgm:pt modelId="{1F1E9EC3-6483-458D-B74A-5E5B0429DDC1}" type="pres">
      <dgm:prSet presAssocID="{8E56E875-6B31-469E-990D-376B9C5C8D71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5BCDA15-2FF1-4F4A-AA1C-467AE36F4719}" type="pres">
      <dgm:prSet presAssocID="{8E56E875-6B31-469E-990D-376B9C5C8D71}" presName="cycle" presStyleCnt="0"/>
      <dgm:spPr/>
    </dgm:pt>
    <dgm:pt modelId="{79A9E673-FD05-462E-88D0-A6E17464F650}" type="pres">
      <dgm:prSet presAssocID="{8E56E875-6B31-469E-990D-376B9C5C8D71}" presName="centerShape" presStyleCnt="0"/>
      <dgm:spPr/>
    </dgm:pt>
    <dgm:pt modelId="{DBDF8DFC-FEB8-4A26-AF76-BC5BCE641C31}" type="pres">
      <dgm:prSet presAssocID="{8E56E875-6B31-469E-990D-376B9C5C8D71}" presName="connSite" presStyleLbl="node1" presStyleIdx="0" presStyleCnt="3"/>
      <dgm:spPr/>
    </dgm:pt>
    <dgm:pt modelId="{F5081D9A-8A8A-4C4C-BAD9-182601952AEC}" type="pres">
      <dgm:prSet presAssocID="{8E56E875-6B31-469E-990D-376B9C5C8D71}" presName="visible" presStyleLbl="node1" presStyleIdx="0" presStyleCnt="3"/>
      <dgm:spPr/>
    </dgm:pt>
    <dgm:pt modelId="{A8DA7274-FCAE-4B6B-AE12-80D3D2CF390D}" type="pres">
      <dgm:prSet presAssocID="{4416FB48-B629-4B95-A0C5-90FE6773821A}" presName="Name25" presStyleLbl="parChTrans1D1" presStyleIdx="0" presStyleCnt="2"/>
      <dgm:spPr/>
      <dgm:t>
        <a:bodyPr/>
        <a:lstStyle/>
        <a:p>
          <a:endParaRPr lang="ru-RU"/>
        </a:p>
      </dgm:t>
    </dgm:pt>
    <dgm:pt modelId="{7D4056EC-2B80-4129-81C8-56DBBED83F68}" type="pres">
      <dgm:prSet presAssocID="{DAD0AE0C-FFED-45A8-8137-14C1F4884FC6}" presName="node" presStyleCnt="0"/>
      <dgm:spPr/>
    </dgm:pt>
    <dgm:pt modelId="{46BAB660-49B8-4518-A259-63ECFD1686A3}" type="pres">
      <dgm:prSet presAssocID="{DAD0AE0C-FFED-45A8-8137-14C1F4884FC6}" presName="parentNode" presStyleLbl="node1" presStyleIdx="1" presStyleCnt="3" custScaleX="136262" custScaleY="10671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919E50-1782-4554-90F1-AE2F3741CD7E}" type="pres">
      <dgm:prSet presAssocID="{DAD0AE0C-FFED-45A8-8137-14C1F4884FC6}" presName="childNode" presStyleLbl="revTx" presStyleIdx="0" presStyleCnt="0">
        <dgm:presLayoutVars>
          <dgm:bulletEnabled val="1"/>
        </dgm:presLayoutVars>
      </dgm:prSet>
      <dgm:spPr/>
    </dgm:pt>
    <dgm:pt modelId="{B821CA3A-5C08-4261-8974-846FC4624C15}" type="pres">
      <dgm:prSet presAssocID="{95FA386B-B729-4553-8EF0-CA9C1CDE305C}" presName="Name25" presStyleLbl="parChTrans1D1" presStyleIdx="1" presStyleCnt="2"/>
      <dgm:spPr/>
      <dgm:t>
        <a:bodyPr/>
        <a:lstStyle/>
        <a:p>
          <a:endParaRPr lang="ru-RU"/>
        </a:p>
      </dgm:t>
    </dgm:pt>
    <dgm:pt modelId="{69946525-7BC7-4A23-ACB7-CAA3ACBC0FEC}" type="pres">
      <dgm:prSet presAssocID="{A1C8A516-3206-4E02-8450-A9978E69233D}" presName="node" presStyleCnt="0"/>
      <dgm:spPr/>
    </dgm:pt>
    <dgm:pt modelId="{DCDAD3E7-0880-445C-8A55-2E8F97679EDE}" type="pres">
      <dgm:prSet presAssocID="{A1C8A516-3206-4E02-8450-A9978E69233D}" presName="parentNode" presStyleLbl="node1" presStyleIdx="2" presStyleCnt="3" custScaleX="13280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147475-8802-49B6-A8A4-D392100817EB}" type="pres">
      <dgm:prSet presAssocID="{A1C8A516-3206-4E02-8450-A9978E69233D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F8647DCF-E961-4951-BA64-DF3A399CB754}" type="presOf" srcId="{DAD0AE0C-FFED-45A8-8137-14C1F4884FC6}" destId="{46BAB660-49B8-4518-A259-63ECFD1686A3}" srcOrd="0" destOrd="0" presId="urn:microsoft.com/office/officeart/2005/8/layout/radial2"/>
    <dgm:cxn modelId="{65D9B35F-DE06-4D3D-8DA7-4A30327213C0}" type="presOf" srcId="{4416FB48-B629-4B95-A0C5-90FE6773821A}" destId="{A8DA7274-FCAE-4B6B-AE12-80D3D2CF390D}" srcOrd="0" destOrd="0" presId="urn:microsoft.com/office/officeart/2005/8/layout/radial2"/>
    <dgm:cxn modelId="{B757F74F-A5AF-4FA0-B40A-35915DC90B18}" type="presOf" srcId="{A1C8A516-3206-4E02-8450-A9978E69233D}" destId="{DCDAD3E7-0880-445C-8A55-2E8F97679EDE}" srcOrd="0" destOrd="0" presId="urn:microsoft.com/office/officeart/2005/8/layout/radial2"/>
    <dgm:cxn modelId="{78C253C7-675D-48E7-A60A-020BCC216728}" srcId="{8E56E875-6B31-469E-990D-376B9C5C8D71}" destId="{A1C8A516-3206-4E02-8450-A9978E69233D}" srcOrd="1" destOrd="0" parTransId="{95FA386B-B729-4553-8EF0-CA9C1CDE305C}" sibTransId="{3328FF0D-1ABB-4471-A043-AE8DF0F752AB}"/>
    <dgm:cxn modelId="{A8764F1C-4212-475B-91BB-C78876694C73}" type="presOf" srcId="{95FA386B-B729-4553-8EF0-CA9C1CDE305C}" destId="{B821CA3A-5C08-4261-8974-846FC4624C15}" srcOrd="0" destOrd="0" presId="urn:microsoft.com/office/officeart/2005/8/layout/radial2"/>
    <dgm:cxn modelId="{3176348D-606B-4DB7-8ACD-B2C8CCA2519B}" type="presOf" srcId="{8E56E875-6B31-469E-990D-376B9C5C8D71}" destId="{1F1E9EC3-6483-458D-B74A-5E5B0429DDC1}" srcOrd="0" destOrd="0" presId="urn:microsoft.com/office/officeart/2005/8/layout/radial2"/>
    <dgm:cxn modelId="{519F4C4B-2FCC-4C77-AAEC-F019B28B72E9}" srcId="{8E56E875-6B31-469E-990D-376B9C5C8D71}" destId="{DAD0AE0C-FFED-45A8-8137-14C1F4884FC6}" srcOrd="0" destOrd="0" parTransId="{4416FB48-B629-4B95-A0C5-90FE6773821A}" sibTransId="{CDB5096F-FE30-47DB-93FA-422DC8C3F374}"/>
    <dgm:cxn modelId="{69C286C9-B992-49D6-B73C-D8F2592EC392}" type="presParOf" srcId="{1F1E9EC3-6483-458D-B74A-5E5B0429DDC1}" destId="{65BCDA15-2FF1-4F4A-AA1C-467AE36F4719}" srcOrd="0" destOrd="0" presId="urn:microsoft.com/office/officeart/2005/8/layout/radial2"/>
    <dgm:cxn modelId="{50AE7914-2E19-428E-96CA-FD4151481CBB}" type="presParOf" srcId="{65BCDA15-2FF1-4F4A-AA1C-467AE36F4719}" destId="{79A9E673-FD05-462E-88D0-A6E17464F650}" srcOrd="0" destOrd="0" presId="urn:microsoft.com/office/officeart/2005/8/layout/radial2"/>
    <dgm:cxn modelId="{2D5D00DC-EA72-490D-B6CC-4799E73BFBEB}" type="presParOf" srcId="{79A9E673-FD05-462E-88D0-A6E17464F650}" destId="{DBDF8DFC-FEB8-4A26-AF76-BC5BCE641C31}" srcOrd="0" destOrd="0" presId="urn:microsoft.com/office/officeart/2005/8/layout/radial2"/>
    <dgm:cxn modelId="{1B28976A-3AB2-4B4B-986B-DF0DA719A9DC}" type="presParOf" srcId="{79A9E673-FD05-462E-88D0-A6E17464F650}" destId="{F5081D9A-8A8A-4C4C-BAD9-182601952AEC}" srcOrd="1" destOrd="0" presId="urn:microsoft.com/office/officeart/2005/8/layout/radial2"/>
    <dgm:cxn modelId="{B96D378E-1575-4C9B-8B2F-C691AF8A9823}" type="presParOf" srcId="{65BCDA15-2FF1-4F4A-AA1C-467AE36F4719}" destId="{A8DA7274-FCAE-4B6B-AE12-80D3D2CF390D}" srcOrd="1" destOrd="0" presId="urn:microsoft.com/office/officeart/2005/8/layout/radial2"/>
    <dgm:cxn modelId="{066114D2-8558-401F-8E52-314489FE6AB8}" type="presParOf" srcId="{65BCDA15-2FF1-4F4A-AA1C-467AE36F4719}" destId="{7D4056EC-2B80-4129-81C8-56DBBED83F68}" srcOrd="2" destOrd="0" presId="urn:microsoft.com/office/officeart/2005/8/layout/radial2"/>
    <dgm:cxn modelId="{1FE16E57-3928-4700-A042-9B425FCC8C97}" type="presParOf" srcId="{7D4056EC-2B80-4129-81C8-56DBBED83F68}" destId="{46BAB660-49B8-4518-A259-63ECFD1686A3}" srcOrd="0" destOrd="0" presId="urn:microsoft.com/office/officeart/2005/8/layout/radial2"/>
    <dgm:cxn modelId="{AA674706-E418-484F-BC47-F55EFCC99477}" type="presParOf" srcId="{7D4056EC-2B80-4129-81C8-56DBBED83F68}" destId="{5B919E50-1782-4554-90F1-AE2F3741CD7E}" srcOrd="1" destOrd="0" presId="urn:microsoft.com/office/officeart/2005/8/layout/radial2"/>
    <dgm:cxn modelId="{CB907EC9-5553-4504-8993-F15337ACBA2A}" type="presParOf" srcId="{65BCDA15-2FF1-4F4A-AA1C-467AE36F4719}" destId="{B821CA3A-5C08-4261-8974-846FC4624C15}" srcOrd="3" destOrd="0" presId="urn:microsoft.com/office/officeart/2005/8/layout/radial2"/>
    <dgm:cxn modelId="{2B944FD6-B37E-4DAA-AB52-CE8921FB7075}" type="presParOf" srcId="{65BCDA15-2FF1-4F4A-AA1C-467AE36F4719}" destId="{69946525-7BC7-4A23-ACB7-CAA3ACBC0FEC}" srcOrd="4" destOrd="0" presId="urn:microsoft.com/office/officeart/2005/8/layout/radial2"/>
    <dgm:cxn modelId="{A7370F9A-6953-4991-98AA-347B8B0160F6}" type="presParOf" srcId="{69946525-7BC7-4A23-ACB7-CAA3ACBC0FEC}" destId="{DCDAD3E7-0880-445C-8A55-2E8F97679EDE}" srcOrd="0" destOrd="0" presId="urn:microsoft.com/office/officeart/2005/8/layout/radial2"/>
    <dgm:cxn modelId="{CA69906A-B219-45F1-8B25-1B084B5B547F}" type="presParOf" srcId="{69946525-7BC7-4A23-ACB7-CAA3ACBC0FEC}" destId="{1E147475-8802-49B6-A8A4-D392100817EB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369E73-7214-47F4-9D49-101D3E557ADB}">
      <dsp:nvSpPr>
        <dsp:cNvPr id="0" name=""/>
        <dsp:cNvSpPr/>
      </dsp:nvSpPr>
      <dsp:spPr>
        <a:xfrm>
          <a:off x="0" y="172922"/>
          <a:ext cx="903605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1298" tIns="208280" rIns="701298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latin typeface="+mn-lt"/>
            </a:rPr>
            <a:t>Но </a:t>
          </a:r>
          <a:r>
            <a:rPr lang="en-US" sz="1800" i="1" kern="1200" dirty="0" smtClean="0">
              <a:latin typeface="+mn-lt"/>
            </a:rPr>
            <a:t>ρ</a:t>
          </a:r>
          <a:r>
            <a:rPr lang="en-US" sz="1800" kern="1200" dirty="0" smtClean="0">
              <a:latin typeface="+mn-lt"/>
            </a:rPr>
            <a:t> </a:t>
          </a:r>
          <a:r>
            <a:rPr lang="ru-RU" sz="1800" kern="1200" dirty="0" smtClean="0">
              <a:latin typeface="+mn-lt"/>
            </a:rPr>
            <a:t>= </a:t>
          </a:r>
          <a:r>
            <a:rPr lang="ru-RU" sz="1800" i="1" kern="1200" dirty="0" smtClean="0">
              <a:latin typeface="+mn-lt"/>
              <a:cs typeface="Times New Roman"/>
            </a:rPr>
            <a:t>0</a:t>
          </a:r>
          <a:r>
            <a:rPr lang="ru-RU" sz="1800" kern="1200" dirty="0" smtClean="0">
              <a:latin typeface="+mn-lt"/>
            </a:rPr>
            <a:t> и для некоторых зависимых величин, которые называются в этом случае </a:t>
          </a:r>
          <a:r>
            <a:rPr lang="ru-RU" sz="1800" i="1" kern="1200" dirty="0" smtClean="0">
              <a:latin typeface="+mn-lt"/>
            </a:rPr>
            <a:t>некоррелированными</a:t>
          </a:r>
          <a:r>
            <a:rPr lang="ru-RU" sz="1800" kern="1200" dirty="0" smtClean="0">
              <a:latin typeface="+mn-lt"/>
            </a:rPr>
            <a:t>. </a:t>
          </a:r>
          <a:endParaRPr lang="ru-RU" sz="1800" kern="1200" dirty="0">
            <a:latin typeface="+mn-lt"/>
          </a:endParaRPr>
        </a:p>
      </dsp:txBody>
      <dsp:txXfrm>
        <a:off x="0" y="172922"/>
        <a:ext cx="9036050" cy="850500"/>
      </dsp:txXfrm>
    </dsp:sp>
    <dsp:sp modelId="{65C32AE4-095E-4B69-89EE-2BFEF4A53F27}">
      <dsp:nvSpPr>
        <dsp:cNvPr id="0" name=""/>
        <dsp:cNvSpPr/>
      </dsp:nvSpPr>
      <dsp:spPr>
        <a:xfrm>
          <a:off x="451802" y="25322"/>
          <a:ext cx="6325235" cy="295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9079" tIns="0" rIns="239079" bIns="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n-lt"/>
            </a:rPr>
            <a:t>Если </a:t>
          </a:r>
          <a:r>
            <a:rPr lang="en-US" sz="1800" kern="1200" dirty="0" smtClean="0">
              <a:latin typeface="+mn-lt"/>
            </a:rPr>
            <a:t>X</a:t>
          </a:r>
          <a:r>
            <a:rPr lang="ru-RU" sz="1800" kern="1200" dirty="0" smtClean="0">
              <a:latin typeface="+mn-lt"/>
            </a:rPr>
            <a:t> и </a:t>
          </a:r>
          <a:r>
            <a:rPr lang="en-US" sz="1800" kern="1200" dirty="0" smtClean="0">
              <a:latin typeface="+mn-lt"/>
            </a:rPr>
            <a:t>Y</a:t>
          </a:r>
          <a:r>
            <a:rPr lang="ru-RU" sz="1800" kern="1200" dirty="0" smtClean="0">
              <a:latin typeface="+mn-lt"/>
            </a:rPr>
            <a:t> независимы между собой, то </a:t>
          </a:r>
          <a:r>
            <a:rPr lang="en-US" sz="1800" i="1" kern="1200" dirty="0" smtClean="0">
              <a:latin typeface="+mn-lt"/>
            </a:rPr>
            <a:t>ρ</a:t>
          </a:r>
          <a:r>
            <a:rPr lang="ru-RU" sz="1800" kern="1200" dirty="0" smtClean="0">
              <a:latin typeface="+mn-lt"/>
            </a:rPr>
            <a:t> = </a:t>
          </a:r>
          <a:r>
            <a:rPr lang="ru-RU" sz="1800" i="1" kern="1200" dirty="0" smtClean="0">
              <a:latin typeface="+mn-lt"/>
              <a:cs typeface="Times New Roman"/>
            </a:rPr>
            <a:t>0</a:t>
          </a:r>
          <a:r>
            <a:rPr lang="ru-RU" sz="1800" kern="1200" dirty="0" smtClean="0">
              <a:latin typeface="+mn-lt"/>
            </a:rPr>
            <a:t>. </a:t>
          </a:r>
          <a:endParaRPr lang="ru-RU" sz="1800" kern="1200" dirty="0">
            <a:latin typeface="+mn-lt"/>
          </a:endParaRPr>
        </a:p>
      </dsp:txBody>
      <dsp:txXfrm>
        <a:off x="466212" y="39732"/>
        <a:ext cx="6296415" cy="266380"/>
      </dsp:txXfrm>
    </dsp:sp>
    <dsp:sp modelId="{1A52549B-1781-4894-A4B3-BA5E25C46815}">
      <dsp:nvSpPr>
        <dsp:cNvPr id="0" name=""/>
        <dsp:cNvSpPr/>
      </dsp:nvSpPr>
      <dsp:spPr>
        <a:xfrm>
          <a:off x="0" y="1170289"/>
          <a:ext cx="903605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B199D-E023-471C-B3AD-88034AE24586}">
      <dsp:nvSpPr>
        <dsp:cNvPr id="0" name=""/>
        <dsp:cNvSpPr/>
      </dsp:nvSpPr>
      <dsp:spPr>
        <a:xfrm>
          <a:off x="451802" y="1077422"/>
          <a:ext cx="7028031" cy="240466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9079" tIns="0" rIns="239079" bIns="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n-lt"/>
            </a:rPr>
            <a:t>Возможные значения коэффициента корреляции: -1 ≤ </a:t>
          </a:r>
          <a:r>
            <a:rPr lang="en-US" sz="1800" i="1" kern="1200" dirty="0" smtClean="0">
              <a:latin typeface="+mn-lt"/>
            </a:rPr>
            <a:t>ρ</a:t>
          </a:r>
          <a:r>
            <a:rPr lang="ru-RU" sz="1800" kern="1200" dirty="0" smtClean="0">
              <a:latin typeface="+mn-lt"/>
            </a:rPr>
            <a:t> ≤ 1.</a:t>
          </a:r>
          <a:endParaRPr lang="ru-RU" sz="1800" kern="1200" dirty="0">
            <a:latin typeface="+mn-lt"/>
          </a:endParaRPr>
        </a:p>
      </dsp:txBody>
      <dsp:txXfrm>
        <a:off x="463541" y="1089161"/>
        <a:ext cx="7004553" cy="216988"/>
      </dsp:txXfrm>
    </dsp:sp>
    <dsp:sp modelId="{67900F57-FE63-49D2-8605-23C50517E536}">
      <dsp:nvSpPr>
        <dsp:cNvPr id="0" name=""/>
        <dsp:cNvSpPr/>
      </dsp:nvSpPr>
      <dsp:spPr>
        <a:xfrm>
          <a:off x="0" y="1623889"/>
          <a:ext cx="903605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894362-4DFD-47E5-81C2-A50DA5E6177C}">
      <dsp:nvSpPr>
        <dsp:cNvPr id="0" name=""/>
        <dsp:cNvSpPr/>
      </dsp:nvSpPr>
      <dsp:spPr>
        <a:xfrm>
          <a:off x="451802" y="1476289"/>
          <a:ext cx="6325235" cy="29520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9079" tIns="0" rIns="239079" bIns="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n-lt"/>
            </a:rPr>
            <a:t>Если </a:t>
          </a:r>
          <a:r>
            <a:rPr lang="el-GR" sz="1800" i="1" kern="1200" dirty="0" smtClean="0">
              <a:latin typeface="+mn-lt"/>
            </a:rPr>
            <a:t>ρ</a:t>
          </a:r>
          <a:r>
            <a:rPr lang="el-GR" sz="1800" i="1" kern="1200" dirty="0" smtClean="0">
              <a:latin typeface="+mn-lt"/>
              <a:cs typeface="Times New Roman"/>
            </a:rPr>
            <a:t>≠</a:t>
          </a:r>
          <a:r>
            <a:rPr lang="ru-RU" sz="1800" i="1" kern="1200" dirty="0" smtClean="0">
              <a:latin typeface="+mn-lt"/>
              <a:cs typeface="Times New Roman"/>
            </a:rPr>
            <a:t>0</a:t>
          </a:r>
          <a:r>
            <a:rPr lang="ru-RU" sz="1800" kern="1200" dirty="0" smtClean="0">
              <a:latin typeface="+mn-lt"/>
            </a:rPr>
            <a:t>, то существует статистическая связь</a:t>
          </a:r>
          <a:endParaRPr lang="ru-RU" sz="1800" kern="1200" dirty="0">
            <a:latin typeface="+mn-lt"/>
          </a:endParaRPr>
        </a:p>
      </dsp:txBody>
      <dsp:txXfrm>
        <a:off x="466212" y="1490699"/>
        <a:ext cx="6296415" cy="266380"/>
      </dsp:txXfrm>
    </dsp:sp>
    <dsp:sp modelId="{93B3DA8E-AD7C-49A4-9193-420EFF2DC736}">
      <dsp:nvSpPr>
        <dsp:cNvPr id="0" name=""/>
        <dsp:cNvSpPr/>
      </dsp:nvSpPr>
      <dsp:spPr>
        <a:xfrm>
          <a:off x="0" y="2077489"/>
          <a:ext cx="903605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1298" tIns="208280" rIns="701298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latin typeface="+mn-lt"/>
            </a:rPr>
            <a:t>чем больше ρ по модулю, тем сильнее связь;</a:t>
          </a:r>
          <a:endParaRPr lang="ru-RU" sz="1800" kern="1200" dirty="0">
            <a:latin typeface="+mn-lt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i="1" kern="1200" dirty="0" smtClean="0">
              <a:latin typeface="+mn-lt"/>
            </a:rPr>
            <a:t>ρ = ±1 </a:t>
          </a:r>
          <a:r>
            <a:rPr lang="ru-RU" sz="1800" kern="1200" dirty="0" smtClean="0">
              <a:latin typeface="+mn-lt"/>
            </a:rPr>
            <a:t>означает, что между величинами существует функциональная связь, но не любая, а </a:t>
          </a:r>
          <a:r>
            <a:rPr lang="ru-RU" sz="1800" i="1" kern="1200" dirty="0" smtClean="0">
              <a:latin typeface="+mn-lt"/>
            </a:rPr>
            <a:t>строгая линейная зависимость</a:t>
          </a:r>
          <a:endParaRPr lang="ru-RU" sz="1800" kern="1200" dirty="0">
            <a:latin typeface="+mn-lt"/>
          </a:endParaRPr>
        </a:p>
      </dsp:txBody>
      <dsp:txXfrm>
        <a:off x="0" y="2077489"/>
        <a:ext cx="9036050" cy="1134000"/>
      </dsp:txXfrm>
    </dsp:sp>
    <dsp:sp modelId="{4420F0E1-93A9-47FF-804D-B9068386D3AF}">
      <dsp:nvSpPr>
        <dsp:cNvPr id="0" name=""/>
        <dsp:cNvSpPr/>
      </dsp:nvSpPr>
      <dsp:spPr>
        <a:xfrm>
          <a:off x="451802" y="1929889"/>
          <a:ext cx="6325235" cy="295200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9079" tIns="0" rIns="239079" bIns="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+mn-lt"/>
            </a:rPr>
            <a:t>Сила связи:</a:t>
          </a:r>
          <a:endParaRPr lang="ru-RU" sz="1800" kern="1200" dirty="0">
            <a:latin typeface="+mn-lt"/>
          </a:endParaRPr>
        </a:p>
      </dsp:txBody>
      <dsp:txXfrm>
        <a:off x="466212" y="1944299"/>
        <a:ext cx="6296415" cy="266380"/>
      </dsp:txXfrm>
    </dsp:sp>
    <dsp:sp modelId="{FF546098-BA9C-4EDF-B442-F5ECD8181212}">
      <dsp:nvSpPr>
        <dsp:cNvPr id="0" name=""/>
        <dsp:cNvSpPr/>
      </dsp:nvSpPr>
      <dsp:spPr>
        <a:xfrm>
          <a:off x="0" y="3413089"/>
          <a:ext cx="9036050" cy="138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1298" tIns="208280" rIns="701298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latin typeface="+mn-lt"/>
            </a:rPr>
            <a:t>показатель того, насколько связь между величинами близка к строгой линейной зависимости. </a:t>
          </a:r>
          <a:endParaRPr lang="ru-RU" sz="1800" kern="1200" dirty="0">
            <a:latin typeface="+mn-lt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kern="1200" dirty="0" smtClean="0">
              <a:latin typeface="+mn-lt"/>
            </a:rPr>
            <a:t>отмечает как долю случайности, так и степень близости к линейной зависимости</a:t>
          </a:r>
          <a:r>
            <a:rPr lang="ru-RU" sz="1500" kern="1200" dirty="0" smtClean="0">
              <a:latin typeface="+mn-lt"/>
            </a:rPr>
            <a:t>.</a:t>
          </a:r>
          <a:endParaRPr lang="ru-RU" sz="1500" kern="1200" dirty="0">
            <a:latin typeface="+mn-lt"/>
          </a:endParaRPr>
        </a:p>
      </dsp:txBody>
      <dsp:txXfrm>
        <a:off x="0" y="3413089"/>
        <a:ext cx="9036050" cy="1386000"/>
      </dsp:txXfrm>
    </dsp:sp>
    <dsp:sp modelId="{5BC9AAE7-BED1-45E3-9BB4-9CEAB65EAA03}">
      <dsp:nvSpPr>
        <dsp:cNvPr id="0" name=""/>
        <dsp:cNvSpPr/>
      </dsp:nvSpPr>
      <dsp:spPr>
        <a:xfrm>
          <a:off x="451802" y="3265489"/>
          <a:ext cx="6325235" cy="2952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9079" tIns="0" rIns="239079" bIns="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i="0" kern="1200" dirty="0" smtClean="0">
              <a:latin typeface="+mn-lt"/>
            </a:rPr>
            <a:t>Таким образом </a:t>
          </a:r>
          <a:r>
            <a:rPr lang="ru-RU" sz="1800" i="1" kern="1200" dirty="0" smtClean="0">
              <a:latin typeface="+mn-lt"/>
            </a:rPr>
            <a:t>коэффициент корреляции</a:t>
          </a:r>
          <a:endParaRPr lang="ru-RU" sz="1800" kern="1200" dirty="0">
            <a:latin typeface="+mn-lt"/>
          </a:endParaRPr>
        </a:p>
      </dsp:txBody>
      <dsp:txXfrm>
        <a:off x="466212" y="3279899"/>
        <a:ext cx="6296415" cy="266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BD6083-81C0-458A-A06B-A78BFCA10FC1}">
      <dsp:nvSpPr>
        <dsp:cNvPr id="0" name=""/>
        <dsp:cNvSpPr/>
      </dsp:nvSpPr>
      <dsp:spPr>
        <a:xfrm>
          <a:off x="1657548" y="0"/>
          <a:ext cx="4389437" cy="4389437"/>
        </a:xfrm>
        <a:prstGeom prst="triangl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B0ED550-C119-4186-AF16-0989687C50CB}">
      <dsp:nvSpPr>
        <dsp:cNvPr id="0" name=""/>
        <dsp:cNvSpPr/>
      </dsp:nvSpPr>
      <dsp:spPr>
        <a:xfrm>
          <a:off x="3851924" y="452092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отсутствие корреляции</a:t>
          </a:r>
          <a:endParaRPr lang="ru-RU" sz="1800" kern="1200" dirty="0"/>
        </a:p>
      </dsp:txBody>
      <dsp:txXfrm>
        <a:off x="3877285" y="477453"/>
        <a:ext cx="2802412" cy="468809"/>
      </dsp:txXfrm>
    </dsp:sp>
    <dsp:sp modelId="{A17E4C9E-7104-40C3-8F2C-AD53BD1A7EFE}">
      <dsp:nvSpPr>
        <dsp:cNvPr id="0" name=""/>
        <dsp:cNvSpPr/>
      </dsp:nvSpPr>
      <dsp:spPr>
        <a:xfrm>
          <a:off x="3851924" y="1036565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слабая — от 0,1 до 0,2 </a:t>
          </a:r>
          <a:endParaRPr lang="ru-RU" sz="1800" kern="1200" dirty="0"/>
        </a:p>
      </dsp:txBody>
      <dsp:txXfrm>
        <a:off x="3877285" y="1061926"/>
        <a:ext cx="2802412" cy="468809"/>
      </dsp:txXfrm>
    </dsp:sp>
    <dsp:sp modelId="{F1C8728E-EF5A-4A6D-A306-40D2ABB5CCC2}">
      <dsp:nvSpPr>
        <dsp:cNvPr id="0" name=""/>
        <dsp:cNvSpPr/>
      </dsp:nvSpPr>
      <dsp:spPr>
        <a:xfrm>
          <a:off x="3851924" y="1621037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умеренная — от 0,2 до 0,5</a:t>
          </a:r>
          <a:endParaRPr lang="ru-RU" sz="1800" kern="1200" dirty="0"/>
        </a:p>
      </dsp:txBody>
      <dsp:txXfrm>
        <a:off x="3877285" y="1646398"/>
        <a:ext cx="2802412" cy="468809"/>
      </dsp:txXfrm>
    </dsp:sp>
    <dsp:sp modelId="{18B7AD80-90FF-4CB6-9306-3A752D36F198}">
      <dsp:nvSpPr>
        <dsp:cNvPr id="0" name=""/>
        <dsp:cNvSpPr/>
      </dsp:nvSpPr>
      <dsp:spPr>
        <a:xfrm>
          <a:off x="3852267" y="2194718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 заметная — от 0,5 до 0,7</a:t>
          </a:r>
          <a:endParaRPr lang="ru-RU" sz="1800" kern="1200" dirty="0"/>
        </a:p>
      </dsp:txBody>
      <dsp:txXfrm>
        <a:off x="3877628" y="2220079"/>
        <a:ext cx="2802412" cy="468809"/>
      </dsp:txXfrm>
    </dsp:sp>
    <dsp:sp modelId="{06C7ED77-EC17-45FA-B4E5-CD74C054A135}">
      <dsp:nvSpPr>
        <dsp:cNvPr id="0" name=""/>
        <dsp:cNvSpPr/>
      </dsp:nvSpPr>
      <dsp:spPr>
        <a:xfrm>
          <a:off x="3851924" y="2789982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 высокая — от 0,7 до 0,9</a:t>
          </a:r>
          <a:endParaRPr lang="ru-RU" sz="1800" kern="1200" dirty="0"/>
        </a:p>
      </dsp:txBody>
      <dsp:txXfrm>
        <a:off x="3877285" y="2815343"/>
        <a:ext cx="2802412" cy="468809"/>
      </dsp:txXfrm>
    </dsp:sp>
    <dsp:sp modelId="{50058F46-DAB1-41FB-AAF4-F3E49A10D8A1}">
      <dsp:nvSpPr>
        <dsp:cNvPr id="0" name=""/>
        <dsp:cNvSpPr/>
      </dsp:nvSpPr>
      <dsp:spPr>
        <a:xfrm>
          <a:off x="3852267" y="3363663"/>
          <a:ext cx="2853134" cy="519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/>
            <a:t>весьма высокая (сильная) — от 0,9 до 1,0. </a:t>
          </a:r>
          <a:endParaRPr lang="ru-RU" sz="1800" kern="1200" dirty="0"/>
        </a:p>
      </dsp:txBody>
      <dsp:txXfrm>
        <a:off x="3877628" y="3389024"/>
        <a:ext cx="2802412" cy="4688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711D0-ED86-409D-8216-8F661CC07E2D}">
      <dsp:nvSpPr>
        <dsp:cNvPr id="0" name=""/>
        <dsp:cNvSpPr/>
      </dsp:nvSpPr>
      <dsp:spPr>
        <a:xfrm>
          <a:off x="0" y="322200"/>
          <a:ext cx="8778875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338" tIns="437388" rIns="68133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выборочный коэффициент корреляции </a:t>
          </a:r>
          <a:r>
            <a:rPr lang="en-US" sz="2000" i="1" kern="1200" dirty="0" smtClean="0"/>
            <a:t>r</a:t>
          </a:r>
          <a:r>
            <a:rPr lang="ru-RU" sz="2000" kern="1200" dirty="0" smtClean="0"/>
            <a:t> приближается к истинному значению </a:t>
          </a:r>
          <a:r>
            <a:rPr lang="ru-RU" sz="2000" i="1" kern="1200" dirty="0" smtClean="0"/>
            <a:t>ρ</a:t>
          </a:r>
          <a:endParaRPr lang="ru-RU" sz="2000" kern="1200" dirty="0"/>
        </a:p>
      </dsp:txBody>
      <dsp:txXfrm>
        <a:off x="0" y="322200"/>
        <a:ext cx="8778875" cy="1157625"/>
      </dsp:txXfrm>
    </dsp:sp>
    <dsp:sp modelId="{D586F239-A167-4379-8288-E1BF7DD88E33}">
      <dsp:nvSpPr>
        <dsp:cNvPr id="0" name=""/>
        <dsp:cNvSpPr/>
      </dsp:nvSpPr>
      <dsp:spPr>
        <a:xfrm>
          <a:off x="438943" y="12240"/>
          <a:ext cx="6145212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274" tIns="0" rIns="232274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/>
            <a:t>При достаточно объеме</a:t>
          </a:r>
          <a:endParaRPr lang="ru-RU" sz="2000" b="1" kern="1200" dirty="0"/>
        </a:p>
      </dsp:txBody>
      <dsp:txXfrm>
        <a:off x="469205" y="42502"/>
        <a:ext cx="6084688" cy="559396"/>
      </dsp:txXfrm>
    </dsp:sp>
    <dsp:sp modelId="{F7ECAE33-5C3A-4348-AA5B-D9577F68BCE9}">
      <dsp:nvSpPr>
        <dsp:cNvPr id="0" name=""/>
        <dsp:cNvSpPr/>
      </dsp:nvSpPr>
      <dsp:spPr>
        <a:xfrm>
          <a:off x="0" y="1903186"/>
          <a:ext cx="8778875" cy="859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338" tIns="437388" rIns="68133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генеральный коэффициент корреляции равен нулю</a:t>
          </a:r>
          <a:endParaRPr lang="ru-RU" sz="2000" kern="1200" dirty="0"/>
        </a:p>
      </dsp:txBody>
      <dsp:txXfrm>
        <a:off x="0" y="1903186"/>
        <a:ext cx="8778875" cy="859950"/>
      </dsp:txXfrm>
    </dsp:sp>
    <dsp:sp modelId="{072AAEB1-0D86-4FC2-9DFA-D12DA7CA1DEE}">
      <dsp:nvSpPr>
        <dsp:cNvPr id="0" name=""/>
        <dsp:cNvSpPr/>
      </dsp:nvSpPr>
      <dsp:spPr>
        <a:xfrm>
          <a:off x="438943" y="1593226"/>
          <a:ext cx="6145212" cy="6199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274" tIns="0" rIns="232274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/>
            <a:t>Требуется проверка гипотезы о наличии корреляционной связи</a:t>
          </a:r>
          <a:endParaRPr lang="ru-RU" sz="2000" b="1" kern="1200" dirty="0"/>
        </a:p>
      </dsp:txBody>
      <dsp:txXfrm>
        <a:off x="469205" y="1623488"/>
        <a:ext cx="6084688" cy="559396"/>
      </dsp:txXfrm>
    </dsp:sp>
    <dsp:sp modelId="{3020D090-395D-4B3D-961E-2EA6D2EE484C}">
      <dsp:nvSpPr>
        <dsp:cNvPr id="0" name=""/>
        <dsp:cNvSpPr/>
      </dsp:nvSpPr>
      <dsp:spPr>
        <a:xfrm>
          <a:off x="0" y="3186496"/>
          <a:ext cx="8778875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1338" tIns="437388" rIns="68133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i="1" kern="1200" dirty="0" smtClean="0"/>
            <a:t>r</a:t>
          </a:r>
          <a:r>
            <a:rPr lang="ru-RU" sz="2000" b="1" kern="1200" dirty="0" smtClean="0"/>
            <a:t>-</a:t>
          </a:r>
          <a:r>
            <a:rPr lang="ru-RU" sz="2000" kern="1200" dirty="0" smtClean="0"/>
            <a:t>критерий</a:t>
          </a:r>
          <a:endParaRPr lang="ru-R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i="1" kern="1200" dirty="0" smtClean="0"/>
            <a:t>t</a:t>
          </a:r>
          <a:r>
            <a:rPr lang="ru-RU" sz="2000" b="1" kern="1200" dirty="0" smtClean="0"/>
            <a:t>-</a:t>
          </a:r>
          <a:r>
            <a:rPr lang="ru-RU" sz="2000" kern="1200" dirty="0" smtClean="0"/>
            <a:t>критерий</a:t>
          </a:r>
          <a:endParaRPr lang="ru-RU" sz="2000" kern="1200" dirty="0"/>
        </a:p>
      </dsp:txBody>
      <dsp:txXfrm>
        <a:off x="0" y="3186496"/>
        <a:ext cx="8778875" cy="1190700"/>
      </dsp:txXfrm>
    </dsp:sp>
    <dsp:sp modelId="{45777EA3-EA86-41AE-9D14-BC1B84CDCCC4}">
      <dsp:nvSpPr>
        <dsp:cNvPr id="0" name=""/>
        <dsp:cNvSpPr/>
      </dsp:nvSpPr>
      <dsp:spPr>
        <a:xfrm>
          <a:off x="438943" y="2876536"/>
          <a:ext cx="6145212" cy="6199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32274" tIns="0" rIns="232274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kern="1200" dirty="0" smtClean="0"/>
            <a:t>Критерий значимости при проверке нулевой гипотезы</a:t>
          </a:r>
          <a:endParaRPr lang="ru-RU" sz="2000" b="1" kern="1200" dirty="0"/>
        </a:p>
      </dsp:txBody>
      <dsp:txXfrm>
        <a:off x="469205" y="2906798"/>
        <a:ext cx="6084688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C2DED-7233-4D17-B063-42474DA4C784}">
      <dsp:nvSpPr>
        <dsp:cNvPr id="0" name=""/>
        <dsp:cNvSpPr/>
      </dsp:nvSpPr>
      <dsp:spPr>
        <a:xfrm>
          <a:off x="3377" y="99576"/>
          <a:ext cx="3651777" cy="272597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ABD82-2424-4261-A074-3F9264AF4586}">
      <dsp:nvSpPr>
        <dsp:cNvPr id="0" name=""/>
        <dsp:cNvSpPr/>
      </dsp:nvSpPr>
      <dsp:spPr>
        <a:xfrm>
          <a:off x="3377" y="2825550"/>
          <a:ext cx="3651777" cy="117216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b="0" i="0" u="none" kern="1200" dirty="0" smtClean="0"/>
            <a:t>Свободный член регрессии</a:t>
          </a:r>
          <a:endParaRPr lang="ru-RU" sz="2000" i="0" kern="1200" dirty="0"/>
        </a:p>
      </dsp:txBody>
      <dsp:txXfrm>
        <a:off x="3377" y="2825550"/>
        <a:ext cx="2571674" cy="1172169"/>
      </dsp:txXfrm>
    </dsp:sp>
    <dsp:sp modelId="{65D2195F-879D-43CD-8728-BCE24D9AA213}">
      <dsp:nvSpPr>
        <dsp:cNvPr id="0" name=""/>
        <dsp:cNvSpPr/>
      </dsp:nvSpPr>
      <dsp:spPr>
        <a:xfrm>
          <a:off x="2664295" y="3111315"/>
          <a:ext cx="1278121" cy="1278121"/>
        </a:xfrm>
        <a:prstGeom prst="ellipse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FDAB4-4AEB-4C26-8B1D-939F03322512}">
      <dsp:nvSpPr>
        <dsp:cNvPr id="0" name=""/>
        <dsp:cNvSpPr/>
      </dsp:nvSpPr>
      <dsp:spPr>
        <a:xfrm>
          <a:off x="4273123" y="99576"/>
          <a:ext cx="3651777" cy="272597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4EAD51-EE32-4FAB-BCB8-F45EE407BF94}">
      <dsp:nvSpPr>
        <dsp:cNvPr id="0" name=""/>
        <dsp:cNvSpPr/>
      </dsp:nvSpPr>
      <dsp:spPr>
        <a:xfrm>
          <a:off x="4273123" y="2825550"/>
          <a:ext cx="3651777" cy="1172169"/>
        </a:xfrm>
        <a:prstGeom prst="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i="0" kern="1200" dirty="0" smtClean="0"/>
            <a:t>Коэффициент линейной регрессии</a:t>
          </a:r>
          <a:endParaRPr lang="ru-RU" sz="2000" i="0" kern="1200" dirty="0"/>
        </a:p>
      </dsp:txBody>
      <dsp:txXfrm>
        <a:off x="4273123" y="2825550"/>
        <a:ext cx="2571674" cy="1172169"/>
      </dsp:txXfrm>
    </dsp:sp>
    <dsp:sp modelId="{871D8D59-A3F9-4DA3-8014-F6285C562272}">
      <dsp:nvSpPr>
        <dsp:cNvPr id="0" name=""/>
        <dsp:cNvSpPr/>
      </dsp:nvSpPr>
      <dsp:spPr>
        <a:xfrm>
          <a:off x="6948100" y="3011738"/>
          <a:ext cx="1278121" cy="1278121"/>
        </a:xfrm>
        <a:prstGeom prst="ellipse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5A02B-63A8-4E41-B2BA-503625A09FF2}">
      <dsp:nvSpPr>
        <dsp:cNvPr id="0" name=""/>
        <dsp:cNvSpPr/>
      </dsp:nvSpPr>
      <dsp:spPr>
        <a:xfrm>
          <a:off x="0" y="271324"/>
          <a:ext cx="8229600" cy="1660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54076" rIns="63870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Установление параметров, которые  описывают экспериментальную зависимость.</a:t>
          </a:r>
          <a:endParaRPr lang="ru-RU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При условии, что эмпирические точки получены с некоторой погрешностью</a:t>
          </a:r>
          <a:endParaRPr lang="ru-RU" sz="2000" kern="1200" dirty="0"/>
        </a:p>
      </dsp:txBody>
      <dsp:txXfrm>
        <a:off x="0" y="271324"/>
        <a:ext cx="8229600" cy="1660050"/>
      </dsp:txXfrm>
    </dsp:sp>
    <dsp:sp modelId="{03BBD82C-A4E6-433D-8ECE-B35FF9C26AA7}">
      <dsp:nvSpPr>
        <dsp:cNvPr id="0" name=""/>
        <dsp:cNvSpPr/>
      </dsp:nvSpPr>
      <dsp:spPr>
        <a:xfrm>
          <a:off x="411480" y="20404"/>
          <a:ext cx="5760720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Задача регрессивного анализа</a:t>
          </a:r>
          <a:endParaRPr lang="ru-RU" sz="2000" kern="1200" dirty="0"/>
        </a:p>
      </dsp:txBody>
      <dsp:txXfrm>
        <a:off x="435978" y="44902"/>
        <a:ext cx="5711724" cy="452844"/>
      </dsp:txXfrm>
    </dsp:sp>
    <dsp:sp modelId="{6D3DD044-0128-43BA-A35C-BBBFCDEAB268}">
      <dsp:nvSpPr>
        <dsp:cNvPr id="0" name=""/>
        <dsp:cNvSpPr/>
      </dsp:nvSpPr>
      <dsp:spPr>
        <a:xfrm>
          <a:off x="0" y="2274095"/>
          <a:ext cx="8229600" cy="107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354076" rIns="638708" bIns="14224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000" kern="1200" dirty="0" smtClean="0"/>
            <a:t>Подбор неизвестных коэффициентов аналитической зависимости</a:t>
          </a:r>
          <a:r>
            <a:rPr lang="ru-RU" sz="2000" i="1" kern="1200" dirty="0" smtClean="0"/>
            <a:t> </a:t>
          </a:r>
          <a:r>
            <a:rPr lang="en-US" sz="2000" i="1" kern="1200" dirty="0" smtClean="0"/>
            <a:t>f(x</a:t>
          </a:r>
          <a:r>
            <a:rPr lang="en-US" sz="2000" kern="1200" dirty="0" smtClean="0"/>
            <a:t>)</a:t>
          </a:r>
          <a:endParaRPr lang="ru-RU" sz="2000" kern="1200" dirty="0"/>
        </a:p>
      </dsp:txBody>
      <dsp:txXfrm>
        <a:off x="0" y="2274095"/>
        <a:ext cx="8229600" cy="1071000"/>
      </dsp:txXfrm>
    </dsp:sp>
    <dsp:sp modelId="{20277E1B-1341-48F4-8A29-F42EDD2F5D02}">
      <dsp:nvSpPr>
        <dsp:cNvPr id="0" name=""/>
        <dsp:cNvSpPr/>
      </dsp:nvSpPr>
      <dsp:spPr>
        <a:xfrm>
          <a:off x="411480" y="2023175"/>
          <a:ext cx="5760720" cy="50184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Регрессия</a:t>
          </a:r>
          <a:endParaRPr lang="ru-RU" sz="2000" kern="1200" dirty="0"/>
        </a:p>
      </dsp:txBody>
      <dsp:txXfrm>
        <a:off x="435978" y="2047673"/>
        <a:ext cx="5711724" cy="4528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6F660-70BF-4B0B-BAFE-D49397F0231C}">
      <dsp:nvSpPr>
        <dsp:cNvPr id="0" name=""/>
        <dsp:cNvSpPr/>
      </dsp:nvSpPr>
      <dsp:spPr>
        <a:xfrm>
          <a:off x="0" y="16690"/>
          <a:ext cx="8229600" cy="103285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предварительная обработка ЭД;</a:t>
          </a:r>
          <a:endParaRPr lang="ru-RU" sz="2600" kern="1200" dirty="0"/>
        </a:p>
      </dsp:txBody>
      <dsp:txXfrm>
        <a:off x="50420" y="67110"/>
        <a:ext cx="8128760" cy="932014"/>
      </dsp:txXfrm>
    </dsp:sp>
    <dsp:sp modelId="{C751DB81-C9DF-4B8E-A813-FE8E8FB509A5}">
      <dsp:nvSpPr>
        <dsp:cNvPr id="0" name=""/>
        <dsp:cNvSpPr/>
      </dsp:nvSpPr>
      <dsp:spPr>
        <a:xfrm>
          <a:off x="0" y="1124424"/>
          <a:ext cx="8229600" cy="1032854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выбор вида уравнений регрессии;</a:t>
          </a:r>
          <a:endParaRPr lang="ru-RU" sz="2600" kern="1200" dirty="0"/>
        </a:p>
      </dsp:txBody>
      <dsp:txXfrm>
        <a:off x="50420" y="1174844"/>
        <a:ext cx="8128760" cy="932014"/>
      </dsp:txXfrm>
    </dsp:sp>
    <dsp:sp modelId="{D26E0792-EFFB-45E7-9FEF-E6A8FCC2EEAE}">
      <dsp:nvSpPr>
        <dsp:cNvPr id="0" name=""/>
        <dsp:cNvSpPr/>
      </dsp:nvSpPr>
      <dsp:spPr>
        <a:xfrm>
          <a:off x="0" y="2232158"/>
          <a:ext cx="8229600" cy="1032854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вычисление коэффициентов уравнения регрессии;</a:t>
          </a:r>
          <a:endParaRPr lang="ru-RU" sz="2600" kern="1200" dirty="0"/>
        </a:p>
      </dsp:txBody>
      <dsp:txXfrm>
        <a:off x="50420" y="2282578"/>
        <a:ext cx="8128760" cy="932014"/>
      </dsp:txXfrm>
    </dsp:sp>
    <dsp:sp modelId="{489BB881-21C8-4611-B7D8-0FE4B5D21C75}">
      <dsp:nvSpPr>
        <dsp:cNvPr id="0" name=""/>
        <dsp:cNvSpPr/>
      </dsp:nvSpPr>
      <dsp:spPr>
        <a:xfrm>
          <a:off x="0" y="3339892"/>
          <a:ext cx="8229600" cy="1032854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kern="1200" dirty="0" smtClean="0"/>
            <a:t>проверка адекватности построенной функции результатам наблюдений.</a:t>
          </a:r>
          <a:endParaRPr lang="ru-RU" sz="2600" kern="1200" dirty="0"/>
        </a:p>
      </dsp:txBody>
      <dsp:txXfrm>
        <a:off x="50420" y="3390312"/>
        <a:ext cx="8128760" cy="9320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9E133-A906-418E-9800-F39323164030}">
      <dsp:nvSpPr>
        <dsp:cNvPr id="0" name=""/>
        <dsp:cNvSpPr/>
      </dsp:nvSpPr>
      <dsp:spPr>
        <a:xfrm>
          <a:off x="0" y="0"/>
          <a:ext cx="3509962" cy="350996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A49842F-CC1B-49E6-BB83-CCA48BD6E459}">
      <dsp:nvSpPr>
        <dsp:cNvPr id="0" name=""/>
        <dsp:cNvSpPr/>
      </dsp:nvSpPr>
      <dsp:spPr>
        <a:xfrm>
          <a:off x="1754981" y="0"/>
          <a:ext cx="6474618" cy="35099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Линейная регрессия</a:t>
          </a:r>
          <a:endParaRPr lang="ru-RU" sz="2500" kern="1200" dirty="0"/>
        </a:p>
      </dsp:txBody>
      <dsp:txXfrm>
        <a:off x="1754981" y="0"/>
        <a:ext cx="6474618" cy="1052990"/>
      </dsp:txXfrm>
    </dsp:sp>
    <dsp:sp modelId="{3D298D09-5EF0-48A2-9DB8-D8FE17F85D3B}">
      <dsp:nvSpPr>
        <dsp:cNvPr id="0" name=""/>
        <dsp:cNvSpPr/>
      </dsp:nvSpPr>
      <dsp:spPr>
        <a:xfrm>
          <a:off x="614244" y="1052990"/>
          <a:ext cx="2281473" cy="228147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A2955C0-6A85-4CF7-949E-3847748848C7}">
      <dsp:nvSpPr>
        <dsp:cNvPr id="0" name=""/>
        <dsp:cNvSpPr/>
      </dsp:nvSpPr>
      <dsp:spPr>
        <a:xfrm>
          <a:off x="1754981" y="1052990"/>
          <a:ext cx="6474618" cy="228147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Полиномиальная регрессия</a:t>
          </a:r>
          <a:endParaRPr lang="ru-RU" sz="2500" kern="1200" dirty="0"/>
        </a:p>
      </dsp:txBody>
      <dsp:txXfrm>
        <a:off x="1754981" y="1052990"/>
        <a:ext cx="6474618" cy="1052987"/>
      </dsp:txXfrm>
    </dsp:sp>
    <dsp:sp modelId="{E8CB5C86-50A7-49CB-A810-BB6A799B0DC5}">
      <dsp:nvSpPr>
        <dsp:cNvPr id="0" name=""/>
        <dsp:cNvSpPr/>
      </dsp:nvSpPr>
      <dsp:spPr>
        <a:xfrm>
          <a:off x="1228487" y="2105978"/>
          <a:ext cx="1052987" cy="105298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AF86FEC-6210-449D-ABDC-7DEDC6A8C60A}">
      <dsp:nvSpPr>
        <dsp:cNvPr id="0" name=""/>
        <dsp:cNvSpPr/>
      </dsp:nvSpPr>
      <dsp:spPr>
        <a:xfrm>
          <a:off x="1754981" y="2105978"/>
          <a:ext cx="6474618" cy="10529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/>
            <a:t>Обобщенная регрессия</a:t>
          </a:r>
          <a:endParaRPr lang="ru-RU" sz="2500" kern="1200" dirty="0"/>
        </a:p>
      </dsp:txBody>
      <dsp:txXfrm>
        <a:off x="1754981" y="2105978"/>
        <a:ext cx="6474618" cy="10529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1CA3A-5C08-4261-8974-846FC4624C15}">
      <dsp:nvSpPr>
        <dsp:cNvPr id="0" name=""/>
        <dsp:cNvSpPr/>
      </dsp:nvSpPr>
      <dsp:spPr>
        <a:xfrm rot="1801601">
          <a:off x="2586824" y="2903052"/>
          <a:ext cx="611871" cy="60292"/>
        </a:xfrm>
        <a:custGeom>
          <a:avLst/>
          <a:gdLst/>
          <a:ahLst/>
          <a:cxnLst/>
          <a:rect l="0" t="0" r="0" b="0"/>
          <a:pathLst>
            <a:path>
              <a:moveTo>
                <a:pt x="0" y="30146"/>
              </a:moveTo>
              <a:lnTo>
                <a:pt x="611871" y="301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DA7274-FCAE-4B6B-AE12-80D3D2CF390D}">
      <dsp:nvSpPr>
        <dsp:cNvPr id="0" name=""/>
        <dsp:cNvSpPr/>
      </dsp:nvSpPr>
      <dsp:spPr>
        <a:xfrm rot="19793888">
          <a:off x="2589838" y="1491525"/>
          <a:ext cx="564194" cy="60292"/>
        </a:xfrm>
        <a:custGeom>
          <a:avLst/>
          <a:gdLst/>
          <a:ahLst/>
          <a:cxnLst/>
          <a:rect l="0" t="0" r="0" b="0"/>
          <a:pathLst>
            <a:path>
              <a:moveTo>
                <a:pt x="0" y="30146"/>
              </a:moveTo>
              <a:lnTo>
                <a:pt x="564194" y="301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081D9A-8A8A-4C4C-BAD9-182601952AEC}">
      <dsp:nvSpPr>
        <dsp:cNvPr id="0" name=""/>
        <dsp:cNvSpPr/>
      </dsp:nvSpPr>
      <dsp:spPr>
        <a:xfrm>
          <a:off x="284778" y="844178"/>
          <a:ext cx="2756594" cy="275659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6BAB660-49B8-4518-A259-63ECFD1686A3}">
      <dsp:nvSpPr>
        <dsp:cNvPr id="0" name=""/>
        <dsp:cNvSpPr/>
      </dsp:nvSpPr>
      <dsp:spPr>
        <a:xfrm>
          <a:off x="2894837" y="-27364"/>
          <a:ext cx="2253714" cy="1764986"/>
        </a:xfrm>
        <a:prstGeom prst="ellipse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Метод наименьших квадратов</a:t>
          </a:r>
          <a:endParaRPr lang="ru-RU" sz="2000" kern="1200" dirty="0"/>
        </a:p>
      </dsp:txBody>
      <dsp:txXfrm>
        <a:off x="3224886" y="231112"/>
        <a:ext cx="1593616" cy="1248034"/>
      </dsp:txXfrm>
    </dsp:sp>
    <dsp:sp modelId="{DCDAD3E7-0880-445C-8A55-2E8F97679EDE}">
      <dsp:nvSpPr>
        <dsp:cNvPr id="0" name=""/>
        <dsp:cNvSpPr/>
      </dsp:nvSpPr>
      <dsp:spPr>
        <a:xfrm>
          <a:off x="2930583" y="2762844"/>
          <a:ext cx="2196520" cy="1653956"/>
        </a:xfrm>
        <a:prstGeom prst="ellipse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/>
            <a:t>Метод медиан</a:t>
          </a:r>
          <a:endParaRPr lang="ru-RU" sz="2000" kern="1200" dirty="0"/>
        </a:p>
      </dsp:txBody>
      <dsp:txXfrm>
        <a:off x="3252256" y="3005060"/>
        <a:ext cx="1553174" cy="1169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4.wmf"/><Relationship Id="rId7" Type="http://schemas.openxmlformats.org/officeDocument/2006/relationships/image" Target="../media/image20.wmf"/><Relationship Id="rId2" Type="http://schemas.openxmlformats.org/officeDocument/2006/relationships/image" Target="../media/image23.wmf"/><Relationship Id="rId1" Type="http://schemas.openxmlformats.org/officeDocument/2006/relationships/image" Target="../media/image21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4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4AC48-C81B-4236-B00F-0E8A6611A82D}" type="datetimeFigureOut">
              <a:rPr lang="uk-UA" smtClean="0"/>
              <a:t>07.12.2020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C1483-E147-49CD-BA41-A389C9E614B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837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4301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DB413A-9EBD-4B8A-9CCE-8BF3AC0096E8}" type="slidenum">
              <a:rPr lang="ru-RU" altLang="ru-RU"/>
              <a:pPr>
                <a:spcBef>
                  <a:spcPct val="0"/>
                </a:spcBef>
              </a:pPr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32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6967451" cy="501650"/>
          </a:xfrm>
        </p:spPr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295049" y="6424612"/>
            <a:ext cx="813262" cy="365125"/>
          </a:xfrm>
        </p:spPr>
        <p:txBody>
          <a:bodyPr/>
          <a:lstStyle>
            <a:lvl1pPr algn="l">
              <a:defRPr sz="1600"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030778"/>
            <a:ext cx="12192000" cy="53255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66255" y="6462520"/>
            <a:ext cx="6588651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uk-UA" sz="1600" dirty="0" err="1">
                <a:solidFill>
                  <a:prstClr val="white">
                    <a:lumMod val="95000"/>
                  </a:prstClr>
                </a:solidFill>
              </a:rPr>
              <a:t>Ковалюк</a:t>
            </a:r>
            <a:r>
              <a:rPr lang="uk-UA" sz="1600" dirty="0">
                <a:solidFill>
                  <a:prstClr val="white">
                    <a:lumMod val="95000"/>
                  </a:prstClr>
                </a:solidFill>
              </a:rPr>
              <a:t> Т.В. Програмні Технології </a:t>
            </a:r>
            <a:r>
              <a:rPr lang="en-US" sz="1600" dirty="0">
                <a:solidFill>
                  <a:prstClr val="white">
                    <a:lumMod val="95000"/>
                  </a:prstClr>
                </a:solidFill>
              </a:rPr>
              <a:t>Data Mining.</a:t>
            </a:r>
            <a:r>
              <a:rPr lang="uk-UA" sz="1600" dirty="0">
                <a:solidFill>
                  <a:prstClr val="white">
                    <a:lumMod val="95000"/>
                  </a:prstClr>
                </a:solidFill>
              </a:rPr>
              <a:t> КНУ ім. Т. Шевченка</a:t>
            </a:r>
            <a:endParaRPr lang="ru-RU" sz="1600" dirty="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541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369671" y="6345151"/>
            <a:ext cx="700314" cy="376324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378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8176" y="144399"/>
            <a:ext cx="10175645" cy="996315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1">
                <a:solidFill>
                  <a:srgbClr val="FF99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588" y="1628266"/>
            <a:ext cx="10762825" cy="146685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12/7/2020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marL="110489"/>
            <a:fld id="{81D60167-4931-47E6-BA6A-407CBD079E47}" type="slidenum">
              <a:rPr lang="uk-UA" smtClean="0">
                <a:solidFill>
                  <a:srgbClr val="FFFFFF"/>
                </a:solidFill>
                <a:latin typeface="Arial"/>
                <a:cs typeface="Arial"/>
              </a:rPr>
              <a:pPr marL="110489"/>
              <a:t>‹#›</a:t>
            </a:fld>
            <a:endParaRPr lang="uk-UA">
              <a:solidFill>
                <a:prstClr val="black">
                  <a:tint val="75000"/>
                </a:prst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15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12/7/2020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marL="110489"/>
            <a:fld id="{81D60167-4931-47E6-BA6A-407CBD079E47}" type="slidenum">
              <a:rPr lang="uk-UA" smtClean="0">
                <a:solidFill>
                  <a:srgbClr val="FFFFFF"/>
                </a:solidFill>
                <a:latin typeface="Arial"/>
                <a:cs typeface="Arial"/>
              </a:rPr>
              <a:pPr marL="110489"/>
              <a:t>‹#›</a:t>
            </a:fld>
            <a:endParaRPr lang="uk-UA">
              <a:solidFill>
                <a:prstClr val="black">
                  <a:tint val="75000"/>
                </a:prst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62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-36513"/>
            <a:ext cx="12192000" cy="68580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252200" y="6456362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57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16.emf"/><Relationship Id="rId12" Type="http://schemas.openxmlformats.org/officeDocument/2006/relationships/image" Target="../media/image19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11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3.wmf"/><Relationship Id="rId9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25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3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3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38.wmf"/><Relationship Id="rId5" Type="http://schemas.openxmlformats.org/officeDocument/2006/relationships/diagramQuickStyle" Target="../diagrams/quickStyle4.xml"/><Relationship Id="rId10" Type="http://schemas.openxmlformats.org/officeDocument/2006/relationships/oleObject" Target="../embeddings/oleObject24.bin"/><Relationship Id="rId4" Type="http://schemas.openxmlformats.org/officeDocument/2006/relationships/diagramLayout" Target="../diagrams/layout4.xml"/><Relationship Id="rId9" Type="http://schemas.openxmlformats.org/officeDocument/2006/relationships/image" Target="../media/image37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48.png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4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50.png"/><Relationship Id="rId7" Type="http://schemas.openxmlformats.org/officeDocument/2006/relationships/diagramColors" Target="../diagrams/colors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10" Type="http://schemas.openxmlformats.org/officeDocument/2006/relationships/image" Target="../media/image51.wmf"/><Relationship Id="rId4" Type="http://schemas.openxmlformats.org/officeDocument/2006/relationships/diagramData" Target="../diagrams/data8.xml"/><Relationship Id="rId9" Type="http://schemas.openxmlformats.org/officeDocument/2006/relationships/oleObject" Target="../embeddings/oleObject3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36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37.bin"/><Relationship Id="rId7" Type="http://schemas.openxmlformats.org/officeDocument/2006/relationships/oleObject" Target="file:///D:\&#1042;&#1072;&#1074;&#1080;&#1083;&#1086;&#1074;&#1072;\&#1052;&#1054;&#1056;&#1048;\&#1051;&#1041;%20&#1052;&#1054;&#1056;&#1048;\&#1056;&#1077;&#1075;&#1088;&#1077;&#1089;&#1089;&#1080;&#1103;.xmcd\Selection%2032%203683%20279%203720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5.wmf"/><Relationship Id="rId5" Type="http://schemas.openxmlformats.org/officeDocument/2006/relationships/oleObject" Target="file:///D:\&#1042;&#1072;&#1074;&#1080;&#1083;&#1086;&#1074;&#1072;\&#1052;&#1054;&#1056;&#1048;\&#1051;&#1041;%20&#1052;&#1054;&#1056;&#1048;\&#1056;&#1077;&#1075;&#1088;&#1077;&#1089;&#1089;&#1080;&#1103;.xmcd\Selection%2019%204475%20390%204794" TargetMode="External"/><Relationship Id="rId4" Type="http://schemas.openxmlformats.org/officeDocument/2006/relationships/image" Target="../media/image54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://eos.ibi.spb.ru/umk/15_3/15/15_P4_R1_T4.html#2" TargetMode="External"/><Relationship Id="rId7" Type="http://schemas.openxmlformats.org/officeDocument/2006/relationships/hyperlink" Target="http://eos.ibi.spb.ru/umk/15_3/15/15_P4_R1_T4.html#1" TargetMode="External"/><Relationship Id="rId2" Type="http://schemas.openxmlformats.org/officeDocument/2006/relationships/hyperlink" Target="http://statsoft.ru/home/textbook/modules/sttimser.html#systematic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eos.ibi.spb.ru/umk/15_3/15/15_P4_R1_T4.html" TargetMode="External"/><Relationship Id="rId5" Type="http://schemas.openxmlformats.org/officeDocument/2006/relationships/hyperlink" Target="https://habr.com/ru/post/180409/" TargetMode="External"/><Relationship Id="rId4" Type="http://schemas.openxmlformats.org/officeDocument/2006/relationships/hyperlink" Target="https://www.sas.com/content/dam/SAS/ru_ru/doc/Events/Presentation/SAS_Analytics_Club_Moscow_November-2014/Prognozirovanie_vremennyh_rjadov_na_primere_prognozirovanija_potreblenija_jelektrojenergi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1645067" y="1092902"/>
            <a:ext cx="9027622" cy="39592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 err="1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Лекция</a:t>
            </a:r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10</a:t>
            </a:r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. </a:t>
            </a:r>
            <a: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/>
            </a:r>
            <a:br>
              <a:rPr lang="uk-UA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</a:br>
            <a:r>
              <a:rPr lang="ru-RU" sz="3600" b="1" kern="10" dirty="0" err="1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Прогнозированирование</a:t>
            </a:r>
            <a:endParaRPr lang="ru-RU" sz="36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ru-RU" altLang="en-US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в </a:t>
            </a:r>
            <a:r>
              <a:rPr lang="en-US" altLang="en-US" sz="3600" b="1" kern="10" dirty="0">
                <a:solidFill>
                  <a:prstClr val="white"/>
                </a:solidFill>
                <a:effectLst>
                  <a:outerShdw dist="107763" dir="18900000" algn="ctr" rotWithShape="0">
                    <a:prstClr val="black">
                      <a:alpha val="50000"/>
                    </a:prstClr>
                  </a:outerShdw>
                </a:effectLst>
                <a:latin typeface="Times New Roman"/>
                <a:cs typeface="Times New Roman"/>
              </a:rPr>
              <a:t>Data Mining</a:t>
            </a:r>
            <a:endParaRPr lang="en-US" altLang="en-US" sz="3600" b="1" dirty="0">
              <a:solidFill>
                <a:prstClr val="white"/>
              </a:solidFill>
            </a:endParaRPr>
          </a:p>
          <a:p>
            <a:pPr algn="ctr"/>
            <a:endParaRPr lang="ru-RU" sz="3600" b="1" kern="10" dirty="0">
              <a:solidFill>
                <a:prstClr val="white"/>
              </a:solidFill>
              <a:effectLst>
                <a:outerShdw dist="107763" dir="18900000" algn="ctr" rotWithShape="0">
                  <a:prstClr val="black">
                    <a:alpha val="50000"/>
                  </a:prst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08104" y="4631635"/>
            <a:ext cx="193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prstClr val="white"/>
                </a:solidFill>
              </a:rPr>
              <a:t>tkovalyuk@ukr.net</a:t>
            </a:r>
            <a:endParaRPr lang="uk-UA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7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5266" y="224444"/>
            <a:ext cx="11626734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9912" y="1086248"/>
            <a:ext cx="9404466" cy="30265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4575767" y="4272904"/>
            <a:ext cx="3605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>
                <a:solidFill>
                  <a:prstClr val="black"/>
                </a:solidFill>
              </a:rPr>
              <a:t>Підвищення рейтингу</a:t>
            </a:r>
            <a:endParaRPr lang="ru-RU" sz="2800" b="1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4153" y="4908132"/>
            <a:ext cx="947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Сертифікат курсу на </a:t>
            </a:r>
            <a:r>
              <a:rPr lang="en-US" sz="2400" dirty="0" err="1">
                <a:solidFill>
                  <a:srgbClr val="C00000"/>
                </a:solidFill>
              </a:rPr>
              <a:t>Coursera</a:t>
            </a:r>
            <a:r>
              <a:rPr lang="uk-UA" sz="2400" dirty="0">
                <a:solidFill>
                  <a:srgbClr val="C00000"/>
                </a:solidFill>
              </a:rPr>
              <a:t> або </a:t>
            </a:r>
            <a:r>
              <a:rPr lang="en-US" sz="2400" dirty="0" err="1">
                <a:solidFill>
                  <a:srgbClr val="C00000"/>
                </a:solidFill>
              </a:rPr>
              <a:t>Prometeus</a:t>
            </a: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Індивідуальна творча робота з підготовкою </a:t>
            </a:r>
            <a:r>
              <a:rPr lang="uk-UA" sz="2400" dirty="0" err="1">
                <a:solidFill>
                  <a:srgbClr val="C00000"/>
                </a:solidFill>
              </a:rPr>
              <a:t>студ</a:t>
            </a:r>
            <a:r>
              <a:rPr lang="uk-UA" sz="2400" dirty="0">
                <a:solidFill>
                  <a:srgbClr val="C00000"/>
                </a:solidFill>
              </a:rPr>
              <a:t>. роботи на конкурс</a:t>
            </a: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Наукова робота з підготовкою наукової статті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51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5150" y="223838"/>
            <a:ext cx="11626850" cy="701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85850"/>
            <a:ext cx="9404350" cy="3027363"/>
          </a:xfrm>
          <a:prstGeom prst="rect">
            <a:avLst/>
          </a:prstGeom>
          <a:ln>
            <a:noFill/>
          </a:ln>
        </p:spPr>
        <p:txBody>
          <a:bodyPr>
            <a:normAutofit lnSpcReduction="10000"/>
          </a:bodyPr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4575767" y="4272904"/>
            <a:ext cx="3605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>
                <a:solidFill>
                  <a:prstClr val="black"/>
                </a:solidFill>
              </a:rPr>
              <a:t>Підвищення рейтингу</a:t>
            </a:r>
            <a:endParaRPr lang="ru-RU" sz="2800" b="1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14153" y="4908132"/>
            <a:ext cx="947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Сертифікат курсу на </a:t>
            </a:r>
            <a:r>
              <a:rPr lang="en-US" sz="2400" dirty="0" err="1">
                <a:solidFill>
                  <a:srgbClr val="C00000"/>
                </a:solidFill>
              </a:rPr>
              <a:t>Coursera</a:t>
            </a:r>
            <a:r>
              <a:rPr lang="uk-UA" sz="2400" dirty="0">
                <a:solidFill>
                  <a:srgbClr val="C00000"/>
                </a:solidFill>
              </a:rPr>
              <a:t> або </a:t>
            </a:r>
            <a:r>
              <a:rPr lang="en-US" sz="2400" dirty="0" err="1">
                <a:solidFill>
                  <a:srgbClr val="C00000"/>
                </a:solidFill>
              </a:rPr>
              <a:t>Prometeus</a:t>
            </a:r>
            <a:endParaRPr lang="en-US" sz="2400" dirty="0">
              <a:solidFill>
                <a:srgbClr val="C00000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Індивідуальна творча робота з підготовкою </a:t>
            </a:r>
            <a:r>
              <a:rPr lang="uk-UA" sz="2400" dirty="0" err="1">
                <a:solidFill>
                  <a:srgbClr val="C00000"/>
                </a:solidFill>
              </a:rPr>
              <a:t>студ</a:t>
            </a:r>
            <a:r>
              <a:rPr lang="uk-UA" sz="2400" dirty="0">
                <a:solidFill>
                  <a:srgbClr val="C00000"/>
                </a:solidFill>
              </a:rPr>
              <a:t>. роботи на конкурс</a:t>
            </a:r>
          </a:p>
          <a:p>
            <a:pPr marL="457200" indent="-457200">
              <a:buFontTx/>
              <a:buAutoNum type="arabicPeriod"/>
            </a:pPr>
            <a:r>
              <a:rPr lang="uk-UA" sz="2400" dirty="0">
                <a:solidFill>
                  <a:srgbClr val="C00000"/>
                </a:solidFill>
              </a:rPr>
              <a:t>Наукова робота з підготовкою наукової статті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152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196120"/>
            <a:ext cx="5662245" cy="511089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Економічні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підстави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для задач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прогнозування</a:t>
            </a:r>
            <a:endParaRPr lang="ru-RU" sz="35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432" y="1019909"/>
            <a:ext cx="6199880" cy="540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6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7" y="1243012"/>
            <a:ext cx="5468815" cy="51816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Економічні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підстави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для задач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прогнозування</a:t>
            </a:r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16409" y="1501132"/>
            <a:ext cx="58849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Деякі </a:t>
            </a:r>
            <a:r>
              <a:rPr lang="uk-UA" dirty="0"/>
              <a:t>приклади застосування системи </a:t>
            </a:r>
            <a:r>
              <a:rPr lang="en-GB" dirty="0"/>
              <a:t>STATISTICA </a:t>
            </a:r>
            <a:r>
              <a:rPr lang="uk-UA" dirty="0"/>
              <a:t>для вирішення завдань прогнозування в різних областях:</a:t>
            </a:r>
          </a:p>
          <a:p>
            <a:endParaRPr lang="uk-UA" dirty="0"/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0000CC"/>
                </a:solidFill>
              </a:rPr>
              <a:t>Статистичний аналіз і прогнозування авіаперевезень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7030A0"/>
                </a:solidFill>
              </a:rPr>
              <a:t>Прогнозування вартості прокладки доріг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C00000"/>
                </a:solidFill>
              </a:rPr>
              <a:t>Прогнозування продажів препаратів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008000"/>
                </a:solidFill>
              </a:rPr>
              <a:t>Прогнозування продажів напівфабрикатів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0000CC"/>
                </a:solidFill>
              </a:rPr>
              <a:t>Прогнозування індексу цін алмазів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C00000"/>
                </a:solidFill>
              </a:rPr>
              <a:t>Прогноз числа авіапасажирів методами часових рядів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7030A0"/>
                </a:solidFill>
              </a:rPr>
              <a:t>Досвід статистичного прогнозування грошових надходжень від продажів полісів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008000"/>
                </a:solidFill>
              </a:rPr>
              <a:t>Дослідження даних про авіаперевезення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>
                <a:solidFill>
                  <a:srgbClr val="0000CC"/>
                </a:solidFill>
              </a:rPr>
              <a:t>Завдання логістики: оптимізація обороту товару на складі</a:t>
            </a:r>
          </a:p>
          <a:p>
            <a:pPr marL="342900" indent="-342900">
              <a:buFont typeface="+mj-lt"/>
              <a:buAutoNum type="arabicPeriod"/>
            </a:pPr>
            <a:r>
              <a:rPr lang="uk-UA" dirty="0"/>
              <a:t>Аналіз і прогнозування імпорту газу і рідкого палива в США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609492" y="1243012"/>
            <a:ext cx="6498819" cy="5040557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8556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Основні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питання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прогнозування</a:t>
            </a:r>
            <a:endParaRPr lang="ru-RU" sz="3500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09" y="1055077"/>
            <a:ext cx="7959968" cy="50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35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9051"/>
            <a:ext cx="6119446" cy="52096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362" y="858225"/>
            <a:ext cx="5748949" cy="574894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Параметри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та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види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прогнозів</a:t>
            </a:r>
            <a:endParaRPr lang="ru-RU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37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Период,</a:t>
            </a:r>
            <a:r>
              <a:rPr lang="ru-RU" sz="3500" b="1" u="none" strike="noStrike" dirty="0" smtClean="0">
                <a:solidFill>
                  <a:schemeClr val="bg1"/>
                </a:solidFill>
                <a:latin typeface="TimesNewRomanPS-BoldItalicMT"/>
              </a:rPr>
              <a:t> горизонт и интервал 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прогнозирования</a:t>
            </a:r>
            <a:endParaRPr lang="ru-RU" sz="35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3446" y="1012771"/>
            <a:ext cx="12192000" cy="53553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CC"/>
                </a:solidFill>
              </a:rPr>
              <a:t>Период прогнозирования </a:t>
            </a:r>
            <a:r>
              <a:rPr lang="ru-RU" dirty="0"/>
              <a:t>- основная единица времени, на которую делается прогноз.</a:t>
            </a:r>
          </a:p>
          <a:p>
            <a:r>
              <a:rPr lang="ru-RU" dirty="0">
                <a:solidFill>
                  <a:srgbClr val="008000"/>
                </a:solidFill>
              </a:rPr>
              <a:t>Например, мы хотим узнать доход компании через месяц. Период прогнозирования </a:t>
            </a:r>
            <a:r>
              <a:rPr lang="ru-RU" dirty="0" smtClean="0">
                <a:solidFill>
                  <a:srgbClr val="008000"/>
                </a:solidFill>
              </a:rPr>
              <a:t>для </a:t>
            </a:r>
            <a:r>
              <a:rPr lang="uk-UA" dirty="0" err="1" smtClean="0">
                <a:solidFill>
                  <a:srgbClr val="008000"/>
                </a:solidFill>
              </a:rPr>
              <a:t>этой</a:t>
            </a:r>
            <a:r>
              <a:rPr lang="uk-UA" dirty="0" smtClean="0">
                <a:solidFill>
                  <a:srgbClr val="008000"/>
                </a:solidFill>
              </a:rPr>
              <a:t> </a:t>
            </a:r>
            <a:r>
              <a:rPr lang="uk-UA" dirty="0" err="1">
                <a:solidFill>
                  <a:srgbClr val="008000"/>
                </a:solidFill>
              </a:rPr>
              <a:t>задачи</a:t>
            </a:r>
            <a:r>
              <a:rPr lang="uk-UA" dirty="0">
                <a:solidFill>
                  <a:srgbClr val="008000"/>
                </a:solidFill>
              </a:rPr>
              <a:t> - </a:t>
            </a:r>
            <a:r>
              <a:rPr lang="uk-UA" dirty="0" err="1">
                <a:solidFill>
                  <a:srgbClr val="008000"/>
                </a:solidFill>
              </a:rPr>
              <a:t>месяц</a:t>
            </a:r>
            <a:r>
              <a:rPr lang="uk-UA" dirty="0"/>
              <a:t>.</a:t>
            </a:r>
          </a:p>
          <a:p>
            <a:r>
              <a:rPr lang="ru-RU" b="1" dirty="0">
                <a:solidFill>
                  <a:srgbClr val="0000CC"/>
                </a:solidFill>
              </a:rPr>
              <a:t>Горизонт прогнозирования </a:t>
            </a:r>
            <a:r>
              <a:rPr lang="ru-RU" dirty="0"/>
              <a:t>- это число периодов в будущем, которые покрывает прогноз.</a:t>
            </a:r>
          </a:p>
          <a:p>
            <a:r>
              <a:rPr lang="ru-RU" dirty="0">
                <a:solidFill>
                  <a:srgbClr val="008000"/>
                </a:solidFill>
              </a:rPr>
              <a:t>Если мы хотим узнать прогноз на 12 месяцев вперед, с данными по каждому месяцу, </a:t>
            </a:r>
            <a:r>
              <a:rPr lang="ru-RU" dirty="0" smtClean="0">
                <a:solidFill>
                  <a:srgbClr val="008000"/>
                </a:solidFill>
              </a:rPr>
              <a:t>то период </a:t>
            </a:r>
            <a:r>
              <a:rPr lang="ru-RU" dirty="0">
                <a:solidFill>
                  <a:srgbClr val="008000"/>
                </a:solidFill>
              </a:rPr>
              <a:t>прогнозирования в этой задаче - месяц, горизонт прогнозирования - 12 месяцев.</a:t>
            </a:r>
          </a:p>
          <a:p>
            <a:r>
              <a:rPr lang="ru-RU" b="1" dirty="0">
                <a:solidFill>
                  <a:srgbClr val="0000CC"/>
                </a:solidFill>
              </a:rPr>
              <a:t>Интервал прогнозирования </a:t>
            </a:r>
            <a:r>
              <a:rPr lang="ru-RU" dirty="0"/>
              <a:t>- частота, с которой делается новый прогноз.</a:t>
            </a:r>
          </a:p>
          <a:p>
            <a:r>
              <a:rPr lang="ru-RU" dirty="0"/>
              <a:t>Интервал прогнозирования может совпадать с периодом прогнозирования.</a:t>
            </a:r>
          </a:p>
          <a:p>
            <a:pPr algn="ctr"/>
            <a:r>
              <a:rPr lang="ru-RU" b="1" dirty="0">
                <a:solidFill>
                  <a:srgbClr val="C00000"/>
                </a:solidFill>
              </a:rPr>
              <a:t>Рекомендации по выбору параметров прогнозирования.</a:t>
            </a:r>
          </a:p>
          <a:p>
            <a:r>
              <a:rPr lang="ru-RU" dirty="0"/>
              <a:t>При выборе параметров необходимо учитывать, что горизонт прогнозирования </a:t>
            </a:r>
            <a:r>
              <a:rPr lang="ru-RU" dirty="0" smtClean="0"/>
              <a:t>должен быть </a:t>
            </a:r>
            <a:r>
              <a:rPr lang="ru-RU" dirty="0"/>
              <a:t>не меньше, чем время, которое необходимо для реализации решения, принятого </a:t>
            </a:r>
            <a:r>
              <a:rPr lang="ru-RU" dirty="0" smtClean="0"/>
              <a:t>на основе </a:t>
            </a:r>
            <a:r>
              <a:rPr lang="ru-RU" dirty="0"/>
              <a:t>этого прогноза. Только в этом случае прогнозирование будет иметь </a:t>
            </a:r>
            <a:r>
              <a:rPr lang="ru-RU" dirty="0" smtClean="0"/>
              <a:t>смысл. </a:t>
            </a:r>
          </a:p>
          <a:p>
            <a:r>
              <a:rPr lang="ru-RU" dirty="0" smtClean="0"/>
              <a:t>С </a:t>
            </a:r>
            <a:r>
              <a:rPr lang="ru-RU" dirty="0"/>
              <a:t>увеличением </a:t>
            </a:r>
            <a:r>
              <a:rPr lang="ru-RU" b="1" dirty="0"/>
              <a:t>горизонта прогнозирования </a:t>
            </a:r>
            <a:r>
              <a:rPr lang="ru-RU" dirty="0"/>
              <a:t>точность прогноза, как правило, снижается, а </a:t>
            </a:r>
            <a:r>
              <a:rPr lang="ru-RU" dirty="0" smtClean="0"/>
              <a:t>с </a:t>
            </a:r>
            <a:r>
              <a:rPr lang="uk-UA" dirty="0" err="1" smtClean="0"/>
              <a:t>уменьшением</a:t>
            </a:r>
            <a:r>
              <a:rPr lang="uk-UA" dirty="0" smtClean="0"/>
              <a:t> </a:t>
            </a:r>
            <a:r>
              <a:rPr lang="uk-UA" dirty="0" err="1"/>
              <a:t>горизонта</a:t>
            </a:r>
            <a:r>
              <a:rPr lang="uk-UA" dirty="0"/>
              <a:t> - </a:t>
            </a:r>
            <a:r>
              <a:rPr lang="uk-UA" dirty="0" err="1"/>
              <a:t>повышается</a:t>
            </a:r>
            <a:r>
              <a:rPr lang="uk-UA" dirty="0" smtClean="0"/>
              <a:t>.</a:t>
            </a:r>
            <a:r>
              <a:rPr lang="ru-RU" dirty="0"/>
              <a:t> </a:t>
            </a:r>
            <a:r>
              <a:rPr lang="ru-RU" dirty="0" smtClean="0"/>
              <a:t>Мы </a:t>
            </a:r>
            <a:r>
              <a:rPr lang="ru-RU" dirty="0"/>
              <a:t>можем улучшить качество прогнозирования, уменьшая время, необходимое </a:t>
            </a:r>
            <a:r>
              <a:rPr lang="ru-RU" dirty="0" smtClean="0"/>
              <a:t>на реализацию </a:t>
            </a:r>
            <a:r>
              <a:rPr lang="ru-RU" dirty="0"/>
              <a:t>решения, для которого реализуется прогноз, и, следовательно, уменьшив </a:t>
            </a:r>
            <a:r>
              <a:rPr lang="ru-RU" dirty="0" smtClean="0"/>
              <a:t>при этом </a:t>
            </a:r>
            <a:r>
              <a:rPr lang="ru-RU" dirty="0"/>
              <a:t>горизонт и ошибку прогнозирования.</a:t>
            </a:r>
          </a:p>
          <a:p>
            <a:r>
              <a:rPr lang="ru-RU" dirty="0"/>
              <a:t>При </a:t>
            </a:r>
            <a:r>
              <a:rPr lang="ru-RU" b="1" dirty="0"/>
              <a:t>выборе интервала прогнозирования </a:t>
            </a:r>
            <a:r>
              <a:rPr lang="ru-RU" dirty="0"/>
              <a:t>следует выбирать между двумя рисками: </a:t>
            </a:r>
            <a:r>
              <a:rPr lang="ru-RU" dirty="0" smtClean="0"/>
              <a:t>вовремя не </a:t>
            </a:r>
            <a:r>
              <a:rPr lang="ru-RU" dirty="0"/>
              <a:t>определить изменения в анализируемом процессе и высокой стоимостью прогноза. </a:t>
            </a:r>
            <a:r>
              <a:rPr lang="ru-RU" dirty="0" smtClean="0"/>
              <a:t>При длительном </a:t>
            </a:r>
            <a:r>
              <a:rPr lang="ru-RU" dirty="0"/>
              <a:t>интервале прогнозирования возникает риск не идентифицировать </a:t>
            </a:r>
            <a:r>
              <a:rPr lang="ru-RU" dirty="0" smtClean="0"/>
              <a:t>изменения, произошедшие </a:t>
            </a:r>
            <a:r>
              <a:rPr lang="ru-RU" dirty="0"/>
              <a:t>в процессе, при коротком - возрастают издержки на прогнозирование.</a:t>
            </a:r>
          </a:p>
          <a:p>
            <a:r>
              <a:rPr lang="ru-RU" dirty="0"/>
              <a:t>При выборе </a:t>
            </a:r>
            <a:r>
              <a:rPr lang="ru-RU" b="1" dirty="0"/>
              <a:t>интервала</a:t>
            </a:r>
            <a:r>
              <a:rPr lang="ru-RU" dirty="0"/>
              <a:t> необходимо также учитывать стабильность </a:t>
            </a:r>
            <a:r>
              <a:rPr lang="ru-RU" dirty="0" smtClean="0"/>
              <a:t>анализируемого процесса </a:t>
            </a:r>
            <a:r>
              <a:rPr lang="ru-RU" dirty="0"/>
              <a:t>и стоимость проведения прогноза</a:t>
            </a:r>
            <a:r>
              <a:rPr lang="ru-RU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1964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90" y="1043354"/>
            <a:ext cx="5234708" cy="528710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698" y="1184031"/>
            <a:ext cx="6445323" cy="514643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149021"/>
            <a:ext cx="12192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Точність</a:t>
            </a:r>
            <a:r>
              <a:rPr lang="ru-RU" sz="3500" b="1" u="none" strike="noStrike" baseline="0" dirty="0" smtClean="0">
                <a:solidFill>
                  <a:schemeClr val="bg1"/>
                </a:solidFill>
                <a:latin typeface="TimesNewRomanPS-BoldItalicMT"/>
              </a:rPr>
              <a:t> </a:t>
            </a:r>
            <a:r>
              <a:rPr lang="ru-RU" sz="3500" b="1" u="none" strike="noStrike" baseline="0" dirty="0" err="1" smtClean="0">
                <a:solidFill>
                  <a:schemeClr val="bg1"/>
                </a:solidFill>
                <a:latin typeface="TimesNewRomanPS-BoldItalicMT"/>
              </a:rPr>
              <a:t>прогнозування</a:t>
            </a:r>
            <a:endParaRPr lang="ru-RU" sz="3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10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02675" y="1347229"/>
            <a:ext cx="103045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400" dirty="0" smtClean="0"/>
              <a:t>1</a:t>
            </a:r>
            <a:r>
              <a:rPr lang="uk-UA" sz="2400" dirty="0"/>
              <a:t>. </a:t>
            </a:r>
            <a:r>
              <a:rPr lang="uk-UA" sz="2400" dirty="0" err="1"/>
              <a:t>Сбор</a:t>
            </a:r>
            <a:r>
              <a:rPr lang="uk-UA" sz="2400" dirty="0"/>
              <a:t> </a:t>
            </a:r>
            <a:r>
              <a:rPr lang="uk-UA" sz="2400" dirty="0" err="1"/>
              <a:t>данных</a:t>
            </a:r>
            <a:endParaRPr lang="uk-UA" sz="2400" dirty="0"/>
          </a:p>
          <a:p>
            <a:r>
              <a:rPr lang="ru-RU" sz="2400" dirty="0"/>
              <a:t>2. Очистка и «уплотнение» данных</a:t>
            </a:r>
          </a:p>
          <a:p>
            <a:r>
              <a:rPr lang="ru-RU" sz="2400" dirty="0"/>
              <a:t>3. Изучение структуры данных, </a:t>
            </a:r>
            <a:r>
              <a:rPr lang="ru-RU" sz="2400" dirty="0" smtClean="0"/>
              <a:t>построение </a:t>
            </a:r>
            <a:r>
              <a:rPr lang="uk-UA" sz="2400" dirty="0" err="1" smtClean="0"/>
              <a:t>модели</a:t>
            </a:r>
            <a:r>
              <a:rPr lang="uk-UA" sz="2400" dirty="0" smtClean="0"/>
              <a:t> </a:t>
            </a:r>
            <a:r>
              <a:rPr lang="uk-UA" sz="2400" dirty="0"/>
              <a:t>и </a:t>
            </a:r>
            <a:r>
              <a:rPr lang="uk-UA" sz="2400" dirty="0" err="1"/>
              <a:t>ее</a:t>
            </a:r>
            <a:r>
              <a:rPr lang="uk-UA" sz="2400" dirty="0"/>
              <a:t> </a:t>
            </a:r>
            <a:r>
              <a:rPr lang="uk-UA" sz="2400" dirty="0" err="1"/>
              <a:t>оценка</a:t>
            </a:r>
            <a:endParaRPr lang="uk-UA" sz="2400" dirty="0"/>
          </a:p>
          <a:p>
            <a:r>
              <a:rPr lang="uk-UA" sz="2400" dirty="0"/>
              <a:t>4. </a:t>
            </a:r>
            <a:r>
              <a:rPr lang="uk-UA" sz="2400" dirty="0" err="1"/>
              <a:t>Экстраполяция</a:t>
            </a:r>
            <a:r>
              <a:rPr lang="uk-UA" sz="2400" dirty="0"/>
              <a:t> </a:t>
            </a:r>
            <a:r>
              <a:rPr lang="uk-UA" sz="2400" dirty="0" err="1"/>
              <a:t>модели</a:t>
            </a:r>
            <a:endParaRPr lang="uk-UA" sz="2400" dirty="0"/>
          </a:p>
          <a:p>
            <a:r>
              <a:rPr lang="uk-UA" sz="2400" dirty="0"/>
              <a:t>5. </a:t>
            </a:r>
            <a:r>
              <a:rPr lang="uk-UA" sz="2400" dirty="0" err="1"/>
              <a:t>Оценка</a:t>
            </a:r>
            <a:r>
              <a:rPr lang="uk-UA" sz="2400" dirty="0"/>
              <a:t> </a:t>
            </a:r>
            <a:r>
              <a:rPr lang="uk-UA" sz="2400" dirty="0" err="1"/>
              <a:t>прогноза</a:t>
            </a:r>
            <a:endParaRPr lang="uk-UA" sz="2400" dirty="0"/>
          </a:p>
          <a:p>
            <a:r>
              <a:rPr lang="ru-RU" sz="2400" dirty="0"/>
              <a:t>6. Пересмотр применяемых методов и </a:t>
            </a:r>
            <a:r>
              <a:rPr lang="ru-RU" sz="2400" dirty="0" smtClean="0"/>
              <a:t>анализ </a:t>
            </a:r>
            <a:r>
              <a:rPr lang="uk-UA" sz="2400" dirty="0" err="1" smtClean="0"/>
              <a:t>полезности</a:t>
            </a:r>
            <a:r>
              <a:rPr lang="uk-UA" sz="2400" dirty="0" smtClean="0"/>
              <a:t> </a:t>
            </a:r>
            <a:r>
              <a:rPr lang="uk-UA" sz="2400" dirty="0" err="1"/>
              <a:t>изменений</a:t>
            </a:r>
            <a:r>
              <a:rPr lang="uk-UA" sz="2400" dirty="0"/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17972" y="142482"/>
            <a:ext cx="561564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4000" b="1" dirty="0" err="1">
                <a:solidFill>
                  <a:schemeClr val="bg1"/>
                </a:solidFill>
              </a:rPr>
              <a:t>Этапы</a:t>
            </a:r>
            <a:r>
              <a:rPr lang="uk-UA" sz="4000" b="1" dirty="0">
                <a:solidFill>
                  <a:schemeClr val="bg1"/>
                </a:solidFill>
              </a:rPr>
              <a:t> </a:t>
            </a:r>
            <a:r>
              <a:rPr lang="uk-UA" sz="4000" b="1" dirty="0" err="1">
                <a:solidFill>
                  <a:schemeClr val="bg1"/>
                </a:solidFill>
              </a:rPr>
              <a:t>прогнозирования</a:t>
            </a:r>
            <a:endParaRPr lang="uk-U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15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46185" y="1192410"/>
            <a:ext cx="116761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uk-UA" sz="2200" b="1" dirty="0" err="1" smtClean="0">
                <a:solidFill>
                  <a:srgbClr val="0000CC"/>
                </a:solidFill>
              </a:rPr>
              <a:t>Виды</a:t>
            </a:r>
            <a:r>
              <a:rPr lang="uk-UA" sz="2200" b="1" dirty="0" smtClean="0">
                <a:solidFill>
                  <a:srgbClr val="0000CC"/>
                </a:solidFill>
              </a:rPr>
              <a:t> </a:t>
            </a:r>
            <a:r>
              <a:rPr lang="uk-UA" sz="2200" b="1" dirty="0">
                <a:solidFill>
                  <a:srgbClr val="0000CC"/>
                </a:solidFill>
              </a:rPr>
              <a:t>ПО</a:t>
            </a:r>
          </a:p>
          <a:p>
            <a:r>
              <a:rPr lang="uk-UA" sz="2200" dirty="0"/>
              <a:t>– </a:t>
            </a:r>
            <a:r>
              <a:rPr lang="uk-UA" sz="2200" dirty="0" err="1"/>
              <a:t>Статистические</a:t>
            </a:r>
            <a:r>
              <a:rPr lang="uk-UA" sz="2200" dirty="0"/>
              <a:t> </a:t>
            </a:r>
            <a:r>
              <a:rPr lang="uk-UA" sz="2200" dirty="0" err="1"/>
              <a:t>пакеты</a:t>
            </a:r>
            <a:r>
              <a:rPr lang="uk-UA" sz="2200" dirty="0"/>
              <a:t> </a:t>
            </a:r>
            <a:r>
              <a:rPr lang="uk-UA" sz="2200" dirty="0" err="1"/>
              <a:t>общего</a:t>
            </a:r>
            <a:r>
              <a:rPr lang="uk-UA" sz="2200" dirty="0"/>
              <a:t> </a:t>
            </a:r>
            <a:r>
              <a:rPr lang="uk-UA" sz="2200" dirty="0" err="1"/>
              <a:t>назначения</a:t>
            </a:r>
            <a:endParaRPr lang="uk-UA" sz="2200" dirty="0"/>
          </a:p>
          <a:p>
            <a:r>
              <a:rPr lang="uk-UA" sz="2200" dirty="0"/>
              <a:t>– </a:t>
            </a:r>
            <a:r>
              <a:rPr lang="uk-UA" sz="2200" dirty="0" err="1"/>
              <a:t>Программы</a:t>
            </a:r>
            <a:r>
              <a:rPr lang="uk-UA" sz="2200" dirty="0"/>
              <a:t> для </a:t>
            </a:r>
            <a:r>
              <a:rPr lang="uk-UA" sz="2200" dirty="0" err="1"/>
              <a:t>автоматического</a:t>
            </a:r>
            <a:r>
              <a:rPr lang="uk-UA" sz="2200" dirty="0"/>
              <a:t> </a:t>
            </a:r>
            <a:r>
              <a:rPr lang="uk-UA" sz="2200" dirty="0" err="1"/>
              <a:t>прогнозирования</a:t>
            </a:r>
            <a:endParaRPr lang="uk-UA" sz="2200" dirty="0"/>
          </a:p>
          <a:p>
            <a:r>
              <a:rPr lang="uk-UA" sz="2200" dirty="0"/>
              <a:t>– </a:t>
            </a:r>
            <a:r>
              <a:rPr lang="uk-UA" sz="2200" dirty="0" err="1"/>
              <a:t>Системы</a:t>
            </a:r>
            <a:r>
              <a:rPr lang="uk-UA" sz="2200" dirty="0"/>
              <a:t> </a:t>
            </a:r>
            <a:r>
              <a:rPr lang="uk-UA" sz="2200" dirty="0" err="1"/>
              <a:t>планирования</a:t>
            </a:r>
            <a:r>
              <a:rPr lang="uk-UA" sz="2200" dirty="0"/>
              <a:t> </a:t>
            </a:r>
            <a:r>
              <a:rPr lang="uk-UA" sz="2200" dirty="0" err="1"/>
              <a:t>спроса</a:t>
            </a:r>
            <a:endParaRPr lang="uk-UA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200" b="1" dirty="0" smtClean="0">
                <a:solidFill>
                  <a:srgbClr val="0000CC"/>
                </a:solidFill>
              </a:rPr>
              <a:t>Типичный </a:t>
            </a:r>
            <a:r>
              <a:rPr lang="ru-RU" sz="2200" b="1" dirty="0">
                <a:solidFill>
                  <a:srgbClr val="0000CC"/>
                </a:solidFill>
              </a:rPr>
              <a:t>набор инструментов в пакете </a:t>
            </a:r>
            <a:r>
              <a:rPr lang="ru-RU" sz="2200" b="1" dirty="0" smtClean="0">
                <a:solidFill>
                  <a:srgbClr val="0000CC"/>
                </a:solidFill>
              </a:rPr>
              <a:t>статистического </a:t>
            </a:r>
            <a:r>
              <a:rPr lang="uk-UA" sz="2200" b="1" dirty="0" err="1" smtClean="0">
                <a:solidFill>
                  <a:srgbClr val="0000CC"/>
                </a:solidFill>
              </a:rPr>
              <a:t>прогнозирования</a:t>
            </a:r>
            <a:r>
              <a:rPr lang="uk-UA" sz="2200" b="1" dirty="0">
                <a:solidFill>
                  <a:srgbClr val="0000CC"/>
                </a:solidFill>
              </a:rPr>
              <a:t>:</a:t>
            </a:r>
          </a:p>
          <a:p>
            <a:r>
              <a:rPr lang="uk-UA" sz="2200" dirty="0"/>
              <a:t>– </a:t>
            </a:r>
            <a:r>
              <a:rPr lang="uk-UA" sz="2200" dirty="0" err="1"/>
              <a:t>преобразование</a:t>
            </a:r>
            <a:r>
              <a:rPr lang="uk-UA" sz="2200" dirty="0"/>
              <a:t> и </a:t>
            </a:r>
            <a:r>
              <a:rPr lang="uk-UA" sz="2200" dirty="0" err="1"/>
              <a:t>подготовка</a:t>
            </a:r>
            <a:r>
              <a:rPr lang="uk-UA" sz="2200" dirty="0"/>
              <a:t> </a:t>
            </a:r>
            <a:r>
              <a:rPr lang="uk-UA" sz="2200" dirty="0" err="1"/>
              <a:t>данных</a:t>
            </a:r>
            <a:endParaRPr lang="uk-UA" sz="2200" dirty="0"/>
          </a:p>
          <a:p>
            <a:r>
              <a:rPr lang="ru-RU" sz="2200" dirty="0"/>
              <a:t>– описательные статистики и графический анализ данных</a:t>
            </a:r>
          </a:p>
          <a:p>
            <a:r>
              <a:rPr lang="ru-RU" sz="2200" dirty="0"/>
              <a:t>– инструменты анализа структуры данных – автокорреляции, </a:t>
            </a:r>
            <a:r>
              <a:rPr lang="ru-RU" sz="2200" dirty="0" smtClean="0"/>
              <a:t>спектральный </a:t>
            </a:r>
            <a:r>
              <a:rPr lang="uk-UA" sz="2200" dirty="0" err="1" smtClean="0"/>
              <a:t>анализ</a:t>
            </a:r>
            <a:endParaRPr lang="uk-UA" sz="2200" dirty="0"/>
          </a:p>
          <a:p>
            <a:r>
              <a:rPr lang="ru-RU" sz="2200" dirty="0"/>
              <a:t>– построение однофакторных и многофакторных моделей регрессии, </a:t>
            </a:r>
            <a:r>
              <a:rPr lang="ru-RU" sz="2200" dirty="0" smtClean="0"/>
              <a:t>оценка значимости</a:t>
            </a:r>
          </a:p>
          <a:p>
            <a:r>
              <a:rPr lang="ru-RU" sz="2200" dirty="0"/>
              <a:t> </a:t>
            </a:r>
            <a:r>
              <a:rPr lang="ru-RU" sz="2200" dirty="0" smtClean="0"/>
              <a:t>  коэффициентов </a:t>
            </a:r>
            <a:r>
              <a:rPr lang="ru-RU" sz="2200" dirty="0"/>
              <a:t>моделей и факторов</a:t>
            </a:r>
          </a:p>
          <a:p>
            <a:r>
              <a:rPr lang="ru-RU" sz="2200" dirty="0"/>
              <a:t>– построение моделей сглаживания временных рядов</a:t>
            </a:r>
          </a:p>
          <a:p>
            <a:r>
              <a:rPr lang="ru-RU" sz="2200" dirty="0"/>
              <a:t>– построение однофакторных или многофакторных моделей АРПСС</a:t>
            </a:r>
          </a:p>
          <a:p>
            <a:r>
              <a:rPr lang="ru-RU" sz="2200" dirty="0"/>
              <a:t>– инструменты для автоматического применения моделей и </a:t>
            </a:r>
            <a:r>
              <a:rPr lang="ru-RU" sz="2200" dirty="0" smtClean="0"/>
              <a:t>контроля </a:t>
            </a:r>
            <a:r>
              <a:rPr lang="uk-UA" sz="2200" dirty="0" err="1" smtClean="0"/>
              <a:t>результатов</a:t>
            </a:r>
            <a:endParaRPr lang="uk-UA" sz="2200" dirty="0"/>
          </a:p>
          <a:p>
            <a:endParaRPr lang="uk-UA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600" b="1" dirty="0" err="1">
                <a:solidFill>
                  <a:schemeClr val="bg1"/>
                </a:solidFill>
              </a:rPr>
              <a:t>Программное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err="1">
                <a:solidFill>
                  <a:schemeClr val="bg1"/>
                </a:solidFill>
              </a:rPr>
              <a:t>обеспечение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</a:rPr>
              <a:t>для </a:t>
            </a:r>
            <a:r>
              <a:rPr lang="uk-UA" sz="3600" b="1" dirty="0" err="1" smtClean="0">
                <a:solidFill>
                  <a:schemeClr val="bg1"/>
                </a:solidFill>
              </a:rPr>
              <a:t>решения</a:t>
            </a:r>
            <a:r>
              <a:rPr lang="uk-UA" sz="3600" b="1" dirty="0" smtClean="0">
                <a:solidFill>
                  <a:schemeClr val="bg1"/>
                </a:solidFill>
              </a:rPr>
              <a:t> </a:t>
            </a:r>
            <a:r>
              <a:rPr lang="uk-UA" sz="3600" b="1" dirty="0">
                <a:solidFill>
                  <a:schemeClr val="bg1"/>
                </a:solidFill>
              </a:rPr>
              <a:t>задач </a:t>
            </a:r>
            <a:r>
              <a:rPr lang="uk-UA" sz="3600" b="1" dirty="0" err="1">
                <a:solidFill>
                  <a:schemeClr val="bg1"/>
                </a:solidFill>
              </a:rPr>
              <a:t>прогнозирования</a:t>
            </a:r>
            <a:endParaRPr lang="uk-UA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88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27539" y="1088445"/>
            <a:ext cx="1107830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sz="2200" dirty="0" smtClean="0"/>
              <a:t> </a:t>
            </a:r>
            <a:r>
              <a:rPr lang="uk-UA" sz="2200" dirty="0" err="1" smtClean="0"/>
              <a:t>Графический</a:t>
            </a:r>
            <a:r>
              <a:rPr lang="uk-UA" sz="2200" dirty="0" smtClean="0"/>
              <a:t> </a:t>
            </a:r>
            <a:r>
              <a:rPr lang="uk-UA" sz="2200" dirty="0" err="1"/>
              <a:t>анализ</a:t>
            </a:r>
            <a:endParaRPr lang="uk-UA" sz="2200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Преобразование </a:t>
            </a:r>
            <a:r>
              <a:rPr lang="ru-RU" sz="2200" dirty="0"/>
              <a:t>и сглаживание данных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Описательные </a:t>
            </a:r>
            <a:r>
              <a:rPr lang="ru-RU" sz="2200" dirty="0"/>
              <a:t>статистики и разведочный анализ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Анализ </a:t>
            </a:r>
            <a:r>
              <a:rPr lang="ru-RU" sz="2200" dirty="0"/>
              <a:t>сезонных и циклических колебаний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Определение </a:t>
            </a:r>
            <a:r>
              <a:rPr lang="ru-RU" sz="2200" dirty="0"/>
              <a:t>циклических компонентов даты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sz="2200" dirty="0" smtClean="0"/>
              <a:t> </a:t>
            </a:r>
            <a:r>
              <a:rPr lang="uk-UA" sz="2200" dirty="0" err="1" smtClean="0"/>
              <a:t>Сезонная</a:t>
            </a:r>
            <a:r>
              <a:rPr lang="uk-UA" sz="2200" dirty="0" smtClean="0"/>
              <a:t> </a:t>
            </a:r>
            <a:r>
              <a:rPr lang="uk-UA" sz="2200" dirty="0" err="1"/>
              <a:t>декомпозиция</a:t>
            </a:r>
            <a:r>
              <a:rPr lang="uk-UA" sz="2200" dirty="0"/>
              <a:t>/</a:t>
            </a:r>
            <a:r>
              <a:rPr lang="uk-UA" sz="2200" dirty="0" err="1"/>
              <a:t>корректировка</a:t>
            </a:r>
            <a:endParaRPr lang="uk-UA" sz="2200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Линейная </a:t>
            </a:r>
            <a:r>
              <a:rPr lang="ru-RU" sz="2200" dirty="0"/>
              <a:t>регрессия и подгонка кривых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sz="2200" dirty="0" smtClean="0"/>
              <a:t> Исследование </a:t>
            </a:r>
            <a:r>
              <a:rPr lang="ru-RU" sz="2200" dirty="0"/>
              <a:t>взаимосвязей между рядами – парные корреляции</a:t>
            </a:r>
            <a:r>
              <a:rPr lang="ru-RU" sz="2200" dirty="0" smtClean="0"/>
              <a:t>, </a:t>
            </a:r>
            <a:r>
              <a:rPr lang="uk-UA" sz="2200" dirty="0" smtClean="0"/>
              <a:t> </a:t>
            </a:r>
            <a:r>
              <a:rPr lang="uk-UA" sz="2200" dirty="0" err="1" smtClean="0"/>
              <a:t>кросс-корреляции</a:t>
            </a:r>
            <a:endParaRPr lang="uk-UA" sz="2200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-UA" sz="2200" dirty="0" smtClean="0"/>
              <a:t> </a:t>
            </a:r>
            <a:r>
              <a:rPr lang="uk-UA" sz="2200" dirty="0" err="1" smtClean="0"/>
              <a:t>Эксперт</a:t>
            </a:r>
            <a:r>
              <a:rPr lang="uk-UA" sz="2200" dirty="0" smtClean="0"/>
              <a:t> </a:t>
            </a:r>
            <a:r>
              <a:rPr lang="uk-UA" sz="2200" dirty="0" err="1"/>
              <a:t>построения</a:t>
            </a:r>
            <a:r>
              <a:rPr lang="uk-UA" sz="2200" dirty="0"/>
              <a:t> моделей:</a:t>
            </a:r>
          </a:p>
          <a:p>
            <a:pPr marL="457200" lvl="2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2200" dirty="0" err="1" smtClean="0"/>
              <a:t>Модели</a:t>
            </a:r>
            <a:r>
              <a:rPr lang="uk-UA" sz="2200" dirty="0" smtClean="0"/>
              <a:t> </a:t>
            </a:r>
            <a:r>
              <a:rPr lang="uk-UA" sz="2200" dirty="0" err="1"/>
              <a:t>экспоненциального</a:t>
            </a:r>
            <a:r>
              <a:rPr lang="uk-UA" sz="2200" dirty="0"/>
              <a:t> </a:t>
            </a:r>
            <a:r>
              <a:rPr lang="uk-UA" sz="2200" dirty="0" err="1"/>
              <a:t>сглаживания</a:t>
            </a:r>
            <a:endParaRPr lang="uk-UA" sz="2200" dirty="0"/>
          </a:p>
          <a:p>
            <a:pPr marL="457200" lvl="2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uk-UA" sz="2200" dirty="0" err="1" smtClean="0"/>
              <a:t>Модели</a:t>
            </a:r>
            <a:r>
              <a:rPr lang="uk-UA" sz="2200" dirty="0" smtClean="0"/>
              <a:t> </a:t>
            </a:r>
            <a:r>
              <a:rPr lang="en-GB" sz="2200" dirty="0"/>
              <a:t>ARIMA </a:t>
            </a:r>
            <a:r>
              <a:rPr lang="uk-UA" sz="2200" dirty="0"/>
              <a:t>и </a:t>
            </a:r>
            <a:r>
              <a:rPr lang="en-GB" sz="2200" dirty="0"/>
              <a:t>ARIMAX</a:t>
            </a:r>
            <a:endParaRPr lang="uk-UA" sz="2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38007" y="142115"/>
            <a:ext cx="76055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Инструменты анализа данных в SPSS</a:t>
            </a:r>
          </a:p>
        </p:txBody>
      </p:sp>
    </p:spTree>
    <p:extLst>
      <p:ext uri="{BB962C8B-B14F-4D97-AF65-F5344CB8AC3E}">
        <p14:creationId xmlns:p14="http://schemas.microsoft.com/office/powerpoint/2010/main" val="2382537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98791" y="90826"/>
            <a:ext cx="5485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</a:rPr>
              <a:t>Методы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err="1">
                <a:solidFill>
                  <a:schemeClr val="bg1"/>
                </a:solidFill>
              </a:rPr>
              <a:t>прогнозирования</a:t>
            </a:r>
            <a:endParaRPr lang="uk-UA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26123" y="1156791"/>
            <a:ext cx="1126587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Среди методов прогнозирования временных рядов различают несколько </a:t>
            </a:r>
            <a:r>
              <a:rPr lang="ru-RU" sz="2000" dirty="0" smtClean="0"/>
              <a:t>основных групп</a:t>
            </a:r>
            <a:r>
              <a:rPr lang="ru-RU" sz="2000" dirty="0"/>
              <a:t>:</a:t>
            </a:r>
          </a:p>
          <a:p>
            <a:pPr lvl="1"/>
            <a:r>
              <a:rPr lang="ru-RU" sz="2000" dirty="0"/>
              <a:t>• регрессионные методы</a:t>
            </a:r>
          </a:p>
          <a:p>
            <a:pPr lvl="1"/>
            <a:r>
              <a:rPr lang="ru-RU" sz="2000" dirty="0"/>
              <a:t>• </a:t>
            </a:r>
            <a:r>
              <a:rPr lang="ru-RU" sz="2000" dirty="0" err="1"/>
              <a:t>нейросетевые</a:t>
            </a:r>
            <a:r>
              <a:rPr lang="ru-RU" sz="2000" dirty="0"/>
              <a:t> методы</a:t>
            </a:r>
          </a:p>
          <a:p>
            <a:pPr lvl="1"/>
            <a:r>
              <a:rPr lang="ru-RU" sz="2000" dirty="0"/>
              <a:t>• методы </a:t>
            </a:r>
            <a:r>
              <a:rPr lang="ru-RU" sz="2000" dirty="0" smtClean="0"/>
              <a:t>Бокса-Дженкинса (анализ временных рядов)</a:t>
            </a:r>
            <a:endParaRPr lang="uk-UA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-113553" y="2530560"/>
            <a:ext cx="118152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Регрессионные методы</a:t>
            </a:r>
          </a:p>
          <a:p>
            <a:r>
              <a:rPr lang="ru-RU" sz="2000" dirty="0"/>
              <a:t>Прогнозируемая переменная зависит от нескольких независимых переменных, природа которых может быть различна. В общем случае модель множественной регрессии имеет вид: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48" y="3698970"/>
            <a:ext cx="3400921" cy="6996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511060" y="3742300"/>
            <a:ext cx="86809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где F – функция от n независимых переменных, </a:t>
            </a:r>
            <a:r>
              <a:rPr lang="ru-RU" sz="2000" dirty="0" smtClean="0">
                <a:sym typeface="Symbol" panose="05050102010706020507" pitchFamily="18" charset="2"/>
              </a:rPr>
              <a:t></a:t>
            </a:r>
            <a:r>
              <a:rPr lang="ru-RU" sz="2000" dirty="0" smtClean="0"/>
              <a:t> – ошибка.</a:t>
            </a:r>
            <a:endParaRPr lang="uk-UA" sz="2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50791" y="4388631"/>
            <a:ext cx="115715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Частным случаем </a:t>
            </a:r>
            <a:r>
              <a:rPr lang="ru-RU" sz="2000" dirty="0"/>
              <a:t>является модель </a:t>
            </a:r>
            <a:r>
              <a:rPr lang="ru-RU" sz="2000" dirty="0" smtClean="0"/>
              <a:t>линейной </a:t>
            </a:r>
            <a:r>
              <a:rPr lang="ru-RU" sz="2000" dirty="0"/>
              <a:t>регрессии:</a:t>
            </a:r>
            <a:endParaRPr lang="uk-UA" sz="20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91" y="4855572"/>
            <a:ext cx="4911354" cy="67416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922702" y="5011379"/>
            <a:ext cx="4204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 smtClean="0"/>
              <a:t>подбираемые</a:t>
            </a:r>
            <a:r>
              <a:rPr lang="uk-UA" dirty="0" smtClean="0"/>
              <a:t> </a:t>
            </a:r>
            <a:r>
              <a:rPr lang="uk-UA" dirty="0" err="1"/>
              <a:t>коэффициенты</a:t>
            </a:r>
            <a:r>
              <a:rPr lang="uk-UA" dirty="0"/>
              <a:t> </a:t>
            </a:r>
            <a:r>
              <a:rPr lang="uk-UA" dirty="0" err="1"/>
              <a:t>регрессии</a:t>
            </a:r>
            <a:r>
              <a:rPr lang="uk-UA" dirty="0"/>
              <a:t>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025" y="5075431"/>
            <a:ext cx="1269000" cy="30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98791" y="90826"/>
            <a:ext cx="5485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</a:rPr>
              <a:t>Методы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err="1">
                <a:solidFill>
                  <a:schemeClr val="bg1"/>
                </a:solidFill>
              </a:rPr>
              <a:t>прогнозирования</a:t>
            </a:r>
            <a:endParaRPr lang="uk-UA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841085" y="1286580"/>
            <a:ext cx="3237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 err="1"/>
              <a:t>Нейросетевые</a:t>
            </a:r>
            <a:r>
              <a:rPr lang="uk-UA" sz="2400" b="1" dirty="0"/>
              <a:t> </a:t>
            </a:r>
            <a:r>
              <a:rPr lang="uk-UA" sz="2400" b="1" dirty="0" err="1"/>
              <a:t>методы</a:t>
            </a:r>
            <a:endParaRPr lang="uk-UA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51692" y="1686690"/>
            <a:ext cx="117566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Наиболее современная и все больше развивающаяся в настоящее время </a:t>
            </a:r>
            <a:r>
              <a:rPr lang="ru-RU" dirty="0" smtClean="0"/>
              <a:t>группа методов</a:t>
            </a:r>
            <a:r>
              <a:rPr lang="ru-RU" dirty="0"/>
              <a:t>, использующая нейронные сети для прогнозирования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663472" y="2413620"/>
            <a:ext cx="3735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 err="1"/>
              <a:t>Методы</a:t>
            </a:r>
            <a:r>
              <a:rPr lang="uk-UA" sz="2400" b="1" dirty="0"/>
              <a:t> </a:t>
            </a:r>
            <a:r>
              <a:rPr lang="uk-UA" sz="2400" b="1" dirty="0" err="1"/>
              <a:t>Бокса-Дженкинса</a:t>
            </a:r>
            <a:endParaRPr lang="uk-UA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50985" y="2969077"/>
            <a:ext cx="114534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классических методах Бокса-Дженкинса независимые переменные не </a:t>
            </a:r>
            <a:r>
              <a:rPr lang="ru-RU" dirty="0" smtClean="0"/>
              <a:t>используются</a:t>
            </a:r>
            <a:r>
              <a:rPr lang="ru-RU" dirty="0"/>
              <a:t>. Прогнозирование будущих значений опирается только на историю </a:t>
            </a:r>
            <a:r>
              <a:rPr lang="ru-RU" dirty="0" smtClean="0"/>
              <a:t>предыдущих значений </a:t>
            </a:r>
            <a:r>
              <a:rPr lang="ru-RU" dirty="0"/>
              <a:t>временного </a:t>
            </a:r>
            <a:r>
              <a:rPr lang="ru-RU" dirty="0" smtClean="0"/>
              <a:t>ряда. </a:t>
            </a:r>
            <a:r>
              <a:rPr lang="ru-RU" dirty="0"/>
              <a:t>В </a:t>
            </a:r>
            <a:r>
              <a:rPr lang="ru-RU" dirty="0" smtClean="0"/>
              <a:t>основе методов лежит </a:t>
            </a:r>
            <a:r>
              <a:rPr lang="ru-RU" dirty="0"/>
              <a:t>идея того, что между соседними значениями временного </a:t>
            </a:r>
            <a:r>
              <a:rPr lang="ru-RU" dirty="0" smtClean="0"/>
              <a:t>ряда существует </a:t>
            </a:r>
            <a:r>
              <a:rPr lang="ru-RU" dirty="0"/>
              <a:t>некоторая связь. Эта гипотеза позволяет строить прогноз будущих </a:t>
            </a:r>
            <a:r>
              <a:rPr lang="ru-RU" dirty="0" err="1" smtClean="0"/>
              <a:t>зна</a:t>
            </a:r>
            <a:r>
              <a:rPr lang="uk-UA" dirty="0" err="1" smtClean="0"/>
              <a:t>чений</a:t>
            </a:r>
            <a:r>
              <a:rPr lang="uk-UA" dirty="0" smtClean="0"/>
              <a:t> </a:t>
            </a:r>
            <a:r>
              <a:rPr lang="uk-UA" dirty="0"/>
              <a:t>временного </a:t>
            </a:r>
            <a:r>
              <a:rPr lang="uk-UA" dirty="0" err="1"/>
              <a:t>ряда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877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AC33DF-8986-4206-A957-90880BE593D7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921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62400" y="508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Корреляционный анализ</a:t>
            </a:r>
          </a:p>
        </p:txBody>
      </p:sp>
      <p:sp>
        <p:nvSpPr>
          <p:cNvPr id="9219" name="Объект 2"/>
          <p:cNvSpPr>
            <a:spLocks noGrp="1"/>
          </p:cNvSpPr>
          <p:nvPr>
            <p:ph idx="4294967295"/>
          </p:nvPr>
        </p:nvSpPr>
        <p:spPr>
          <a:xfrm>
            <a:off x="3289300" y="1155700"/>
            <a:ext cx="8902700" cy="244792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  <a:defRPr/>
            </a:pPr>
            <a:r>
              <a:rPr lang="ru-RU" sz="2000" dirty="0" smtClean="0"/>
              <a:t>В теории вероятности:</a:t>
            </a:r>
          </a:p>
          <a:p>
            <a:pPr lvl="1">
              <a:defRPr/>
            </a:pPr>
            <a:endParaRPr lang="ru-RU" sz="2000" dirty="0" smtClean="0"/>
          </a:p>
          <a:p>
            <a:pPr marL="0" indent="0">
              <a:buNone/>
              <a:defRPr/>
            </a:pPr>
            <a:r>
              <a:rPr lang="ru-RU" sz="2000" dirty="0" smtClean="0"/>
              <a:t>Если для суммы двух случайных величин окажется, что </a:t>
            </a:r>
          </a:p>
          <a:p>
            <a:pPr>
              <a:defRPr/>
            </a:pPr>
            <a:endParaRPr lang="ru-RU" sz="2000" dirty="0" smtClean="0"/>
          </a:p>
          <a:p>
            <a:pPr marL="0" indent="0">
              <a:buNone/>
              <a:defRPr/>
            </a:pPr>
            <a:r>
              <a:rPr lang="ru-RU" sz="2000" dirty="0" smtClean="0"/>
              <a:t>то это является признаком </a:t>
            </a:r>
            <a:r>
              <a:rPr lang="ru-RU" sz="2000" i="1" dirty="0" smtClean="0"/>
              <a:t>корреляционной зависимости</a:t>
            </a:r>
            <a:r>
              <a:rPr lang="ru-RU" sz="2000" dirty="0" smtClean="0"/>
              <a:t> между ними. </a:t>
            </a:r>
          </a:p>
          <a:p>
            <a:pPr>
              <a:defRPr/>
            </a:pPr>
            <a:endParaRPr lang="ru-RU" sz="2000" dirty="0" smtClean="0"/>
          </a:p>
          <a:p>
            <a:pPr>
              <a:defRPr/>
            </a:pPr>
            <a:endParaRPr lang="ru-RU" sz="2000" dirty="0" smtClean="0"/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9222" name="Объект 5"/>
          <p:cNvGraphicFramePr>
            <a:graphicFrameLocks noChangeAspect="1"/>
          </p:cNvGraphicFramePr>
          <p:nvPr/>
        </p:nvGraphicFramePr>
        <p:xfrm>
          <a:off x="5170489" y="2243235"/>
          <a:ext cx="26685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Формула" r:id="rId3" imgW="1485900" imgH="203200" progId="Equation.3">
                  <p:embed/>
                </p:oleObj>
              </mc:Choice>
              <mc:Fallback>
                <p:oleObj name="Формула" r:id="rId3" imgW="1485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9" y="2243235"/>
                        <a:ext cx="2668587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Объект 6"/>
          <p:cNvGraphicFramePr>
            <a:graphicFrameLocks noChangeAspect="1"/>
          </p:cNvGraphicFramePr>
          <p:nvPr/>
        </p:nvGraphicFramePr>
        <p:xfrm>
          <a:off x="4882549" y="3057139"/>
          <a:ext cx="2668588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Формула" r:id="rId5" imgW="1485900" imgH="203200" progId="Equation.3">
                  <p:embed/>
                </p:oleObj>
              </mc:Choice>
              <mc:Fallback>
                <p:oleObj name="Формула" r:id="rId5" imgW="14859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2549" y="3057139"/>
                        <a:ext cx="2668588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69181" y="3792384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/>
              <a:t>Если</a:t>
            </a:r>
            <a:endParaRPr lang="uk-UA" sz="2000" dirty="0"/>
          </a:p>
        </p:txBody>
      </p:sp>
      <p:grpSp>
        <p:nvGrpSpPr>
          <p:cNvPr id="8" name="Группа 7"/>
          <p:cNvGrpSpPr/>
          <p:nvPr/>
        </p:nvGrpSpPr>
        <p:grpSpPr>
          <a:xfrm>
            <a:off x="2533277" y="3690117"/>
            <a:ext cx="6768752" cy="927079"/>
            <a:chOff x="971600" y="4319789"/>
            <a:chExt cx="6768752" cy="927079"/>
          </a:xfrm>
        </p:grpSpPr>
        <p:pic>
          <p:nvPicPr>
            <p:cNvPr id="4" name="Рисунок 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2462" y="4338320"/>
              <a:ext cx="2394026" cy="431277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3769" y="4319789"/>
              <a:ext cx="2390978" cy="431277"/>
            </a:xfrm>
            <a:prstGeom prst="rect">
              <a:avLst/>
            </a:prstGeom>
          </p:spPr>
        </p:pic>
        <p:sp>
          <p:nvSpPr>
            <p:cNvPr id="6" name="Правая фигурная скобка 5"/>
            <p:cNvSpPr/>
            <p:nvPr/>
          </p:nvSpPr>
          <p:spPr>
            <a:xfrm rot="5400000">
              <a:off x="3995936" y="1502452"/>
              <a:ext cx="720080" cy="6768752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uk-UA"/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0007" y="4774717"/>
            <a:ext cx="7271987" cy="397750"/>
          </a:xfrm>
          <a:prstGeom prst="rect">
            <a:avLst/>
          </a:prstGeom>
        </p:spPr>
      </p:pic>
      <p:graphicFrame>
        <p:nvGraphicFramePr>
          <p:cNvPr id="15" name="Объект 14"/>
          <p:cNvGraphicFramePr>
            <a:graphicFrameLocks noChangeAspect="1"/>
          </p:cNvGraphicFramePr>
          <p:nvPr/>
        </p:nvGraphicFramePr>
        <p:xfrm>
          <a:off x="2582701" y="5329989"/>
          <a:ext cx="2622550" cy="4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r:id="rId10" imgW="1790700" imgH="304800" progId="Equation.DSMT4">
                  <p:embed/>
                </p:oleObj>
              </mc:Choice>
              <mc:Fallback>
                <p:oleObj r:id="rId10" imgW="17907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701" y="5329989"/>
                        <a:ext cx="2622550" cy="4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669181" y="5329988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err="1"/>
              <a:t>Если</a:t>
            </a:r>
            <a:endParaRPr lang="uk-UA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504782" y="5345377"/>
            <a:ext cx="3516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наличие зависимости между x и y</a:t>
            </a:r>
          </a:p>
        </p:txBody>
      </p:sp>
      <p:sp>
        <p:nvSpPr>
          <p:cNvPr id="10" name="Стрелка вправо 9"/>
          <p:cNvSpPr/>
          <p:nvPr/>
        </p:nvSpPr>
        <p:spPr>
          <a:xfrm>
            <a:off x="5447929" y="5467806"/>
            <a:ext cx="829841" cy="262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3277" y="5887619"/>
            <a:ext cx="2878622" cy="382510"/>
          </a:xfrm>
          <a:prstGeom prst="rect">
            <a:avLst/>
          </a:prstGeom>
        </p:spPr>
      </p:pic>
      <p:sp>
        <p:nvSpPr>
          <p:cNvPr id="20" name="Стрелка вправо 19"/>
          <p:cNvSpPr/>
          <p:nvPr/>
        </p:nvSpPr>
        <p:spPr>
          <a:xfrm>
            <a:off x="5507675" y="5894291"/>
            <a:ext cx="829841" cy="2622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/>
          </a:p>
        </p:txBody>
      </p:sp>
      <p:sp>
        <p:nvSpPr>
          <p:cNvPr id="12" name="Прямоугольник 11"/>
          <p:cNvSpPr/>
          <p:nvPr/>
        </p:nvSpPr>
        <p:spPr>
          <a:xfrm>
            <a:off x="6529168" y="5840771"/>
            <a:ext cx="30281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err="1"/>
              <a:t>Независимость</a:t>
            </a:r>
            <a:r>
              <a:rPr lang="uk-UA" dirty="0"/>
              <a:t> </a:t>
            </a:r>
            <a:r>
              <a:rPr lang="en-GB" dirty="0"/>
              <a:t>x </a:t>
            </a:r>
            <a:r>
              <a:rPr lang="uk-UA" dirty="0"/>
              <a:t>и </a:t>
            </a:r>
            <a:r>
              <a:rPr lang="en-GB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36337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8EE85A-2DA9-4E94-971B-E778FD2A21C5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12290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048750" cy="10080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Корреляция, </a:t>
            </a:r>
            <a:r>
              <a:rPr lang="ru-RU" sz="3600" b="1" dirty="0">
                <a:solidFill>
                  <a:schemeClr val="bg1"/>
                </a:solidFill>
                <a:latin typeface="+mn-lt"/>
              </a:rPr>
              <a:t>Корреляционный момент, Коэффициент корреляции </a:t>
            </a:r>
            <a:endParaRPr lang="ru-RU" altLang="ru-RU" sz="3600" b="1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2294" name="Объект 9"/>
          <p:cNvGraphicFramePr>
            <a:graphicFrameLocks noChangeAspect="1"/>
          </p:cNvGraphicFramePr>
          <p:nvPr/>
        </p:nvGraphicFramePr>
        <p:xfrm>
          <a:off x="4439816" y="2441329"/>
          <a:ext cx="2622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3" imgW="1790700" imgH="304800" progId="Equation.DSMT4">
                  <p:embed/>
                </p:oleObj>
              </mc:Choice>
              <mc:Fallback>
                <p:oleObj r:id="rId3" imgW="17907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816" y="2441329"/>
                        <a:ext cx="26225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12297" name="Объект 5"/>
          <p:cNvGraphicFramePr>
            <a:graphicFrameLocks noChangeAspect="1"/>
          </p:cNvGraphicFramePr>
          <p:nvPr/>
        </p:nvGraphicFramePr>
        <p:xfrm>
          <a:off x="4274716" y="3661321"/>
          <a:ext cx="29527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5" imgW="1943100" imgH="304800" progId="Equation.DSMT4">
                  <p:embed/>
                </p:oleObj>
              </mc:Choice>
              <mc:Fallback>
                <p:oleObj r:id="rId5" imgW="19431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4716" y="3661321"/>
                        <a:ext cx="29527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608351" y="1188681"/>
            <a:ext cx="899688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Корреляция связь, которая вызывает отличие дисперсии суммы от суммы дисперсии</a:t>
            </a:r>
          </a:p>
          <a:p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624272" y="1921421"/>
            <a:ext cx="6912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400" b="1" dirty="0"/>
              <a:t>Необходимое и достаточное условие корреляции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629967" y="3065479"/>
            <a:ext cx="89536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00CC"/>
                </a:solidFill>
              </a:rPr>
              <a:t>Корреляционный момент - </a:t>
            </a:r>
            <a:r>
              <a:rPr lang="ru-RU" sz="2000" dirty="0"/>
              <a:t>размерная величина, количественно зависящая от рассеяния аргументов. </a:t>
            </a:r>
          </a:p>
          <a:p>
            <a:endParaRPr lang="ru-RU" sz="2000" dirty="0">
              <a:solidFill>
                <a:srgbClr val="0000CC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629967" y="4559861"/>
            <a:ext cx="89752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CC"/>
                </a:solidFill>
              </a:rPr>
              <a:t>Коэффициент корреляции - </a:t>
            </a:r>
            <a:r>
              <a:rPr lang="ru-RU" dirty="0"/>
              <a:t>Нормированная безразмерная величина,</a:t>
            </a:r>
            <a:br>
              <a:rPr lang="ru-RU" dirty="0"/>
            </a:br>
            <a:r>
              <a:rPr lang="ru-RU" dirty="0"/>
              <a:t> определяет степень тесноты корреляционной связи между двумя величинами</a:t>
            </a:r>
            <a:endParaRPr lang="ru-RU" dirty="0">
              <a:solidFill>
                <a:srgbClr val="0000CC"/>
              </a:solidFill>
            </a:endParaRPr>
          </a:p>
        </p:txBody>
      </p:sp>
      <p:graphicFrame>
        <p:nvGraphicFramePr>
          <p:cNvPr id="15" name="Объект 4"/>
          <p:cNvGraphicFramePr>
            <a:graphicFrameLocks noChangeAspect="1"/>
          </p:cNvGraphicFramePr>
          <p:nvPr/>
        </p:nvGraphicFramePr>
        <p:xfrm>
          <a:off x="4670798" y="5387254"/>
          <a:ext cx="216058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r:id="rId7" imgW="1651000" imgH="469900" progId="Equation.DSMT4">
                  <p:embed/>
                </p:oleObj>
              </mc:Choice>
              <mc:Fallback>
                <p:oleObj r:id="rId7" imgW="1651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798" y="5387254"/>
                        <a:ext cx="2160587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647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227A85-659D-4697-8BBE-D67131D69625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</p:nvPr>
        </p:nvGraphicFramePr>
        <p:xfrm>
          <a:off x="3155950" y="1341438"/>
          <a:ext cx="9036050" cy="482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339" name="Заголовок 2"/>
          <p:cNvSpPr>
            <a:spLocks noGrp="1"/>
          </p:cNvSpPr>
          <p:nvPr>
            <p:ph type="title" idx="4294967295"/>
          </p:nvPr>
        </p:nvSpPr>
        <p:spPr>
          <a:xfrm>
            <a:off x="0" y="15875"/>
            <a:ext cx="9261475" cy="676275"/>
          </a:xfrm>
          <a:prstGeom prst="rect">
            <a:avLst/>
          </a:prstGeom>
        </p:spPr>
        <p:txBody>
          <a:bodyPr/>
          <a:lstStyle/>
          <a:p>
            <a:pPr marL="109538"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Свойства коэффициента корреляции </a:t>
            </a:r>
          </a:p>
        </p:txBody>
      </p:sp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9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A98D9-96B1-4BCF-A939-1938E239AC72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4294967295"/>
          </p:nvPr>
        </p:nvGraphicFramePr>
        <p:xfrm>
          <a:off x="0" y="1484313"/>
          <a:ext cx="836295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36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8229600" cy="1143000"/>
          </a:xfrm>
          <a:prstGeom prst="rect">
            <a:avLst/>
          </a:prstGeom>
        </p:spPr>
        <p:txBody>
          <a:bodyPr/>
          <a:lstStyle/>
          <a:p>
            <a:pPr marL="342900" indent="-342900"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Сила корреляции</a:t>
            </a:r>
          </a:p>
        </p:txBody>
      </p:sp>
    </p:spTree>
    <p:extLst>
      <p:ext uri="{BB962C8B-B14F-4D97-AF65-F5344CB8AC3E}">
        <p14:creationId xmlns:p14="http://schemas.microsoft.com/office/powerpoint/2010/main" val="238014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54" t="12698" r="8376" b="13956"/>
          <a:stretch>
            <a:fillRect/>
          </a:stretch>
        </p:blipFill>
        <p:spPr bwMode="auto">
          <a:xfrm>
            <a:off x="1784644" y="1196753"/>
            <a:ext cx="5400675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348AC57-1828-4F07-B69C-65B8F2D91FD9}" type="slidenum">
              <a:rPr lang="ru-RU" altLang="ru-RU">
                <a:solidFill>
                  <a:srgbClr val="1D4577"/>
                </a:solidFill>
              </a:rPr>
              <a:pPr/>
              <a:t>19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1741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260350"/>
            <a:ext cx="8229600" cy="5635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Разные виды поля корреляции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4294967295"/>
          </p:nvPr>
        </p:nvSpPr>
        <p:spPr>
          <a:xfrm>
            <a:off x="8915400" y="1700213"/>
            <a:ext cx="3276600" cy="23050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2000" dirty="0"/>
              <a:t>а – сильная положительная линейная корреляция; </a:t>
            </a:r>
          </a:p>
          <a:p>
            <a:pPr marL="0" indent="0">
              <a:buNone/>
              <a:defRPr/>
            </a:pPr>
            <a:r>
              <a:rPr lang="ru-RU" sz="2000" dirty="0"/>
              <a:t>б – слабая отрицательная  корреляция; </a:t>
            </a:r>
          </a:p>
          <a:p>
            <a:pPr marL="0" indent="0">
              <a:buNone/>
              <a:defRPr/>
            </a:pPr>
            <a:r>
              <a:rPr lang="ru-RU" sz="2000" dirty="0"/>
              <a:t>в – сильная нелинейная корреляция; </a:t>
            </a:r>
          </a:p>
          <a:p>
            <a:pPr marL="0" indent="0">
              <a:buNone/>
              <a:defRPr/>
            </a:pPr>
            <a:r>
              <a:rPr lang="ru-RU" sz="2000" dirty="0"/>
              <a:t>г – корреляции 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259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E29C9C-D49A-4E8F-B917-0A1E4126D499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20482" name="Заголовок 2"/>
          <p:cNvSpPr>
            <a:spLocks noGrp="1"/>
          </p:cNvSpPr>
          <p:nvPr>
            <p:ph type="title" idx="4294967295"/>
          </p:nvPr>
        </p:nvSpPr>
        <p:spPr>
          <a:xfrm>
            <a:off x="0" y="5715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Выборочные корреляционный момент и коэффициент корреляции</a:t>
            </a:r>
          </a:p>
        </p:txBody>
      </p:sp>
      <p:graphicFrame>
        <p:nvGraphicFramePr>
          <p:cNvPr id="20495" name="Объект 3"/>
          <p:cNvGraphicFramePr>
            <a:graphicFrameLocks noGrp="1" noChangeAspect="1"/>
          </p:cNvGraphicFramePr>
          <p:nvPr>
            <p:ph idx="4294967295"/>
          </p:nvPr>
        </p:nvGraphicFramePr>
        <p:xfrm>
          <a:off x="9959975" y="2022475"/>
          <a:ext cx="22320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r:id="rId3" imgW="1651000" imgH="469900" progId="Equation.DSMT4">
                  <p:embed/>
                </p:oleObj>
              </mc:Choice>
              <mc:Fallback>
                <p:oleObj r:id="rId3" imgW="1651000" imgH="46990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9975" y="2022475"/>
                        <a:ext cx="223202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0486" name="Object 39"/>
          <p:cNvGraphicFramePr>
            <a:graphicFrameLocks noChangeAspect="1"/>
          </p:cNvGraphicFramePr>
          <p:nvPr/>
        </p:nvGraphicFramePr>
        <p:xfrm>
          <a:off x="3929438" y="4719923"/>
          <a:ext cx="10080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Формула" r:id="rId5" imgW="723586" imgH="431613" progId="Equation.3">
                  <p:embed/>
                </p:oleObj>
              </mc:Choice>
              <mc:Fallback>
                <p:oleObj name="Формула" r:id="rId5" imgW="723586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438" y="4719923"/>
                        <a:ext cx="10080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0488" name="Object 40"/>
          <p:cNvGraphicFramePr>
            <a:graphicFrameLocks noChangeAspect="1"/>
          </p:cNvGraphicFramePr>
          <p:nvPr/>
        </p:nvGraphicFramePr>
        <p:xfrm>
          <a:off x="4072488" y="5529810"/>
          <a:ext cx="100806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Формула" r:id="rId7" imgW="736600" imgH="431800" progId="Equation.3">
                  <p:embed/>
                </p:oleObj>
              </mc:Choice>
              <mc:Fallback>
                <p:oleObj name="Формула" r:id="rId7" imgW="736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2488" y="5529810"/>
                        <a:ext cx="1008063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sp>
        <p:nvSpPr>
          <p:cNvPr id="20490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0491" name="Object 42"/>
          <p:cNvGraphicFramePr>
            <a:graphicFrameLocks noChangeAspect="1"/>
          </p:cNvGraphicFramePr>
          <p:nvPr/>
        </p:nvGraphicFramePr>
        <p:xfrm>
          <a:off x="5822232" y="4697139"/>
          <a:ext cx="1881188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Формула" r:id="rId9" imgW="1397000" imgH="431800" progId="Equation.3">
                  <p:embed/>
                </p:oleObj>
              </mc:Choice>
              <mc:Fallback>
                <p:oleObj name="Формула" r:id="rId9" imgW="1397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232" y="4697139"/>
                        <a:ext cx="1881188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38"/>
          <p:cNvGraphicFramePr>
            <a:graphicFrameLocks noChangeAspect="1"/>
          </p:cNvGraphicFramePr>
          <p:nvPr/>
        </p:nvGraphicFramePr>
        <p:xfrm>
          <a:off x="5822232" y="1120736"/>
          <a:ext cx="2087562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Формула" r:id="rId11" imgW="1727200" imgH="660400" progId="Equation.3">
                  <p:embed/>
                </p:oleObj>
              </mc:Choice>
              <mc:Fallback>
                <p:oleObj name="Формула" r:id="rId11" imgW="1727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232" y="1120736"/>
                        <a:ext cx="2087562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37"/>
          <p:cNvGraphicFramePr>
            <a:graphicFrameLocks noChangeAspect="1"/>
          </p:cNvGraphicFramePr>
          <p:nvPr/>
        </p:nvGraphicFramePr>
        <p:xfrm>
          <a:off x="6093544" y="2781147"/>
          <a:ext cx="24479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Формула" r:id="rId13" imgW="1854200" imgH="431800" progId="Equation.3">
                  <p:embed/>
                </p:oleObj>
              </mc:Choice>
              <mc:Fallback>
                <p:oleObj name="Формула" r:id="rId13" imgW="1854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544" y="2781147"/>
                        <a:ext cx="24479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7" name="Объект 5"/>
          <p:cNvGraphicFramePr>
            <a:graphicFrameLocks noChangeAspect="1"/>
          </p:cNvGraphicFramePr>
          <p:nvPr/>
        </p:nvGraphicFramePr>
        <p:xfrm>
          <a:off x="6005135" y="3856799"/>
          <a:ext cx="26638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r:id="rId15" imgW="1943100" imgH="304800" progId="Equation.DSMT4">
                  <p:embed/>
                </p:oleObj>
              </mc:Choice>
              <mc:Fallback>
                <p:oleObj r:id="rId15" imgW="19431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135" y="3856799"/>
                        <a:ext cx="266382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3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20499" name="Объект 7"/>
          <p:cNvGraphicFramePr>
            <a:graphicFrameLocks noChangeAspect="1"/>
          </p:cNvGraphicFramePr>
          <p:nvPr/>
        </p:nvGraphicFramePr>
        <p:xfrm>
          <a:off x="5853847" y="5495650"/>
          <a:ext cx="18288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r:id="rId17" imgW="1397000" imgH="431800" progId="Equation.DSMT4">
                  <p:embed/>
                </p:oleObj>
              </mc:Choice>
              <mc:Fallback>
                <p:oleObj r:id="rId17" imgW="1397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847" y="5495650"/>
                        <a:ext cx="18288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056056" y="1275984"/>
            <a:ext cx="44948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000" dirty="0"/>
              <a:t>Выборочный коэффициент корреляции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30929" y="2018142"/>
            <a:ext cx="30970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dirty="0" err="1"/>
              <a:t>Коэффициент</a:t>
            </a:r>
            <a:r>
              <a:rPr lang="uk-UA" sz="2000" dirty="0"/>
              <a:t> </a:t>
            </a:r>
            <a:r>
              <a:rPr lang="uk-UA" sz="2000" dirty="0" err="1"/>
              <a:t>корреляции</a:t>
            </a:r>
            <a:r>
              <a:rPr lang="uk-UA" sz="2000" dirty="0"/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219370" y="2982565"/>
            <a:ext cx="44584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dirty="0" err="1"/>
              <a:t>Выборочный</a:t>
            </a:r>
            <a:r>
              <a:rPr lang="uk-UA" sz="2000" dirty="0"/>
              <a:t> </a:t>
            </a:r>
            <a:r>
              <a:rPr lang="uk-UA" sz="2000" dirty="0" err="1"/>
              <a:t>корреляционный</a:t>
            </a:r>
            <a:r>
              <a:rPr lang="uk-UA" sz="2000" dirty="0"/>
              <a:t> момент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292584" y="3896426"/>
            <a:ext cx="3002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dirty="0" err="1"/>
              <a:t>Корреляционный</a:t>
            </a:r>
            <a:r>
              <a:rPr lang="uk-UA" sz="2000" dirty="0"/>
              <a:t> момент</a:t>
            </a:r>
          </a:p>
        </p:txBody>
      </p:sp>
    </p:spTree>
    <p:extLst>
      <p:ext uri="{BB962C8B-B14F-4D97-AF65-F5344CB8AC3E}">
        <p14:creationId xmlns:p14="http://schemas.microsoft.com/office/powerpoint/2010/main" val="120552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5E847A-72E3-487F-99B9-050FAF277B07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21506" name="Объект 1"/>
          <p:cNvSpPr>
            <a:spLocks noGrp="1"/>
          </p:cNvSpPr>
          <p:nvPr>
            <p:ph idx="4294967295"/>
          </p:nvPr>
        </p:nvSpPr>
        <p:spPr>
          <a:xfrm>
            <a:off x="0" y="1246188"/>
            <a:ext cx="8229600" cy="66992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109538" indent="0">
              <a:buNone/>
            </a:pPr>
            <a:r>
              <a:rPr lang="ru-RU" altLang="ru-RU" dirty="0" smtClean="0"/>
              <a:t>Для практических вычислений удобнее пользоваться следующими формулами</a:t>
            </a:r>
          </a:p>
        </p:txBody>
      </p:sp>
      <p:sp>
        <p:nvSpPr>
          <p:cNvPr id="21508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1509" name="Object 19"/>
          <p:cNvGraphicFramePr>
            <a:graphicFrameLocks noChangeAspect="1"/>
          </p:cNvGraphicFramePr>
          <p:nvPr/>
        </p:nvGraphicFramePr>
        <p:xfrm>
          <a:off x="3071664" y="1929576"/>
          <a:ext cx="5688632" cy="1067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Формула" r:id="rId3" imgW="2946400" imgH="685800" progId="Equation.3">
                  <p:embed/>
                </p:oleObj>
              </mc:Choice>
              <mc:Fallback>
                <p:oleObj name="Формула" r:id="rId3" imgW="29464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1929576"/>
                        <a:ext cx="5688632" cy="1067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1511" name="Object 20"/>
          <p:cNvGraphicFramePr>
            <a:graphicFrameLocks noChangeAspect="1"/>
          </p:cNvGraphicFramePr>
          <p:nvPr/>
        </p:nvGraphicFramePr>
        <p:xfrm>
          <a:off x="3647729" y="3212976"/>
          <a:ext cx="411162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Формула" r:id="rId5" imgW="2286000" imgH="749300" progId="Equation.3">
                  <p:embed/>
                </p:oleObj>
              </mc:Choice>
              <mc:Fallback>
                <p:oleObj name="Формула" r:id="rId5" imgW="2286000" imgH="74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9" y="3212976"/>
                        <a:ext cx="4111625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1513" name="Object 21"/>
          <p:cNvGraphicFramePr>
            <a:graphicFrameLocks noChangeAspect="1"/>
          </p:cNvGraphicFramePr>
          <p:nvPr/>
        </p:nvGraphicFramePr>
        <p:xfrm>
          <a:off x="3647728" y="4768850"/>
          <a:ext cx="4248472" cy="1211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Формула" r:id="rId7" imgW="2336800" imgH="749300" progId="Equation.3">
                  <p:embed/>
                </p:oleObj>
              </mc:Choice>
              <mc:Fallback>
                <p:oleObj name="Формула" r:id="rId7" imgW="2336800" imgH="749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4768850"/>
                        <a:ext cx="4248472" cy="1211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60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F268E3-E729-49E1-9CAE-2206307E6425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4294967295"/>
          </p:nvPr>
        </p:nvGraphicFramePr>
        <p:xfrm>
          <a:off x="0" y="1341438"/>
          <a:ext cx="8778875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Заголовок 2"/>
          <p:cNvSpPr>
            <a:spLocks noGrp="1"/>
          </p:cNvSpPr>
          <p:nvPr>
            <p:ph type="title" idx="4294967295"/>
          </p:nvPr>
        </p:nvSpPr>
        <p:spPr>
          <a:xfrm>
            <a:off x="3962400" y="-12700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1" algn="ctr">
              <a:defRPr/>
            </a:pPr>
            <a:r>
              <a:rPr lang="ru-RU" sz="3500" b="1" kern="1200" dirty="0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n-lt"/>
                <a:ea typeface="+mj-ea"/>
                <a:cs typeface="+mj-cs"/>
              </a:rPr>
              <a:t>Проверка гипотезы о значимости выборочного коэффициента корреляции</a:t>
            </a:r>
            <a:endParaRPr lang="ru-RU" sz="35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22534" name="Объект 10"/>
          <p:cNvGraphicFramePr>
            <a:graphicFrameLocks noChangeAspect="1"/>
          </p:cNvGraphicFramePr>
          <p:nvPr/>
        </p:nvGraphicFramePr>
        <p:xfrm>
          <a:off x="8472265" y="3610063"/>
          <a:ext cx="9366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r:id="rId8" imgW="647700" imgH="228600" progId="Equation.DSMT4">
                  <p:embed/>
                </p:oleObj>
              </mc:Choice>
              <mc:Fallback>
                <p:oleObj r:id="rId8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265" y="3610063"/>
                        <a:ext cx="93662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975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B2E138-62CD-432B-908E-A8E1088055FE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23554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62400" y="188913"/>
            <a:ext cx="8229600" cy="57626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n-US" altLang="ru-RU" sz="3600" b="1" dirty="0">
                <a:solidFill>
                  <a:schemeClr val="bg1"/>
                </a:solidFill>
                <a:latin typeface="+mn-lt"/>
              </a:rPr>
              <a:t>r</a:t>
            </a:r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 - критерий </a:t>
            </a:r>
          </a:p>
        </p:txBody>
      </p:sp>
      <p:graphicFrame>
        <p:nvGraphicFramePr>
          <p:cNvPr id="23557" name="Объект 6"/>
          <p:cNvGraphicFramePr>
            <a:graphicFrameLocks noChangeAspect="1"/>
          </p:cNvGraphicFramePr>
          <p:nvPr/>
        </p:nvGraphicFramePr>
        <p:xfrm>
          <a:off x="5488521" y="2924945"/>
          <a:ext cx="93662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3" imgW="647700" imgH="228600" progId="Equation.DSMT4">
                  <p:embed/>
                </p:oleObj>
              </mc:Choice>
              <mc:Fallback>
                <p:oleObj r:id="rId3" imgW="647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521" y="2924945"/>
                        <a:ext cx="93662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766471" y="1501778"/>
            <a:ext cx="838072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/>
              <a:t>а) По таблицам </a:t>
            </a:r>
            <a:r>
              <a:rPr lang="en-US" sz="2000" i="1" dirty="0"/>
              <a:t>r</a:t>
            </a:r>
            <a:r>
              <a:rPr lang="ru-RU" sz="2000" dirty="0"/>
              <a:t> – распределения определяется граничное значение критерия</a:t>
            </a:r>
            <a:r>
              <a:rPr lang="ru-RU" sz="2000" i="1" dirty="0"/>
              <a:t> </a:t>
            </a:r>
            <a:r>
              <a:rPr lang="en-US" sz="2000" i="1" dirty="0"/>
              <a:t>r</a:t>
            </a:r>
            <a:r>
              <a:rPr lang="ru-RU" sz="2000" i="1" baseline="-25000" dirty="0" err="1"/>
              <a:t>гр</a:t>
            </a:r>
            <a:r>
              <a:rPr lang="ru-RU" sz="2000" dirty="0"/>
              <a:t> по заданному уровню значимости</a:t>
            </a:r>
            <a:r>
              <a:rPr lang="ru-RU" sz="2000" i="1" dirty="0"/>
              <a:t> </a:t>
            </a:r>
            <a:r>
              <a:rPr lang="en-US" sz="2000" i="1" dirty="0"/>
              <a:t>α</a:t>
            </a:r>
            <a:r>
              <a:rPr lang="en-US" sz="2000" dirty="0"/>
              <a:t> </a:t>
            </a:r>
            <a:r>
              <a:rPr lang="ru-RU" sz="2000" dirty="0"/>
              <a:t>и числу степеней свободы </a:t>
            </a:r>
            <a:r>
              <a:rPr lang="en-US" sz="2000" i="1" dirty="0"/>
              <a:t>k</a:t>
            </a:r>
            <a:r>
              <a:rPr lang="ru-RU" sz="2000" i="1" dirty="0"/>
              <a:t> = </a:t>
            </a:r>
            <a:r>
              <a:rPr lang="en-US" sz="2000" i="1" dirty="0"/>
              <a:t>n</a:t>
            </a:r>
            <a:r>
              <a:rPr lang="ru-RU" sz="2000" i="1" dirty="0"/>
              <a:t> – 2</a:t>
            </a:r>
            <a:r>
              <a:rPr lang="ru-RU" sz="200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000" dirty="0"/>
              <a:t>б) Проверяется выполнение условия: /</a:t>
            </a:r>
            <a:r>
              <a:rPr lang="en-US" sz="2000" dirty="0"/>
              <a:t>r</a:t>
            </a:r>
            <a:r>
              <a:rPr lang="ru-RU" sz="2000" dirty="0"/>
              <a:t>/ &lt; </a:t>
            </a:r>
            <a:r>
              <a:rPr lang="en-US" sz="2000" i="1" dirty="0"/>
              <a:t>r</a:t>
            </a:r>
            <a:r>
              <a:rPr lang="ru-RU" sz="2000" i="1" baseline="-25000" dirty="0"/>
              <a:t>гр</a:t>
            </a:r>
            <a:r>
              <a:rPr lang="ru-RU" sz="2000" dirty="0"/>
              <a:t>. </a:t>
            </a:r>
          </a:p>
          <a:p>
            <a:pPr>
              <a:spcAft>
                <a:spcPts val="600"/>
              </a:spcAft>
            </a:pPr>
            <a:r>
              <a:rPr lang="ru-RU" sz="2000" dirty="0"/>
              <a:t>в) Если условие выполняется, то                      принимается и считается, что случайные величины не коррелированы между собой.</a:t>
            </a:r>
          </a:p>
        </p:txBody>
      </p:sp>
    </p:spTree>
    <p:extLst>
      <p:ext uri="{BB962C8B-B14F-4D97-AF65-F5344CB8AC3E}">
        <p14:creationId xmlns:p14="http://schemas.microsoft.com/office/powerpoint/2010/main" val="3041042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4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5E6638-9A46-42C7-B6CA-385F2E786C14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Заголовок 2"/>
          <p:cNvSpPr>
            <a:spLocks noGrp="1"/>
          </p:cNvSpPr>
          <p:nvPr>
            <p:ph type="title" idx="4294967295"/>
          </p:nvPr>
        </p:nvSpPr>
        <p:spPr>
          <a:xfrm>
            <a:off x="0" y="20638"/>
            <a:ext cx="8229600" cy="1143000"/>
          </a:xfrm>
          <a:prstGeom prst="rect">
            <a:avLst/>
          </a:prstGeom>
        </p:spPr>
        <p:txBody>
          <a:bodyPr/>
          <a:lstStyle/>
          <a:p>
            <a:pPr marL="342900" indent="-342900" algn="ctr"/>
            <a:r>
              <a:rPr lang="en-US" altLang="ru-RU" sz="3600" b="1" dirty="0">
                <a:solidFill>
                  <a:schemeClr val="bg1"/>
                </a:solidFill>
                <a:latin typeface="+mn-lt"/>
              </a:rPr>
              <a:t>t </a:t>
            </a:r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- критерий</a:t>
            </a:r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4581" name="Object 13"/>
          <p:cNvGraphicFramePr>
            <a:graphicFrameLocks noChangeAspect="1"/>
          </p:cNvGraphicFramePr>
          <p:nvPr/>
        </p:nvGraphicFramePr>
        <p:xfrm>
          <a:off x="7320137" y="1134045"/>
          <a:ext cx="20113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Формула" r:id="rId3" imgW="1485900" imgH="685800" progId="Equation.3">
                  <p:embed/>
                </p:oleObj>
              </mc:Choice>
              <mc:Fallback>
                <p:oleObj name="Формула" r:id="rId3" imgW="14859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0137" y="1134045"/>
                        <a:ext cx="20113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Lucida Sans Unicode" panose="020B0602030504020204" pitchFamily="34" charset="0"/>
            </a:endParaRPr>
          </a:p>
        </p:txBody>
      </p:sp>
      <p:graphicFrame>
        <p:nvGraphicFramePr>
          <p:cNvPr id="24583" name="Object 14"/>
          <p:cNvGraphicFramePr>
            <a:graphicFrameLocks noChangeAspect="1"/>
          </p:cNvGraphicFramePr>
          <p:nvPr/>
        </p:nvGraphicFramePr>
        <p:xfrm>
          <a:off x="7466186" y="3461582"/>
          <a:ext cx="1719263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Формула" r:id="rId5" imgW="875920" imgH="317362" progId="Equation.3">
                  <p:embed/>
                </p:oleObj>
              </mc:Choice>
              <mc:Fallback>
                <p:oleObj name="Формула" r:id="rId5" imgW="875920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6186" y="3461582"/>
                        <a:ext cx="1719263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981200" y="120976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2000" dirty="0"/>
              <a:t>а) вычисляется наблюдаемое значение критерия </a:t>
            </a:r>
            <a:r>
              <a:rPr lang="ru-RU" sz="2000" i="1" dirty="0"/>
              <a:t> </a:t>
            </a:r>
            <a:endParaRPr lang="ru-RU" sz="2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135560" y="2173606"/>
            <a:ext cx="83529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dirty="0"/>
              <a:t>б) по таблицам </a:t>
            </a:r>
            <a:r>
              <a:rPr lang="en-US" sz="2000" dirty="0"/>
              <a:t>t</a:t>
            </a:r>
            <a:r>
              <a:rPr lang="ru-RU" sz="2000" dirty="0"/>
              <a:t>–распределения (Распределение Стьюдента) находится. граничное значение критерия  по уровню значимости </a:t>
            </a:r>
            <a:r>
              <a:rPr lang="en-US" sz="2000" i="1" dirty="0"/>
              <a:t>α</a:t>
            </a:r>
            <a:r>
              <a:rPr lang="ru-RU" sz="2000" dirty="0"/>
              <a:t> и числу степеней свободы </a:t>
            </a:r>
            <a:r>
              <a:rPr lang="en-US" sz="2000" i="1" dirty="0"/>
              <a:t>k</a:t>
            </a:r>
            <a:r>
              <a:rPr lang="ru-RU" sz="2000" i="1" dirty="0"/>
              <a:t> = </a:t>
            </a:r>
            <a:r>
              <a:rPr lang="en-US" sz="2000" i="1" dirty="0"/>
              <a:t>n</a:t>
            </a:r>
            <a:r>
              <a:rPr lang="ru-RU" sz="2000" i="1" dirty="0"/>
              <a:t> – 2</a:t>
            </a:r>
            <a:r>
              <a:rPr lang="ru-RU" sz="2000"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135561" y="3593622"/>
            <a:ext cx="42727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000" dirty="0"/>
              <a:t>в) проверяется выполнение условия 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135560" y="4383902"/>
            <a:ext cx="83529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Если условие выполняется, принимаем нулевую гипотезу: коэффициент корреляции r незначимо отличается от нуля, т.е. между случайными величинами отсутствует корреляционная связь.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320" y="5377452"/>
            <a:ext cx="1223681" cy="43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311F89-923F-4BF9-AEAE-E6AB56D925EF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Заголовок 2"/>
          <p:cNvSpPr>
            <a:spLocks noGrp="1"/>
          </p:cNvSpPr>
          <p:nvPr>
            <p:ph type="title" idx="4294967295"/>
          </p:nvPr>
        </p:nvSpPr>
        <p:spPr>
          <a:xfrm>
            <a:off x="3962400" y="188913"/>
            <a:ext cx="8229600" cy="50323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Регрессионный анализ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847529" y="1282654"/>
            <a:ext cx="291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000" dirty="0"/>
              <a:t>Корреляционный анализ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303912" y="1191006"/>
            <a:ext cx="53013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одновременно оценивает факт случайности или причинности зависимости от фактора</a:t>
            </a:r>
          </a:p>
          <a:p>
            <a:r>
              <a:rPr lang="ru-RU" sz="2000" dirty="0"/>
              <a:t>НО и одновременно степень </a:t>
            </a:r>
            <a:r>
              <a:rPr lang="ru-RU" sz="2000" dirty="0" err="1"/>
              <a:t>неслучайности</a:t>
            </a:r>
            <a:r>
              <a:rPr lang="ru-RU" sz="2000" dirty="0"/>
              <a:t>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847529" y="3429000"/>
            <a:ext cx="26883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dirty="0" err="1"/>
              <a:t>Регрессионный</a:t>
            </a:r>
            <a:r>
              <a:rPr lang="uk-UA" sz="2000" dirty="0"/>
              <a:t> </a:t>
            </a:r>
            <a:r>
              <a:rPr lang="uk-UA" sz="2000" dirty="0" err="1"/>
              <a:t>анализ</a:t>
            </a:r>
            <a:endParaRPr lang="uk-UA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145174" y="3140968"/>
            <a:ext cx="534331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000" dirty="0"/>
              <a:t>является более высокой ступенью анализа</a:t>
            </a:r>
          </a:p>
          <a:p>
            <a:pPr lvl="0"/>
            <a:r>
              <a:rPr lang="ru-RU" sz="2000" dirty="0"/>
              <a:t>позволяет оценить как количественные характеристики степени связи между случайными величинами, так и характер этой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376773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C71303-7F47-42B9-93EB-0E3E8268553D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643480" y="1194813"/>
            <a:ext cx="8961754" cy="707886"/>
            <a:chOff x="119480" y="1194813"/>
            <a:chExt cx="8961754" cy="707886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119480" y="1242497"/>
              <a:ext cx="12697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000" dirty="0"/>
                <a:t>Регрессия</a:t>
              </a:r>
            </a:p>
          </p:txBody>
        </p:sp>
        <p:sp>
          <p:nvSpPr>
            <p:cNvPr id="3" name="Прямоугольник 2"/>
            <p:cNvSpPr/>
            <p:nvPr/>
          </p:nvSpPr>
          <p:spPr>
            <a:xfrm>
              <a:off x="2267744" y="1194813"/>
              <a:ext cx="681349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2000" dirty="0"/>
                <a:t>зависимость среднего значения  величины </a:t>
              </a:r>
              <a:r>
                <a:rPr lang="en-US" sz="2000" dirty="0"/>
                <a:t>y </a:t>
              </a:r>
              <a:r>
                <a:rPr lang="ru-RU" sz="2000" dirty="0"/>
                <a:t>от другой случайной величины х. </a:t>
              </a:r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1540341" y="2060848"/>
            <a:ext cx="6763795" cy="400110"/>
            <a:chOff x="16340" y="2060848"/>
            <a:chExt cx="6763795" cy="400110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16340" y="2060848"/>
              <a:ext cx="2041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000" dirty="0"/>
                <a:t>Линия регрессии</a:t>
              </a: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2339752" y="2060848"/>
              <a:ext cx="444038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sz="2000" dirty="0"/>
                <a:t>кривая, описывающая эту зависимость</a:t>
              </a:r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1643480" y="2608348"/>
            <a:ext cx="9071742" cy="707886"/>
            <a:chOff x="322964" y="2577056"/>
            <a:chExt cx="9071742" cy="707886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322964" y="2694533"/>
              <a:ext cx="939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ru-RU" sz="2000" dirty="0"/>
                <a:t>Задача</a:t>
              </a:r>
              <a:endParaRPr lang="uk-UA" sz="2000" dirty="0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2568754" y="2577056"/>
              <a:ext cx="682595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ru-RU" sz="2000" dirty="0"/>
                <a:t>по парам экспериментальных данных (</a:t>
              </a:r>
              <a:r>
                <a:rPr lang="en-US" sz="2000" dirty="0"/>
                <a:t>x</a:t>
              </a:r>
              <a:r>
                <a:rPr lang="en-US" sz="2000" baseline="-25000" dirty="0"/>
                <a:t>i</a:t>
              </a:r>
              <a:r>
                <a:rPr lang="ru-RU" sz="2000" dirty="0"/>
                <a:t>,</a:t>
              </a:r>
              <a:r>
                <a:rPr lang="en-US" sz="2000" dirty="0" err="1"/>
                <a:t>y</a:t>
              </a:r>
              <a:r>
                <a:rPr lang="en-US" sz="2000" baseline="-25000" dirty="0" err="1"/>
                <a:t>i</a:t>
              </a:r>
              <a:r>
                <a:rPr lang="ru-RU" sz="2000" dirty="0"/>
                <a:t>) найти уравнение приближенной регрессии и оценить погрешность.</a:t>
              </a:r>
            </a:p>
          </p:txBody>
        </p:sp>
      </p:grpSp>
      <p:sp>
        <p:nvSpPr>
          <p:cNvPr id="14" name="Прямоугольник 13"/>
          <p:cNvSpPr/>
          <p:nvPr/>
        </p:nvSpPr>
        <p:spPr>
          <a:xfrm>
            <a:off x="1782833" y="3781466"/>
            <a:ext cx="32162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000" dirty="0"/>
              <a:t>Линия регрессии</a:t>
            </a:r>
            <a:r>
              <a:rPr lang="ru-RU" sz="2000" i="1" dirty="0"/>
              <a:t> у</a:t>
            </a:r>
            <a:r>
              <a:rPr lang="ru-RU" sz="2000" dirty="0"/>
              <a:t> = α + βх. 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1782832" y="4504349"/>
            <a:ext cx="35282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000" dirty="0"/>
              <a:t>Метод наименьших квадратов</a:t>
            </a:r>
          </a:p>
        </p:txBody>
      </p:sp>
      <p:graphicFrame>
        <p:nvGraphicFramePr>
          <p:cNvPr id="18" name="Объект 5"/>
          <p:cNvGraphicFramePr>
            <a:graphicFrameLocks noChangeAspect="1"/>
          </p:cNvGraphicFramePr>
          <p:nvPr/>
        </p:nvGraphicFramePr>
        <p:xfrm>
          <a:off x="5591945" y="4137875"/>
          <a:ext cx="2881313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r:id="rId3" imgW="1714500" imgH="889000" progId="Equation.DSMT4">
                  <p:embed/>
                </p:oleObj>
              </mc:Choice>
              <mc:Fallback>
                <p:oleObj r:id="rId3" imgW="17145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5" y="4137875"/>
                        <a:ext cx="2881313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Заголовок 2"/>
          <p:cNvSpPr txBox="1">
            <a:spLocks/>
          </p:cNvSpPr>
          <p:nvPr/>
        </p:nvSpPr>
        <p:spPr>
          <a:xfrm>
            <a:off x="2070660" y="188640"/>
            <a:ext cx="8229600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600" b="1">
                <a:solidFill>
                  <a:schemeClr val="bg1"/>
                </a:solidFill>
                <a:latin typeface="+mn-lt"/>
              </a:rPr>
              <a:t>Регрессионный анализ</a:t>
            </a:r>
            <a:endParaRPr lang="ru-RU" altLang="ru-RU" sz="3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140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781BD3-AE06-488A-95EE-A77E51B183DF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4294967295"/>
          </p:nvPr>
        </p:nvGraphicFramePr>
        <p:xfrm>
          <a:off x="0" y="1557338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0725" name="Объект 4"/>
          <p:cNvGraphicFramePr>
            <a:graphicFrameLocks noChangeAspect="1"/>
          </p:cNvGraphicFramePr>
          <p:nvPr/>
        </p:nvGraphicFramePr>
        <p:xfrm>
          <a:off x="6888164" y="2781300"/>
          <a:ext cx="2376487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Формула" r:id="rId8" imgW="1574800" imgH="889000" progId="Equation.3">
                  <p:embed/>
                </p:oleObj>
              </mc:Choice>
              <mc:Fallback>
                <p:oleObj name="Формула" r:id="rId8" imgW="1574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2781300"/>
                        <a:ext cx="2376487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Объект 5"/>
          <p:cNvGraphicFramePr>
            <a:graphicFrameLocks noChangeAspect="1"/>
          </p:cNvGraphicFramePr>
          <p:nvPr/>
        </p:nvGraphicFramePr>
        <p:xfrm>
          <a:off x="2424114" y="2781301"/>
          <a:ext cx="2371725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Формула" r:id="rId10" imgW="1180588" imgH="609336" progId="Equation.3">
                  <p:embed/>
                </p:oleObj>
              </mc:Choice>
              <mc:Fallback>
                <p:oleObj name="Формула" r:id="rId10" imgW="1180588" imgH="609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781301"/>
                        <a:ext cx="2371725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Заголовок 2"/>
          <p:cNvSpPr txBox="1">
            <a:spLocks/>
          </p:cNvSpPr>
          <p:nvPr/>
        </p:nvSpPr>
        <p:spPr>
          <a:xfrm>
            <a:off x="2070660" y="260648"/>
            <a:ext cx="8229600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40511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93A7E9-33D3-472E-9C83-3493AF1C9649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sp>
        <p:nvSpPr>
          <p:cNvPr id="31747" name="Объект 2"/>
          <p:cNvSpPr>
            <a:spLocks noGrp="1"/>
          </p:cNvSpPr>
          <p:nvPr>
            <p:ph idx="4294967295"/>
          </p:nvPr>
        </p:nvSpPr>
        <p:spPr>
          <a:xfrm>
            <a:off x="0" y="1935163"/>
            <a:ext cx="9080500" cy="438943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altLang="ru-RU" sz="2000" dirty="0"/>
              <a:t>Преобразовав выражение                          </a:t>
            </a:r>
          </a:p>
          <a:p>
            <a:pPr marL="0" indent="0">
              <a:buNone/>
            </a:pPr>
            <a:r>
              <a:rPr lang="ru-RU" altLang="ru-RU" sz="2000" dirty="0"/>
              <a:t>      </a:t>
            </a:r>
          </a:p>
          <a:p>
            <a:pPr marL="0" indent="0">
              <a:buNone/>
            </a:pPr>
            <a:endParaRPr lang="ru-RU" altLang="ru-RU" sz="2000" dirty="0"/>
          </a:p>
          <a:p>
            <a:pPr marL="0" indent="0">
              <a:buNone/>
            </a:pPr>
            <a:r>
              <a:rPr lang="ru-RU" altLang="ru-RU" sz="2000" dirty="0"/>
              <a:t>получим другое выражение для свободного члена </a:t>
            </a:r>
          </a:p>
          <a:p>
            <a:pPr marL="0" indent="0">
              <a:buNone/>
            </a:pPr>
            <a:endParaRPr lang="ru-RU" altLang="ru-RU" sz="2000" dirty="0"/>
          </a:p>
          <a:p>
            <a:pPr marL="0" indent="0">
              <a:buNone/>
            </a:pPr>
            <a:r>
              <a:rPr lang="ru-RU" altLang="ru-RU" sz="2000" dirty="0"/>
              <a:t> Отсюда уравнение регрессии</a:t>
            </a:r>
          </a:p>
          <a:p>
            <a:pPr marL="0" indent="0">
              <a:buNone/>
            </a:pPr>
            <a:r>
              <a:rPr lang="ru-RU" altLang="ru-RU" sz="2000" dirty="0"/>
              <a:t> </a:t>
            </a:r>
          </a:p>
          <a:p>
            <a:pPr marL="0" indent="0">
              <a:buNone/>
            </a:pPr>
            <a:endParaRPr lang="ru-RU" altLang="ru-RU" sz="2000" dirty="0"/>
          </a:p>
          <a:p>
            <a:pPr marL="0" indent="0">
              <a:buNone/>
            </a:pPr>
            <a:r>
              <a:rPr lang="ru-RU" altLang="ru-RU" sz="2000" dirty="0"/>
              <a:t>           – центр тяжести поля экспериментальных точек</a:t>
            </a:r>
          </a:p>
        </p:txBody>
      </p:sp>
      <p:graphicFrame>
        <p:nvGraphicFramePr>
          <p:cNvPr id="31749" name="Объект 4"/>
          <p:cNvGraphicFramePr>
            <a:graphicFrameLocks noChangeAspect="1"/>
          </p:cNvGraphicFramePr>
          <p:nvPr/>
        </p:nvGraphicFramePr>
        <p:xfrm>
          <a:off x="7283450" y="1574802"/>
          <a:ext cx="18002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Формула" r:id="rId3" imgW="1180588" imgH="609336" progId="Equation.3">
                  <p:embed/>
                </p:oleObj>
              </mc:Choice>
              <mc:Fallback>
                <p:oleObj name="Формула" r:id="rId3" imgW="1180588" imgH="6093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1574802"/>
                        <a:ext cx="18002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1751" name="Объект 6"/>
          <p:cNvGraphicFramePr>
            <a:graphicFrameLocks noChangeAspect="1"/>
          </p:cNvGraphicFramePr>
          <p:nvPr/>
        </p:nvGraphicFramePr>
        <p:xfrm>
          <a:off x="7421562" y="3757176"/>
          <a:ext cx="16621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Формула" r:id="rId5" imgW="723586" imgH="203112" progId="Equation.3">
                  <p:embed/>
                </p:oleObj>
              </mc:Choice>
              <mc:Fallback>
                <p:oleObj name="Формула" r:id="rId5" imgW="72358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1562" y="3757176"/>
                        <a:ext cx="1662113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Объект 8"/>
          <p:cNvGraphicFramePr>
            <a:graphicFrameLocks noChangeAspect="1"/>
          </p:cNvGraphicFramePr>
          <p:nvPr/>
        </p:nvGraphicFramePr>
        <p:xfrm>
          <a:off x="1775521" y="4941169"/>
          <a:ext cx="5032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Формула" r:id="rId7" imgW="279400" imgH="190500" progId="Equation.3">
                  <p:embed/>
                </p:oleObj>
              </mc:Choice>
              <mc:Fallback>
                <p:oleObj name="Формула" r:id="rId7" imgW="2794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4941169"/>
                        <a:ext cx="50323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1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1754" name="Объект 11"/>
          <p:cNvGraphicFramePr>
            <a:graphicFrameLocks noChangeAspect="1"/>
          </p:cNvGraphicFramePr>
          <p:nvPr/>
        </p:nvGraphicFramePr>
        <p:xfrm>
          <a:off x="7535070" y="2966245"/>
          <a:ext cx="12969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r:id="rId9" imgW="723586" imgH="203112" progId="Equation.DSMT4">
                  <p:embed/>
                </p:oleObj>
              </mc:Choice>
              <mc:Fallback>
                <p:oleObj r:id="rId9" imgW="72358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070" y="2966245"/>
                        <a:ext cx="12969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Заголовок 2"/>
          <p:cNvSpPr txBox="1">
            <a:spLocks/>
          </p:cNvSpPr>
          <p:nvPr/>
        </p:nvSpPr>
        <p:spPr>
          <a:xfrm>
            <a:off x="2070660" y="260648"/>
            <a:ext cx="8229600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67473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402451-CFE2-4E6F-A6C8-A2E183857C0A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32773" name="Объект 4"/>
          <p:cNvGraphicFramePr>
            <a:graphicFrameLocks noChangeAspect="1"/>
          </p:cNvGraphicFramePr>
          <p:nvPr/>
        </p:nvGraphicFramePr>
        <p:xfrm>
          <a:off x="1992314" y="1903414"/>
          <a:ext cx="8485187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r:id="rId3" imgW="4267200" imgH="889000" progId="Equation.DSMT4">
                  <p:embed/>
                </p:oleObj>
              </mc:Choice>
              <mc:Fallback>
                <p:oleObj r:id="rId3" imgW="42672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903414"/>
                        <a:ext cx="8485187" cy="174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Объект 5"/>
          <p:cNvGraphicFramePr>
            <a:graphicFrameLocks noChangeAspect="1"/>
          </p:cNvGraphicFramePr>
          <p:nvPr/>
        </p:nvGraphicFramePr>
        <p:xfrm>
          <a:off x="4079876" y="4437064"/>
          <a:ext cx="4264025" cy="172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r:id="rId5" imgW="2159000" imgH="889000" progId="Equation.DSMT4">
                  <p:embed/>
                </p:oleObj>
              </mc:Choice>
              <mc:Fallback>
                <p:oleObj r:id="rId5" imgW="21590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4437064"/>
                        <a:ext cx="4264025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Заголовок 2"/>
          <p:cNvSpPr txBox="1">
            <a:spLocks/>
          </p:cNvSpPr>
          <p:nvPr/>
        </p:nvSpPr>
        <p:spPr>
          <a:xfrm>
            <a:off x="2070660" y="260648"/>
            <a:ext cx="8229600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209540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884222-CD43-4A88-868A-B10E37C93311}" type="slidenum">
              <a:rPr lang="ru-RU" altLang="ru-RU" sz="1200">
                <a:solidFill>
                  <a:srgbClr val="1D4577"/>
                </a:solidFill>
                <a:latin typeface="Calibri" panose="020F050202020403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ru-RU" altLang="ru-RU" sz="1200">
              <a:solidFill>
                <a:srgbClr val="1D4577"/>
              </a:solidFill>
              <a:latin typeface="Calibri" panose="020F0502020204030204" pitchFamily="34" charset="0"/>
            </a:endParaRPr>
          </a:p>
        </p:txBody>
      </p:sp>
      <p:pic>
        <p:nvPicPr>
          <p:cNvPr id="33796" name="Объект 4"/>
          <p:cNvPicPr>
            <a:picLocks noGrp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25538"/>
            <a:ext cx="4105275" cy="2735262"/>
          </a:xfrm>
          <a:prstGeom prst="rect">
            <a:avLst/>
          </a:prstGeom>
        </p:spPr>
      </p:pic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sp>
        <p:nvSpPr>
          <p:cNvPr id="33799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3800" name="Объект 10"/>
          <p:cNvGraphicFramePr>
            <a:graphicFrameLocks noChangeAspect="1"/>
          </p:cNvGraphicFramePr>
          <p:nvPr/>
        </p:nvGraphicFramePr>
        <p:xfrm>
          <a:off x="7087263" y="1341438"/>
          <a:ext cx="2969550" cy="10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r:id="rId4" imgW="1257300" imgH="457200" progId="Equation.DSMT4">
                  <p:embed/>
                </p:oleObj>
              </mc:Choice>
              <mc:Fallback>
                <p:oleObj r:id="rId4" imgW="1257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7263" y="1341438"/>
                        <a:ext cx="2969550" cy="10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3802" name="Объект 12"/>
          <p:cNvGraphicFramePr>
            <a:graphicFrameLocks noChangeAspect="1"/>
          </p:cNvGraphicFramePr>
          <p:nvPr/>
        </p:nvGraphicFramePr>
        <p:xfrm>
          <a:off x="7176120" y="2729767"/>
          <a:ext cx="2274466" cy="480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r:id="rId6" imgW="1168400" imgH="241300" progId="Equation.DSMT4">
                  <p:embed/>
                </p:oleObj>
              </mc:Choice>
              <mc:Fallback>
                <p:oleObj r:id="rId6" imgW="11684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729767"/>
                        <a:ext cx="2274466" cy="480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3804" name="Объект 14"/>
          <p:cNvGraphicFramePr>
            <a:graphicFrameLocks noChangeAspect="1"/>
          </p:cNvGraphicFramePr>
          <p:nvPr/>
        </p:nvGraphicFramePr>
        <p:xfrm>
          <a:off x="2135856" y="3979100"/>
          <a:ext cx="1583881" cy="588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r:id="rId8" imgW="672808" imgH="241195" progId="Equation.DSMT4">
                  <p:embed/>
                </p:oleObj>
              </mc:Choice>
              <mc:Fallback>
                <p:oleObj r:id="rId8" imgW="672808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856" y="3979100"/>
                        <a:ext cx="1583881" cy="588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5" name="Rectangle 1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9BBB5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>
              <a:latin typeface="Calibri" panose="020F0502020204030204" pitchFamily="34" charset="0"/>
            </a:endParaRPr>
          </a:p>
        </p:txBody>
      </p:sp>
      <p:graphicFrame>
        <p:nvGraphicFramePr>
          <p:cNvPr id="33806" name="Объект 16"/>
          <p:cNvGraphicFramePr>
            <a:graphicFrameLocks noChangeAspect="1"/>
          </p:cNvGraphicFramePr>
          <p:nvPr/>
        </p:nvGraphicFramePr>
        <p:xfrm>
          <a:off x="2070660" y="4745099"/>
          <a:ext cx="1937108" cy="57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r:id="rId10" imgW="875920" imgH="253890" progId="Equation.DSMT4">
                  <p:embed/>
                </p:oleObj>
              </mc:Choice>
              <mc:Fallback>
                <p:oleObj r:id="rId10" imgW="875920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660" y="4745099"/>
                        <a:ext cx="1937108" cy="57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4490772" y="3761582"/>
            <a:ext cx="6192837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000" dirty="0">
                <a:solidFill>
                  <a:srgbClr val="FF0000"/>
                </a:solidFill>
                <a:cs typeface="Arial" charset="0"/>
              </a:rPr>
              <a:t>Следствие:</a:t>
            </a:r>
            <a:r>
              <a:rPr lang="ru-RU" sz="2000" dirty="0">
                <a:cs typeface="Arial" charset="0"/>
              </a:rPr>
              <a:t> </a:t>
            </a:r>
          </a:p>
          <a:p>
            <a:pPr eaLnBrk="1" hangingPunct="1">
              <a:defRPr/>
            </a:pPr>
            <a:r>
              <a:rPr lang="ru-RU" sz="2000" dirty="0">
                <a:cs typeface="Arial" charset="0"/>
              </a:rPr>
              <a:t>линии регрессии </a:t>
            </a:r>
            <a:r>
              <a:rPr lang="ru-RU" sz="2000" i="1" dirty="0">
                <a:cs typeface="Arial" charset="0"/>
              </a:rPr>
              <a:t>у</a:t>
            </a:r>
            <a:r>
              <a:rPr lang="ru-RU" sz="2000" dirty="0">
                <a:cs typeface="Arial" charset="0"/>
              </a:rPr>
              <a:t> по</a:t>
            </a:r>
            <a:r>
              <a:rPr lang="ru-RU" sz="2000" i="1" dirty="0">
                <a:cs typeface="Arial" charset="0"/>
              </a:rPr>
              <a:t> х</a:t>
            </a:r>
            <a:r>
              <a:rPr lang="ru-RU" sz="2000" dirty="0">
                <a:cs typeface="Arial" charset="0"/>
              </a:rPr>
              <a:t> и</a:t>
            </a:r>
            <a:r>
              <a:rPr lang="ru-RU" sz="2000" i="1" dirty="0">
                <a:cs typeface="Arial" charset="0"/>
              </a:rPr>
              <a:t> х</a:t>
            </a:r>
            <a:r>
              <a:rPr lang="ru-RU" sz="2000" dirty="0">
                <a:cs typeface="Arial" charset="0"/>
              </a:rPr>
              <a:t> по</a:t>
            </a:r>
            <a:r>
              <a:rPr lang="ru-RU" sz="2000" i="1" dirty="0">
                <a:cs typeface="Arial" charset="0"/>
              </a:rPr>
              <a:t> у</a:t>
            </a:r>
            <a:r>
              <a:rPr lang="ru-RU" sz="2000" dirty="0">
                <a:cs typeface="Arial" charset="0"/>
              </a:rPr>
              <a:t> не совпадают: </a:t>
            </a:r>
          </a:p>
          <a:p>
            <a:pPr eaLnBrk="1" hangingPunct="1">
              <a:defRPr/>
            </a:pPr>
            <a:endParaRPr lang="ru-RU" sz="2000" dirty="0">
              <a:cs typeface="Arial" charset="0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ru-RU" sz="2000" dirty="0">
                <a:cs typeface="Arial" charset="0"/>
              </a:rPr>
              <a:t>первая проходит более полого</a:t>
            </a:r>
            <a:r>
              <a:rPr lang="ru-RU" sz="2000" i="1" dirty="0">
                <a:cs typeface="Arial" charset="0"/>
              </a:rPr>
              <a:t>,</a:t>
            </a:r>
            <a:r>
              <a:rPr lang="ru-RU" sz="2000" dirty="0">
                <a:cs typeface="Arial" charset="0"/>
              </a:rPr>
              <a:t> 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ru-RU" sz="2000" dirty="0">
                <a:cs typeface="Arial" charset="0"/>
              </a:rPr>
              <a:t>вторая – более круто</a:t>
            </a:r>
          </a:p>
        </p:txBody>
      </p:sp>
      <p:sp>
        <p:nvSpPr>
          <p:cNvPr id="16" name="Заголовок 2"/>
          <p:cNvSpPr txBox="1">
            <a:spLocks/>
          </p:cNvSpPr>
          <p:nvPr/>
        </p:nvSpPr>
        <p:spPr>
          <a:xfrm>
            <a:off x="2070660" y="260648"/>
            <a:ext cx="8229600" cy="504056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3600" b="1" dirty="0">
                <a:solidFill>
                  <a:schemeClr val="bg1"/>
                </a:solidFill>
                <a:latin typeface="+mn-lt"/>
              </a:rPr>
              <a:t>Регрессионный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76446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992FD6E6-B23F-4EF8-B9F0-198E9D6B6C51}" type="slidenum">
              <a:rPr lang="ru-RU" altLang="ru-RU">
                <a:solidFill>
                  <a:srgbClr val="1D4577"/>
                </a:solidFill>
              </a:rPr>
              <a:pPr/>
              <a:t>31</a:t>
            </a:fld>
            <a:endParaRPr lang="ru-RU" altLang="ru-RU">
              <a:solidFill>
                <a:srgbClr val="1D4577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4294967295"/>
          </p:nvPr>
        </p:nvGraphicFramePr>
        <p:xfrm>
          <a:off x="0" y="1052513"/>
          <a:ext cx="8229600" cy="336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4821" name="Рисунок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4279900"/>
            <a:ext cx="3436938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Рисунок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4687889"/>
            <a:ext cx="3195638" cy="203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1585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43E8B9E-A7F9-459E-B3B7-26AAFC7A3BD8}" type="slidenum">
              <a:rPr lang="ru-RU" altLang="ru-RU">
                <a:solidFill>
                  <a:srgbClr val="1D4577"/>
                </a:solidFill>
              </a:rPr>
              <a:pPr/>
              <a:t>32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3584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altLang="ru-RU" sz="4500" dirty="0">
                <a:solidFill>
                  <a:schemeClr val="bg1"/>
                </a:solidFill>
              </a:rPr>
              <a:t>Этапы регрессионного анализа 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4294967295"/>
          </p:nvPr>
        </p:nvGraphicFramePr>
        <p:xfrm>
          <a:off x="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8266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215670E-9ABA-44BB-9BDE-D8C6B25DA8D4}" type="slidenum">
              <a:rPr lang="ru-RU" altLang="ru-RU">
                <a:solidFill>
                  <a:srgbClr val="1D4577"/>
                </a:solidFill>
              </a:rPr>
              <a:pPr/>
              <a:t>33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36866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altLang="ru-RU" dirty="0" smtClean="0">
                <a:solidFill>
                  <a:schemeClr val="bg1"/>
                </a:solidFill>
              </a:rPr>
              <a:t>Виды уравнения регрессии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4294967295"/>
          </p:nvPr>
        </p:nvGraphicFramePr>
        <p:xfrm>
          <a:off x="0" y="2205038"/>
          <a:ext cx="8229600" cy="3509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0077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189" y="3086101"/>
            <a:ext cx="3482975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3B9CAD2-933B-440A-BF7C-7DE012B99138}" type="slidenum">
              <a:rPr lang="ru-RU" altLang="ru-RU">
                <a:solidFill>
                  <a:srgbClr val="1D4577"/>
                </a:solidFill>
              </a:rPr>
              <a:pPr/>
              <a:t>34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37891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62400" y="11588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altLang="ru-RU" dirty="0" smtClean="0">
                <a:solidFill>
                  <a:schemeClr val="bg1"/>
                </a:solidFill>
              </a:rPr>
              <a:t>Линейная регрессия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4294967295"/>
          </p:nvPr>
        </p:nvGraphicFramePr>
        <p:xfrm>
          <a:off x="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7894" name="Объект 6"/>
          <p:cNvGraphicFramePr>
            <a:graphicFrameLocks noChangeAspect="1"/>
          </p:cNvGraphicFramePr>
          <p:nvPr/>
        </p:nvGraphicFramePr>
        <p:xfrm>
          <a:off x="2927351" y="3898901"/>
          <a:ext cx="20113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Уравнение" r:id="rId9" imgW="876300" imgH="203200" progId="Equation.3">
                  <p:embed/>
                </p:oleObj>
              </mc:Choice>
              <mc:Fallback>
                <p:oleObj name="Уравнение" r:id="rId9" imgW="8763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3898901"/>
                        <a:ext cx="20113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7748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9F53748-05D6-4793-9B9D-60567A24CD0B}" type="slidenum">
              <a:rPr lang="ru-RU" altLang="ru-RU">
                <a:solidFill>
                  <a:srgbClr val="1D4577"/>
                </a:solidFill>
              </a:rPr>
              <a:pPr/>
              <a:t>35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38914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5875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altLang="ru-RU" dirty="0" smtClean="0">
                <a:solidFill>
                  <a:schemeClr val="bg1"/>
                </a:solidFill>
              </a:rPr>
              <a:t>Полиномиальная регрессия</a:t>
            </a:r>
          </a:p>
        </p:txBody>
      </p:sp>
      <p:pic>
        <p:nvPicPr>
          <p:cNvPr id="38915" name="Объект 4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3" t="32391" r="19832" b="8549"/>
          <a:stretch>
            <a:fillRect/>
          </a:stretch>
        </p:blipFill>
        <p:spPr>
          <a:xfrm>
            <a:off x="8788400" y="2349500"/>
            <a:ext cx="3403600" cy="3311525"/>
          </a:xfrm>
          <a:prstGeom prst="rect">
            <a:avLst/>
          </a:prstGeom>
        </p:spPr>
      </p:pic>
      <p:graphicFrame>
        <p:nvGraphicFramePr>
          <p:cNvPr id="38917" name="Объект 5"/>
          <p:cNvGraphicFramePr>
            <a:graphicFrameLocks noChangeAspect="1"/>
          </p:cNvGraphicFramePr>
          <p:nvPr/>
        </p:nvGraphicFramePr>
        <p:xfrm>
          <a:off x="1962150" y="3068638"/>
          <a:ext cx="48450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Уравнение" r:id="rId4" imgW="1803400" imgH="241300" progId="Equation.3">
                  <p:embed/>
                </p:oleObj>
              </mc:Choice>
              <mc:Fallback>
                <p:oleObj name="Уравнение" r:id="rId4" imgW="18034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3068638"/>
                        <a:ext cx="48450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4881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565B033F-9AE8-4932-B2A7-2F1A3ABF3DD7}" type="slidenum">
              <a:rPr lang="ru-RU" altLang="ru-RU">
                <a:solidFill>
                  <a:srgbClr val="1D4577"/>
                </a:solidFill>
              </a:rPr>
              <a:pPr/>
              <a:t>36</a:t>
            </a:fld>
            <a:endParaRPr lang="ru-RU" altLang="ru-RU">
              <a:solidFill>
                <a:srgbClr val="1D4577"/>
              </a:solidFill>
            </a:endParaRPr>
          </a:p>
        </p:txBody>
      </p:sp>
      <p:sp>
        <p:nvSpPr>
          <p:cNvPr id="399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605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altLang="ru-RU" dirty="0" smtClean="0">
                <a:solidFill>
                  <a:schemeClr val="bg1"/>
                </a:solidFill>
              </a:rPr>
              <a:t>Обобщенная регрессия</a:t>
            </a:r>
          </a:p>
        </p:txBody>
      </p:sp>
      <p:graphicFrame>
        <p:nvGraphicFramePr>
          <p:cNvPr id="39940" name="Объект 4"/>
          <p:cNvGraphicFramePr>
            <a:graphicFrameLocks noGrp="1" noChangeAspect="1"/>
          </p:cNvGraphicFramePr>
          <p:nvPr>
            <p:ph idx="4294967295"/>
          </p:nvPr>
        </p:nvGraphicFramePr>
        <p:xfrm>
          <a:off x="0" y="2133600"/>
          <a:ext cx="8229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Уравнение" r:id="rId3" imgW="2286000" imgH="228600" progId="Equation.3">
                  <p:embed/>
                </p:oleObj>
              </mc:Choice>
              <mc:Fallback>
                <p:oleObj name="Уравнение" r:id="rId3" imgW="2286000" imgH="2286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33600"/>
                        <a:ext cx="82296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Объект 1"/>
          <p:cNvGraphicFramePr>
            <a:graphicFrameLocks noChangeAspect="1"/>
          </p:cNvGraphicFramePr>
          <p:nvPr>
            <p:extLst/>
          </p:nvPr>
        </p:nvGraphicFramePr>
        <p:xfrm>
          <a:off x="2640014" y="3068639"/>
          <a:ext cx="3533775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Mathcad" r:id="rId5" imgW="3533775" imgH="3038475" progId="Mathcad">
                  <p:link updateAutomatic="1"/>
                </p:oleObj>
              </mc:Choice>
              <mc:Fallback>
                <p:oleObj name="Mathcad" r:id="rId5" imgW="3533775" imgH="3038475" progId="Mathcad">
                  <p:link updateAutomatic="1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3068639"/>
                        <a:ext cx="3533775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Объект 2"/>
          <p:cNvGraphicFramePr>
            <a:graphicFrameLocks noChangeAspect="1"/>
          </p:cNvGraphicFramePr>
          <p:nvPr>
            <p:extLst/>
          </p:nvPr>
        </p:nvGraphicFramePr>
        <p:xfrm>
          <a:off x="6456364" y="3860801"/>
          <a:ext cx="38449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Mathcad" r:id="rId7" imgW="2352675" imgH="352425" progId="Mathcad">
                  <p:link updateAutomatic="1"/>
                </p:oleObj>
              </mc:Choice>
              <mc:Fallback>
                <p:oleObj name="Mathcad" r:id="rId7" imgW="2352675" imgH="352425" progId="Mathcad">
                  <p:link updateAutomatic="1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3860801"/>
                        <a:ext cx="38449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6144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337130" y="90826"/>
            <a:ext cx="53769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</a:rPr>
              <a:t>Анализ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err="1">
                <a:solidFill>
                  <a:schemeClr val="bg1"/>
                </a:solidFill>
              </a:rPr>
              <a:t>временных</a:t>
            </a:r>
            <a:r>
              <a:rPr lang="uk-UA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err="1">
                <a:solidFill>
                  <a:schemeClr val="bg1"/>
                </a:solidFill>
              </a:rPr>
              <a:t>рядов</a:t>
            </a:r>
            <a:endParaRPr lang="uk-UA" sz="3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159528"/>
            <a:ext cx="119844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b="1" dirty="0">
                <a:solidFill>
                  <a:srgbClr val="0000CC"/>
                </a:solidFill>
              </a:rPr>
              <a:t>Временной ряд </a:t>
            </a:r>
            <a:r>
              <a:rPr lang="ru-RU" sz="2000" dirty="0"/>
              <a:t>– ряд значений каких-либо параметров исследуемого процесса </a:t>
            </a:r>
            <a:r>
              <a:rPr lang="ru-RU" sz="2000" dirty="0" smtClean="0"/>
              <a:t>за равные </a:t>
            </a:r>
            <a:r>
              <a:rPr lang="ru-RU" sz="2000" dirty="0"/>
              <a:t>промежутки времени. </a:t>
            </a:r>
            <a:endParaRPr lang="ru-RU" sz="2000" dirty="0" smtClean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dirty="0" smtClean="0"/>
              <a:t>Временные </a:t>
            </a:r>
            <a:r>
              <a:rPr lang="ru-RU" sz="2000" dirty="0"/>
              <a:t>ряды встречаются в самых разных </a:t>
            </a:r>
            <a:r>
              <a:rPr lang="ru-RU" sz="2000" dirty="0" smtClean="0"/>
              <a:t>областях науки</a:t>
            </a:r>
            <a:r>
              <a:rPr lang="ru-RU" sz="2000" dirty="0"/>
              <a:t>: </a:t>
            </a:r>
            <a:endParaRPr lang="ru-RU" sz="2000" dirty="0" smtClean="0"/>
          </a:p>
          <a:p>
            <a:pPr marL="1257300" lvl="2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sz="2000" dirty="0" smtClean="0"/>
              <a:t>кардиограммы </a:t>
            </a:r>
            <a:r>
              <a:rPr lang="ru-RU" sz="2000" dirty="0"/>
              <a:t>– в медицине, </a:t>
            </a:r>
            <a:endParaRPr lang="ru-RU" sz="2000" dirty="0" smtClean="0"/>
          </a:p>
          <a:p>
            <a:pPr marL="1257300" lvl="2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sz="2000" dirty="0" smtClean="0"/>
              <a:t>графики </a:t>
            </a:r>
            <a:r>
              <a:rPr lang="ru-RU" sz="2000" dirty="0"/>
              <a:t>солнечной активности – в астрономии,</a:t>
            </a:r>
          </a:p>
          <a:p>
            <a:pPr marL="1257300" lvl="2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курсы валют – в экономике. </a:t>
            </a:r>
            <a:endParaRPr lang="ru-RU" sz="2000" dirty="0" smtClean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dirty="0" smtClean="0"/>
              <a:t>Анализ </a:t>
            </a:r>
            <a:r>
              <a:rPr lang="ru-RU" sz="2000" dirty="0"/>
              <a:t>таких рядов является непростой и важной задачей, решение которой дает полезные результаты для той или иной области.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dirty="0"/>
              <a:t>Одной из основных целей анализа временных рядов является </a:t>
            </a:r>
            <a:r>
              <a:rPr lang="ru-RU" sz="2000" b="1" dirty="0" smtClean="0">
                <a:solidFill>
                  <a:srgbClr val="0000CC"/>
                </a:solidFill>
              </a:rPr>
              <a:t>прогнозирование его </a:t>
            </a:r>
            <a:r>
              <a:rPr lang="ru-RU" sz="2000" b="1" dirty="0">
                <a:solidFill>
                  <a:srgbClr val="0000CC"/>
                </a:solidFill>
              </a:rPr>
              <a:t>поведения</a:t>
            </a:r>
            <a:r>
              <a:rPr lang="ru-RU" sz="2000" dirty="0"/>
              <a:t>. </a:t>
            </a:r>
            <a:endParaRPr lang="ru-RU" sz="2000" dirty="0" smtClean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dirty="0" smtClean="0"/>
              <a:t>Прогноз </a:t>
            </a:r>
            <a:r>
              <a:rPr lang="ru-RU" sz="2000" dirty="0"/>
              <a:t>будущих значений на основе прошлых наблюдений </a:t>
            </a:r>
            <a:r>
              <a:rPr lang="ru-RU" sz="2000" dirty="0" smtClean="0"/>
              <a:t>позволяет наиболее </a:t>
            </a:r>
            <a:r>
              <a:rPr lang="ru-RU" sz="2000" dirty="0"/>
              <a:t>эффективно принимать решения в настоящем.</a:t>
            </a:r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ru-RU" sz="2000" dirty="0"/>
              <a:t>При анализе временных рядов принято выделять следующие </a:t>
            </a:r>
            <a:r>
              <a:rPr lang="ru-RU" sz="2000" b="1" dirty="0">
                <a:solidFill>
                  <a:srgbClr val="0000CC"/>
                </a:solidFill>
              </a:rPr>
              <a:t>компоненты</a:t>
            </a:r>
            <a:r>
              <a:rPr lang="ru-RU" sz="2000" dirty="0"/>
              <a:t>:</a:t>
            </a:r>
          </a:p>
          <a:p>
            <a:pPr lvl="2">
              <a:lnSpc>
                <a:spcPct val="90000"/>
              </a:lnSpc>
            </a:pPr>
            <a:r>
              <a:rPr lang="ru-RU" sz="2000" dirty="0"/>
              <a:t>• </a:t>
            </a:r>
            <a:r>
              <a:rPr lang="ru-RU" sz="2000" b="1" dirty="0">
                <a:solidFill>
                  <a:srgbClr val="C00000"/>
                </a:solidFill>
              </a:rPr>
              <a:t>тренд (T) </a:t>
            </a:r>
            <a:r>
              <a:rPr lang="ru-RU" sz="2000" dirty="0"/>
              <a:t>– плавно изменяющаяся компонента, описывающая влияние долговременных факторов</a:t>
            </a:r>
          </a:p>
          <a:p>
            <a:pPr lvl="2">
              <a:lnSpc>
                <a:spcPct val="90000"/>
              </a:lnSpc>
            </a:pPr>
            <a:r>
              <a:rPr lang="ru-RU" sz="2000" dirty="0"/>
              <a:t>• </a:t>
            </a:r>
            <a:r>
              <a:rPr lang="ru-RU" sz="2000" b="1" dirty="0">
                <a:solidFill>
                  <a:srgbClr val="C00000"/>
                </a:solidFill>
              </a:rPr>
              <a:t>сезонная компонента (S) </a:t>
            </a:r>
            <a:r>
              <a:rPr lang="ru-RU" sz="2000" dirty="0">
                <a:solidFill>
                  <a:srgbClr val="C00000"/>
                </a:solidFill>
              </a:rPr>
              <a:t>– </a:t>
            </a:r>
            <a:r>
              <a:rPr lang="ru-RU" sz="2000" dirty="0"/>
              <a:t>циклические колебания изучаемого процесса</a:t>
            </a:r>
          </a:p>
          <a:p>
            <a:pPr lvl="2">
              <a:lnSpc>
                <a:spcPct val="90000"/>
              </a:lnSpc>
            </a:pPr>
            <a:r>
              <a:rPr lang="ru-RU" sz="2000" dirty="0">
                <a:solidFill>
                  <a:srgbClr val="C00000"/>
                </a:solidFill>
              </a:rPr>
              <a:t>• </a:t>
            </a:r>
            <a:r>
              <a:rPr lang="ru-RU" sz="2000" b="1" dirty="0">
                <a:solidFill>
                  <a:srgbClr val="C00000"/>
                </a:solidFill>
              </a:rPr>
              <a:t>случайная составляющая (ε) </a:t>
            </a:r>
            <a:r>
              <a:rPr lang="ru-RU" sz="2000" dirty="0"/>
              <a:t>– компонента, показывающая влияние </a:t>
            </a:r>
            <a:r>
              <a:rPr lang="ru-RU" sz="2000" dirty="0" smtClean="0"/>
              <a:t>случайных факторов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" y="5252737"/>
            <a:ext cx="12191999" cy="16312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0000CC"/>
                </a:solidFill>
              </a:rPr>
              <a:t>Модель </a:t>
            </a:r>
            <a:r>
              <a:rPr lang="ru-RU" sz="2000" b="1" dirty="0">
                <a:solidFill>
                  <a:srgbClr val="0000CC"/>
                </a:solidFill>
              </a:rPr>
              <a:t>временного ряда </a:t>
            </a:r>
            <a:r>
              <a:rPr lang="ru-RU" sz="2000" dirty="0"/>
              <a:t>можно описать </a:t>
            </a:r>
            <a:r>
              <a:rPr lang="ru-RU" sz="2000" dirty="0" smtClean="0"/>
              <a:t>как:</a:t>
            </a:r>
          </a:p>
          <a:p>
            <a:pPr lvl="1"/>
            <a:r>
              <a:rPr lang="ru-RU" sz="2000" dirty="0" smtClean="0"/>
              <a:t> </a:t>
            </a:r>
            <a:r>
              <a:rPr lang="ru-RU" sz="2000" dirty="0"/>
              <a:t>Y = T + S + ε – </a:t>
            </a:r>
            <a:r>
              <a:rPr lang="ru-RU" sz="2000" b="1" dirty="0"/>
              <a:t>аддитивная </a:t>
            </a:r>
            <a:r>
              <a:rPr lang="ru-RU" sz="2000" b="1" dirty="0" smtClean="0"/>
              <a:t>модель,</a:t>
            </a:r>
            <a:endParaRPr lang="ru-RU" sz="2000" dirty="0"/>
          </a:p>
          <a:p>
            <a:pPr lvl="1"/>
            <a:r>
              <a:rPr lang="ru-RU" sz="2000" dirty="0" smtClean="0"/>
              <a:t> Y </a:t>
            </a:r>
            <a:r>
              <a:rPr lang="ru-RU" sz="2000" dirty="0"/>
              <a:t>= T ∗ S ∗ ε – </a:t>
            </a:r>
            <a:r>
              <a:rPr lang="ru-RU" sz="2000" b="1" dirty="0"/>
              <a:t>мультипликативная модель</a:t>
            </a:r>
            <a:r>
              <a:rPr lang="ru-RU" sz="2000" dirty="0"/>
              <a:t>. </a:t>
            </a:r>
            <a:endParaRPr lang="ru-RU" sz="2000" dirty="0" smtClean="0"/>
          </a:p>
          <a:p>
            <a:r>
              <a:rPr lang="ru-RU" sz="2000" dirty="0" smtClean="0"/>
              <a:t>Наиболее </a:t>
            </a:r>
            <a:r>
              <a:rPr lang="ru-RU" sz="2000" dirty="0"/>
              <a:t>распространенной </a:t>
            </a:r>
            <a:r>
              <a:rPr lang="ru-RU" sz="2000" dirty="0" smtClean="0"/>
              <a:t>считается вторая </a:t>
            </a:r>
            <a:r>
              <a:rPr lang="ru-RU" sz="2000" dirty="0"/>
              <a:t>модель, которая, в свою очередь, сводится к первой логарифмированием.</a:t>
            </a:r>
          </a:p>
        </p:txBody>
      </p:sp>
    </p:spTree>
    <p:extLst>
      <p:ext uri="{BB962C8B-B14F-4D97-AF65-F5344CB8AC3E}">
        <p14:creationId xmlns:p14="http://schemas.microsoft.com/office/powerpoint/2010/main" val="543480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19241" y="137719"/>
            <a:ext cx="5551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Модели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временных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рядов</a:t>
            </a:r>
            <a:endParaRPr lang="uk-UA" sz="36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148306" y="1157627"/>
            <a:ext cx="44980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 err="1"/>
              <a:t>Авторегрессионная</a:t>
            </a:r>
            <a:r>
              <a:rPr lang="uk-UA" sz="2400" b="1" dirty="0"/>
              <a:t> </a:t>
            </a:r>
            <a:r>
              <a:rPr lang="uk-UA" sz="2400" b="1" dirty="0" smtClean="0"/>
              <a:t>модель (</a:t>
            </a:r>
            <a:r>
              <a:rPr lang="en-US" sz="2400" b="1" dirty="0" smtClean="0"/>
              <a:t>AR</a:t>
            </a:r>
            <a:r>
              <a:rPr lang="uk-UA" sz="2400" b="1" dirty="0" smtClean="0"/>
              <a:t>)</a:t>
            </a:r>
            <a:endParaRPr lang="uk-UA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1244" y="1638926"/>
            <a:ext cx="117917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такой модели значения временного ряда линейно зависят от предыдущих </a:t>
            </a:r>
            <a:r>
              <a:rPr lang="ru-RU" sz="2000" dirty="0" smtClean="0"/>
              <a:t>значений</a:t>
            </a:r>
            <a:r>
              <a:rPr lang="ru-RU" sz="2000" dirty="0"/>
              <a:t>. </a:t>
            </a:r>
            <a:r>
              <a:rPr lang="ru-RU" sz="2000" dirty="0" err="1"/>
              <a:t>Авторегресионную</a:t>
            </a:r>
            <a:r>
              <a:rPr lang="ru-RU" sz="2000" dirty="0"/>
              <a:t> модель p-</a:t>
            </a:r>
            <a:r>
              <a:rPr lang="ru-RU" sz="2000" dirty="0" err="1"/>
              <a:t>го</a:t>
            </a:r>
            <a:r>
              <a:rPr lang="ru-RU" sz="2000" dirty="0"/>
              <a:t> порядка (AR(p)) можно описать выражением:</a:t>
            </a:r>
            <a:endParaRPr lang="uk-UA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94" y="2488360"/>
            <a:ext cx="2821234" cy="95591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099421" y="2760214"/>
            <a:ext cx="5342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коэффициенты</a:t>
            </a:r>
            <a:r>
              <a:rPr lang="uk-UA" dirty="0"/>
              <a:t> </a:t>
            </a:r>
            <a:r>
              <a:rPr lang="uk-UA" dirty="0" err="1" smtClean="0"/>
              <a:t>авторегрессии</a:t>
            </a:r>
            <a:r>
              <a:rPr lang="uk-UA" dirty="0" smtClean="0"/>
              <a:t>, </a:t>
            </a:r>
            <a:r>
              <a:rPr lang="uk-UA" dirty="0" smtClean="0">
                <a:sym typeface="Symbol" panose="05050102010706020507" pitchFamily="18" charset="2"/>
              </a:rPr>
              <a:t> - </a:t>
            </a:r>
            <a:r>
              <a:rPr lang="uk-UA" dirty="0" err="1"/>
              <a:t>случайная</a:t>
            </a:r>
            <a:r>
              <a:rPr lang="uk-UA" dirty="0"/>
              <a:t> </a:t>
            </a:r>
            <a:r>
              <a:rPr lang="uk-UA" dirty="0" err="1"/>
              <a:t>ошибка</a:t>
            </a:r>
            <a:endParaRPr lang="uk-UA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105" y="2794821"/>
            <a:ext cx="1522800" cy="35616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838481" y="3368157"/>
            <a:ext cx="50293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/>
              <a:t>Модель </a:t>
            </a:r>
            <a:r>
              <a:rPr lang="uk-UA" sz="2400" b="1" dirty="0" err="1"/>
              <a:t>скользящего</a:t>
            </a:r>
            <a:r>
              <a:rPr lang="uk-UA" sz="2400" b="1" dirty="0"/>
              <a:t> </a:t>
            </a:r>
            <a:r>
              <a:rPr lang="uk-UA" sz="2400" b="1" dirty="0" err="1" smtClean="0"/>
              <a:t>среднего</a:t>
            </a:r>
            <a:r>
              <a:rPr lang="en-US" sz="2400" b="1" dirty="0" smtClean="0"/>
              <a:t> (MA)</a:t>
            </a:r>
            <a:endParaRPr lang="uk-UA" sz="2400" b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02153" y="3875484"/>
            <a:ext cx="117699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Обычно используют для моделирования случайных ошибок временных рядов. </a:t>
            </a:r>
            <a:r>
              <a:rPr lang="ru-RU" sz="2000" dirty="0" smtClean="0"/>
              <a:t>Модель </a:t>
            </a:r>
            <a:r>
              <a:rPr lang="ru-RU" sz="2000" dirty="0"/>
              <a:t>скользящего среднего q-</a:t>
            </a:r>
            <a:r>
              <a:rPr lang="ru-RU" sz="2000" dirty="0" err="1"/>
              <a:t>го</a:t>
            </a:r>
            <a:r>
              <a:rPr lang="ru-RU" sz="2000" dirty="0"/>
              <a:t> порядка (MA(q)) имеет вид:</a:t>
            </a:r>
            <a:endParaRPr lang="uk-UA" sz="20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674" y="4518079"/>
            <a:ext cx="2047334" cy="90972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306" y="4823783"/>
            <a:ext cx="1522800" cy="381600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5652083" y="4853524"/>
            <a:ext cx="42877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параметры</a:t>
            </a:r>
            <a:r>
              <a:rPr lang="uk-UA" dirty="0"/>
              <a:t> </a:t>
            </a:r>
            <a:r>
              <a:rPr lang="uk-UA" dirty="0" err="1" smtClean="0"/>
              <a:t>модели</a:t>
            </a:r>
            <a:r>
              <a:rPr lang="uk-UA" dirty="0" smtClean="0"/>
              <a:t>. </a:t>
            </a:r>
            <a:r>
              <a:rPr lang="uk-UA" dirty="0">
                <a:sym typeface="Symbol" panose="05050102010706020507" pitchFamily="18" charset="2"/>
              </a:rPr>
              <a:t> - </a:t>
            </a:r>
            <a:r>
              <a:rPr lang="uk-UA" dirty="0" err="1"/>
              <a:t>случайная</a:t>
            </a:r>
            <a:r>
              <a:rPr lang="uk-UA" dirty="0"/>
              <a:t> </a:t>
            </a:r>
            <a:r>
              <a:rPr lang="uk-UA" dirty="0" err="1"/>
              <a:t>ошибка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66872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24971" y="1227965"/>
            <a:ext cx="76154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/>
              <a:t>Модель </a:t>
            </a:r>
            <a:r>
              <a:rPr lang="uk-UA" sz="2400" b="1" dirty="0" err="1"/>
              <a:t>авторегрессии</a:t>
            </a:r>
            <a:r>
              <a:rPr lang="uk-UA" sz="2400" b="1" dirty="0"/>
              <a:t> – </a:t>
            </a:r>
            <a:r>
              <a:rPr lang="uk-UA" sz="2400" b="1" dirty="0" err="1"/>
              <a:t>скользящего</a:t>
            </a:r>
            <a:r>
              <a:rPr lang="uk-UA" sz="2400" b="1" dirty="0"/>
              <a:t> </a:t>
            </a:r>
            <a:r>
              <a:rPr lang="uk-UA" sz="2400" b="1" dirty="0" err="1" smtClean="0"/>
              <a:t>среднего</a:t>
            </a:r>
            <a:r>
              <a:rPr lang="en-US" sz="2400" b="1" dirty="0" smtClean="0"/>
              <a:t> (ARMA)</a:t>
            </a:r>
            <a:endParaRPr lang="uk-UA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19241" y="137719"/>
            <a:ext cx="5551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Модели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временных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рядов</a:t>
            </a:r>
            <a:endParaRPr lang="uk-UA" sz="36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1323" y="1877089"/>
            <a:ext cx="11054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Модель обобщает две вышеописанные модели. ARMA(p; q) модель выглядит </a:t>
            </a:r>
            <a:r>
              <a:rPr lang="ru-RU" dirty="0" smtClean="0"/>
              <a:t>следующим образом</a:t>
            </a:r>
            <a:r>
              <a:rPr lang="en-US" dirty="0"/>
              <a:t>: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200" y="2433880"/>
            <a:ext cx="3911327" cy="78996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15199" y="3400354"/>
            <a:ext cx="115931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ARMA–модель используется для прогнозирования стационарных временных </a:t>
            </a:r>
            <a:r>
              <a:rPr lang="ru-RU" dirty="0" smtClean="0"/>
              <a:t>рядов</a:t>
            </a:r>
            <a:r>
              <a:rPr lang="ru-RU" dirty="0"/>
              <a:t>. Стационарность – свойство процесса не менять свои характеристики со </a:t>
            </a:r>
            <a:r>
              <a:rPr lang="ru-RU" dirty="0" smtClean="0"/>
              <a:t>временем.</a:t>
            </a:r>
            <a:r>
              <a:rPr lang="en-US" dirty="0" smtClean="0"/>
              <a:t> </a:t>
            </a:r>
            <a:r>
              <a:rPr lang="ru-RU" dirty="0" smtClean="0"/>
              <a:t>На </a:t>
            </a:r>
            <a:r>
              <a:rPr lang="ru-RU" dirty="0"/>
              <a:t>практике далеко не все временные ряды обладают свойством стационарности, </a:t>
            </a:r>
            <a:r>
              <a:rPr lang="ru-RU" dirty="0" smtClean="0"/>
              <a:t>поэтому </a:t>
            </a:r>
            <a:r>
              <a:rPr lang="ru-RU" dirty="0"/>
              <a:t>целесообразно рассмотреть следующую модель, которая может работать и с</a:t>
            </a:r>
          </a:p>
          <a:p>
            <a:r>
              <a:rPr lang="ru-RU" dirty="0"/>
              <a:t>нестационарными временными рядами.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348765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700747" y="1157626"/>
            <a:ext cx="2168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ARIMA </a:t>
            </a:r>
            <a:r>
              <a:rPr lang="uk-UA" sz="2400" b="1" dirty="0"/>
              <a:t>модель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219241" y="137719"/>
            <a:ext cx="5551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Модели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временных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рядов</a:t>
            </a:r>
            <a:endParaRPr lang="uk-UA" sz="36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4123" y="1638924"/>
            <a:ext cx="118386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ARIMA(p; d; q) является расширением модели ARMA(p; q) для </a:t>
            </a:r>
            <a:r>
              <a:rPr lang="ru-RU" sz="2000" dirty="0" smtClean="0"/>
              <a:t>нестационарных</a:t>
            </a:r>
            <a:r>
              <a:rPr lang="en-US" sz="2000" dirty="0" smtClean="0"/>
              <a:t> </a:t>
            </a:r>
            <a:r>
              <a:rPr lang="ru-RU" sz="2000" dirty="0" smtClean="0"/>
              <a:t>временных </a:t>
            </a:r>
            <a:r>
              <a:rPr lang="ru-RU" sz="2000" dirty="0"/>
              <a:t>рядов, которые сводятся к стационарным взятием разностей d-</a:t>
            </a:r>
            <a:r>
              <a:rPr lang="ru-RU" sz="2000" dirty="0" err="1"/>
              <a:t>го</a:t>
            </a:r>
            <a:r>
              <a:rPr lang="ru-RU" sz="2000" dirty="0"/>
              <a:t> </a:t>
            </a:r>
            <a:r>
              <a:rPr lang="ru-RU" sz="2000" dirty="0" smtClean="0"/>
              <a:t>порядка.</a:t>
            </a:r>
            <a:r>
              <a:rPr lang="en-US" sz="2000" dirty="0" smtClean="0"/>
              <a:t> </a:t>
            </a:r>
            <a:r>
              <a:rPr lang="ru-RU" sz="2000" dirty="0" smtClean="0"/>
              <a:t>Модель </a:t>
            </a:r>
            <a:r>
              <a:rPr lang="ru-RU" sz="2000" dirty="0"/>
              <a:t>имеет следующий вид:</a:t>
            </a:r>
            <a:endParaRPr lang="uk-UA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73" y="2463924"/>
            <a:ext cx="3857761" cy="73776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83015" y="2555353"/>
            <a:ext cx="73252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где </a:t>
            </a:r>
            <a:r>
              <a:rPr lang="ru-RU" dirty="0" err="1"/>
              <a:t>Δ</a:t>
            </a:r>
            <a:r>
              <a:rPr lang="ru-RU" baseline="30000" dirty="0" err="1"/>
              <a:t>d</a:t>
            </a:r>
            <a:r>
              <a:rPr lang="ru-RU" dirty="0"/>
              <a:t> – оператор разности d-</a:t>
            </a:r>
            <a:r>
              <a:rPr lang="ru-RU" dirty="0" err="1"/>
              <a:t>го</a:t>
            </a:r>
            <a:r>
              <a:rPr lang="ru-RU" dirty="0"/>
              <a:t> порядка (</a:t>
            </a:r>
            <a:r>
              <a:rPr lang="ru-RU" dirty="0" err="1"/>
              <a:t>ΔY</a:t>
            </a:r>
            <a:r>
              <a:rPr lang="ru-RU" baseline="-25000" dirty="0" err="1"/>
              <a:t>t</a:t>
            </a:r>
            <a:r>
              <a:rPr lang="ru-RU" dirty="0"/>
              <a:t> = </a:t>
            </a:r>
            <a:r>
              <a:rPr lang="ru-RU" dirty="0" err="1" smtClean="0"/>
              <a:t>Y</a:t>
            </a:r>
            <a:r>
              <a:rPr lang="ru-RU" baseline="-25000" dirty="0" err="1" smtClean="0"/>
              <a:t>t</a:t>
            </a:r>
            <a:r>
              <a:rPr lang="en-US" baseline="-25000" dirty="0" smtClean="0"/>
              <a:t> </a:t>
            </a:r>
            <a:r>
              <a:rPr lang="ru-RU" dirty="0" smtClean="0"/>
              <a:t>–</a:t>
            </a:r>
            <a:r>
              <a:rPr lang="en-US" dirty="0" smtClean="0"/>
              <a:t> </a:t>
            </a:r>
            <a:r>
              <a:rPr lang="ru-RU" dirty="0" err="1" smtClean="0"/>
              <a:t>Y</a:t>
            </a:r>
            <a:r>
              <a:rPr lang="ru-RU" baseline="-25000" dirty="0" err="1" smtClean="0"/>
              <a:t>t</a:t>
            </a:r>
            <a:r>
              <a:rPr lang="ru-RU" baseline="-25000" dirty="0" smtClean="0"/>
              <a:t> –</a:t>
            </a:r>
            <a:r>
              <a:rPr lang="en-US" baseline="-25000" dirty="0" smtClean="0"/>
              <a:t>1</a:t>
            </a:r>
            <a:r>
              <a:rPr lang="ru-RU" dirty="0" smtClean="0"/>
              <a:t> </a:t>
            </a:r>
            <a:r>
              <a:rPr lang="ru-RU" dirty="0"/>
              <a:t>разности 1-го порядка).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247054" y="3318798"/>
            <a:ext cx="34957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 err="1"/>
              <a:t>Сезонная</a:t>
            </a:r>
            <a:r>
              <a:rPr lang="uk-UA" sz="2400" b="1" dirty="0"/>
              <a:t> </a:t>
            </a:r>
            <a:r>
              <a:rPr lang="en-GB" sz="2400" b="1" dirty="0"/>
              <a:t>ARIMA </a:t>
            </a:r>
            <a:r>
              <a:rPr lang="uk-UA" sz="2400" b="1" dirty="0"/>
              <a:t>модель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16241" y="4006978"/>
            <a:ext cx="1155732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Модель SARIMA(p; d; q)(</a:t>
            </a:r>
            <a:r>
              <a:rPr lang="ru-RU" sz="2000" dirty="0" smtClean="0"/>
              <a:t>P</a:t>
            </a:r>
            <a:r>
              <a:rPr lang="en-US" sz="2000" dirty="0" smtClean="0"/>
              <a:t>,</a:t>
            </a:r>
            <a:r>
              <a:rPr lang="ru-RU" sz="2000" dirty="0" smtClean="0"/>
              <a:t>D;Q)</a:t>
            </a:r>
            <a:r>
              <a:rPr lang="ru-RU" sz="2000" baseline="-25000" dirty="0" smtClean="0"/>
              <a:t>s</a:t>
            </a:r>
            <a:r>
              <a:rPr lang="ru-RU" sz="2000" dirty="0" smtClean="0"/>
              <a:t> </a:t>
            </a:r>
            <a:r>
              <a:rPr lang="ru-RU" sz="2000" dirty="0"/>
              <a:t>- обобщение ARIMA-модели на временные </a:t>
            </a:r>
            <a:r>
              <a:rPr lang="ru-RU" sz="2000" dirty="0" smtClean="0"/>
              <a:t>ряды</a:t>
            </a:r>
            <a:r>
              <a:rPr lang="ru-RU" sz="2000" dirty="0"/>
              <a:t>, в которых имеется ярко выраженная сезонная компонента. Дополнительно в </a:t>
            </a:r>
            <a:r>
              <a:rPr lang="ru-RU" sz="2000" dirty="0" smtClean="0"/>
              <a:t>такой</a:t>
            </a:r>
            <a:r>
              <a:rPr lang="en-US" sz="2000" dirty="0" smtClean="0"/>
              <a:t> </a:t>
            </a:r>
            <a:r>
              <a:rPr lang="ru-RU" sz="2000" dirty="0" smtClean="0"/>
              <a:t>модели </a:t>
            </a:r>
            <a:r>
              <a:rPr lang="ru-RU" sz="2000" dirty="0"/>
              <a:t>вводятся сезонные параметры (P;D; Q; s), позволяющие учесть </a:t>
            </a:r>
            <a:r>
              <a:rPr lang="ru-RU" sz="2000" dirty="0" smtClean="0"/>
              <a:t>циклические</a:t>
            </a:r>
            <a:r>
              <a:rPr lang="en-US" sz="2000" dirty="0" smtClean="0"/>
              <a:t> </a:t>
            </a:r>
            <a:r>
              <a:rPr lang="ru-RU" sz="2000" dirty="0" smtClean="0"/>
              <a:t>колебания </a:t>
            </a:r>
            <a:r>
              <a:rPr lang="ru-RU" sz="2000" dirty="0"/>
              <a:t>процесса.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1881671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101969" y="1239689"/>
            <a:ext cx="2440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2C3034"/>
                </a:solidFill>
                <a:latin typeface="Arial" panose="020B0604020202020204" pitchFamily="34" charset="0"/>
              </a:rPr>
              <a:t>ARIMAX(</a:t>
            </a:r>
            <a:r>
              <a:rPr lang="en-GB" sz="2400" b="1" dirty="0" err="1">
                <a:solidFill>
                  <a:srgbClr val="2C3034"/>
                </a:solidFill>
                <a:latin typeface="Arial" panose="020B0604020202020204" pitchFamily="34" charset="0"/>
              </a:rPr>
              <a:t>p,d,q</a:t>
            </a:r>
            <a:r>
              <a:rPr lang="en-GB" sz="2400" b="1" dirty="0">
                <a:solidFill>
                  <a:srgbClr val="2C3034"/>
                </a:solidFill>
                <a:latin typeface="Arial" panose="020B0604020202020204" pitchFamily="34" charset="0"/>
              </a:rPr>
              <a:t>):</a:t>
            </a:r>
            <a:endParaRPr lang="uk-UA" sz="24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21" y="1909428"/>
            <a:ext cx="9958618" cy="12250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523" y="3342585"/>
            <a:ext cx="8280388" cy="167269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19241" y="137719"/>
            <a:ext cx="5551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Модели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временных</a:t>
            </a:r>
            <a:r>
              <a:rPr lang="uk-UA" sz="3600" b="1" dirty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uk-UA" sz="3600" b="1" dirty="0" err="1">
                <a:solidFill>
                  <a:schemeClr val="bg1"/>
                </a:solidFill>
                <a:latin typeface="Calibri" panose="020F0502020204030204" pitchFamily="34" charset="0"/>
              </a:rPr>
              <a:t>рядов</a:t>
            </a:r>
            <a:endParaRPr lang="uk-UA" sz="3600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991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10489"/>
            <a:fld id="{81D60167-4931-47E6-BA6A-407CBD079E47}" type="slidenum">
              <a:rPr dirty="0">
                <a:solidFill>
                  <a:srgbClr val="FFFFFF"/>
                </a:solidFill>
                <a:latin typeface="Arial"/>
                <a:cs typeface="Arial"/>
              </a:rPr>
              <a:pPr marL="110489"/>
              <a:t>42</a:t>
            </a:fld>
            <a:endParaRPr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2016125" y="138113"/>
            <a:ext cx="10175875" cy="617537"/>
          </a:xfrm>
          <a:prstGeom prst="rect">
            <a:avLst/>
          </a:prstGeom>
        </p:spPr>
        <p:txBody>
          <a:bodyPr vert="horz" wrap="square" lIns="0" tIns="63627" rIns="0" bIns="0" rtlCol="0">
            <a:spAutoFit/>
          </a:bodyPr>
          <a:lstStyle/>
          <a:p>
            <a:pPr marL="259715">
              <a:lnSpc>
                <a:spcPct val="100000"/>
              </a:lnSpc>
            </a:pPr>
            <a:r>
              <a:rPr sz="3600" b="1" dirty="0">
                <a:solidFill>
                  <a:schemeClr val="bg1"/>
                </a:solidFill>
                <a:latin typeface="+mn-lt"/>
              </a:rPr>
              <a:t>Общая</a:t>
            </a:r>
            <a:r>
              <a:rPr sz="3600" b="1" spc="-15" dirty="0">
                <a:solidFill>
                  <a:schemeClr val="bg1"/>
                </a:solidFill>
                <a:latin typeface="+mn-lt"/>
              </a:rPr>
              <a:t> 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характеристика</a:t>
            </a:r>
            <a:r>
              <a:rPr sz="3600" b="1" spc="-20" dirty="0">
                <a:solidFill>
                  <a:schemeClr val="bg1"/>
                </a:solidFill>
                <a:latin typeface="+mn-lt"/>
              </a:rPr>
              <a:t> 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метода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598" y="1198562"/>
            <a:ext cx="8561705" cy="34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462145" indent="-342900"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spc="20"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</a:t>
            </a:r>
            <a:r>
              <a:rPr spc="-15" dirty="0">
                <a:latin typeface="Arial"/>
                <a:cs typeface="Arial"/>
              </a:rPr>
              <a:t> </a:t>
            </a:r>
            <a:r>
              <a:rPr b="1" spc="-55" dirty="0">
                <a:latin typeface="Arial"/>
                <a:cs typeface="Arial"/>
              </a:rPr>
              <a:t>A</a:t>
            </a:r>
            <a:r>
              <a:rPr b="1" dirty="0">
                <a:latin typeface="Arial"/>
                <a:cs typeface="Arial"/>
              </a:rPr>
              <a:t>RI</a:t>
            </a:r>
            <a:r>
              <a:rPr b="1" spc="10" dirty="0">
                <a:latin typeface="Arial"/>
                <a:cs typeface="Arial"/>
              </a:rPr>
              <a:t>M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(A</a:t>
            </a:r>
            <a:r>
              <a:rPr spc="-10" dirty="0">
                <a:latin typeface="Arial"/>
                <a:cs typeface="Arial"/>
              </a:rPr>
              <a:t>u</a:t>
            </a:r>
            <a:r>
              <a:rPr dirty="0">
                <a:latin typeface="Arial"/>
                <a:cs typeface="Arial"/>
              </a:rPr>
              <a:t>t</a:t>
            </a:r>
            <a:r>
              <a:rPr spc="-5" dirty="0">
                <a:latin typeface="Arial"/>
                <a:cs typeface="Arial"/>
              </a:rPr>
              <a:t>o</a:t>
            </a:r>
            <a:r>
              <a:rPr dirty="0">
                <a:latin typeface="Arial"/>
                <a:cs typeface="Arial"/>
              </a:rPr>
              <a:t>-R</a:t>
            </a:r>
            <a:r>
              <a:rPr spc="-10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gr</a:t>
            </a:r>
            <a:r>
              <a:rPr spc="-10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ssive Int</a:t>
            </a:r>
            <a:r>
              <a:rPr spc="-10" dirty="0">
                <a:latin typeface="Arial"/>
                <a:cs typeface="Arial"/>
              </a:rPr>
              <a:t>eg</a:t>
            </a:r>
            <a:r>
              <a:rPr dirty="0">
                <a:latin typeface="Arial"/>
                <a:cs typeface="Arial"/>
              </a:rPr>
              <a:t>r</a:t>
            </a:r>
            <a:r>
              <a:rPr spc="-10" dirty="0">
                <a:latin typeface="Arial"/>
                <a:cs typeface="Arial"/>
              </a:rPr>
              <a:t>a</a:t>
            </a:r>
            <a:r>
              <a:rPr dirty="0">
                <a:latin typeface="Arial"/>
                <a:cs typeface="Arial"/>
              </a:rPr>
              <a:t>ted M</a:t>
            </a:r>
            <a:r>
              <a:rPr spc="-10" dirty="0">
                <a:latin typeface="Arial"/>
                <a:cs typeface="Arial"/>
              </a:rPr>
              <a:t>o</a:t>
            </a:r>
            <a:r>
              <a:rPr dirty="0">
                <a:latin typeface="Arial"/>
                <a:cs typeface="Arial"/>
              </a:rPr>
              <a:t>vi</a:t>
            </a:r>
            <a:r>
              <a:rPr spc="-15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g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A</a:t>
            </a:r>
            <a:r>
              <a:rPr dirty="0">
                <a:latin typeface="Arial"/>
                <a:cs typeface="Arial"/>
              </a:rPr>
              <a:t>v</a:t>
            </a:r>
            <a:r>
              <a:rPr spc="-10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r</a:t>
            </a:r>
            <a:r>
              <a:rPr spc="-10" dirty="0">
                <a:latin typeface="Arial"/>
                <a:cs typeface="Arial"/>
              </a:rPr>
              <a:t>ag</a:t>
            </a:r>
            <a:r>
              <a:rPr spc="-5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)</a:t>
            </a:r>
            <a:r>
              <a:rPr spc="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25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ласс </a:t>
            </a:r>
            <a:r>
              <a:rPr spc="-25" dirty="0">
                <a:latin typeface="Arial"/>
                <a:cs typeface="Arial"/>
              </a:rPr>
              <a:t>у</a:t>
            </a:r>
            <a:r>
              <a:rPr dirty="0">
                <a:latin typeface="Arial"/>
                <a:cs typeface="Arial"/>
              </a:rPr>
              <a:t>ни</a:t>
            </a:r>
            <a:r>
              <a:rPr spc="-20" dirty="0">
                <a:latin typeface="Arial"/>
                <a:cs typeface="Arial"/>
              </a:rPr>
              <a:t>в</a:t>
            </a:r>
            <a:r>
              <a:rPr dirty="0">
                <a:latin typeface="Arial"/>
                <a:cs typeface="Arial"/>
              </a:rPr>
              <a:t>е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сальных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инейных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0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ей </a:t>
            </a:r>
            <a:r>
              <a:rPr spc="5" dirty="0">
                <a:latin typeface="Arial"/>
                <a:cs typeface="Arial"/>
              </a:rPr>
              <a:t>дл</a:t>
            </a:r>
            <a:r>
              <a:rPr dirty="0">
                <a:latin typeface="Arial"/>
                <a:cs typeface="Arial"/>
              </a:rPr>
              <a:t>я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о</a:t>
            </a:r>
            <a:r>
              <a:rPr spc="-10" dirty="0">
                <a:latin typeface="Arial"/>
                <a:cs typeface="Arial"/>
              </a:rPr>
              <a:t>п</a:t>
            </a:r>
            <a:r>
              <a:rPr dirty="0">
                <a:latin typeface="Arial"/>
                <a:cs typeface="Arial"/>
              </a:rPr>
              <a:t>исания с</a:t>
            </a:r>
            <a:r>
              <a:rPr spc="-20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аци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на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ных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и нес</a:t>
            </a:r>
            <a:r>
              <a:rPr spc="-25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аци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на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ных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вре</a:t>
            </a:r>
            <a:r>
              <a:rPr spc="-10" dirty="0">
                <a:latin typeface="Arial"/>
                <a:cs typeface="Arial"/>
              </a:rPr>
              <a:t>м</a:t>
            </a:r>
            <a:r>
              <a:rPr dirty="0">
                <a:latin typeface="Arial"/>
                <a:cs typeface="Arial"/>
              </a:rPr>
              <a:t>енных</a:t>
            </a:r>
            <a:r>
              <a:rPr spc="25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ядов</a:t>
            </a:r>
          </a:p>
          <a:p>
            <a:pPr marL="355600" indent="-342900">
              <a:spcBef>
                <a:spcPts val="430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spc="-65" dirty="0">
                <a:latin typeface="Arial"/>
                <a:cs typeface="Arial"/>
              </a:rPr>
              <a:t>Р</a:t>
            </a:r>
            <a:r>
              <a:rPr spc="-3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зр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б</a:t>
            </a:r>
            <a:r>
              <a:rPr spc="-4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тчи</a:t>
            </a:r>
            <a:r>
              <a:rPr spc="5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и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 G</a:t>
            </a:r>
            <a:r>
              <a:rPr spc="5" dirty="0">
                <a:latin typeface="Arial"/>
                <a:cs typeface="Arial"/>
              </a:rPr>
              <a:t>.</a:t>
            </a:r>
            <a:r>
              <a:rPr spc="-229" dirty="0">
                <a:latin typeface="Arial"/>
                <a:cs typeface="Arial"/>
              </a:rPr>
              <a:t>P</a:t>
            </a:r>
            <a:r>
              <a:rPr dirty="0">
                <a:latin typeface="Arial"/>
                <a:cs typeface="Arial"/>
              </a:rPr>
              <a:t>. </a:t>
            </a:r>
            <a:r>
              <a:rPr spc="-10" dirty="0">
                <a:latin typeface="Arial"/>
                <a:cs typeface="Arial"/>
              </a:rPr>
              <a:t>B</a:t>
            </a:r>
            <a:r>
              <a:rPr dirty="0">
                <a:latin typeface="Arial"/>
                <a:cs typeface="Arial"/>
              </a:rPr>
              <a:t>o</a:t>
            </a:r>
            <a:r>
              <a:rPr spc="-20" dirty="0">
                <a:latin typeface="Arial"/>
                <a:cs typeface="Arial"/>
              </a:rPr>
              <a:t>x</a:t>
            </a:r>
            <a:r>
              <a:rPr dirty="0">
                <a:latin typeface="Arial"/>
                <a:cs typeface="Arial"/>
              </a:rPr>
              <a:t>,</a:t>
            </a:r>
          </a:p>
          <a:p>
            <a:pPr marL="355600"/>
            <a:r>
              <a:rPr dirty="0">
                <a:latin typeface="Arial"/>
                <a:cs typeface="Arial"/>
              </a:rPr>
              <a:t>G.M.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</a:t>
            </a:r>
            <a:r>
              <a:rPr spc="-10" dirty="0">
                <a:latin typeface="Arial"/>
                <a:cs typeface="Arial"/>
              </a:rPr>
              <a:t>en</a:t>
            </a:r>
            <a:r>
              <a:rPr dirty="0">
                <a:latin typeface="Arial"/>
                <a:cs typeface="Arial"/>
              </a:rPr>
              <a:t>ki</a:t>
            </a:r>
            <a:r>
              <a:rPr spc="-15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s</a:t>
            </a:r>
            <a:r>
              <a:rPr spc="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</a:t>
            </a:r>
            <a:r>
              <a:rPr spc="-10" dirty="0">
                <a:latin typeface="Arial"/>
                <a:cs typeface="Arial"/>
              </a:rPr>
              <a:t>197</a:t>
            </a:r>
            <a:r>
              <a:rPr spc="-15" dirty="0">
                <a:latin typeface="Arial"/>
                <a:cs typeface="Arial"/>
              </a:rPr>
              <a:t>x</a:t>
            </a:r>
            <a:r>
              <a:rPr spc="-5" dirty="0">
                <a:latin typeface="Arial"/>
                <a:cs typeface="Arial"/>
              </a:rPr>
              <a:t>-</a:t>
            </a:r>
            <a:r>
              <a:rPr spc="-10" dirty="0">
                <a:latin typeface="Arial"/>
                <a:cs typeface="Arial"/>
              </a:rPr>
              <a:t>199</a:t>
            </a:r>
            <a:r>
              <a:rPr spc="-15" dirty="0">
                <a:latin typeface="Arial"/>
                <a:cs typeface="Arial"/>
              </a:rPr>
              <a:t>x</a:t>
            </a:r>
            <a:r>
              <a:rPr dirty="0">
                <a:latin typeface="Arial"/>
                <a:cs typeface="Arial"/>
              </a:rPr>
              <a:t>)</a:t>
            </a:r>
          </a:p>
          <a:p>
            <a:pPr marL="355600" marR="4527550" indent="-342900">
              <a:spcBef>
                <a:spcPts val="434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dirty="0">
                <a:latin typeface="Arial"/>
                <a:cs typeface="Arial"/>
              </a:rPr>
              <a:t>Д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я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ир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spc="-20" dirty="0">
                <a:latin typeface="Arial"/>
                <a:cs typeface="Arial"/>
              </a:rPr>
              <a:t>в</a:t>
            </a:r>
            <a:r>
              <a:rPr dirty="0">
                <a:latin typeface="Arial"/>
                <a:cs typeface="Arial"/>
              </a:rPr>
              <a:t>ания исп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ь</a:t>
            </a:r>
            <a:r>
              <a:rPr spc="-25" dirty="0">
                <a:latin typeface="Arial"/>
                <a:cs typeface="Arial"/>
              </a:rPr>
              <a:t>зу</a:t>
            </a:r>
            <a:r>
              <a:rPr spc="-35" dirty="0">
                <a:latin typeface="Arial"/>
                <a:cs typeface="Arial"/>
              </a:rPr>
              <a:t>ю</a:t>
            </a:r>
            <a:r>
              <a:rPr spc="-20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ся </a:t>
            </a:r>
            <a:r>
              <a:rPr spc="-20" dirty="0">
                <a:latin typeface="Arial"/>
                <a:cs typeface="Arial"/>
              </a:rPr>
              <a:t>т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ь</a:t>
            </a:r>
            <a:r>
              <a:rPr spc="20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о</a:t>
            </a:r>
            <a:r>
              <a:rPr spc="-15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д</a:t>
            </a:r>
            <a:r>
              <a:rPr dirty="0">
                <a:latin typeface="Arial"/>
                <a:cs typeface="Arial"/>
              </a:rPr>
              <a:t>анные</a:t>
            </a:r>
            <a:r>
              <a:rPr spc="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вре</a:t>
            </a:r>
            <a:r>
              <a:rPr spc="-10" dirty="0">
                <a:latin typeface="Arial"/>
                <a:cs typeface="Arial"/>
              </a:rPr>
              <a:t>м</a:t>
            </a:r>
            <a:r>
              <a:rPr dirty="0">
                <a:latin typeface="Arial"/>
                <a:cs typeface="Arial"/>
              </a:rPr>
              <a:t>енно</a:t>
            </a:r>
            <a:r>
              <a:rPr spc="-40" dirty="0">
                <a:latin typeface="Arial"/>
                <a:cs typeface="Arial"/>
              </a:rPr>
              <a:t>г</a:t>
            </a:r>
            <a:r>
              <a:rPr dirty="0">
                <a:latin typeface="Arial"/>
                <a:cs typeface="Arial"/>
              </a:rPr>
              <a:t>о</a:t>
            </a:r>
            <a:r>
              <a:rPr spc="2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яда</a:t>
            </a:r>
          </a:p>
          <a:p>
            <a:pPr marL="355600" marR="3573145" indent="-342900">
              <a:spcBef>
                <a:spcPts val="430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spc="-65" dirty="0">
                <a:latin typeface="Arial"/>
                <a:cs typeface="Arial"/>
              </a:rPr>
              <a:t>Р</a:t>
            </a:r>
            <a:r>
              <a:rPr spc="-3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зр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б</a:t>
            </a:r>
            <a:r>
              <a:rPr spc="-40" dirty="0">
                <a:latin typeface="Arial"/>
                <a:cs typeface="Arial"/>
              </a:rPr>
              <a:t>о</a:t>
            </a:r>
            <a:r>
              <a:rPr spc="-20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аны</a:t>
            </a:r>
            <a:r>
              <a:rPr spc="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р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сши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ения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ей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 ARIMA</a:t>
            </a:r>
            <a:r>
              <a:rPr spc="-15" dirty="0">
                <a:latin typeface="Arial"/>
                <a:cs typeface="Arial"/>
              </a:rPr>
              <a:t>X</a:t>
            </a:r>
            <a:r>
              <a:rPr dirty="0">
                <a:latin typeface="Arial"/>
                <a:cs typeface="Arial"/>
              </a:rPr>
              <a:t>,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у</a:t>
            </a:r>
            <a:r>
              <a:rPr dirty="0">
                <a:latin typeface="Arial"/>
                <a:cs typeface="Arial"/>
              </a:rPr>
              <a:t>читы</a:t>
            </a:r>
            <a:r>
              <a:rPr spc="-20" dirty="0">
                <a:latin typeface="Arial"/>
                <a:cs typeface="Arial"/>
              </a:rPr>
              <a:t>в</a:t>
            </a:r>
            <a:r>
              <a:rPr dirty="0">
                <a:latin typeface="Arial"/>
                <a:cs typeface="Arial"/>
              </a:rPr>
              <a:t>ающие</a:t>
            </a:r>
            <a:r>
              <a:rPr spc="1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ф</a:t>
            </a:r>
            <a:r>
              <a:rPr dirty="0">
                <a:latin typeface="Arial"/>
                <a:cs typeface="Arial"/>
              </a:rPr>
              <a:t>а</a:t>
            </a:r>
            <a:r>
              <a:rPr spc="20" dirty="0">
                <a:latin typeface="Arial"/>
                <a:cs typeface="Arial"/>
              </a:rPr>
              <a:t>к</a:t>
            </a:r>
            <a:r>
              <a:rPr spc="-20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о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ы,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выбр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сы и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ст</a:t>
            </a:r>
            <a:r>
              <a:rPr spc="-30" dirty="0">
                <a:latin typeface="Arial"/>
                <a:cs typeface="Arial"/>
              </a:rPr>
              <a:t>ру</a:t>
            </a:r>
            <a:r>
              <a:rPr spc="25" dirty="0">
                <a:latin typeface="Arial"/>
                <a:cs typeface="Arial"/>
              </a:rPr>
              <a:t>кт</a:t>
            </a:r>
            <a:r>
              <a:rPr spc="-50" dirty="0">
                <a:latin typeface="Arial"/>
                <a:cs typeface="Arial"/>
              </a:rPr>
              <a:t>у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ные</a:t>
            </a:r>
            <a:r>
              <a:rPr spc="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изм</a:t>
            </a:r>
            <a:r>
              <a:rPr spc="-10" dirty="0">
                <a:latin typeface="Arial"/>
                <a:cs typeface="Arial"/>
              </a:rPr>
              <a:t>е</a:t>
            </a:r>
            <a:r>
              <a:rPr dirty="0">
                <a:latin typeface="Arial"/>
                <a:cs typeface="Arial"/>
              </a:rPr>
              <a:t>нения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 err="1">
                <a:latin typeface="Arial"/>
                <a:cs typeface="Arial"/>
              </a:rPr>
              <a:t>р</a:t>
            </a:r>
            <a:r>
              <a:rPr spc="-35" dirty="0" err="1">
                <a:latin typeface="Arial"/>
                <a:cs typeface="Arial"/>
              </a:rPr>
              <a:t>а</a:t>
            </a:r>
            <a:r>
              <a:rPr spc="-25" dirty="0" err="1">
                <a:latin typeface="Arial"/>
                <a:cs typeface="Arial"/>
              </a:rPr>
              <a:t>з</a:t>
            </a:r>
            <a:r>
              <a:rPr dirty="0" err="1">
                <a:latin typeface="Arial"/>
                <a:cs typeface="Arial"/>
              </a:rPr>
              <a:t>личных</a:t>
            </a:r>
            <a:r>
              <a:rPr spc="10" dirty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ви</a:t>
            </a:r>
            <a:r>
              <a:rPr spc="5" dirty="0" err="1" smtClean="0">
                <a:latin typeface="Arial"/>
                <a:cs typeface="Arial"/>
              </a:rPr>
              <a:t>д</a:t>
            </a:r>
            <a:r>
              <a:rPr spc="-10" dirty="0" err="1" smtClean="0">
                <a:latin typeface="Arial"/>
                <a:cs typeface="Arial"/>
              </a:rPr>
              <a:t>о</a:t>
            </a:r>
            <a:r>
              <a:rPr dirty="0" err="1" smtClean="0">
                <a:latin typeface="Arial"/>
                <a:cs typeface="Arial"/>
              </a:rPr>
              <a:t>в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78116" y="1198561"/>
            <a:ext cx="6323564" cy="29403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Прямоугольник 6"/>
          <p:cNvSpPr/>
          <p:nvPr/>
        </p:nvSpPr>
        <p:spPr>
          <a:xfrm>
            <a:off x="0" y="4683046"/>
            <a:ext cx="11937713" cy="21749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55600" marR="6350" indent="-342900">
              <a:spcBef>
                <a:spcPts val="434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lang="ru-RU" dirty="0">
                <a:latin typeface="Arial"/>
                <a:cs typeface="Arial"/>
              </a:rPr>
              <a:t>О</a:t>
            </a:r>
            <a:r>
              <a:rPr lang="ru-RU" spc="25" dirty="0">
                <a:latin typeface="Arial"/>
                <a:cs typeface="Arial"/>
              </a:rPr>
              <a:t>с</a:t>
            </a:r>
            <a:r>
              <a:rPr lang="ru-RU" dirty="0">
                <a:latin typeface="Arial"/>
                <a:cs typeface="Arial"/>
              </a:rPr>
              <a:t>о</a:t>
            </a:r>
            <a:r>
              <a:rPr lang="ru-RU" spc="-30" dirty="0">
                <a:latin typeface="Arial"/>
                <a:cs typeface="Arial"/>
              </a:rPr>
              <a:t>б</a:t>
            </a:r>
            <a:r>
              <a:rPr lang="ru-RU" dirty="0">
                <a:latin typeface="Arial"/>
                <a:cs typeface="Arial"/>
              </a:rPr>
              <a:t>енностью</a:t>
            </a:r>
            <a:r>
              <a:rPr lang="ru-RU" spc="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м</a:t>
            </a:r>
            <a:r>
              <a:rPr lang="ru-RU" spc="-70" dirty="0">
                <a:latin typeface="Arial"/>
                <a:cs typeface="Arial"/>
              </a:rPr>
              <a:t>е</a:t>
            </a:r>
            <a:r>
              <a:rPr lang="ru-RU" spc="-20" dirty="0">
                <a:latin typeface="Arial"/>
                <a:cs typeface="Arial"/>
              </a:rPr>
              <a:t>т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dirty="0">
                <a:latin typeface="Arial"/>
                <a:cs typeface="Arial"/>
              </a:rPr>
              <a:t>а я</a:t>
            </a:r>
            <a:r>
              <a:rPr lang="ru-RU" spc="-40" dirty="0">
                <a:latin typeface="Arial"/>
                <a:cs typeface="Arial"/>
              </a:rPr>
              <a:t>в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я</a:t>
            </a:r>
            <a:r>
              <a:rPr lang="ru-RU" spc="-70" dirty="0">
                <a:latin typeface="Arial"/>
                <a:cs typeface="Arial"/>
              </a:rPr>
              <a:t>е</a:t>
            </a:r>
            <a:r>
              <a:rPr lang="ru-RU" spc="-20" dirty="0">
                <a:latin typeface="Arial"/>
                <a:cs typeface="Arial"/>
              </a:rPr>
              <a:t>т</a:t>
            </a:r>
            <a:r>
              <a:rPr lang="ru-RU" dirty="0">
                <a:latin typeface="Arial"/>
                <a:cs typeface="Arial"/>
              </a:rPr>
              <a:t>ся и</a:t>
            </a:r>
            <a:r>
              <a:rPr lang="ru-RU" spc="-20" dirty="0">
                <a:latin typeface="Arial"/>
                <a:cs typeface="Arial"/>
              </a:rPr>
              <a:t>т</a:t>
            </a:r>
            <a:r>
              <a:rPr lang="ru-RU" dirty="0">
                <a:latin typeface="Arial"/>
                <a:cs typeface="Arial"/>
              </a:rPr>
              <a:t>е</a:t>
            </a:r>
            <a:r>
              <a:rPr lang="ru-RU" spc="-10" dirty="0">
                <a:latin typeface="Arial"/>
                <a:cs typeface="Arial"/>
              </a:rPr>
              <a:t>р</a:t>
            </a:r>
            <a:r>
              <a:rPr lang="ru-RU" spc="-45" dirty="0">
                <a:latin typeface="Arial"/>
                <a:cs typeface="Arial"/>
              </a:rPr>
              <a:t>а</a:t>
            </a:r>
            <a:r>
              <a:rPr lang="ru-RU" dirty="0">
                <a:latin typeface="Arial"/>
                <a:cs typeface="Arial"/>
              </a:rPr>
              <a:t>тив</a:t>
            </a:r>
            <a:r>
              <a:rPr lang="ru-RU" spc="5" dirty="0">
                <a:latin typeface="Arial"/>
                <a:cs typeface="Arial"/>
              </a:rPr>
              <a:t>н</a:t>
            </a:r>
            <a:r>
              <a:rPr lang="ru-RU" dirty="0">
                <a:latin typeface="Arial"/>
                <a:cs typeface="Arial"/>
              </a:rPr>
              <a:t>ый </a:t>
            </a:r>
            <a:r>
              <a:rPr lang="ru-RU" spc="-10" dirty="0">
                <a:latin typeface="Arial"/>
                <a:cs typeface="Arial"/>
              </a:rPr>
              <a:t>п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spc="-40" dirty="0">
                <a:latin typeface="Arial"/>
                <a:cs typeface="Arial"/>
              </a:rPr>
              <a:t>х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dirty="0">
                <a:latin typeface="Arial"/>
                <a:cs typeface="Arial"/>
              </a:rPr>
              <a:t>д</a:t>
            </a:r>
            <a:r>
              <a:rPr lang="ru-RU" spc="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к</a:t>
            </a:r>
            <a:r>
              <a:rPr lang="ru-RU" spc="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оп</a:t>
            </a:r>
            <a:r>
              <a:rPr lang="ru-RU" spc="-10" dirty="0">
                <a:latin typeface="Arial"/>
                <a:cs typeface="Arial"/>
              </a:rPr>
              <a:t>р</a:t>
            </a:r>
            <a:r>
              <a:rPr lang="ru-RU" spc="-4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spc="-6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ению</a:t>
            </a:r>
            <a:r>
              <a:rPr lang="ru-RU" spc="-10" dirty="0">
                <a:latin typeface="Arial"/>
                <a:cs typeface="Arial"/>
              </a:rPr>
              <a:t> 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spc="-25" dirty="0">
                <a:latin typeface="Arial"/>
                <a:cs typeface="Arial"/>
              </a:rPr>
              <a:t>у</a:t>
            </a:r>
            <a:r>
              <a:rPr lang="ru-RU" dirty="0">
                <a:latin typeface="Arial"/>
                <a:cs typeface="Arial"/>
              </a:rPr>
              <a:t>ч</a:t>
            </a:r>
            <a:r>
              <a:rPr lang="ru-RU" spc="-10" dirty="0">
                <a:latin typeface="Arial"/>
                <a:cs typeface="Arial"/>
              </a:rPr>
              <a:t>ш</a:t>
            </a:r>
            <a:r>
              <a:rPr lang="ru-RU" dirty="0">
                <a:latin typeface="Arial"/>
                <a:cs typeface="Arial"/>
              </a:rPr>
              <a:t>ей м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spc="-6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и</a:t>
            </a:r>
            <a:r>
              <a:rPr lang="ru-RU" spc="-20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ср</a:t>
            </a:r>
            <a:r>
              <a:rPr lang="ru-RU" spc="-4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dirty="0">
                <a:latin typeface="Arial"/>
                <a:cs typeface="Arial"/>
              </a:rPr>
              <a:t>и</a:t>
            </a:r>
            <a:r>
              <a:rPr lang="ru-RU" spc="-10" dirty="0">
                <a:latin typeface="Arial"/>
                <a:cs typeface="Arial"/>
              </a:rPr>
              <a:t> </a:t>
            </a:r>
            <a:r>
              <a:rPr lang="ru-RU" spc="-20" dirty="0">
                <a:latin typeface="Arial"/>
                <a:cs typeface="Arial"/>
              </a:rPr>
              <a:t>в</a:t>
            </a:r>
            <a:r>
              <a:rPr lang="ru-RU" dirty="0">
                <a:latin typeface="Arial"/>
                <a:cs typeface="Arial"/>
              </a:rPr>
              <a:t>с</a:t>
            </a:r>
            <a:r>
              <a:rPr lang="ru-RU" spc="-45" dirty="0">
                <a:latin typeface="Arial"/>
                <a:cs typeface="Arial"/>
              </a:rPr>
              <a:t>е</a:t>
            </a:r>
            <a:r>
              <a:rPr lang="ru-RU" dirty="0">
                <a:latin typeface="Arial"/>
                <a:cs typeface="Arial"/>
              </a:rPr>
              <a:t>х</a:t>
            </a:r>
            <a:r>
              <a:rPr lang="ru-RU" spc="10" dirty="0">
                <a:latin typeface="Arial"/>
                <a:cs typeface="Arial"/>
              </a:rPr>
              <a:t> </a:t>
            </a:r>
            <a:r>
              <a:rPr lang="ru-RU" spc="-20" dirty="0">
                <a:latin typeface="Arial"/>
                <a:cs typeface="Arial"/>
              </a:rPr>
              <a:t>в</a:t>
            </a:r>
            <a:r>
              <a:rPr lang="ru-RU" spc="-30" dirty="0">
                <a:latin typeface="Arial"/>
                <a:cs typeface="Arial"/>
              </a:rPr>
              <a:t>о</a:t>
            </a:r>
            <a:r>
              <a:rPr lang="ru-RU" dirty="0">
                <a:latin typeface="Arial"/>
                <a:cs typeface="Arial"/>
              </a:rPr>
              <a:t>зм</a:t>
            </a:r>
            <a:r>
              <a:rPr lang="ru-RU" spc="-30" dirty="0">
                <a:latin typeface="Arial"/>
                <a:cs typeface="Arial"/>
              </a:rPr>
              <a:t>о</a:t>
            </a:r>
            <a:r>
              <a:rPr lang="ru-RU" dirty="0">
                <a:latin typeface="Arial"/>
                <a:cs typeface="Arial"/>
              </a:rPr>
              <a:t>жных</a:t>
            </a:r>
          </a:p>
          <a:p>
            <a:pPr marL="355600" marR="10795" indent="-342900">
              <a:spcBef>
                <a:spcPts val="430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lang="ru-RU" dirty="0">
                <a:latin typeface="Arial"/>
                <a:cs typeface="Arial"/>
              </a:rPr>
              <a:t>Д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я</a:t>
            </a:r>
            <a:r>
              <a:rPr lang="ru-RU" spc="-1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и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dirty="0">
                <a:latin typeface="Arial"/>
                <a:cs typeface="Arial"/>
              </a:rPr>
              <a:t>ентифи</a:t>
            </a:r>
            <a:r>
              <a:rPr lang="ru-RU" spc="35" dirty="0">
                <a:latin typeface="Arial"/>
                <a:cs typeface="Arial"/>
              </a:rPr>
              <a:t>к</a:t>
            </a:r>
            <a:r>
              <a:rPr lang="ru-RU" dirty="0">
                <a:latin typeface="Arial"/>
                <a:cs typeface="Arial"/>
              </a:rPr>
              <a:t>ации</a:t>
            </a:r>
            <a:r>
              <a:rPr lang="ru-RU" spc="-4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м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spc="-6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ей</a:t>
            </a:r>
            <a:r>
              <a:rPr lang="ru-RU" spc="-1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исп</a:t>
            </a:r>
            <a:r>
              <a:rPr lang="ru-RU" spc="-45" dirty="0">
                <a:latin typeface="Arial"/>
                <a:cs typeface="Arial"/>
              </a:rPr>
              <a:t>о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ь</a:t>
            </a:r>
            <a:r>
              <a:rPr lang="ru-RU" spc="-25" dirty="0">
                <a:latin typeface="Arial"/>
                <a:cs typeface="Arial"/>
              </a:rPr>
              <a:t>зу</a:t>
            </a:r>
            <a:r>
              <a:rPr lang="ru-RU" spc="-35" dirty="0">
                <a:latin typeface="Arial"/>
                <a:cs typeface="Arial"/>
              </a:rPr>
              <a:t>ю</a:t>
            </a:r>
            <a:r>
              <a:rPr lang="ru-RU" spc="-20" dirty="0">
                <a:latin typeface="Arial"/>
                <a:cs typeface="Arial"/>
              </a:rPr>
              <a:t>т</a:t>
            </a:r>
            <a:r>
              <a:rPr lang="ru-RU" dirty="0">
                <a:latin typeface="Arial"/>
                <a:cs typeface="Arial"/>
              </a:rPr>
              <a:t>ся</a:t>
            </a:r>
            <a:r>
              <a:rPr lang="ru-RU" spc="10" dirty="0">
                <a:latin typeface="Arial"/>
                <a:cs typeface="Arial"/>
              </a:rPr>
              <a:t> 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dirty="0">
                <a:latin typeface="Arial"/>
                <a:cs typeface="Arial"/>
              </a:rPr>
              <a:t>иагр</a:t>
            </a:r>
            <a:r>
              <a:rPr lang="ru-RU" spc="-10" dirty="0">
                <a:latin typeface="Arial"/>
                <a:cs typeface="Arial"/>
              </a:rPr>
              <a:t>а</a:t>
            </a:r>
            <a:r>
              <a:rPr lang="ru-RU" dirty="0">
                <a:latin typeface="Arial"/>
                <a:cs typeface="Arial"/>
              </a:rPr>
              <a:t>ммы п</a:t>
            </a:r>
            <a:r>
              <a:rPr lang="ru-RU" spc="-10" dirty="0">
                <a:latin typeface="Arial"/>
                <a:cs typeface="Arial"/>
              </a:rPr>
              <a:t>о</a:t>
            </a:r>
            <a:r>
              <a:rPr lang="ru-RU" dirty="0">
                <a:latin typeface="Arial"/>
                <a:cs typeface="Arial"/>
              </a:rPr>
              <a:t>с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spc="-4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д</a:t>
            </a:r>
            <a:r>
              <a:rPr lang="ru-RU" dirty="0">
                <a:latin typeface="Arial"/>
                <a:cs typeface="Arial"/>
              </a:rPr>
              <a:t>о</a:t>
            </a:r>
            <a:r>
              <a:rPr lang="ru-RU" spc="-30" dirty="0">
                <a:latin typeface="Arial"/>
                <a:cs typeface="Arial"/>
              </a:rPr>
              <a:t>в</a:t>
            </a:r>
            <a:r>
              <a:rPr lang="ru-RU" spc="-45" dirty="0">
                <a:latin typeface="Arial"/>
                <a:cs typeface="Arial"/>
              </a:rPr>
              <a:t>а</a:t>
            </a:r>
            <a:r>
              <a:rPr lang="ru-RU" spc="-20" dirty="0">
                <a:latin typeface="Arial"/>
                <a:cs typeface="Arial"/>
              </a:rPr>
              <a:t>т</a:t>
            </a:r>
            <a:r>
              <a:rPr lang="ru-RU" spc="-65" dirty="0">
                <a:latin typeface="Arial"/>
                <a:cs typeface="Arial"/>
              </a:rPr>
              <a:t>е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ьности </a:t>
            </a:r>
            <a:r>
              <a:rPr lang="ru-RU" spc="-30" dirty="0">
                <a:latin typeface="Arial"/>
                <a:cs typeface="Arial"/>
              </a:rPr>
              <a:t>р</a:t>
            </a:r>
            <a:r>
              <a:rPr lang="ru-RU" dirty="0">
                <a:latin typeface="Arial"/>
                <a:cs typeface="Arial"/>
              </a:rPr>
              <a:t>яда и </a:t>
            </a:r>
            <a:r>
              <a:rPr lang="ru-RU" spc="20" dirty="0" err="1">
                <a:latin typeface="Arial"/>
                <a:cs typeface="Arial"/>
              </a:rPr>
              <a:t>к</a:t>
            </a:r>
            <a:r>
              <a:rPr lang="ru-RU" dirty="0" err="1">
                <a:latin typeface="Arial"/>
                <a:cs typeface="Arial"/>
              </a:rPr>
              <a:t>о</a:t>
            </a:r>
            <a:r>
              <a:rPr lang="ru-RU" spc="-10" dirty="0" err="1">
                <a:latin typeface="Arial"/>
                <a:cs typeface="Arial"/>
              </a:rPr>
              <a:t>р</a:t>
            </a:r>
            <a:r>
              <a:rPr lang="ru-RU" dirty="0" err="1">
                <a:latin typeface="Arial"/>
                <a:cs typeface="Arial"/>
              </a:rPr>
              <a:t>р</a:t>
            </a:r>
            <a:r>
              <a:rPr lang="ru-RU" spc="-75" dirty="0" err="1">
                <a:latin typeface="Arial"/>
                <a:cs typeface="Arial"/>
              </a:rPr>
              <a:t>е</a:t>
            </a:r>
            <a:r>
              <a:rPr lang="ru-RU" spc="25" dirty="0" err="1">
                <a:latin typeface="Arial"/>
                <a:cs typeface="Arial"/>
              </a:rPr>
              <a:t>л</a:t>
            </a:r>
            <a:r>
              <a:rPr lang="ru-RU" dirty="0" err="1">
                <a:latin typeface="Arial"/>
                <a:cs typeface="Arial"/>
              </a:rPr>
              <a:t>ог</a:t>
            </a:r>
            <a:r>
              <a:rPr lang="ru-RU" spc="-10" dirty="0" err="1">
                <a:latin typeface="Arial"/>
                <a:cs typeface="Arial"/>
              </a:rPr>
              <a:t>р</a:t>
            </a:r>
            <a:r>
              <a:rPr lang="ru-RU" dirty="0" err="1">
                <a:latin typeface="Arial"/>
                <a:cs typeface="Arial"/>
              </a:rPr>
              <a:t>а</a:t>
            </a:r>
            <a:r>
              <a:rPr lang="ru-RU" spc="-10" dirty="0" err="1">
                <a:latin typeface="Arial"/>
                <a:cs typeface="Arial"/>
              </a:rPr>
              <a:t>м</a:t>
            </a:r>
            <a:r>
              <a:rPr lang="ru-RU" dirty="0" err="1">
                <a:latin typeface="Arial"/>
                <a:cs typeface="Arial"/>
              </a:rPr>
              <a:t>мы</a:t>
            </a:r>
            <a:r>
              <a:rPr lang="ru-RU" spc="25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с</a:t>
            </a:r>
            <a:r>
              <a:rPr lang="ru-RU" spc="-10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А</a:t>
            </a:r>
            <a:r>
              <a:rPr lang="ru-RU" spc="-70" dirty="0">
                <a:latin typeface="Arial"/>
                <a:cs typeface="Arial"/>
              </a:rPr>
              <a:t>К</a:t>
            </a:r>
            <a:r>
              <a:rPr lang="ru-RU" dirty="0">
                <a:latin typeface="Arial"/>
                <a:cs typeface="Arial"/>
              </a:rPr>
              <a:t>Ф и ЧА</a:t>
            </a:r>
            <a:r>
              <a:rPr lang="ru-RU" spc="-75" dirty="0">
                <a:latin typeface="Arial"/>
                <a:cs typeface="Arial"/>
              </a:rPr>
              <a:t>К</a:t>
            </a:r>
            <a:r>
              <a:rPr lang="ru-RU" dirty="0">
                <a:latin typeface="Arial"/>
                <a:cs typeface="Arial"/>
              </a:rPr>
              <a:t>Ф</a:t>
            </a:r>
          </a:p>
          <a:p>
            <a:pPr marL="355600" indent="-342900">
              <a:spcBef>
                <a:spcPts val="430"/>
              </a:spcBef>
              <a:buClr>
                <a:srgbClr val="FF3300"/>
              </a:buClr>
              <a:buFont typeface="Arial"/>
              <a:buChar char="o"/>
              <a:tabLst>
                <a:tab pos="356235" algn="l"/>
              </a:tabLst>
            </a:pPr>
            <a:r>
              <a:rPr lang="ru-RU" dirty="0">
                <a:latin typeface="Arial"/>
                <a:cs typeface="Arial"/>
              </a:rPr>
              <a:t>Д</a:t>
            </a:r>
            <a:r>
              <a:rPr lang="ru-RU" spc="5" dirty="0">
                <a:latin typeface="Arial"/>
                <a:cs typeface="Arial"/>
              </a:rPr>
              <a:t>л</a:t>
            </a:r>
            <a:r>
              <a:rPr lang="ru-RU" dirty="0">
                <a:latin typeface="Arial"/>
                <a:cs typeface="Arial"/>
              </a:rPr>
              <a:t>я</a:t>
            </a:r>
            <a:r>
              <a:rPr lang="ru-RU" spc="-15" dirty="0">
                <a:latin typeface="Arial"/>
                <a:cs typeface="Arial"/>
              </a:rPr>
              <a:t> </a:t>
            </a:r>
            <a:r>
              <a:rPr lang="ru-RU" spc="-10" dirty="0">
                <a:latin typeface="Arial"/>
                <a:cs typeface="Arial"/>
              </a:rPr>
              <a:t>о</a:t>
            </a:r>
            <a:r>
              <a:rPr lang="ru-RU" spc="-30" dirty="0">
                <a:latin typeface="Arial"/>
                <a:cs typeface="Arial"/>
              </a:rPr>
              <a:t>ц</a:t>
            </a:r>
            <a:r>
              <a:rPr lang="ru-RU" spc="-10" dirty="0">
                <a:latin typeface="Arial"/>
                <a:cs typeface="Arial"/>
              </a:rPr>
              <a:t>е</a:t>
            </a:r>
            <a:r>
              <a:rPr lang="ru-RU" dirty="0">
                <a:latin typeface="Arial"/>
                <a:cs typeface="Arial"/>
              </a:rPr>
              <a:t>нки</a:t>
            </a:r>
            <a:r>
              <a:rPr lang="ru-RU" spc="5" dirty="0">
                <a:latin typeface="Arial"/>
                <a:cs typeface="Arial"/>
              </a:rPr>
              <a:t> </a:t>
            </a:r>
            <a:r>
              <a:rPr lang="ru-RU" spc="-10" dirty="0">
                <a:latin typeface="Arial"/>
                <a:cs typeface="Arial"/>
              </a:rPr>
              <a:t>а</a:t>
            </a:r>
            <a:r>
              <a:rPr lang="ru-RU" dirty="0">
                <a:latin typeface="Arial"/>
                <a:cs typeface="Arial"/>
              </a:rPr>
              <a:t>дек</a:t>
            </a:r>
            <a:r>
              <a:rPr lang="ru-RU" spc="-20" dirty="0">
                <a:latin typeface="Arial"/>
                <a:cs typeface="Arial"/>
              </a:rPr>
              <a:t>в</a:t>
            </a:r>
            <a:r>
              <a:rPr lang="ru-RU" spc="-45" dirty="0">
                <a:latin typeface="Arial"/>
                <a:cs typeface="Arial"/>
              </a:rPr>
              <a:t>а</a:t>
            </a:r>
            <a:r>
              <a:rPr lang="ru-RU" dirty="0">
                <a:latin typeface="Arial"/>
                <a:cs typeface="Arial"/>
              </a:rPr>
              <a:t>тности</a:t>
            </a:r>
            <a:r>
              <a:rPr lang="ru-RU" spc="-10" dirty="0">
                <a:latin typeface="Arial"/>
                <a:cs typeface="Arial"/>
              </a:rPr>
              <a:t> </a:t>
            </a:r>
            <a:r>
              <a:rPr lang="ru-RU" dirty="0">
                <a:latin typeface="Arial"/>
                <a:cs typeface="Arial"/>
              </a:rPr>
              <a:t>п</a:t>
            </a:r>
            <a:r>
              <a:rPr lang="ru-RU" spc="-15" dirty="0">
                <a:latin typeface="Arial"/>
                <a:cs typeface="Arial"/>
              </a:rPr>
              <a:t>р</a:t>
            </a:r>
            <a:r>
              <a:rPr lang="ru-RU" dirty="0">
                <a:latin typeface="Arial"/>
                <a:cs typeface="Arial"/>
              </a:rPr>
              <a:t>им</a:t>
            </a:r>
            <a:r>
              <a:rPr lang="ru-RU" spc="-10" dirty="0">
                <a:latin typeface="Arial"/>
                <a:cs typeface="Arial"/>
              </a:rPr>
              <a:t>е</a:t>
            </a:r>
            <a:r>
              <a:rPr lang="ru-RU" dirty="0">
                <a:latin typeface="Arial"/>
                <a:cs typeface="Arial"/>
              </a:rPr>
              <a:t>ня</a:t>
            </a:r>
            <a:r>
              <a:rPr lang="ru-RU" spc="-75" dirty="0">
                <a:latin typeface="Arial"/>
                <a:cs typeface="Arial"/>
              </a:rPr>
              <a:t>е</a:t>
            </a:r>
            <a:r>
              <a:rPr lang="ru-RU" spc="-25" dirty="0">
                <a:latin typeface="Arial"/>
                <a:cs typeface="Arial"/>
              </a:rPr>
              <a:t>т</a:t>
            </a:r>
            <a:r>
              <a:rPr lang="ru-RU" dirty="0">
                <a:latin typeface="Arial"/>
                <a:cs typeface="Arial"/>
              </a:rPr>
              <a:t>ся</a:t>
            </a:r>
            <a:r>
              <a:rPr lang="ru-RU" spc="20" dirty="0">
                <a:latin typeface="Arial"/>
                <a:cs typeface="Arial"/>
              </a:rPr>
              <a:t> </a:t>
            </a:r>
            <a:r>
              <a:rPr lang="ru-RU" spc="-10" dirty="0">
                <a:latin typeface="Arial"/>
                <a:cs typeface="Arial"/>
              </a:rPr>
              <a:t>а</a:t>
            </a:r>
            <a:r>
              <a:rPr lang="ru-RU" dirty="0">
                <a:latin typeface="Arial"/>
                <a:cs typeface="Arial"/>
              </a:rPr>
              <a:t>нализ</a:t>
            </a:r>
            <a:r>
              <a:rPr lang="ru-RU" spc="-5" dirty="0">
                <a:latin typeface="Arial"/>
                <a:cs typeface="Arial"/>
              </a:rPr>
              <a:t> </a:t>
            </a:r>
            <a:r>
              <a:rPr lang="ru-RU" spc="-10" dirty="0" smtClean="0">
                <a:latin typeface="Arial"/>
                <a:cs typeface="Arial"/>
              </a:rPr>
              <a:t>о</a:t>
            </a:r>
            <a:r>
              <a:rPr lang="ru-RU" dirty="0" smtClean="0">
                <a:latin typeface="Arial"/>
                <a:cs typeface="Arial"/>
              </a:rPr>
              <a:t>с</a:t>
            </a:r>
            <a:r>
              <a:rPr lang="ru-RU" spc="-25" dirty="0" smtClean="0">
                <a:latin typeface="Arial"/>
                <a:cs typeface="Arial"/>
              </a:rPr>
              <a:t>т</a:t>
            </a:r>
            <a:r>
              <a:rPr lang="ru-RU" spc="-45" dirty="0" smtClean="0">
                <a:latin typeface="Arial"/>
                <a:cs typeface="Arial"/>
              </a:rPr>
              <a:t>а</a:t>
            </a:r>
            <a:r>
              <a:rPr lang="ru-RU" dirty="0" smtClean="0">
                <a:latin typeface="Arial"/>
                <a:cs typeface="Arial"/>
              </a:rPr>
              <a:t>т</a:t>
            </a:r>
            <a:r>
              <a:rPr lang="ru-RU" spc="25" dirty="0" smtClean="0">
                <a:latin typeface="Arial"/>
                <a:cs typeface="Arial"/>
              </a:rPr>
              <a:t>к</a:t>
            </a:r>
            <a:r>
              <a:rPr lang="ru-RU" spc="-10" dirty="0" smtClean="0">
                <a:latin typeface="Arial"/>
                <a:cs typeface="Arial"/>
              </a:rPr>
              <a:t>о</a:t>
            </a:r>
            <a:r>
              <a:rPr lang="ru-RU" spc="10" dirty="0" smtClean="0">
                <a:latin typeface="Arial"/>
                <a:cs typeface="Arial"/>
              </a:rPr>
              <a:t>в</a:t>
            </a:r>
            <a:r>
              <a:rPr lang="ru-RU" dirty="0" smtClean="0">
                <a:latin typeface="Arial"/>
                <a:cs typeface="Arial"/>
              </a:rPr>
              <a:t>:</a:t>
            </a:r>
            <a:endParaRPr lang="en-US" dirty="0" smtClean="0">
              <a:latin typeface="Arial"/>
              <a:cs typeface="Arial"/>
            </a:endParaRPr>
          </a:p>
          <a:p>
            <a:pPr marL="1212850" lvl="2" indent="-285750">
              <a:spcBef>
                <a:spcPts val="43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tabLst>
                <a:tab pos="356235" algn="l"/>
              </a:tabLst>
            </a:pPr>
            <a:r>
              <a:rPr lang="ru-RU" sz="1600" spc="-10" dirty="0" smtClean="0">
                <a:latin typeface="Arial"/>
                <a:cs typeface="Arial"/>
              </a:rPr>
              <a:t>ос</a:t>
            </a:r>
            <a:r>
              <a:rPr lang="ru-RU" sz="1600" spc="-25" dirty="0" smtClean="0">
                <a:latin typeface="Arial"/>
                <a:cs typeface="Arial"/>
              </a:rPr>
              <a:t>т</a:t>
            </a:r>
            <a:r>
              <a:rPr lang="ru-RU" sz="1600" spc="-50" dirty="0" smtClean="0">
                <a:latin typeface="Arial"/>
                <a:cs typeface="Arial"/>
              </a:rPr>
              <a:t>а</a:t>
            </a:r>
            <a:r>
              <a:rPr lang="ru-RU" sz="1600" spc="-10" dirty="0" smtClean="0">
                <a:latin typeface="Arial"/>
                <a:cs typeface="Arial"/>
              </a:rPr>
              <a:t>тки</a:t>
            </a:r>
            <a:r>
              <a:rPr lang="ru-RU" sz="1600" spc="10" dirty="0" smtClean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д</a:t>
            </a:r>
            <a:r>
              <a:rPr lang="ru-RU" sz="1600" spc="-50" dirty="0">
                <a:latin typeface="Arial"/>
                <a:cs typeface="Arial"/>
              </a:rPr>
              <a:t>о</a:t>
            </a:r>
            <a:r>
              <a:rPr lang="ru-RU" sz="1600" spc="-10" dirty="0">
                <a:latin typeface="Arial"/>
                <a:cs typeface="Arial"/>
              </a:rPr>
              <a:t>лжны</a:t>
            </a:r>
            <a:r>
              <a:rPr lang="ru-RU" sz="1600" spc="20" dirty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быть</a:t>
            </a:r>
            <a:r>
              <a:rPr lang="ru-RU" sz="1600" spc="20" dirty="0">
                <a:latin typeface="Arial"/>
                <a:cs typeface="Arial"/>
              </a:rPr>
              <a:t> </a:t>
            </a:r>
            <a:r>
              <a:rPr lang="ru-RU" sz="1600" spc="-25" dirty="0">
                <a:latin typeface="Arial"/>
                <a:cs typeface="Arial"/>
              </a:rPr>
              <a:t>м</a:t>
            </a:r>
            <a:r>
              <a:rPr lang="ru-RU" sz="1600" spc="-10" dirty="0">
                <a:latin typeface="Arial"/>
                <a:cs typeface="Arial"/>
              </a:rPr>
              <a:t>алыми</a:t>
            </a:r>
            <a:endParaRPr lang="ru-RU" sz="1600" dirty="0">
              <a:latin typeface="Arial"/>
              <a:cs typeface="Arial"/>
            </a:endParaRPr>
          </a:p>
          <a:p>
            <a:pPr marL="1213485" lvl="2" indent="-286385">
              <a:spcBef>
                <a:spcPts val="384"/>
              </a:spcBef>
              <a:buClr>
                <a:srgbClr val="FF3300"/>
              </a:buClr>
              <a:buFont typeface="Wingdings" panose="05000000000000000000" pitchFamily="2" charset="2"/>
              <a:buChar char="Ø"/>
              <a:tabLst>
                <a:tab pos="756920" algn="l"/>
              </a:tabLst>
            </a:pPr>
            <a:r>
              <a:rPr lang="ru-RU" sz="1600" spc="-15" dirty="0">
                <a:latin typeface="Arial"/>
                <a:cs typeface="Arial"/>
              </a:rPr>
              <a:t>н</a:t>
            </a:r>
            <a:r>
              <a:rPr lang="ru-RU" sz="1600" spc="-10" dirty="0">
                <a:latin typeface="Arial"/>
                <a:cs typeface="Arial"/>
              </a:rPr>
              <a:t>е</a:t>
            </a:r>
            <a:r>
              <a:rPr lang="ru-RU" sz="1600" spc="10" dirty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д</a:t>
            </a:r>
            <a:r>
              <a:rPr lang="ru-RU" sz="1600" spc="-50" dirty="0">
                <a:latin typeface="Arial"/>
                <a:cs typeface="Arial"/>
              </a:rPr>
              <a:t>о</a:t>
            </a:r>
            <a:r>
              <a:rPr lang="ru-RU" sz="1600" spc="-10" dirty="0">
                <a:latin typeface="Arial"/>
                <a:cs typeface="Arial"/>
              </a:rPr>
              <a:t>лжно</a:t>
            </a:r>
            <a:r>
              <a:rPr lang="ru-RU" sz="1600" spc="25" dirty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быть</a:t>
            </a:r>
            <a:r>
              <a:rPr lang="ru-RU" sz="1600" spc="5" dirty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за</a:t>
            </a:r>
            <a:r>
              <a:rPr lang="ru-RU" sz="1600" spc="-5" dirty="0">
                <a:latin typeface="Arial"/>
                <a:cs typeface="Arial"/>
              </a:rPr>
              <a:t>к</a:t>
            </a:r>
            <a:r>
              <a:rPr lang="ru-RU" sz="1600" spc="-10" dirty="0">
                <a:latin typeface="Arial"/>
                <a:cs typeface="Arial"/>
              </a:rPr>
              <a:t>оно</a:t>
            </a:r>
            <a:r>
              <a:rPr lang="ru-RU" sz="1600" spc="-25" dirty="0">
                <a:latin typeface="Arial"/>
                <a:cs typeface="Arial"/>
              </a:rPr>
              <a:t>м</a:t>
            </a:r>
            <a:r>
              <a:rPr lang="ru-RU" sz="1600" spc="-10" dirty="0">
                <a:latin typeface="Arial"/>
                <a:cs typeface="Arial"/>
              </a:rPr>
              <a:t>ерных</a:t>
            </a:r>
            <a:r>
              <a:rPr lang="ru-RU" sz="1600" spc="50" dirty="0">
                <a:latin typeface="Arial"/>
                <a:cs typeface="Arial"/>
              </a:rPr>
              <a:t> </a:t>
            </a:r>
            <a:r>
              <a:rPr lang="ru-RU" sz="1600" spc="-5" dirty="0">
                <a:latin typeface="Arial"/>
                <a:cs typeface="Arial"/>
              </a:rPr>
              <a:t>к</a:t>
            </a:r>
            <a:r>
              <a:rPr lang="ru-RU" sz="1600" spc="-10" dirty="0">
                <a:latin typeface="Arial"/>
                <a:cs typeface="Arial"/>
              </a:rPr>
              <a:t>о</a:t>
            </a:r>
            <a:r>
              <a:rPr lang="ru-RU" sz="1600" spc="-20" dirty="0">
                <a:latin typeface="Arial"/>
                <a:cs typeface="Arial"/>
              </a:rPr>
              <a:t>м</a:t>
            </a:r>
            <a:r>
              <a:rPr lang="ru-RU" sz="1600" spc="-10" dirty="0">
                <a:latin typeface="Arial"/>
                <a:cs typeface="Arial"/>
              </a:rPr>
              <a:t>по</a:t>
            </a:r>
            <a:r>
              <a:rPr lang="ru-RU" sz="1600" spc="-15" dirty="0">
                <a:latin typeface="Arial"/>
                <a:cs typeface="Arial"/>
              </a:rPr>
              <a:t>н</a:t>
            </a:r>
            <a:r>
              <a:rPr lang="ru-RU" sz="1600" spc="-10" dirty="0">
                <a:latin typeface="Arial"/>
                <a:cs typeface="Arial"/>
              </a:rPr>
              <a:t>ент</a:t>
            </a:r>
            <a:r>
              <a:rPr lang="ru-RU" sz="1600" spc="40" dirty="0">
                <a:latin typeface="Arial"/>
                <a:cs typeface="Arial"/>
              </a:rPr>
              <a:t> </a:t>
            </a:r>
            <a:r>
              <a:rPr lang="ru-RU" sz="1600" spc="-10" dirty="0">
                <a:latin typeface="Arial"/>
                <a:cs typeface="Arial"/>
              </a:rPr>
              <a:t>и</a:t>
            </a:r>
            <a:r>
              <a:rPr lang="ru-RU" sz="1600" spc="15" dirty="0">
                <a:latin typeface="Arial"/>
                <a:cs typeface="Arial"/>
              </a:rPr>
              <a:t> </a:t>
            </a:r>
            <a:r>
              <a:rPr lang="ru-RU" sz="1600" spc="-5" dirty="0">
                <a:latin typeface="Arial"/>
                <a:cs typeface="Arial"/>
              </a:rPr>
              <a:t>к</a:t>
            </a:r>
            <a:r>
              <a:rPr lang="ru-RU" sz="1600" spc="-10" dirty="0">
                <a:latin typeface="Arial"/>
                <a:cs typeface="Arial"/>
              </a:rPr>
              <a:t>орр</a:t>
            </a:r>
            <a:r>
              <a:rPr lang="ru-RU" sz="1600" spc="-60" dirty="0">
                <a:latin typeface="Arial"/>
                <a:cs typeface="Arial"/>
              </a:rPr>
              <a:t>е</a:t>
            </a:r>
            <a:r>
              <a:rPr lang="ru-RU" sz="1600" spc="-10" dirty="0">
                <a:latin typeface="Arial"/>
                <a:cs typeface="Arial"/>
              </a:rPr>
              <a:t>ляц</a:t>
            </a:r>
            <a:r>
              <a:rPr lang="ru-RU" sz="1600" spc="-20" dirty="0">
                <a:latin typeface="Arial"/>
                <a:cs typeface="Arial"/>
              </a:rPr>
              <a:t>и</a:t>
            </a:r>
            <a:r>
              <a:rPr lang="ru-RU" sz="1600" spc="-10" dirty="0">
                <a:latin typeface="Arial"/>
                <a:cs typeface="Arial"/>
              </a:rPr>
              <a:t>й</a:t>
            </a:r>
            <a:endParaRPr lang="ru-RU"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3672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10489"/>
            <a:fld id="{81D60167-4931-47E6-BA6A-407CBD079E47}" type="slidenum">
              <a:rPr dirty="0">
                <a:solidFill>
                  <a:srgbClr val="FFFFFF"/>
                </a:solidFill>
                <a:latin typeface="Arial"/>
                <a:cs typeface="Arial"/>
              </a:rPr>
              <a:pPr marL="110489"/>
              <a:t>43</a:t>
            </a:fld>
            <a:endParaRPr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2016125" y="144463"/>
            <a:ext cx="10175875" cy="617537"/>
          </a:xfrm>
          <a:prstGeom prst="rect">
            <a:avLst/>
          </a:prstGeom>
        </p:spPr>
        <p:txBody>
          <a:bodyPr vert="horz" wrap="square" lIns="0" tIns="63627" rIns="0" bIns="0" rtlCol="0">
            <a:spAutoFit/>
          </a:bodyPr>
          <a:lstStyle/>
          <a:p>
            <a:pPr marL="706120">
              <a:lnSpc>
                <a:spcPct val="100000"/>
              </a:lnSpc>
            </a:pPr>
            <a:r>
              <a:rPr sz="3600" b="1" dirty="0">
                <a:solidFill>
                  <a:schemeClr val="bg1"/>
                </a:solidFill>
                <a:latin typeface="+mn-lt"/>
              </a:rPr>
              <a:t>Схема </a:t>
            </a:r>
            <a:r>
              <a:rPr sz="3600" b="1" spc="-10" dirty="0">
                <a:solidFill>
                  <a:schemeClr val="bg1"/>
                </a:solidFill>
                <a:latin typeface="+mn-lt"/>
              </a:rPr>
              <a:t>п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рименения ме</a:t>
            </a:r>
            <a:r>
              <a:rPr sz="3600" b="1" spc="5" dirty="0">
                <a:solidFill>
                  <a:schemeClr val="bg1"/>
                </a:solidFill>
                <a:latin typeface="+mn-lt"/>
              </a:rPr>
              <a:t>т</a:t>
            </a:r>
            <a:r>
              <a:rPr sz="3600" b="1" dirty="0">
                <a:solidFill>
                  <a:schemeClr val="bg1"/>
                </a:solidFill>
                <a:latin typeface="+mn-lt"/>
              </a:rPr>
              <a:t>ода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1307" y="1262646"/>
            <a:ext cx="10253840" cy="3248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buClr>
                <a:srgbClr val="FF3300"/>
              </a:buClr>
              <a:buFont typeface="Arial"/>
              <a:buAutoNum type="arabicPeriod"/>
              <a:tabLst>
                <a:tab pos="546735" algn="l"/>
              </a:tabLst>
            </a:pPr>
            <a:r>
              <a:rPr dirty="0">
                <a:latin typeface="Arial"/>
                <a:cs typeface="Arial"/>
              </a:rPr>
              <a:t>При</a:t>
            </a:r>
            <a:r>
              <a:rPr spc="-25" dirty="0">
                <a:latin typeface="Arial"/>
                <a:cs typeface="Arial"/>
              </a:rPr>
              <a:t>в</a:t>
            </a:r>
            <a:r>
              <a:rPr spc="-4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д</a:t>
            </a:r>
            <a:r>
              <a:rPr dirty="0">
                <a:latin typeface="Arial"/>
                <a:cs typeface="Arial"/>
              </a:rPr>
              <a:t>ение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3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яда</a:t>
            </a:r>
            <a:r>
              <a:rPr spc="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к с</a:t>
            </a:r>
            <a:r>
              <a:rPr spc="-30" dirty="0">
                <a:latin typeface="Arial"/>
                <a:cs typeface="Arial"/>
              </a:rPr>
              <a:t>т</a:t>
            </a:r>
            <a:r>
              <a:rPr dirty="0">
                <a:latin typeface="Arial"/>
                <a:cs typeface="Arial"/>
              </a:rPr>
              <a:t>аци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на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ности</a:t>
            </a:r>
          </a:p>
          <a:p>
            <a:pPr marL="546100" indent="-533400">
              <a:spcBef>
                <a:spcPts val="430"/>
              </a:spcBef>
              <a:buClr>
                <a:srgbClr val="FF3300"/>
              </a:buClr>
              <a:buFont typeface="Arial"/>
              <a:buAutoNum type="arabicPeriod"/>
              <a:tabLst>
                <a:tab pos="546735" algn="l"/>
              </a:tabLst>
            </a:pPr>
            <a:r>
              <a:rPr dirty="0">
                <a:latin typeface="Arial"/>
                <a:cs typeface="Arial"/>
              </a:rPr>
              <a:t>Опр</a:t>
            </a:r>
            <a:r>
              <a:rPr spc="-4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ение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об</a:t>
            </a:r>
            <a:r>
              <a:rPr spc="-35" dirty="0">
                <a:latin typeface="Arial"/>
                <a:cs typeface="Arial"/>
              </a:rPr>
              <a:t>щ</a:t>
            </a:r>
            <a:r>
              <a:rPr dirty="0">
                <a:latin typeface="Arial"/>
                <a:cs typeface="Arial"/>
              </a:rPr>
              <a:t>е</a:t>
            </a:r>
            <a:r>
              <a:rPr spc="-40" dirty="0">
                <a:latin typeface="Arial"/>
                <a:cs typeface="Arial"/>
              </a:rPr>
              <a:t>г</a:t>
            </a:r>
            <a:r>
              <a:rPr dirty="0">
                <a:latin typeface="Arial"/>
                <a:cs typeface="Arial"/>
              </a:rPr>
              <a:t>о </a:t>
            </a:r>
            <a:r>
              <a:rPr spc="25" dirty="0">
                <a:latin typeface="Arial"/>
                <a:cs typeface="Arial"/>
              </a:rPr>
              <a:t>к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асса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(AR,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MA,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ARMA,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ARIMA)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и</a:t>
            </a:r>
            <a:r>
              <a:rPr spc="-10" dirty="0" smtClean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п</a:t>
            </a:r>
            <a:r>
              <a:rPr spc="-15" dirty="0">
                <a:latin typeface="Arial"/>
                <a:cs typeface="Arial"/>
              </a:rPr>
              <a:t>о</a:t>
            </a:r>
            <a:r>
              <a:rPr spc="-35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яд</a:t>
            </a:r>
            <a:r>
              <a:rPr spc="35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а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5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dirty="0">
                <a:latin typeface="Arial"/>
                <a:cs typeface="Arial"/>
              </a:rPr>
              <a:t>ли</a:t>
            </a:r>
          </a:p>
          <a:p>
            <a:pPr marL="546100" indent="-533400">
              <a:spcBef>
                <a:spcPts val="434"/>
              </a:spcBef>
              <a:buClr>
                <a:srgbClr val="FF3300"/>
              </a:buClr>
              <a:buFont typeface="Arial"/>
              <a:buAutoNum type="arabicPeriod" startAt="3"/>
              <a:tabLst>
                <a:tab pos="546735" algn="l"/>
              </a:tabLst>
            </a:pPr>
            <a:r>
              <a:rPr dirty="0">
                <a:latin typeface="Arial"/>
                <a:cs typeface="Arial"/>
              </a:rPr>
              <a:t>О</a:t>
            </a:r>
            <a:r>
              <a:rPr spc="-20" dirty="0">
                <a:latin typeface="Arial"/>
                <a:cs typeface="Arial"/>
              </a:rPr>
              <a:t>ц</a:t>
            </a:r>
            <a:r>
              <a:rPr dirty="0">
                <a:latin typeface="Arial"/>
                <a:cs typeface="Arial"/>
              </a:rPr>
              <a:t>ен</a:t>
            </a:r>
            <a:r>
              <a:rPr spc="35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а п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р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м</a:t>
            </a:r>
            <a:r>
              <a:rPr spc="-70" dirty="0">
                <a:latin typeface="Arial"/>
                <a:cs typeface="Arial"/>
              </a:rPr>
              <a:t>е</a:t>
            </a:r>
            <a:r>
              <a:rPr dirty="0">
                <a:latin typeface="Arial"/>
                <a:cs typeface="Arial"/>
              </a:rPr>
              <a:t>тр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в</a:t>
            </a:r>
            <a:r>
              <a:rPr spc="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</a:t>
            </a:r>
          </a:p>
          <a:p>
            <a:pPr marL="469900" marR="3131820" indent="-457200">
              <a:lnSpc>
                <a:spcPct val="120000"/>
              </a:lnSpc>
              <a:buClr>
                <a:srgbClr val="FF3300"/>
              </a:buClr>
              <a:buFont typeface="Arial"/>
              <a:buAutoNum type="arabicPeriod" startAt="3"/>
              <a:tabLst>
                <a:tab pos="546735" algn="l"/>
                <a:tab pos="927100" algn="l"/>
              </a:tabLst>
            </a:pPr>
            <a:r>
              <a:rPr dirty="0">
                <a:latin typeface="Arial"/>
                <a:cs typeface="Arial"/>
              </a:rPr>
              <a:t>С</a:t>
            </a:r>
            <a:r>
              <a:rPr spc="-25" dirty="0">
                <a:latin typeface="Arial"/>
                <a:cs typeface="Arial"/>
              </a:rPr>
              <a:t>т</a:t>
            </a:r>
            <a:r>
              <a:rPr spc="-45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тистич</a:t>
            </a:r>
            <a:r>
              <a:rPr spc="-10" dirty="0">
                <a:latin typeface="Arial"/>
                <a:cs typeface="Arial"/>
              </a:rPr>
              <a:t>е</a:t>
            </a:r>
            <a:r>
              <a:rPr dirty="0">
                <a:latin typeface="Arial"/>
                <a:cs typeface="Arial"/>
              </a:rPr>
              <a:t>ский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ан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из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spc="15" dirty="0">
                <a:latin typeface="Arial"/>
                <a:cs typeface="Arial"/>
              </a:rPr>
              <a:t>и</a:t>
            </a:r>
            <a:r>
              <a:rPr dirty="0">
                <a:latin typeface="Arial"/>
                <a:cs typeface="Arial"/>
              </a:rPr>
              <a:t>: </a:t>
            </a:r>
            <a:endParaRPr lang="en-US" dirty="0" smtClean="0">
              <a:latin typeface="Arial"/>
              <a:cs typeface="Arial"/>
            </a:endParaRPr>
          </a:p>
          <a:p>
            <a:pPr marL="1212850" marR="3131820" lvl="2" indent="-285750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tabLst>
                <a:tab pos="546735" algn="l"/>
                <a:tab pos="927100" algn="l"/>
              </a:tabLst>
            </a:pPr>
            <a:r>
              <a:rPr dirty="0" err="1" smtClean="0">
                <a:latin typeface="Arial"/>
                <a:cs typeface="Arial"/>
              </a:rPr>
              <a:t>зн</a:t>
            </a:r>
            <a:r>
              <a:rPr spc="-45" dirty="0" err="1" smtClean="0">
                <a:latin typeface="Arial"/>
                <a:cs typeface="Arial"/>
              </a:rPr>
              <a:t>а</a:t>
            </a:r>
            <a:r>
              <a:rPr dirty="0" err="1" smtClean="0">
                <a:latin typeface="Arial"/>
                <a:cs typeface="Arial"/>
              </a:rPr>
              <a:t>чим</a:t>
            </a:r>
            <a:r>
              <a:rPr spc="-10" dirty="0" err="1" smtClean="0">
                <a:latin typeface="Arial"/>
                <a:cs typeface="Arial"/>
              </a:rPr>
              <a:t>о</a:t>
            </a:r>
            <a:r>
              <a:rPr dirty="0" err="1" smtClean="0">
                <a:latin typeface="Arial"/>
                <a:cs typeface="Arial"/>
              </a:rPr>
              <a:t>сть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м</a:t>
            </a:r>
            <a:r>
              <a:rPr spc="-40" dirty="0" err="1" smtClean="0">
                <a:latin typeface="Arial"/>
                <a:cs typeface="Arial"/>
              </a:rPr>
              <a:t>о</a:t>
            </a:r>
            <a:r>
              <a:rPr spc="5" dirty="0" err="1" smtClean="0">
                <a:latin typeface="Arial"/>
                <a:cs typeface="Arial"/>
              </a:rPr>
              <a:t>д</a:t>
            </a:r>
            <a:r>
              <a:rPr spc="-65" dirty="0" err="1" smtClean="0">
                <a:latin typeface="Arial"/>
                <a:cs typeface="Arial"/>
              </a:rPr>
              <a:t>е</a:t>
            </a:r>
            <a:r>
              <a:rPr spc="5" dirty="0" err="1" smtClean="0">
                <a:latin typeface="Arial"/>
                <a:cs typeface="Arial"/>
              </a:rPr>
              <a:t>л</a:t>
            </a:r>
            <a:r>
              <a:rPr dirty="0" err="1" smtClean="0">
                <a:latin typeface="Arial"/>
                <a:cs typeface="Arial"/>
              </a:rPr>
              <a:t>и</a:t>
            </a:r>
            <a:endParaRPr lang="en-US" dirty="0">
              <a:latin typeface="Arial"/>
              <a:cs typeface="Arial"/>
            </a:endParaRPr>
          </a:p>
          <a:p>
            <a:pPr marL="1212850" marR="3131820" lvl="2" indent="-285750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tabLst>
                <a:tab pos="546735" algn="l"/>
                <a:tab pos="927100" algn="l"/>
              </a:tabLst>
            </a:pPr>
            <a:r>
              <a:rPr dirty="0" err="1" smtClean="0">
                <a:latin typeface="Arial"/>
                <a:cs typeface="Arial"/>
              </a:rPr>
              <a:t>зн</a:t>
            </a:r>
            <a:r>
              <a:rPr spc="-40" dirty="0" err="1" smtClean="0">
                <a:latin typeface="Arial"/>
                <a:cs typeface="Arial"/>
              </a:rPr>
              <a:t>а</a:t>
            </a:r>
            <a:r>
              <a:rPr dirty="0" err="1" smtClean="0">
                <a:latin typeface="Arial"/>
                <a:cs typeface="Arial"/>
              </a:rPr>
              <a:t>чи</a:t>
            </a:r>
            <a:r>
              <a:rPr spc="-10" dirty="0" err="1" smtClean="0">
                <a:latin typeface="Arial"/>
                <a:cs typeface="Arial"/>
              </a:rPr>
              <a:t>мо</a:t>
            </a:r>
            <a:r>
              <a:rPr dirty="0" err="1" smtClean="0">
                <a:latin typeface="Arial"/>
                <a:cs typeface="Arial"/>
              </a:rPr>
              <a:t>сть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25" dirty="0" err="1" smtClean="0">
                <a:latin typeface="Arial"/>
                <a:cs typeface="Arial"/>
              </a:rPr>
              <a:t>к</a:t>
            </a:r>
            <a:r>
              <a:rPr spc="-10" dirty="0" err="1" smtClean="0">
                <a:latin typeface="Arial"/>
                <a:cs typeface="Arial"/>
              </a:rPr>
              <a:t>о</a:t>
            </a:r>
            <a:r>
              <a:rPr dirty="0" err="1" smtClean="0">
                <a:latin typeface="Arial"/>
                <a:cs typeface="Arial"/>
              </a:rPr>
              <a:t>эф</a:t>
            </a:r>
            <a:r>
              <a:rPr spc="-15" dirty="0" err="1" smtClean="0">
                <a:latin typeface="Arial"/>
                <a:cs typeface="Arial"/>
              </a:rPr>
              <a:t>ф</a:t>
            </a:r>
            <a:r>
              <a:rPr dirty="0" err="1" smtClean="0">
                <a:latin typeface="Arial"/>
                <a:cs typeface="Arial"/>
              </a:rPr>
              <a:t>иц</a:t>
            </a:r>
            <a:r>
              <a:rPr spc="-15" dirty="0" err="1" smtClean="0">
                <a:latin typeface="Arial"/>
                <a:cs typeface="Arial"/>
              </a:rPr>
              <a:t>и</a:t>
            </a:r>
            <a:r>
              <a:rPr spc="-10" dirty="0" err="1" smtClean="0">
                <a:latin typeface="Arial"/>
                <a:cs typeface="Arial"/>
              </a:rPr>
              <a:t>е</a:t>
            </a:r>
            <a:r>
              <a:rPr dirty="0" err="1" smtClean="0">
                <a:latin typeface="Arial"/>
                <a:cs typeface="Arial"/>
              </a:rPr>
              <a:t>н</a:t>
            </a:r>
            <a:r>
              <a:rPr spc="-20" dirty="0" err="1" smtClean="0">
                <a:latin typeface="Arial"/>
                <a:cs typeface="Arial"/>
              </a:rPr>
              <a:t>т</a:t>
            </a:r>
            <a:r>
              <a:rPr spc="-10" dirty="0" err="1" smtClean="0">
                <a:latin typeface="Arial"/>
                <a:cs typeface="Arial"/>
              </a:rPr>
              <a:t>о</a:t>
            </a:r>
            <a:r>
              <a:rPr dirty="0" err="1" smtClean="0">
                <a:latin typeface="Arial"/>
                <a:cs typeface="Arial"/>
              </a:rPr>
              <a:t>в</a:t>
            </a:r>
            <a:endParaRPr lang="en-US" dirty="0" smtClean="0">
              <a:latin typeface="Arial"/>
              <a:cs typeface="Arial"/>
            </a:endParaRPr>
          </a:p>
          <a:p>
            <a:pPr marL="1212850" marR="3131820" lvl="2" indent="-285750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tabLst>
                <a:tab pos="546735" algn="l"/>
                <a:tab pos="927100" algn="l"/>
              </a:tabLst>
            </a:pPr>
            <a:r>
              <a:rPr dirty="0" err="1" smtClean="0">
                <a:latin typeface="Arial"/>
                <a:cs typeface="Arial"/>
              </a:rPr>
              <a:t>ос</a:t>
            </a:r>
            <a:r>
              <a:rPr spc="-30" dirty="0" err="1" smtClean="0">
                <a:latin typeface="Arial"/>
                <a:cs typeface="Arial"/>
              </a:rPr>
              <a:t>т</a:t>
            </a:r>
            <a:r>
              <a:rPr spc="-45" dirty="0" err="1" smtClean="0">
                <a:latin typeface="Arial"/>
                <a:cs typeface="Arial"/>
              </a:rPr>
              <a:t>а</a:t>
            </a:r>
            <a:r>
              <a:rPr spc="-20" dirty="0" err="1" smtClean="0">
                <a:latin typeface="Arial"/>
                <a:cs typeface="Arial"/>
              </a:rPr>
              <a:t>т</a:t>
            </a:r>
            <a:r>
              <a:rPr spc="-45" dirty="0" err="1" smtClean="0">
                <a:latin typeface="Arial"/>
                <a:cs typeface="Arial"/>
              </a:rPr>
              <a:t>о</a:t>
            </a:r>
            <a:r>
              <a:rPr dirty="0" err="1" smtClean="0">
                <a:latin typeface="Arial"/>
                <a:cs typeface="Arial"/>
              </a:rPr>
              <a:t>чные</a:t>
            </a:r>
            <a:r>
              <a:rPr spc="10" dirty="0" smtClean="0">
                <a:latin typeface="Arial"/>
                <a:cs typeface="Arial"/>
              </a:rPr>
              <a:t> </a:t>
            </a:r>
            <a:r>
              <a:rPr spc="25" dirty="0">
                <a:latin typeface="Arial"/>
                <a:cs typeface="Arial"/>
              </a:rPr>
              <a:t>к</a:t>
            </a:r>
            <a:r>
              <a:rPr dirty="0">
                <a:latin typeface="Arial"/>
                <a:cs typeface="Arial"/>
              </a:rPr>
              <a:t>о</a:t>
            </a:r>
            <a:r>
              <a:rPr spc="-10" dirty="0">
                <a:latin typeface="Arial"/>
                <a:cs typeface="Arial"/>
              </a:rPr>
              <a:t>р</a:t>
            </a:r>
            <a:r>
              <a:rPr dirty="0">
                <a:latin typeface="Arial"/>
                <a:cs typeface="Arial"/>
              </a:rPr>
              <a:t>р</a:t>
            </a:r>
            <a:r>
              <a:rPr spc="-7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яции</a:t>
            </a:r>
          </a:p>
          <a:p>
            <a:pPr marL="546100" indent="-533400">
              <a:spcBef>
                <a:spcPts val="430"/>
              </a:spcBef>
              <a:buClr>
                <a:srgbClr val="FF3300"/>
              </a:buClr>
              <a:buFont typeface="Arial"/>
              <a:buAutoNum type="arabicPeriod" startAt="3"/>
              <a:tabLst>
                <a:tab pos="546735" algn="l"/>
              </a:tabLst>
            </a:pPr>
            <a:r>
              <a:rPr spc="-30" dirty="0">
                <a:latin typeface="Arial"/>
                <a:cs typeface="Arial"/>
              </a:rPr>
              <a:t>Е</a:t>
            </a:r>
            <a:r>
              <a:rPr dirty="0">
                <a:latin typeface="Arial"/>
                <a:cs typeface="Arial"/>
              </a:rPr>
              <a:t>с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ь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не</a:t>
            </a:r>
            <a:r>
              <a:rPr spc="-10" dirty="0">
                <a:latin typeface="Arial"/>
                <a:cs typeface="Arial"/>
              </a:rPr>
              <a:t>а</a:t>
            </a:r>
            <a:r>
              <a:rPr spc="5" dirty="0">
                <a:latin typeface="Arial"/>
                <a:cs typeface="Arial"/>
              </a:rPr>
              <a:t>д</a:t>
            </a:r>
            <a:r>
              <a:rPr dirty="0">
                <a:latin typeface="Arial"/>
                <a:cs typeface="Arial"/>
              </a:rPr>
              <a:t>ек</a:t>
            </a:r>
            <a:r>
              <a:rPr spc="-25" dirty="0">
                <a:latin typeface="Arial"/>
                <a:cs typeface="Arial"/>
              </a:rPr>
              <a:t>в</a:t>
            </a:r>
            <a:r>
              <a:rPr spc="-45" dirty="0">
                <a:latin typeface="Arial"/>
                <a:cs typeface="Arial"/>
              </a:rPr>
              <a:t>а</a:t>
            </a:r>
            <a:r>
              <a:rPr dirty="0">
                <a:latin typeface="Arial"/>
                <a:cs typeface="Arial"/>
              </a:rPr>
              <a:t>тна</a:t>
            </a:r>
            <a:r>
              <a:rPr spc="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Goto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2</a:t>
            </a:r>
          </a:p>
          <a:p>
            <a:pPr marL="546100" indent="-533400">
              <a:spcBef>
                <a:spcPts val="430"/>
              </a:spcBef>
              <a:buClr>
                <a:srgbClr val="FF3300"/>
              </a:buClr>
              <a:buFont typeface="Arial"/>
              <a:buAutoNum type="arabicPeriod" startAt="3"/>
              <a:tabLst>
                <a:tab pos="546735" algn="l"/>
              </a:tabLst>
            </a:pPr>
            <a:r>
              <a:rPr dirty="0">
                <a:latin typeface="Arial"/>
                <a:cs typeface="Arial"/>
              </a:rPr>
              <a:t>Выбор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5" dirty="0">
                <a:latin typeface="Arial"/>
                <a:cs typeface="Arial"/>
              </a:rPr>
              <a:t>л</a:t>
            </a:r>
            <a:r>
              <a:rPr spc="-25" dirty="0">
                <a:latin typeface="Arial"/>
                <a:cs typeface="Arial"/>
              </a:rPr>
              <a:t>у</a:t>
            </a:r>
            <a:r>
              <a:rPr dirty="0">
                <a:latin typeface="Arial"/>
                <a:cs typeface="Arial"/>
              </a:rPr>
              <a:t>ч</a:t>
            </a:r>
            <a:r>
              <a:rPr spc="-10" dirty="0">
                <a:latin typeface="Arial"/>
                <a:cs typeface="Arial"/>
              </a:rPr>
              <a:t>ш</a:t>
            </a:r>
            <a:r>
              <a:rPr dirty="0">
                <a:latin typeface="Arial"/>
                <a:cs typeface="Arial"/>
              </a:rPr>
              <a:t>ей</a:t>
            </a:r>
            <a:r>
              <a:rPr spc="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м</a:t>
            </a:r>
            <a:r>
              <a:rPr spc="-45" dirty="0">
                <a:latin typeface="Arial"/>
                <a:cs typeface="Arial"/>
              </a:rPr>
              <a:t>о</a:t>
            </a:r>
            <a:r>
              <a:rPr spc="5" dirty="0">
                <a:latin typeface="Arial"/>
                <a:cs typeface="Arial"/>
              </a:rPr>
              <a:t>д</a:t>
            </a:r>
            <a:r>
              <a:rPr spc="-65" dirty="0">
                <a:latin typeface="Arial"/>
                <a:cs typeface="Arial"/>
              </a:rPr>
              <a:t>е</a:t>
            </a:r>
            <a:r>
              <a:rPr spc="5" dirty="0">
                <a:latin typeface="Arial"/>
                <a:cs typeface="Arial"/>
              </a:rPr>
              <a:t>л</a:t>
            </a:r>
            <a:r>
              <a:rPr dirty="0">
                <a:latin typeface="Arial"/>
                <a:cs typeface="Arial"/>
              </a:rPr>
              <a:t>и</a:t>
            </a:r>
          </a:p>
          <a:p>
            <a:pPr marL="546100" indent="-533400">
              <a:spcBef>
                <a:spcPts val="430"/>
              </a:spcBef>
              <a:buClr>
                <a:srgbClr val="FF3300"/>
              </a:buClr>
              <a:buFont typeface="Arial"/>
              <a:buAutoNum type="arabicPeriod" startAt="3"/>
              <a:tabLst>
                <a:tab pos="546735" algn="l"/>
              </a:tabLst>
            </a:pPr>
            <a:r>
              <a:rPr dirty="0">
                <a:latin typeface="Arial"/>
                <a:cs typeface="Arial"/>
              </a:rPr>
              <a:t>Пр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гн</a:t>
            </a:r>
            <a:r>
              <a:rPr spc="-30" dirty="0">
                <a:latin typeface="Arial"/>
                <a:cs typeface="Arial"/>
              </a:rPr>
              <a:t>о</a:t>
            </a:r>
            <a:r>
              <a:rPr dirty="0">
                <a:latin typeface="Arial"/>
                <a:cs typeface="Arial"/>
              </a:rPr>
              <a:t>зир</a:t>
            </a:r>
            <a:r>
              <a:rPr spc="-10" dirty="0">
                <a:latin typeface="Arial"/>
                <a:cs typeface="Arial"/>
              </a:rPr>
              <a:t>о</a:t>
            </a:r>
            <a:r>
              <a:rPr spc="-20" dirty="0">
                <a:latin typeface="Arial"/>
                <a:cs typeface="Arial"/>
              </a:rPr>
              <a:t>в</a:t>
            </a:r>
            <a:r>
              <a:rPr dirty="0">
                <a:latin typeface="Arial"/>
                <a:cs typeface="Arial"/>
              </a:rPr>
              <a:t>ание</a:t>
            </a:r>
          </a:p>
        </p:txBody>
      </p:sp>
      <p:sp>
        <p:nvSpPr>
          <p:cNvPr id="5" name="object 5"/>
          <p:cNvSpPr/>
          <p:nvPr/>
        </p:nvSpPr>
        <p:spPr>
          <a:xfrm>
            <a:off x="5373069" y="3927384"/>
            <a:ext cx="6328611" cy="19370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56552" y="3034225"/>
            <a:ext cx="3782322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uk-UA" dirty="0">
                <a:solidFill>
                  <a:srgbClr val="008000"/>
                </a:solidFill>
                <a:latin typeface="Arial"/>
                <a:cs typeface="Arial"/>
              </a:rPr>
              <a:t>П</a:t>
            </a:r>
            <a:r>
              <a:rPr spc="-10" dirty="0" err="1" smtClean="0">
                <a:solidFill>
                  <a:srgbClr val="008000"/>
                </a:solidFill>
                <a:latin typeface="Arial"/>
                <a:cs typeface="Arial"/>
              </a:rPr>
              <a:t>р</a:t>
            </a:r>
            <a:r>
              <a:rPr dirty="0" err="1" smtClean="0">
                <a:solidFill>
                  <a:srgbClr val="008000"/>
                </a:solidFill>
                <a:latin typeface="Arial"/>
                <a:cs typeface="Arial"/>
              </a:rPr>
              <a:t>им</a:t>
            </a:r>
            <a:r>
              <a:rPr spc="-10" dirty="0" err="1" smtClean="0">
                <a:solidFill>
                  <a:srgbClr val="008000"/>
                </a:solidFill>
                <a:latin typeface="Arial"/>
                <a:cs typeface="Arial"/>
              </a:rPr>
              <a:t>е</a:t>
            </a:r>
            <a:r>
              <a:rPr spc="-5" dirty="0" err="1" smtClean="0">
                <a:solidFill>
                  <a:srgbClr val="008000"/>
                </a:solidFill>
                <a:latin typeface="Arial"/>
                <a:cs typeface="Arial"/>
              </a:rPr>
              <a:t>р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:</a:t>
            </a:r>
            <a:r>
              <a:rPr spc="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А</a:t>
            </a:r>
            <a:r>
              <a:rPr spc="-70" dirty="0">
                <a:solidFill>
                  <a:srgbClr val="008000"/>
                </a:solidFill>
                <a:latin typeface="Arial"/>
                <a:cs typeface="Arial"/>
              </a:rPr>
              <a:t>К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Ф и </a:t>
            </a:r>
            <a:r>
              <a:rPr dirty="0" smtClean="0">
                <a:solidFill>
                  <a:srgbClr val="008000"/>
                </a:solidFill>
                <a:latin typeface="Arial"/>
                <a:cs typeface="Arial"/>
              </a:rPr>
              <a:t>ЧА</a:t>
            </a:r>
            <a:r>
              <a:rPr spc="-75" dirty="0" smtClean="0">
                <a:solidFill>
                  <a:srgbClr val="008000"/>
                </a:solidFill>
                <a:latin typeface="Arial"/>
                <a:cs typeface="Arial"/>
              </a:rPr>
              <a:t>К</a:t>
            </a:r>
            <a:r>
              <a:rPr dirty="0" smtClean="0">
                <a:solidFill>
                  <a:srgbClr val="008000"/>
                </a:solidFill>
                <a:latin typeface="Arial"/>
                <a:cs typeface="Arial"/>
              </a:rPr>
              <a:t>Ф</a:t>
            </a:r>
            <a:r>
              <a:rPr lang="en-US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err="1" smtClean="0">
                <a:solidFill>
                  <a:srgbClr val="008000"/>
                </a:solidFill>
                <a:latin typeface="Arial"/>
                <a:cs typeface="Arial"/>
              </a:rPr>
              <a:t>д</a:t>
            </a:r>
            <a:r>
              <a:rPr spc="5" dirty="0" err="1" smtClean="0">
                <a:solidFill>
                  <a:srgbClr val="008000"/>
                </a:solidFill>
                <a:latin typeface="Arial"/>
                <a:cs typeface="Arial"/>
              </a:rPr>
              <a:t>л</a:t>
            </a:r>
            <a:r>
              <a:rPr dirty="0" err="1" smtClean="0">
                <a:solidFill>
                  <a:srgbClr val="008000"/>
                </a:solidFill>
                <a:latin typeface="Arial"/>
                <a:cs typeface="Arial"/>
              </a:rPr>
              <a:t>я</a:t>
            </a:r>
            <a:r>
              <a:rPr spc="-15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п</a:t>
            </a:r>
            <a:r>
              <a:rPr spc="-15" dirty="0">
                <a:solidFill>
                  <a:srgbClr val="008000"/>
                </a:solidFill>
                <a:latin typeface="Arial"/>
                <a:cs typeface="Arial"/>
              </a:rPr>
              <a:t>р</a:t>
            </a:r>
            <a:r>
              <a:rPr spc="-10" dirty="0">
                <a:solidFill>
                  <a:srgbClr val="008000"/>
                </a:solidFill>
                <a:latin typeface="Arial"/>
                <a:cs typeface="Arial"/>
              </a:rPr>
              <a:t>о</a:t>
            </a:r>
            <a:r>
              <a:rPr spc="-30" dirty="0">
                <a:solidFill>
                  <a:srgbClr val="008000"/>
                </a:solidFill>
                <a:latin typeface="Arial"/>
                <a:cs typeface="Arial"/>
              </a:rPr>
              <a:t>ц</a:t>
            </a:r>
            <a:r>
              <a:rPr spc="-10" dirty="0">
                <a:solidFill>
                  <a:srgbClr val="008000"/>
                </a:solidFill>
                <a:latin typeface="Arial"/>
                <a:cs typeface="Arial"/>
              </a:rPr>
              <a:t>е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сса</a:t>
            </a:r>
            <a:r>
              <a:rPr spc="-90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spc="-10" dirty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(</a:t>
            </a:r>
            <a:r>
              <a:rPr spc="-10" dirty="0">
                <a:solidFill>
                  <a:srgbClr val="008000"/>
                </a:solidFill>
                <a:latin typeface="Arial"/>
                <a:cs typeface="Arial"/>
              </a:rPr>
              <a:t>1</a:t>
            </a:r>
            <a:r>
              <a:rPr dirty="0">
                <a:solidFill>
                  <a:srgbClr val="008000"/>
                </a:solidFill>
                <a:latin typeface="Arial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0973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21317" y="6495592"/>
            <a:ext cx="11048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 b="1" dirty="0">
                <a:solidFill>
                  <a:schemeClr val="bg1"/>
                </a:solidFill>
                <a:cs typeface="Arial Black"/>
              </a:rPr>
              <a:t>Иссл</a:t>
            </a:r>
            <a:r>
              <a:rPr sz="3600" b="1" spc="-10" dirty="0">
                <a:solidFill>
                  <a:schemeClr val="bg1"/>
                </a:solidFill>
                <a:cs typeface="Arial Black"/>
              </a:rPr>
              <a:t>е</a:t>
            </a:r>
            <a:r>
              <a:rPr sz="3600" b="1" dirty="0">
                <a:solidFill>
                  <a:schemeClr val="bg1"/>
                </a:solidFill>
                <a:cs typeface="Arial Black"/>
              </a:rPr>
              <a:t>дование</a:t>
            </a:r>
            <a:r>
              <a:rPr sz="3600" b="1" spc="10" dirty="0">
                <a:solidFill>
                  <a:schemeClr val="bg1"/>
                </a:solidFill>
                <a:cs typeface="Arial Black"/>
              </a:rPr>
              <a:t> </a:t>
            </a:r>
            <a:r>
              <a:rPr sz="3600" b="1" dirty="0">
                <a:solidFill>
                  <a:schemeClr val="bg1"/>
                </a:solidFill>
                <a:cs typeface="Arial Black"/>
              </a:rPr>
              <a:t>автокорре</a:t>
            </a:r>
            <a:r>
              <a:rPr sz="3600" b="1" spc="-15" dirty="0">
                <a:solidFill>
                  <a:schemeClr val="bg1"/>
                </a:solidFill>
                <a:cs typeface="Arial Black"/>
              </a:rPr>
              <a:t>л</a:t>
            </a:r>
            <a:r>
              <a:rPr sz="3600" b="1" dirty="0">
                <a:solidFill>
                  <a:schemeClr val="bg1"/>
                </a:solidFill>
                <a:cs typeface="Arial Black"/>
              </a:rPr>
              <a:t>яций</a:t>
            </a:r>
            <a:endParaRPr sz="3600" dirty="0">
              <a:solidFill>
                <a:schemeClr val="bg1"/>
              </a:solidFill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7005" y="1150371"/>
            <a:ext cx="7878377" cy="2662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71889" y="6254598"/>
            <a:ext cx="382397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200" i="1" spc="-330" baseline="4960" dirty="0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sz="2400" i="1" spc="-67" baseline="-17361" dirty="0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sz="2400" i="1" spc="172" baseline="-17361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оэфф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ц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ент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в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т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о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к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орр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е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я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ц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д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л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я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ла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г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а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66"/>
                </a:solidFill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66" y="4165662"/>
            <a:ext cx="3651821" cy="1438781"/>
          </a:xfrm>
          <a:prstGeom prst="rect">
            <a:avLst/>
          </a:prstGeom>
        </p:spPr>
      </p:pic>
      <p:sp>
        <p:nvSpPr>
          <p:cNvPr id="30" name="object 2"/>
          <p:cNvSpPr txBox="1"/>
          <p:nvPr/>
        </p:nvSpPr>
        <p:spPr>
          <a:xfrm>
            <a:off x="12684305" y="5056811"/>
            <a:ext cx="11048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21"/>
          <p:cNvSpPr txBox="1"/>
          <p:nvPr/>
        </p:nvSpPr>
        <p:spPr>
          <a:xfrm>
            <a:off x="576809" y="5472903"/>
            <a:ext cx="382397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i="1" spc="-330" baseline="4960" dirty="0">
                <a:latin typeface="Times New Roman"/>
                <a:cs typeface="Times New Roman"/>
              </a:rPr>
              <a:t>r</a:t>
            </a:r>
            <a:r>
              <a:rPr sz="2400" i="1" spc="-67" baseline="-17361" dirty="0">
                <a:latin typeface="Times New Roman"/>
                <a:cs typeface="Times New Roman"/>
              </a:rPr>
              <a:t>k</a:t>
            </a:r>
            <a:r>
              <a:rPr sz="2400" i="1" spc="172" baseline="-1736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к</a:t>
            </a:r>
            <a:r>
              <a:rPr sz="1400" dirty="0">
                <a:latin typeface="Arial"/>
                <a:cs typeface="Arial"/>
              </a:rPr>
              <a:t>оэфф</a:t>
            </a:r>
            <a:r>
              <a:rPr sz="1400" spc="-10" dirty="0">
                <a:latin typeface="Arial"/>
                <a:cs typeface="Arial"/>
              </a:rPr>
              <a:t>и</a:t>
            </a:r>
            <a:r>
              <a:rPr sz="1400" dirty="0">
                <a:latin typeface="Arial"/>
                <a:cs typeface="Arial"/>
              </a:rPr>
              <a:t>ц</a:t>
            </a:r>
            <a:r>
              <a:rPr sz="1400" spc="-10" dirty="0">
                <a:latin typeface="Arial"/>
                <a:cs typeface="Arial"/>
              </a:rPr>
              <a:t>и</a:t>
            </a:r>
            <a:r>
              <a:rPr sz="1400" dirty="0">
                <a:latin typeface="Arial"/>
                <a:cs typeface="Arial"/>
              </a:rPr>
              <a:t>ент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а</a:t>
            </a:r>
            <a:r>
              <a:rPr sz="1400" spc="-40" dirty="0">
                <a:latin typeface="Arial"/>
                <a:cs typeface="Arial"/>
              </a:rPr>
              <a:t>в</a:t>
            </a:r>
            <a:r>
              <a:rPr sz="1400" spc="-10" dirty="0">
                <a:latin typeface="Arial"/>
                <a:cs typeface="Arial"/>
              </a:rPr>
              <a:t>т</a:t>
            </a:r>
            <a:r>
              <a:rPr sz="1400" dirty="0">
                <a:latin typeface="Arial"/>
                <a:cs typeface="Arial"/>
              </a:rPr>
              <a:t>о</a:t>
            </a:r>
            <a:r>
              <a:rPr sz="1400" spc="5" dirty="0">
                <a:latin typeface="Arial"/>
                <a:cs typeface="Arial"/>
              </a:rPr>
              <a:t>к</a:t>
            </a:r>
            <a:r>
              <a:rPr sz="1400" dirty="0">
                <a:latin typeface="Arial"/>
                <a:cs typeface="Arial"/>
              </a:rPr>
              <a:t>орр</a:t>
            </a:r>
            <a:r>
              <a:rPr sz="1400" spc="-55" dirty="0">
                <a:latin typeface="Arial"/>
                <a:cs typeface="Arial"/>
              </a:rPr>
              <a:t>е</a:t>
            </a:r>
            <a:r>
              <a:rPr sz="1400" dirty="0">
                <a:latin typeface="Arial"/>
                <a:cs typeface="Arial"/>
              </a:rPr>
              <a:t>л</a:t>
            </a:r>
            <a:r>
              <a:rPr sz="1400" spc="-10" dirty="0">
                <a:latin typeface="Arial"/>
                <a:cs typeface="Arial"/>
              </a:rPr>
              <a:t>я</a:t>
            </a:r>
            <a:r>
              <a:rPr sz="1400" dirty="0">
                <a:latin typeface="Arial"/>
                <a:cs typeface="Arial"/>
              </a:rPr>
              <a:t>ц</a:t>
            </a:r>
            <a:r>
              <a:rPr sz="1400" spc="-10" dirty="0">
                <a:latin typeface="Arial"/>
                <a:cs typeface="Arial"/>
              </a:rPr>
              <a:t>и</a:t>
            </a:r>
            <a:r>
              <a:rPr sz="1400" dirty="0">
                <a:latin typeface="Arial"/>
                <a:cs typeface="Arial"/>
              </a:rPr>
              <a:t>и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д</a:t>
            </a:r>
            <a:r>
              <a:rPr sz="1400" spc="-10" dirty="0">
                <a:latin typeface="Arial"/>
                <a:cs typeface="Arial"/>
              </a:rPr>
              <a:t>л</a:t>
            </a:r>
            <a:r>
              <a:rPr sz="1400" dirty="0">
                <a:latin typeface="Arial"/>
                <a:cs typeface="Arial"/>
              </a:rPr>
              <a:t>я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ла</a:t>
            </a:r>
            <a:r>
              <a:rPr sz="1400" spc="-35" dirty="0">
                <a:latin typeface="Arial"/>
                <a:cs typeface="Arial"/>
              </a:rPr>
              <a:t>г</a:t>
            </a:r>
            <a:r>
              <a:rPr sz="1400" dirty="0">
                <a:latin typeface="Arial"/>
                <a:cs typeface="Arial"/>
              </a:rPr>
              <a:t>а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k</a:t>
            </a:r>
          </a:p>
        </p:txBody>
      </p:sp>
      <p:grpSp>
        <p:nvGrpSpPr>
          <p:cNvPr id="38" name="Группа 37"/>
          <p:cNvGrpSpPr/>
          <p:nvPr/>
        </p:nvGrpSpPr>
        <p:grpSpPr>
          <a:xfrm>
            <a:off x="5198879" y="4271814"/>
            <a:ext cx="5562254" cy="1717751"/>
            <a:chOff x="5198879" y="4271814"/>
            <a:chExt cx="5562254" cy="1717751"/>
          </a:xfrm>
        </p:grpSpPr>
        <p:sp>
          <p:nvSpPr>
            <p:cNvPr id="24" name="object 24"/>
            <p:cNvSpPr txBox="1"/>
            <p:nvPr/>
          </p:nvSpPr>
          <p:spPr>
            <a:xfrm>
              <a:off x="6358678" y="5774121"/>
              <a:ext cx="4402455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-</a:t>
              </a:r>
              <a:r>
                <a:rPr sz="1400" spc="-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на</a:t>
              </a:r>
              <a:r>
                <a:rPr sz="1400" spc="-65" dirty="0">
                  <a:solidFill>
                    <a:srgbClr val="FFFFFF"/>
                  </a:solidFill>
                  <a:latin typeface="Arial"/>
                  <a:cs typeface="Arial"/>
                </a:rPr>
                <a:t>б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л</a:t>
              </a:r>
              <a:r>
                <a:rPr sz="1400" spc="-35" dirty="0">
                  <a:solidFill>
                    <a:srgbClr val="FFFFFF"/>
                  </a:solidFill>
                  <a:latin typeface="Arial"/>
                  <a:cs typeface="Arial"/>
                </a:rPr>
                <a:t>ю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дение</a:t>
              </a:r>
              <a:r>
                <a:rPr sz="1400" spc="-5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с</a:t>
              </a:r>
              <a:r>
                <a:rPr sz="1400" spc="-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ла</a:t>
              </a:r>
              <a:r>
                <a:rPr sz="1400" spc="-35" dirty="0">
                  <a:solidFill>
                    <a:srgbClr val="FFFFFF"/>
                  </a:solidFill>
                  <a:latin typeface="Arial"/>
                  <a:cs typeface="Arial"/>
                </a:rPr>
                <a:t>г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ом</a:t>
              </a:r>
              <a:r>
                <a:rPr sz="1400" spc="-1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(за</a:t>
              </a:r>
              <a:r>
                <a:rPr sz="1400" spc="-10" dirty="0">
                  <a:solidFill>
                    <a:srgbClr val="FFFFFF"/>
                  </a:solidFill>
                  <a:latin typeface="Arial"/>
                  <a:cs typeface="Arial"/>
                </a:rPr>
                <a:t>п</a:t>
              </a:r>
              <a:r>
                <a:rPr sz="1400" spc="-15" dirty="0">
                  <a:solidFill>
                    <a:srgbClr val="FFFFFF"/>
                  </a:solidFill>
                  <a:latin typeface="Arial"/>
                  <a:cs typeface="Arial"/>
                </a:rPr>
                <a:t>а</a:t>
              </a:r>
              <a:r>
                <a:rPr sz="1400" spc="-35" dirty="0">
                  <a:solidFill>
                    <a:srgbClr val="FFFFFF"/>
                  </a:solidFill>
                  <a:latin typeface="Arial"/>
                  <a:cs typeface="Arial"/>
                </a:rPr>
                <a:t>з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ды</a:t>
              </a:r>
              <a:r>
                <a:rPr sz="1400" spc="-20" dirty="0">
                  <a:solidFill>
                    <a:srgbClr val="FFFFFF"/>
                  </a:solidFill>
                  <a:latin typeface="Arial"/>
                  <a:cs typeface="Arial"/>
                </a:rPr>
                <a:t>в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ан</a:t>
              </a:r>
              <a:r>
                <a:rPr sz="1400" spc="-5" dirty="0">
                  <a:solidFill>
                    <a:srgbClr val="FFFFFF"/>
                  </a:solidFill>
                  <a:latin typeface="Arial"/>
                  <a:cs typeface="Arial"/>
                </a:rPr>
                <a:t>и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е</a:t>
              </a:r>
              <a:r>
                <a:rPr sz="1400" spc="-10" dirty="0">
                  <a:solidFill>
                    <a:srgbClr val="FFFFFF"/>
                  </a:solidFill>
                  <a:latin typeface="Arial"/>
                  <a:cs typeface="Arial"/>
                </a:rPr>
                <a:t>м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)</a:t>
              </a:r>
              <a:r>
                <a:rPr sz="1400" spc="-4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в</a:t>
              </a:r>
              <a:r>
                <a:rPr sz="1400" spc="1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dirty="0">
                  <a:solidFill>
                    <a:srgbClr val="FFFF66"/>
                  </a:solidFill>
                  <a:latin typeface="Arial"/>
                  <a:cs typeface="Arial"/>
                </a:rPr>
                <a:t>k</a:t>
              </a:r>
              <a:r>
                <a:rPr sz="1400" spc="-15" dirty="0">
                  <a:solidFill>
                    <a:srgbClr val="FFFF66"/>
                  </a:solidFill>
                  <a:latin typeface="Arial"/>
                  <a:cs typeface="Arial"/>
                </a:rPr>
                <a:t> </a:t>
              </a:r>
              <a:r>
                <a:rPr sz="1400" spc="-10" dirty="0">
                  <a:solidFill>
                    <a:srgbClr val="FFFFFF"/>
                  </a:solidFill>
                  <a:latin typeface="Arial"/>
                  <a:cs typeface="Arial"/>
                </a:rPr>
                <a:t>п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ер</a:t>
              </a:r>
              <a:r>
                <a:rPr sz="1400" spc="-10" dirty="0">
                  <a:solidFill>
                    <a:srgbClr val="FFFFFF"/>
                  </a:solidFill>
                  <a:latin typeface="Arial"/>
                  <a:cs typeface="Arial"/>
                </a:rPr>
                <a:t>и</a:t>
              </a:r>
              <a:r>
                <a:rPr sz="1400" spc="-40" dirty="0">
                  <a:solidFill>
                    <a:srgbClr val="FFFFFF"/>
                  </a:solidFill>
                  <a:latin typeface="Arial"/>
                  <a:cs typeface="Arial"/>
                </a:rPr>
                <a:t>о</a:t>
              </a:r>
              <a:r>
                <a:rPr sz="1400" dirty="0">
                  <a:solidFill>
                    <a:srgbClr val="FFFFFF"/>
                  </a:solidFill>
                  <a:latin typeface="Arial"/>
                  <a:cs typeface="Arial"/>
                </a:rPr>
                <a:t>дов</a:t>
              </a:r>
              <a:endParaRPr sz="1400">
                <a:latin typeface="Arial"/>
                <a:cs typeface="Arial"/>
              </a:endParaRPr>
            </a:p>
          </p:txBody>
        </p:sp>
        <p:sp>
          <p:nvSpPr>
            <p:cNvPr id="31" name="object 20"/>
            <p:cNvSpPr/>
            <p:nvPr/>
          </p:nvSpPr>
          <p:spPr>
            <a:xfrm>
              <a:off x="5355090" y="4931949"/>
              <a:ext cx="188595" cy="276999"/>
            </a:xfrm>
            <a:custGeom>
              <a:avLst/>
              <a:gdLst/>
              <a:ahLst/>
              <a:cxnLst/>
              <a:rect l="l" t="t" r="r" b="b"/>
              <a:pathLst>
                <a:path w="188595">
                  <a:moveTo>
                    <a:pt x="0" y="0"/>
                  </a:moveTo>
                  <a:lnTo>
                    <a:pt x="188461" y="0"/>
                  </a:lnTo>
                </a:path>
              </a:pathLst>
            </a:custGeom>
            <a:ln w="18994">
              <a:solidFill>
                <a:srgbClr val="FFFF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3" name="object 22"/>
            <p:cNvSpPr txBox="1"/>
            <p:nvPr/>
          </p:nvSpPr>
          <p:spPr>
            <a:xfrm>
              <a:off x="5269495" y="4271814"/>
              <a:ext cx="261620" cy="10471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2800" i="1" spc="-140" dirty="0">
                  <a:latin typeface="Times New Roman"/>
                  <a:cs typeface="Times New Roman"/>
                </a:rPr>
                <a:t>Y</a:t>
              </a:r>
              <a:r>
                <a:rPr sz="2400" i="1" spc="-30" baseline="-26041" dirty="0">
                  <a:latin typeface="Times New Roman"/>
                  <a:cs typeface="Times New Roman"/>
                </a:rPr>
                <a:t>t</a:t>
              </a:r>
              <a:endParaRPr sz="2400" baseline="-26041" dirty="0">
                <a:latin typeface="Times New Roman"/>
                <a:cs typeface="Times New Roman"/>
              </a:endParaRPr>
            </a:p>
            <a:p>
              <a:pPr marL="12700">
                <a:lnSpc>
                  <a:spcPct val="100000"/>
                </a:lnSpc>
                <a:spcBef>
                  <a:spcPts val="1370"/>
                </a:spcBef>
              </a:pPr>
              <a:r>
                <a:rPr sz="2850" i="1" spc="-50" dirty="0">
                  <a:latin typeface="Times New Roman"/>
                  <a:cs typeface="Times New Roman"/>
                </a:rPr>
                <a:t>Y</a:t>
              </a:r>
              <a:endParaRPr sz="2850" dirty="0">
                <a:latin typeface="Times New Roman"/>
                <a:cs typeface="Times New Roman"/>
              </a:endParaRPr>
            </a:p>
          </p:txBody>
        </p:sp>
        <p:sp>
          <p:nvSpPr>
            <p:cNvPr id="34" name="object 23"/>
            <p:cNvSpPr txBox="1"/>
            <p:nvPr/>
          </p:nvSpPr>
          <p:spPr>
            <a:xfrm>
              <a:off x="5198879" y="5472903"/>
              <a:ext cx="501015" cy="4089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3220"/>
                </a:lnSpc>
              </a:pPr>
              <a:r>
                <a:rPr sz="4200" i="1" spc="-247" baseline="14880" dirty="0">
                  <a:latin typeface="Times New Roman"/>
                  <a:cs typeface="Times New Roman"/>
                </a:rPr>
                <a:t>Y</a:t>
              </a:r>
              <a:r>
                <a:rPr sz="1600" i="1" dirty="0">
                  <a:latin typeface="Times New Roman"/>
                  <a:cs typeface="Times New Roman"/>
                </a:rPr>
                <a:t>t</a:t>
              </a:r>
              <a:r>
                <a:rPr sz="1600" i="1" spc="-225" dirty="0">
                  <a:latin typeface="Times New Roman"/>
                  <a:cs typeface="Times New Roman"/>
                </a:rPr>
                <a:t> </a:t>
              </a:r>
              <a:r>
                <a:rPr sz="1600" i="1" spc="110" dirty="0">
                  <a:latin typeface="Symbol"/>
                  <a:cs typeface="Symbol"/>
                </a:rPr>
                <a:t></a:t>
              </a:r>
              <a:r>
                <a:rPr sz="1600" i="1" dirty="0">
                  <a:latin typeface="Times New Roman"/>
                  <a:cs typeface="Times New Roman"/>
                </a:rPr>
                <a:t>k</a:t>
              </a:r>
              <a:endParaRPr sz="1600" dirty="0">
                <a:latin typeface="Times New Roman"/>
                <a:cs typeface="Times New Roman"/>
              </a:endParaRPr>
            </a:p>
          </p:txBody>
        </p:sp>
        <p:sp>
          <p:nvSpPr>
            <p:cNvPr id="35" name="object 24"/>
            <p:cNvSpPr txBox="1"/>
            <p:nvPr/>
          </p:nvSpPr>
          <p:spPr>
            <a:xfrm>
              <a:off x="5894876" y="5525834"/>
              <a:ext cx="4402455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dirty="0">
                  <a:latin typeface="Arial"/>
                  <a:cs typeface="Arial"/>
                </a:rPr>
                <a:t>-</a:t>
              </a:r>
              <a:r>
                <a:rPr sz="1400" spc="-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на</a:t>
              </a:r>
              <a:r>
                <a:rPr sz="1400" spc="-65" dirty="0">
                  <a:latin typeface="Arial"/>
                  <a:cs typeface="Arial"/>
                </a:rPr>
                <a:t>б</a:t>
              </a:r>
              <a:r>
                <a:rPr sz="1400" dirty="0">
                  <a:latin typeface="Arial"/>
                  <a:cs typeface="Arial"/>
                </a:rPr>
                <a:t>л</a:t>
              </a:r>
              <a:r>
                <a:rPr sz="1400" spc="-35" dirty="0">
                  <a:latin typeface="Arial"/>
                  <a:cs typeface="Arial"/>
                </a:rPr>
                <a:t>ю</a:t>
              </a:r>
              <a:r>
                <a:rPr sz="1400" dirty="0">
                  <a:latin typeface="Arial"/>
                  <a:cs typeface="Arial"/>
                </a:rPr>
                <a:t>дение</a:t>
              </a:r>
              <a:r>
                <a:rPr sz="1400" spc="-5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с</a:t>
              </a:r>
              <a:r>
                <a:rPr sz="1400" spc="-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ла</a:t>
              </a:r>
              <a:r>
                <a:rPr sz="1400" spc="-35" dirty="0">
                  <a:latin typeface="Arial"/>
                  <a:cs typeface="Arial"/>
                </a:rPr>
                <a:t>г</a:t>
              </a:r>
              <a:r>
                <a:rPr sz="1400" dirty="0">
                  <a:latin typeface="Arial"/>
                  <a:cs typeface="Arial"/>
                </a:rPr>
                <a:t>ом</a:t>
              </a:r>
              <a:r>
                <a:rPr sz="1400" spc="-1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(за</a:t>
              </a:r>
              <a:r>
                <a:rPr sz="1400" spc="-10" dirty="0">
                  <a:latin typeface="Arial"/>
                  <a:cs typeface="Arial"/>
                </a:rPr>
                <a:t>п</a:t>
              </a:r>
              <a:r>
                <a:rPr sz="1400" spc="-15" dirty="0">
                  <a:latin typeface="Arial"/>
                  <a:cs typeface="Arial"/>
                </a:rPr>
                <a:t>а</a:t>
              </a:r>
              <a:r>
                <a:rPr sz="1400" spc="-35" dirty="0">
                  <a:latin typeface="Arial"/>
                  <a:cs typeface="Arial"/>
                </a:rPr>
                <a:t>з</a:t>
              </a:r>
              <a:r>
                <a:rPr sz="1400" dirty="0">
                  <a:latin typeface="Arial"/>
                  <a:cs typeface="Arial"/>
                </a:rPr>
                <a:t>ды</a:t>
              </a:r>
              <a:r>
                <a:rPr sz="1400" spc="-20" dirty="0">
                  <a:latin typeface="Arial"/>
                  <a:cs typeface="Arial"/>
                </a:rPr>
                <a:t>в</a:t>
              </a:r>
              <a:r>
                <a:rPr sz="1400" dirty="0">
                  <a:latin typeface="Arial"/>
                  <a:cs typeface="Arial"/>
                </a:rPr>
                <a:t>ан</a:t>
              </a:r>
              <a:r>
                <a:rPr sz="1400" spc="-5" dirty="0">
                  <a:latin typeface="Arial"/>
                  <a:cs typeface="Arial"/>
                </a:rPr>
                <a:t>и</a:t>
              </a:r>
              <a:r>
                <a:rPr sz="1400" dirty="0">
                  <a:latin typeface="Arial"/>
                  <a:cs typeface="Arial"/>
                </a:rPr>
                <a:t>е</a:t>
              </a:r>
              <a:r>
                <a:rPr sz="1400" spc="-10" dirty="0">
                  <a:latin typeface="Arial"/>
                  <a:cs typeface="Arial"/>
                </a:rPr>
                <a:t>м</a:t>
              </a:r>
              <a:r>
                <a:rPr sz="1400" dirty="0">
                  <a:latin typeface="Arial"/>
                  <a:cs typeface="Arial"/>
                </a:rPr>
                <a:t>)</a:t>
              </a:r>
              <a:r>
                <a:rPr sz="1400" spc="-4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в</a:t>
              </a:r>
              <a:r>
                <a:rPr sz="1400" spc="1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k</a:t>
              </a:r>
              <a:r>
                <a:rPr sz="1400" spc="-15" dirty="0">
                  <a:latin typeface="Arial"/>
                  <a:cs typeface="Arial"/>
                </a:rPr>
                <a:t> </a:t>
              </a:r>
              <a:r>
                <a:rPr sz="1400" spc="-10" dirty="0">
                  <a:latin typeface="Arial"/>
                  <a:cs typeface="Arial"/>
                </a:rPr>
                <a:t>п</a:t>
              </a:r>
              <a:r>
                <a:rPr sz="1400" dirty="0">
                  <a:latin typeface="Arial"/>
                  <a:cs typeface="Arial"/>
                </a:rPr>
                <a:t>ер</a:t>
              </a:r>
              <a:r>
                <a:rPr sz="1400" spc="-10" dirty="0">
                  <a:latin typeface="Arial"/>
                  <a:cs typeface="Arial"/>
                </a:rPr>
                <a:t>и</a:t>
              </a:r>
              <a:r>
                <a:rPr sz="1400" spc="-40" dirty="0">
                  <a:latin typeface="Arial"/>
                  <a:cs typeface="Arial"/>
                </a:rPr>
                <a:t>о</a:t>
              </a:r>
              <a:r>
                <a:rPr sz="1400" dirty="0">
                  <a:latin typeface="Arial"/>
                  <a:cs typeface="Arial"/>
                </a:rPr>
                <a:t>дов</a:t>
              </a:r>
            </a:p>
          </p:txBody>
        </p:sp>
        <p:sp>
          <p:nvSpPr>
            <p:cNvPr id="36" name="object 25"/>
            <p:cNvSpPr txBox="1"/>
            <p:nvPr/>
          </p:nvSpPr>
          <p:spPr>
            <a:xfrm>
              <a:off x="5771889" y="4406969"/>
              <a:ext cx="206883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dirty="0">
                  <a:latin typeface="Arial"/>
                  <a:cs typeface="Arial"/>
                </a:rPr>
                <a:t>-</a:t>
              </a:r>
              <a:r>
                <a:rPr sz="1400" spc="-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на</a:t>
              </a:r>
              <a:r>
                <a:rPr sz="1400" spc="-65" dirty="0">
                  <a:latin typeface="Arial"/>
                  <a:cs typeface="Arial"/>
                </a:rPr>
                <a:t>б</a:t>
              </a:r>
              <a:r>
                <a:rPr sz="1400" dirty="0">
                  <a:latin typeface="Arial"/>
                  <a:cs typeface="Arial"/>
                </a:rPr>
                <a:t>л</a:t>
              </a:r>
              <a:r>
                <a:rPr sz="1400" spc="-35" dirty="0">
                  <a:latin typeface="Arial"/>
                  <a:cs typeface="Arial"/>
                </a:rPr>
                <a:t>ю</a:t>
              </a:r>
              <a:r>
                <a:rPr sz="1400" dirty="0">
                  <a:latin typeface="Arial"/>
                  <a:cs typeface="Arial"/>
                </a:rPr>
                <a:t>дение</a:t>
              </a:r>
              <a:r>
                <a:rPr sz="1400" spc="-5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в мо</a:t>
              </a:r>
              <a:r>
                <a:rPr sz="1400" spc="-10" dirty="0">
                  <a:latin typeface="Arial"/>
                  <a:cs typeface="Arial"/>
                </a:rPr>
                <a:t>м</a:t>
              </a:r>
              <a:r>
                <a:rPr sz="1400" dirty="0">
                  <a:latin typeface="Arial"/>
                  <a:cs typeface="Arial"/>
                </a:rPr>
                <a:t>ент</a:t>
              </a:r>
              <a:r>
                <a:rPr sz="1400" spc="-1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t</a:t>
              </a:r>
            </a:p>
          </p:txBody>
        </p:sp>
        <p:sp>
          <p:nvSpPr>
            <p:cNvPr id="37" name="object 26"/>
            <p:cNvSpPr txBox="1"/>
            <p:nvPr/>
          </p:nvSpPr>
          <p:spPr>
            <a:xfrm>
              <a:off x="5773413" y="4983345"/>
              <a:ext cx="3086735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sz="1400" dirty="0">
                  <a:latin typeface="Arial"/>
                  <a:cs typeface="Arial"/>
                </a:rPr>
                <a:t>-</a:t>
              </a:r>
              <a:r>
                <a:rPr sz="1400" spc="-5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ср</a:t>
              </a:r>
              <a:r>
                <a:rPr sz="1400" spc="-40" dirty="0">
                  <a:latin typeface="Arial"/>
                  <a:cs typeface="Arial"/>
                </a:rPr>
                <a:t>е</a:t>
              </a:r>
              <a:r>
                <a:rPr sz="1400" dirty="0">
                  <a:latin typeface="Arial"/>
                  <a:cs typeface="Arial"/>
                </a:rPr>
                <a:t>днее</a:t>
              </a:r>
              <a:r>
                <a:rPr sz="1400" spc="-4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зн</a:t>
              </a:r>
              <a:r>
                <a:rPr sz="1400" spc="-40" dirty="0">
                  <a:latin typeface="Arial"/>
                  <a:cs typeface="Arial"/>
                </a:rPr>
                <a:t>а</a:t>
              </a:r>
              <a:r>
                <a:rPr sz="1400" dirty="0">
                  <a:latin typeface="Arial"/>
                  <a:cs typeface="Arial"/>
                </a:rPr>
                <a:t>чен</a:t>
              </a:r>
              <a:r>
                <a:rPr sz="1400" spc="-5" dirty="0">
                  <a:latin typeface="Arial"/>
                  <a:cs typeface="Arial"/>
                </a:rPr>
                <a:t>и</a:t>
              </a:r>
              <a:r>
                <a:rPr sz="1400" dirty="0">
                  <a:latin typeface="Arial"/>
                  <a:cs typeface="Arial"/>
                </a:rPr>
                <a:t>е</a:t>
              </a:r>
              <a:r>
                <a:rPr sz="1400" spc="-30" dirty="0">
                  <a:latin typeface="Arial"/>
                  <a:cs typeface="Arial"/>
                </a:rPr>
                <a:t> </a:t>
              </a:r>
              <a:r>
                <a:rPr sz="1400" dirty="0">
                  <a:latin typeface="Arial"/>
                  <a:cs typeface="Arial"/>
                </a:rPr>
                <a:t>вре</a:t>
              </a:r>
              <a:r>
                <a:rPr sz="1400" spc="-10" dirty="0">
                  <a:latin typeface="Arial"/>
                  <a:cs typeface="Arial"/>
                </a:rPr>
                <a:t>м</a:t>
              </a:r>
              <a:r>
                <a:rPr sz="1400" dirty="0">
                  <a:latin typeface="Arial"/>
                  <a:cs typeface="Arial"/>
                </a:rPr>
                <a:t>енно</a:t>
              </a:r>
              <a:r>
                <a:rPr sz="1400" spc="-35" dirty="0">
                  <a:latin typeface="Arial"/>
                  <a:cs typeface="Arial"/>
                </a:rPr>
                <a:t>г</a:t>
              </a:r>
              <a:r>
                <a:rPr sz="1400" dirty="0">
                  <a:latin typeface="Arial"/>
                  <a:cs typeface="Arial"/>
                </a:rPr>
                <a:t>о</a:t>
              </a:r>
              <a:r>
                <a:rPr sz="1400" spc="-20" dirty="0">
                  <a:latin typeface="Arial"/>
                  <a:cs typeface="Arial"/>
                </a:rPr>
                <a:t> </a:t>
              </a:r>
              <a:r>
                <a:rPr sz="1400" spc="-15" dirty="0">
                  <a:latin typeface="Arial"/>
                  <a:cs typeface="Arial"/>
                </a:rPr>
                <a:t>р</a:t>
              </a:r>
              <a:r>
                <a:rPr sz="1400" spc="-10" dirty="0">
                  <a:latin typeface="Arial"/>
                  <a:cs typeface="Arial"/>
                </a:rPr>
                <a:t>я</a:t>
              </a:r>
              <a:r>
                <a:rPr sz="1400" dirty="0">
                  <a:latin typeface="Arial"/>
                  <a:cs typeface="Arial"/>
                </a:rPr>
                <a:t>да</a:t>
              </a:r>
              <a:endParaRPr sz="14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0463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242013"/>
            <a:ext cx="5678746" cy="39864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335" y="1242013"/>
            <a:ext cx="5678746" cy="398648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5235" y="5495165"/>
            <a:ext cx="5357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Линейный тренд на графике временных интервалов</a:t>
            </a:r>
            <a:endParaRPr lang="uk-UA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489106" y="5345352"/>
            <a:ext cx="53097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Сезонный тренд на графике временных интервалов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20815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5" y="1569793"/>
            <a:ext cx="4762500" cy="334327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905461" y="5295873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Линия</a:t>
            </a:r>
            <a:r>
              <a:rPr lang="uk-UA" dirty="0"/>
              <a:t> </a:t>
            </a:r>
            <a:r>
              <a:rPr lang="uk-UA" dirty="0" err="1"/>
              <a:t>скользящей</a:t>
            </a:r>
            <a:r>
              <a:rPr lang="uk-UA" dirty="0"/>
              <a:t> </a:t>
            </a:r>
            <a:r>
              <a:rPr lang="uk-UA" dirty="0" err="1"/>
              <a:t>средней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919" y="1569792"/>
            <a:ext cx="4762500" cy="334327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684269" y="5111207"/>
            <a:ext cx="3341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 </a:t>
            </a:r>
            <a:r>
              <a:rPr lang="uk-UA" dirty="0" err="1"/>
              <a:t>Полиномиальная</a:t>
            </a:r>
            <a:r>
              <a:rPr lang="uk-UA" dirty="0"/>
              <a:t> </a:t>
            </a:r>
            <a:r>
              <a:rPr lang="uk-UA" dirty="0" err="1"/>
              <a:t>линия</a:t>
            </a:r>
            <a:r>
              <a:rPr lang="uk-UA" dirty="0"/>
              <a:t> </a:t>
            </a:r>
            <a:r>
              <a:rPr lang="uk-UA" dirty="0" err="1"/>
              <a:t>тренда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159601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4924" y="1134180"/>
            <a:ext cx="118520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uk-UA" dirty="0" err="1" smtClean="0"/>
              <a:t>Открыть</a:t>
            </a:r>
            <a:r>
              <a:rPr lang="uk-UA" dirty="0" smtClean="0"/>
              <a:t> </a:t>
            </a:r>
            <a:r>
              <a:rPr lang="uk-UA" dirty="0"/>
              <a:t>файл </a:t>
            </a:r>
            <a:r>
              <a:rPr lang="en-GB" dirty="0" err="1"/>
              <a:t>Series_G</a:t>
            </a:r>
            <a:r>
              <a:rPr lang="en-GB" dirty="0" smtClean="0"/>
              <a:t>,</a:t>
            </a:r>
            <a:endParaRPr lang="uk-UA" dirty="0" smtClean="0"/>
          </a:p>
          <a:p>
            <a:pPr marL="342900" indent="-342900">
              <a:buAutoNum type="arabicPeriod"/>
            </a:pPr>
            <a:r>
              <a:rPr lang="ru-RU" dirty="0"/>
              <a:t>выбрать из </a:t>
            </a:r>
            <a:r>
              <a:rPr lang="ru-RU" i="1" dirty="0" err="1"/>
              <a:t>Statistics</a:t>
            </a:r>
            <a:r>
              <a:rPr lang="ru-RU" i="1" dirty="0"/>
              <a:t> </a:t>
            </a:r>
            <a:r>
              <a:rPr lang="ru-RU" dirty="0"/>
              <a:t>– </a:t>
            </a:r>
            <a:r>
              <a:rPr lang="ru-RU" i="1" dirty="0" err="1"/>
              <a:t>Advanced</a:t>
            </a:r>
            <a:r>
              <a:rPr lang="ru-RU" i="1" dirty="0"/>
              <a:t> </a:t>
            </a:r>
            <a:r>
              <a:rPr lang="ru-RU" i="1" dirty="0" err="1"/>
              <a:t>Linear</a:t>
            </a:r>
            <a:r>
              <a:rPr lang="ru-RU" i="1" dirty="0"/>
              <a:t> / </a:t>
            </a:r>
            <a:r>
              <a:rPr lang="ru-RU" i="1" dirty="0" err="1"/>
              <a:t>Nonlinear</a:t>
            </a:r>
            <a:r>
              <a:rPr lang="ru-RU" i="1" dirty="0"/>
              <a:t> </a:t>
            </a:r>
            <a:r>
              <a:rPr lang="ru-RU" i="1" dirty="0" err="1"/>
              <a:t>Models</a:t>
            </a:r>
            <a:r>
              <a:rPr lang="ru-RU" i="1" dirty="0"/>
              <a:t> (Статистики – Расширенные линейные/нелинейные модели) </a:t>
            </a:r>
            <a:r>
              <a:rPr lang="ru-RU" dirty="0"/>
              <a:t>опцию </a:t>
            </a:r>
            <a:r>
              <a:rPr lang="ru-RU" i="1" dirty="0" err="1"/>
              <a:t>Time</a:t>
            </a:r>
            <a:r>
              <a:rPr lang="ru-RU" i="1" dirty="0"/>
              <a:t> </a:t>
            </a:r>
            <a:r>
              <a:rPr lang="ru-RU" i="1" dirty="0" err="1"/>
              <a:t>Series</a:t>
            </a:r>
            <a:r>
              <a:rPr lang="ru-RU" i="1" dirty="0"/>
              <a:t> / </a:t>
            </a:r>
            <a:r>
              <a:rPr lang="ru-RU" i="1" dirty="0" err="1"/>
              <a:t>Forecasting</a:t>
            </a:r>
            <a:r>
              <a:rPr lang="ru-RU" i="1" dirty="0"/>
              <a:t> (Временной ряд – Прогнозирование) </a:t>
            </a:r>
            <a:r>
              <a:rPr lang="ru-RU" dirty="0"/>
              <a:t>для отображения стартовой панели </a:t>
            </a:r>
            <a:r>
              <a:rPr lang="ru-RU" i="1" dirty="0" err="1"/>
              <a:t>Time</a:t>
            </a:r>
            <a:r>
              <a:rPr lang="ru-RU" i="1" dirty="0"/>
              <a:t> </a:t>
            </a:r>
            <a:r>
              <a:rPr lang="ru-RU" i="1" dirty="0" err="1"/>
              <a:t>Series</a:t>
            </a:r>
            <a:r>
              <a:rPr lang="ru-RU" i="1" dirty="0"/>
              <a:t> </a:t>
            </a:r>
            <a:r>
              <a:rPr lang="ru-RU" i="1" dirty="0" err="1"/>
              <a:t>Analysis</a:t>
            </a:r>
            <a:r>
              <a:rPr lang="ru-RU" i="1" dirty="0"/>
              <a:t> (Анализ временного ряда)</a:t>
            </a:r>
            <a:r>
              <a:rPr lang="en-GB" dirty="0" smtClean="0"/>
              <a:t> 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216" y="2334509"/>
            <a:ext cx="5942645" cy="41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233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204111" y="1263134"/>
            <a:ext cx="2611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2. </a:t>
            </a:r>
            <a:r>
              <a:rPr lang="uk-UA" dirty="0" err="1" smtClean="0"/>
              <a:t>Выбрать</a:t>
            </a:r>
            <a:r>
              <a:rPr lang="uk-UA" dirty="0" smtClean="0"/>
              <a:t> </a:t>
            </a:r>
            <a:r>
              <a:rPr lang="uk-UA" dirty="0" err="1"/>
              <a:t>переменную</a:t>
            </a:r>
            <a:r>
              <a:rPr lang="uk-UA" dirty="0"/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60" y="1959829"/>
            <a:ext cx="5247619" cy="38761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307106" y="1263134"/>
            <a:ext cx="2735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3.	</a:t>
            </a:r>
            <a:r>
              <a:rPr lang="uk-UA" dirty="0" err="1"/>
              <a:t>Идентификация</a:t>
            </a:r>
            <a:r>
              <a:rPr lang="uk-UA" dirty="0"/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668" y="1866044"/>
            <a:ext cx="5862518" cy="445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04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r>
              <a:rPr lang="ru-RU" dirty="0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dirty="0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05415" y="1204518"/>
            <a:ext cx="3493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 smtClean="0"/>
              <a:t>графическо</a:t>
            </a:r>
            <a:r>
              <a:rPr lang="uk-UA" dirty="0" err="1" smtClean="0"/>
              <a:t>е</a:t>
            </a:r>
            <a:r>
              <a:rPr lang="uk-UA" dirty="0" smtClean="0"/>
              <a:t> </a:t>
            </a:r>
            <a:r>
              <a:rPr lang="uk-UA" dirty="0" err="1" smtClean="0"/>
              <a:t>отображение</a:t>
            </a:r>
            <a:r>
              <a:rPr lang="uk-UA" dirty="0" smtClean="0"/>
              <a:t> </a:t>
            </a:r>
            <a:r>
              <a:rPr lang="uk-UA" dirty="0" err="1"/>
              <a:t>ряда</a:t>
            </a:r>
            <a:r>
              <a:rPr lang="uk-UA" dirty="0"/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0" y="2011099"/>
            <a:ext cx="5668121" cy="433108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71" y="2276641"/>
            <a:ext cx="4771429" cy="3800000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278242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6756" y="1163487"/>
            <a:ext cx="4339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4.	</a:t>
            </a:r>
            <a:r>
              <a:rPr lang="uk-UA" dirty="0" err="1"/>
              <a:t>Мультипликативная</a:t>
            </a:r>
            <a:r>
              <a:rPr lang="uk-UA" dirty="0"/>
              <a:t> </a:t>
            </a:r>
            <a:r>
              <a:rPr lang="uk-UA" dirty="0" err="1"/>
              <a:t>сезонность</a:t>
            </a:r>
            <a:r>
              <a:rPr lang="uk-UA" dirty="0"/>
              <a:t>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34430" y="1348153"/>
            <a:ext cx="2853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5.	</a:t>
            </a:r>
            <a:r>
              <a:rPr lang="uk-UA" dirty="0" err="1"/>
              <a:t>Автокорреляции</a:t>
            </a:r>
            <a:r>
              <a:rPr lang="uk-UA" dirty="0"/>
              <a:t>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21" y="1873024"/>
            <a:ext cx="5247619" cy="41904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8" y="1741166"/>
            <a:ext cx="4771429" cy="3800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84601" y="5694168"/>
            <a:ext cx="4021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Трансформированный</a:t>
            </a:r>
            <a:r>
              <a:rPr lang="uk-UA" dirty="0"/>
              <a:t> </a:t>
            </a:r>
            <a:r>
              <a:rPr lang="uk-UA" dirty="0" err="1"/>
              <a:t>временной</a:t>
            </a:r>
            <a:r>
              <a:rPr lang="uk-UA" dirty="0"/>
              <a:t> ряд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265266" y="5878834"/>
            <a:ext cx="3991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График</a:t>
            </a:r>
            <a:r>
              <a:rPr lang="uk-UA" dirty="0"/>
              <a:t> </a:t>
            </a:r>
            <a:r>
              <a:rPr lang="uk-UA" dirty="0" err="1"/>
              <a:t>автокорреляционной</a:t>
            </a:r>
            <a:r>
              <a:rPr lang="uk-UA" dirty="0"/>
              <a:t> </a:t>
            </a:r>
            <a:r>
              <a:rPr lang="uk-UA" dirty="0" err="1"/>
              <a:t>функции</a:t>
            </a:r>
            <a:r>
              <a:rPr lang="uk-UA" dirty="0"/>
              <a:t> </a:t>
            </a:r>
          </a:p>
        </p:txBody>
      </p:sp>
      <p:sp>
        <p:nvSpPr>
          <p:cNvPr id="9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658479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7481" y="1227965"/>
            <a:ext cx="3060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Дифференцирование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47" y="2042253"/>
            <a:ext cx="4771429" cy="382857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270014" y="1145903"/>
            <a:ext cx="51852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7.	</a:t>
            </a:r>
            <a:r>
              <a:rPr lang="uk-UA" dirty="0" err="1"/>
              <a:t>Сезонная</a:t>
            </a:r>
            <a:r>
              <a:rPr lang="uk-UA" dirty="0"/>
              <a:t> </a:t>
            </a:r>
            <a:r>
              <a:rPr lang="uk-UA" dirty="0" err="1"/>
              <a:t>последовательная</a:t>
            </a:r>
            <a:r>
              <a:rPr lang="uk-UA" dirty="0"/>
              <a:t> </a:t>
            </a:r>
            <a:r>
              <a:rPr lang="uk-UA" dirty="0" err="1"/>
              <a:t>зависимость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14" y="1597297"/>
            <a:ext cx="5247619" cy="4180952"/>
          </a:xfrm>
          <a:prstGeom prst="rect">
            <a:avLst/>
          </a:prstGeom>
        </p:spPr>
      </p:pic>
      <p:sp>
        <p:nvSpPr>
          <p:cNvPr id="7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5009171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649631" y="1125360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Диалог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ARIMA. 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28246" y="1125360"/>
            <a:ext cx="3542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Оцениваемые 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параметры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4418" y="1434425"/>
            <a:ext cx="6096000" cy="535531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ru-RU" dirty="0" err="1" smtClean="0"/>
              <a:t>Коррелограмма</a:t>
            </a:r>
            <a:r>
              <a:rPr lang="ru-RU" dirty="0" smtClean="0"/>
              <a:t> </a:t>
            </a:r>
            <a:r>
              <a:rPr lang="ru-RU" dirty="0"/>
              <a:t>не показывает значимых выбросов, поэтому ряд готов для подбора модели. Основываясь на природе ряда, выбираем модель ARIMA с сезонностью, определяемой лагом = 12, и </a:t>
            </a:r>
            <a:r>
              <a:rPr lang="ru-RU" dirty="0" err="1"/>
              <a:t>несезонностью</a:t>
            </a:r>
            <a:r>
              <a:rPr lang="ru-RU" dirty="0"/>
              <a:t> с лагом = 1. Таким образом, здесь нужно оценить 2 параметра модели скользящего среднего: сезонный (Q) и несезонный (q). Никаких параметров авторегрессии в данном случае не оценивается. </a:t>
            </a:r>
          </a:p>
          <a:p>
            <a:r>
              <a:rPr lang="ru-RU" dirty="0"/>
              <a:t>Модифицированный ряд теперь может быть подставлен непосредственно в модель ARIMA. Однако в случаях, подобных рассматриваемому, рекомендуется проанализировать исходный ряд и выбрать необходимые модификации данных как часть спецификаций модели. Вследствие этого ARIMA будет «знать» о модификациях, поэтому при необходимости прогнозирования оценки прогноза будут вычисляться из проинтегрированных (обратных дифференцированию) и </a:t>
            </a:r>
            <a:r>
              <a:rPr lang="ru-RU" dirty="0" err="1"/>
              <a:t>ремодифицированных</a:t>
            </a:r>
            <a:r>
              <a:rPr lang="ru-RU" dirty="0"/>
              <a:t> (обратных преобразованию) данных. Такие прогнозные оценки оказываются простыми для интерпретации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061" y="1769696"/>
            <a:ext cx="5247619" cy="390476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873544" y="5680203"/>
            <a:ext cx="2634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err="1"/>
              <a:t>Диалоговое</a:t>
            </a:r>
            <a:r>
              <a:rPr lang="uk-UA" dirty="0"/>
              <a:t> </a:t>
            </a:r>
            <a:r>
              <a:rPr lang="uk-UA" dirty="0" err="1"/>
              <a:t>окно</a:t>
            </a:r>
            <a:r>
              <a:rPr lang="uk-UA" dirty="0"/>
              <a:t> </a:t>
            </a:r>
            <a:r>
              <a:rPr lang="en-GB" dirty="0"/>
              <a:t>ARIMA </a:t>
            </a:r>
            <a:endParaRPr lang="uk-UA" dirty="0"/>
          </a:p>
        </p:txBody>
      </p:sp>
      <p:sp>
        <p:nvSpPr>
          <p:cNvPr id="8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5869618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16470" y="1274857"/>
            <a:ext cx="2908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10.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Параметры</a:t>
            </a:r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</a:t>
            </a:r>
            <a:r>
              <a:rPr lang="en-GB" b="0" i="1" dirty="0" smtClean="0">
                <a:solidFill>
                  <a:srgbClr val="0B166A"/>
                </a:solidFill>
                <a:effectLst/>
                <a:latin typeface="Verdana" panose="020B0604030504040204" pitchFamily="34" charset="0"/>
              </a:rPr>
              <a:t>ARIMA</a:t>
            </a:r>
            <a:r>
              <a:rPr lang="en-GB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uk-UA" dirty="0"/>
          </a:p>
        </p:txBody>
      </p:sp>
      <p:sp>
        <p:nvSpPr>
          <p:cNvPr id="4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11015" y="1644189"/>
            <a:ext cx="11897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 стадии идентификации определяются  параметры, которые будут оцениваться. Например,  скользящего среднего: один регулярный q и один сезонный Q. В окне параметров надо установить значения q=1 и Q=1, после чего нажать ОК.</a:t>
            </a:r>
          </a:p>
          <a:p>
            <a:r>
              <a:rPr lang="ru-RU" dirty="0" smtClean="0"/>
              <a:t>После процесса оценивания параметров в окне </a:t>
            </a:r>
            <a:r>
              <a:rPr lang="ru-RU" dirty="0" err="1" smtClean="0"/>
              <a:t>Single</a:t>
            </a:r>
            <a:r>
              <a:rPr lang="ru-RU" dirty="0" smtClean="0"/>
              <a:t> </a:t>
            </a:r>
            <a:r>
              <a:rPr lang="ru-RU" dirty="0" err="1" smtClean="0"/>
              <a:t>Series</a:t>
            </a:r>
            <a:r>
              <a:rPr lang="ru-RU" dirty="0" smtClean="0"/>
              <a:t> ARIMA </a:t>
            </a:r>
            <a:r>
              <a:rPr lang="ru-RU" dirty="0" err="1" smtClean="0"/>
              <a:t>Results</a:t>
            </a:r>
            <a:r>
              <a:rPr lang="ru-RU" dirty="0" smtClean="0"/>
              <a:t> (Результаты) появятся результаты расчета 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0" y="2705365"/>
            <a:ext cx="5238750" cy="35814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549" y="3329720"/>
            <a:ext cx="4762500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3366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67759" y="1438394"/>
            <a:ext cx="3567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11. Фаза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прогнозирования</a:t>
            </a:r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 </a:t>
            </a:r>
            <a:endParaRPr lang="uk-UA" dirty="0"/>
          </a:p>
        </p:txBody>
      </p:sp>
      <p:sp>
        <p:nvSpPr>
          <p:cNvPr id="4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61949" y="1807726"/>
            <a:ext cx="1174636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При выделенной опции </a:t>
            </a:r>
            <a:r>
              <a:rPr lang="ru-RU" dirty="0" err="1" smtClean="0"/>
              <a:t>Advanced</a:t>
            </a:r>
            <a:r>
              <a:rPr lang="ru-RU" dirty="0" smtClean="0"/>
              <a:t> (Расширенная) появляется окно </a:t>
            </a:r>
            <a:r>
              <a:rPr lang="ru-RU" dirty="0" err="1" smtClean="0"/>
              <a:t>Forecasting</a:t>
            </a:r>
            <a:r>
              <a:rPr lang="ru-RU" dirty="0" smtClean="0"/>
              <a:t> (Прогнозирование). По умолчанию этот пакет будет вычислять прогнозы, начиная с последнего наблюдения на один полный сезонный цикл (на 12 месяцев, начиная с момента времени, равного 145).</a:t>
            </a:r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688" y="2456497"/>
            <a:ext cx="476250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830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14064" y="1346954"/>
            <a:ext cx="2622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12.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Анализ</a:t>
            </a:r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остатков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28601" y="1716286"/>
            <a:ext cx="609218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Для модели ARIMA устанавливаются два допущения об остатках: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остатки должны быть нормально распределены;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остатки должны быть независимы друг от друга (отсутствует остаточная последовательная корреляция).</a:t>
            </a:r>
          </a:p>
          <a:p>
            <a:r>
              <a:rPr lang="ru-RU" dirty="0" smtClean="0"/>
              <a:t>Первое допущение может быть проверено рассмотрением графика нормального распределения остатков. При выделенной опции </a:t>
            </a:r>
            <a:r>
              <a:rPr lang="ru-RU" dirty="0" err="1" smtClean="0"/>
              <a:t>Distribution</a:t>
            </a:r>
            <a:r>
              <a:rPr lang="ru-RU" dirty="0" smtClean="0"/>
              <a:t> </a:t>
            </a:r>
            <a:r>
              <a:rPr lang="ru-RU" dirty="0" err="1" smtClean="0"/>
              <a:t>of</a:t>
            </a:r>
            <a:r>
              <a:rPr lang="ru-RU" dirty="0" smtClean="0"/>
              <a:t> </a:t>
            </a:r>
            <a:r>
              <a:rPr lang="ru-RU" dirty="0" err="1" smtClean="0"/>
              <a:t>residuals</a:t>
            </a:r>
            <a:r>
              <a:rPr lang="ru-RU" dirty="0" smtClean="0"/>
              <a:t> (Распределение остатков) нажать клавишу </a:t>
            </a:r>
            <a:r>
              <a:rPr lang="ru-RU" dirty="0" err="1" smtClean="0"/>
              <a:t>Normal</a:t>
            </a:r>
            <a:r>
              <a:rPr lang="ru-RU" dirty="0" smtClean="0"/>
              <a:t> </a:t>
            </a:r>
            <a:r>
              <a:rPr lang="ru-RU" dirty="0" err="1" smtClean="0"/>
              <a:t>probability</a:t>
            </a:r>
            <a:r>
              <a:rPr lang="ru-RU" dirty="0" smtClean="0"/>
              <a:t> </a:t>
            </a:r>
            <a:r>
              <a:rPr lang="ru-RU" dirty="0" err="1" smtClean="0"/>
              <a:t>plots</a:t>
            </a:r>
            <a:r>
              <a:rPr lang="ru-RU" dirty="0" smtClean="0"/>
              <a:t> (Нормальные графики). Если остатки нормально распределены, то все точки должны группироваться около прямой линии на графике </a:t>
            </a:r>
            <a:endParaRPr lang="uk-UA" dirty="0"/>
          </a:p>
        </p:txBody>
      </p:sp>
      <p:sp>
        <p:nvSpPr>
          <p:cNvPr id="5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610" y="1716286"/>
            <a:ext cx="47625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911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87680" y="1764506"/>
            <a:ext cx="50672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Второе допущение проверяется с помощью вычисления автокорреляционной функции: при выделенной опции </a:t>
            </a:r>
            <a:r>
              <a:rPr lang="ru-RU" b="0" i="1" dirty="0" err="1" smtClean="0">
                <a:solidFill>
                  <a:srgbClr val="0B166A"/>
                </a:solidFill>
                <a:effectLst/>
                <a:latin typeface="Verdana" panose="020B0604030504040204" pitchFamily="34" charset="0"/>
              </a:rPr>
              <a:t>Autocorrelations</a:t>
            </a:r>
            <a:r>
              <a:rPr lang="ru-RU" b="0" i="1" dirty="0" smtClean="0">
                <a:solidFill>
                  <a:srgbClr val="0B166A"/>
                </a:solidFill>
                <a:effectLst/>
                <a:latin typeface="Verdana" panose="020B0604030504040204" pitchFamily="34" charset="0"/>
              </a:rPr>
              <a:t> (Автокорреляции) </a:t>
            </a:r>
            <a:r>
              <a:rPr lang="ru-RU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нажать кнопку </a:t>
            </a:r>
            <a:r>
              <a:rPr lang="ru-RU" b="0" i="1" dirty="0" err="1" smtClean="0">
                <a:solidFill>
                  <a:srgbClr val="0B166A"/>
                </a:solidFill>
                <a:effectLst/>
                <a:latin typeface="Verdana" panose="020B0604030504040204" pitchFamily="34" charset="0"/>
              </a:rPr>
              <a:t>Autocorrelations</a:t>
            </a:r>
            <a:r>
              <a:rPr lang="ru-RU" b="0" i="1" dirty="0" smtClean="0">
                <a:solidFill>
                  <a:srgbClr val="0B166A"/>
                </a:solidFill>
                <a:effectLst/>
                <a:latin typeface="Verdana" panose="020B0604030504040204" pitchFamily="34" charset="0"/>
              </a:rPr>
              <a:t> (Автокорреляции) </a:t>
            </a:r>
          </a:p>
          <a:p>
            <a:r>
              <a:rPr lang="ru-RU" dirty="0"/>
              <a:t>Из графика видно, что автокорреляция остатков практически отсутствует, следовательно, условие независимости остатков выполнено для выбранной модели.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064" y="1346954"/>
            <a:ext cx="2622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12.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Анализ</a:t>
            </a:r>
            <a:r>
              <a:rPr lang="uk-UA" b="0" i="0" dirty="0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uk-UA" b="0" i="0" dirty="0" err="1" smtClean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остатков</a:t>
            </a:r>
            <a:endParaRPr lang="uk-UA" dirty="0"/>
          </a:p>
        </p:txBody>
      </p:sp>
      <p:sp>
        <p:nvSpPr>
          <p:cNvPr id="5" name="object 4"/>
          <p:cNvSpPr txBox="1"/>
          <p:nvPr/>
        </p:nvSpPr>
        <p:spPr>
          <a:xfrm>
            <a:off x="2509693" y="71249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uk-UA" sz="3600" b="1" dirty="0" err="1" smtClean="0">
                <a:solidFill>
                  <a:schemeClr val="bg1"/>
                </a:solidFill>
                <a:cs typeface="Arial Black"/>
              </a:rPr>
              <a:t>Прогнозирование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в пакете </a:t>
            </a:r>
            <a:r>
              <a:rPr lang="ru-RU" sz="3600" b="1" dirty="0" err="1">
                <a:solidFill>
                  <a:schemeClr val="bg1"/>
                </a:solidFill>
              </a:rPr>
              <a:t>Statistica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 smtClean="0">
                <a:solidFill>
                  <a:schemeClr val="bg1"/>
                </a:solidFill>
                <a:cs typeface="Arial Black"/>
              </a:rPr>
              <a:t>  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895" y="1531620"/>
            <a:ext cx="5238750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84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/</a:t>
            </a:r>
            <a:r>
              <a:rPr lang="uk-UA" smtClean="0">
                <a:solidFill>
                  <a:prstClr val="black">
                    <a:tint val="75000"/>
                  </a:prstClr>
                </a:solidFill>
              </a:rPr>
              <a:t>35</a:t>
            </a:r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80568"/>
            <a:ext cx="12139674" cy="61863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uk-UA" b="1" dirty="0" err="1"/>
              <a:t>Анализ</a:t>
            </a:r>
            <a:r>
              <a:rPr lang="uk-UA" b="1" dirty="0"/>
              <a:t> </a:t>
            </a:r>
            <a:r>
              <a:rPr lang="uk-UA" b="1" dirty="0" err="1"/>
              <a:t>временных</a:t>
            </a:r>
            <a:r>
              <a:rPr lang="uk-UA" b="1" dirty="0"/>
              <a:t> </a:t>
            </a:r>
            <a:r>
              <a:rPr lang="uk-UA" b="1" dirty="0" err="1" smtClean="0"/>
              <a:t>рядов</a:t>
            </a:r>
            <a:r>
              <a:rPr lang="uk-UA" b="1" dirty="0" smtClean="0"/>
              <a:t>. </a:t>
            </a:r>
            <a:r>
              <a:rPr lang="en-US" b="1" dirty="0" err="1" smtClean="0"/>
              <a:t>StatSoft</a:t>
            </a:r>
            <a:r>
              <a:rPr lang="en-US" b="1" dirty="0" smtClean="0"/>
              <a:t>. </a:t>
            </a:r>
            <a:r>
              <a:rPr lang="en-GB" dirty="0" smtClean="0">
                <a:hlinkClick r:id="rId2"/>
              </a:rPr>
              <a:t>http://statsoft.ru/home/textbook/modules/sttimser.html#systematic</a:t>
            </a:r>
            <a:endParaRPr lang="ru-RU" dirty="0" smtClean="0"/>
          </a:p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Прогнозирование на STATISTICA: расширение </a:t>
            </a:r>
            <a:r>
              <a:rPr lang="ru-RU" dirty="0" smtClean="0"/>
              <a:t>возможностей. </a:t>
            </a:r>
            <a:r>
              <a:rPr lang="en-GB" dirty="0" smtClean="0"/>
              <a:t>http://statsoft.ru/coordination/news/news_detail.php?ELEMENT_ID=1685</a:t>
            </a:r>
            <a:endParaRPr lang="ru-RU" dirty="0"/>
          </a:p>
          <a:p>
            <a:endParaRPr lang="ru-RU" dirty="0" smtClean="0"/>
          </a:p>
          <a:p>
            <a:r>
              <a:rPr lang="ru-RU" dirty="0"/>
              <a:t>Временные ряды и модели </a:t>
            </a:r>
            <a:r>
              <a:rPr lang="ru-RU" dirty="0" smtClean="0"/>
              <a:t>прогнозирования. </a:t>
            </a:r>
            <a:r>
              <a:rPr lang="en-GB" dirty="0" smtClean="0"/>
              <a:t>https://4analytics.ru/prognozirovanie/vremennie-ryadi-i-modeli-prognozirovaniya.html</a:t>
            </a:r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ПРОГНОЗИРОВАНИЕ ВРЕМЕННЫХ РЯДОВ НА ПРИМЕРЕ ПРОГНОЗИРОВАНИЯ ПОТРЕБЛЕНИЯ ЭЛЕКТРОЭНЕРГИИ. </a:t>
            </a:r>
            <a:r>
              <a:rPr lang="uk-UA" dirty="0" smtClean="0">
                <a:hlinkClick r:id="rId3"/>
              </a:rPr>
              <a:t>http://eos.ibi.spb.ru/umk/15_3/15/15_P4_R1_T4.html#2</a:t>
            </a:r>
            <a:endParaRPr lang="uk-UA" dirty="0" smtClean="0"/>
          </a:p>
          <a:p>
            <a:endParaRPr lang="ru-RU" dirty="0"/>
          </a:p>
          <a:p>
            <a:r>
              <a:rPr lang="uk-UA" dirty="0" err="1"/>
              <a:t>Осваиваем</a:t>
            </a:r>
            <a:r>
              <a:rPr lang="uk-UA" dirty="0"/>
              <a:t> </a:t>
            </a:r>
            <a:r>
              <a:rPr lang="uk-UA" dirty="0" err="1"/>
              <a:t>прогнозирование</a:t>
            </a:r>
            <a:r>
              <a:rPr lang="uk-UA" dirty="0"/>
              <a:t> </a:t>
            </a:r>
            <a:r>
              <a:rPr lang="uk-UA" dirty="0" err="1"/>
              <a:t>временных</a:t>
            </a:r>
            <a:r>
              <a:rPr lang="uk-UA" dirty="0"/>
              <a:t> </a:t>
            </a:r>
            <a:r>
              <a:rPr lang="uk-UA" dirty="0" err="1"/>
              <a:t>рядов</a:t>
            </a:r>
            <a:endParaRPr lang="uk-UA" dirty="0"/>
          </a:p>
          <a:p>
            <a:r>
              <a:rPr lang="en-GB" dirty="0" smtClean="0">
                <a:hlinkClick r:id="rId4"/>
              </a:rPr>
              <a:t>https://www.sas.com/content/dam/SAS/ru_ru/doc/Events/Presentation/SAS_Analytics_Club_Moscow_November-2014/Prognozirovanie_vremennyh_rjadov_na_primere_prognozirovanija_potreblenija_jelektrojenergii.pdf</a:t>
            </a:r>
            <a:endParaRPr lang="ru-RU" dirty="0" smtClean="0"/>
          </a:p>
          <a:p>
            <a:endParaRPr lang="ru-RU" dirty="0"/>
          </a:p>
          <a:p>
            <a:r>
              <a:rPr lang="ru-RU" dirty="0"/>
              <a:t>Обзор моделей прогнозирования временных рядов</a:t>
            </a:r>
            <a:endParaRPr lang="ru-RU" b="1" dirty="0"/>
          </a:p>
          <a:p>
            <a:r>
              <a:rPr lang="en-GB" dirty="0" smtClean="0">
                <a:hlinkClick r:id="rId5"/>
              </a:rPr>
              <a:t>https://habr.com/ru/post/180409/</a:t>
            </a:r>
            <a:endParaRPr lang="ru-RU" dirty="0" smtClean="0"/>
          </a:p>
          <a:p>
            <a:endParaRPr lang="en-US" dirty="0" smtClean="0"/>
          </a:p>
          <a:p>
            <a:r>
              <a:rPr lang="ru-RU" dirty="0" smtClean="0"/>
              <a:t>Методы бизнес-</a:t>
            </a:r>
            <a:r>
              <a:rPr lang="ru-RU" dirty="0" err="1" smtClean="0"/>
              <a:t>пронозирования</a:t>
            </a:r>
            <a:r>
              <a:rPr lang="ru-RU" dirty="0" smtClean="0"/>
              <a:t>. </a:t>
            </a:r>
            <a:r>
              <a:rPr lang="ru-RU" dirty="0" err="1" smtClean="0"/>
              <a:t>Павктикум</a:t>
            </a:r>
            <a:endParaRPr lang="en-US" dirty="0"/>
          </a:p>
          <a:p>
            <a:r>
              <a:rPr lang="en-GB" dirty="0" smtClean="0">
                <a:hlinkClick r:id="rId6"/>
              </a:rPr>
              <a:t>http://eos.ibi.spb.ru/umk/15_3/15/15_P4_R1_T4.html</a:t>
            </a:r>
            <a:endParaRPr lang="ru-RU" dirty="0" smtClean="0"/>
          </a:p>
          <a:p>
            <a:r>
              <a:rPr lang="en-GB" dirty="0" smtClean="0">
                <a:hlinkClick r:id="rId7"/>
              </a:rPr>
              <a:t>http://eos.ibi.spb.ru/umk/15_3/15/15_P4_R1_T4.html#1</a:t>
            </a:r>
            <a:endParaRPr lang="ru-RU" dirty="0" smtClean="0"/>
          </a:p>
          <a:p>
            <a:r>
              <a:rPr lang="en-GB" dirty="0" smtClean="0">
                <a:hlinkClick r:id="rId3"/>
              </a:rPr>
              <a:t>http://eos.ibi.spb.ru/umk/15_3/15/15_P4_R1_T4.html#2</a:t>
            </a:r>
            <a:endParaRPr lang="uk-UA" dirty="0"/>
          </a:p>
        </p:txBody>
      </p:sp>
      <p:sp>
        <p:nvSpPr>
          <p:cNvPr id="4" name="object 4"/>
          <p:cNvSpPr txBox="1"/>
          <p:nvPr/>
        </p:nvSpPr>
        <p:spPr>
          <a:xfrm>
            <a:off x="2189653" y="26570"/>
            <a:ext cx="726249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/>
            <a:r>
              <a:rPr lang="ru-RU" sz="3600" b="1" dirty="0" err="1" smtClean="0">
                <a:solidFill>
                  <a:schemeClr val="bg1"/>
                </a:solidFill>
                <a:cs typeface="Arial Black"/>
              </a:rPr>
              <a:t>Джерела</a:t>
            </a:r>
            <a:endParaRPr sz="3600" b="1" dirty="0">
              <a:solidFill>
                <a:schemeClr val="bg1"/>
              </a:solidFill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48776288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2718</Words>
  <Application>Microsoft Office PowerPoint</Application>
  <PresentationFormat>Широкоэкранный</PresentationFormat>
  <Paragraphs>408</Paragraphs>
  <Slides>57</Slides>
  <Notes>1</Notes>
  <HiddenSlides>0</HiddenSlides>
  <MMClips>0</MMClips>
  <ScaleCrop>false</ScaleCrop>
  <HeadingPairs>
    <vt:vector size="10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Связи</vt:lpstr>
      </vt:variant>
      <vt:variant>
        <vt:i4>2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57</vt:i4>
      </vt:variant>
    </vt:vector>
  </HeadingPairs>
  <TitlesOfParts>
    <vt:vector size="73" baseType="lpstr">
      <vt:lpstr>Arial</vt:lpstr>
      <vt:lpstr>Arial Black</vt:lpstr>
      <vt:lpstr>Calibri</vt:lpstr>
      <vt:lpstr>Calibri Light</vt:lpstr>
      <vt:lpstr>Lucida Sans Unicode</vt:lpstr>
      <vt:lpstr>Symbol</vt:lpstr>
      <vt:lpstr>Times New Roman</vt:lpstr>
      <vt:lpstr>TimesNewRomanPS-BoldItalicMT</vt:lpstr>
      <vt:lpstr>Verdana</vt:lpstr>
      <vt:lpstr>Wingdings</vt:lpstr>
      <vt:lpstr>1_Тема Office</vt:lpstr>
      <vt:lpstr>D:\Вавилова\МОРИ\ЛБ МОРИ\Регрессия.xmcd\Selection 19 4475 390 4794</vt:lpstr>
      <vt:lpstr>D:\Вавилова\МОРИ\ЛБ МОРИ\Регрессия.xmcd\Selection 32 3683 279 3720</vt:lpstr>
      <vt:lpstr>Формула</vt:lpstr>
      <vt:lpstr>Equation.DSMT4</vt:lpstr>
      <vt:lpstr>Уравнение</vt:lpstr>
      <vt:lpstr>Презентация PowerPoint</vt:lpstr>
      <vt:lpstr>Структура курса</vt:lpstr>
      <vt:lpstr>Структура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Корреляционный анализ</vt:lpstr>
      <vt:lpstr>Корреляция, Корреляционный момент, Коэффициент корреляции </vt:lpstr>
      <vt:lpstr>Свойства коэффициента корреляции </vt:lpstr>
      <vt:lpstr>Сила корреляции</vt:lpstr>
      <vt:lpstr>Разные виды поля корреляции</vt:lpstr>
      <vt:lpstr>Выборочные корреляционный момент и коэффициент корреляции</vt:lpstr>
      <vt:lpstr>Презентация PowerPoint</vt:lpstr>
      <vt:lpstr>Проверка гипотезы о значимости выборочного коэффициента корреляции</vt:lpstr>
      <vt:lpstr>r - критерий </vt:lpstr>
      <vt:lpstr>t - критерий</vt:lpstr>
      <vt:lpstr>Регрессионный анализ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Этапы регрессионного анализа </vt:lpstr>
      <vt:lpstr>Виды уравнения регрессии</vt:lpstr>
      <vt:lpstr>Линейная регрессия</vt:lpstr>
      <vt:lpstr>Полиномиальная регрессия</vt:lpstr>
      <vt:lpstr>Обобщенная регрессия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Общая характеристика метода</vt:lpstr>
      <vt:lpstr>Схема применения метода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2</cp:revision>
  <dcterms:created xsi:type="dcterms:W3CDTF">2020-12-07T16:13:33Z</dcterms:created>
  <dcterms:modified xsi:type="dcterms:W3CDTF">2020-12-07T16:31:05Z</dcterms:modified>
</cp:coreProperties>
</file>